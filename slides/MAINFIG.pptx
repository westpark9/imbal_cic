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92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3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EB26-042C-DF50-78F0-35E5701E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B4481-4052-3F11-5136-AFBEEA7E5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5763D-AE19-3F6B-9948-BB5A129A9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 </a:t>
            </a:r>
            <a:r>
              <a:rPr lang="ko-KR" altLang="en-US" dirty="0"/>
              <a:t>표현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C04E9-2FB4-5D98-45E6-C2C06E80DBF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706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05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C30-6E70-5359-7D64-F442894B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nel-c">
            <a:extLst>
              <a:ext uri="{FF2B5EF4-FFF2-40B4-BE49-F238E27FC236}">
                <a16:creationId xmlns:a16="http://schemas.microsoft.com/office/drawing/2014/main" id="{3149829D-6FF0-AB0A-6D86-7FCDD7D961CE}"/>
              </a:ext>
            </a:extLst>
          </p:cNvPr>
          <p:cNvSpPr>
            <a:spLocks noGrp="1"/>
          </p:cNvSpPr>
          <p:nvPr/>
        </p:nvSpPr>
        <p:spPr>
          <a:xfrm>
            <a:off x="4407858" y="800099"/>
            <a:ext cx="4447054" cy="4276397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1430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ko-KR" altLang="en-US" sz="840" dirty="0"/>
          </a:p>
        </p:txBody>
      </p:sp>
      <p:sp>
        <p:nvSpPr>
          <p:cNvPr id="20" name="figure-title">
            <a:extLst>
              <a:ext uri="{FF2B5EF4-FFF2-40B4-BE49-F238E27FC236}">
                <a16:creationId xmlns:a16="http://schemas.microsoft.com/office/drawing/2014/main" id="{B7096C5A-31F6-E7E4-ED7F-3A73D70F34F5}"/>
              </a:ext>
            </a:extLst>
          </p:cNvPr>
          <p:cNvSpPr>
            <a:spLocks noGrp="1"/>
          </p:cNvSpPr>
          <p:nvPr/>
        </p:nvSpPr>
        <p:spPr>
          <a:xfrm>
            <a:off x="365760" y="194310"/>
            <a:ext cx="5143500" cy="24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ko-KR" sz="1200" b="1" dirty="0">
                <a:solidFill>
                  <a:srgbClr val="0F172A"/>
                </a:solidFill>
              </a:rPr>
              <a:t>OOD-aware Stability-gated Expert </a:t>
            </a:r>
            <a:r>
              <a:rPr lang="en-US" altLang="ko-KR" sz="1200" b="1" dirty="0" err="1">
                <a:solidFill>
                  <a:srgbClr val="0F172A"/>
                </a:solidFill>
              </a:rPr>
              <a:t>MoE</a:t>
            </a:r>
            <a:endParaRPr sz="1350" b="1" dirty="0">
              <a:solidFill>
                <a:srgbClr val="1F293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panel-a">
            <a:extLst>
              <a:ext uri="{FF2B5EF4-FFF2-40B4-BE49-F238E27FC236}">
                <a16:creationId xmlns:a16="http://schemas.microsoft.com/office/drawing/2014/main" id="{8AF4EAB6-884F-4EC1-B16A-73E0CC52FBBA}"/>
              </a:ext>
            </a:extLst>
          </p:cNvPr>
          <p:cNvSpPr>
            <a:spLocks noGrp="1"/>
          </p:cNvSpPr>
          <p:nvPr/>
        </p:nvSpPr>
        <p:spPr>
          <a:xfrm>
            <a:off x="320040" y="800100"/>
            <a:ext cx="2324591" cy="377190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1430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ko-KR" altLang="en-US" sz="840" dirty="0"/>
          </a:p>
        </p:txBody>
      </p:sp>
      <p:sp>
        <p:nvSpPr>
          <p:cNvPr id="4" name="panel-a-badge">
            <a:extLst>
              <a:ext uri="{FF2B5EF4-FFF2-40B4-BE49-F238E27FC236}">
                <a16:creationId xmlns:a16="http://schemas.microsoft.com/office/drawing/2014/main" id="{8E8348C3-4F94-4F1C-4F3E-8C4887F3ACB8}"/>
              </a:ext>
            </a:extLst>
          </p:cNvPr>
          <p:cNvSpPr>
            <a:spLocks noGrp="1"/>
          </p:cNvSpPr>
          <p:nvPr/>
        </p:nvSpPr>
        <p:spPr>
          <a:xfrm>
            <a:off x="422910" y="891540"/>
            <a:ext cx="194310" cy="194310"/>
          </a:xfrm>
          <a:prstGeom prst="ellipse">
            <a:avLst/>
          </a:prstGeom>
          <a:solidFill>
            <a:srgbClr val="1F2937"/>
          </a:solidFill>
          <a:ln w="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panel-a-title">
            <a:extLst>
              <a:ext uri="{FF2B5EF4-FFF2-40B4-BE49-F238E27FC236}">
                <a16:creationId xmlns:a16="http://schemas.microsoft.com/office/drawing/2014/main" id="{4581E930-130B-F9B8-1B95-13B844BB34E3}"/>
              </a:ext>
            </a:extLst>
          </p:cNvPr>
          <p:cNvSpPr>
            <a:spLocks noGrp="1"/>
          </p:cNvSpPr>
          <p:nvPr/>
        </p:nvSpPr>
        <p:spPr>
          <a:xfrm>
            <a:off x="674370" y="908685"/>
            <a:ext cx="198882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</a:t>
            </a:r>
            <a:r>
              <a:rPr sz="9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xpert construction</a:t>
            </a:r>
          </a:p>
        </p:txBody>
      </p:sp>
      <p:sp>
        <p:nvSpPr>
          <p:cNvPr id="6" name="panel-b">
            <a:extLst>
              <a:ext uri="{FF2B5EF4-FFF2-40B4-BE49-F238E27FC236}">
                <a16:creationId xmlns:a16="http://schemas.microsoft.com/office/drawing/2014/main" id="{11D7E8C7-0A71-89EA-F1CF-62C90B7D5895}"/>
              </a:ext>
            </a:extLst>
          </p:cNvPr>
          <p:cNvSpPr>
            <a:spLocks noGrp="1"/>
          </p:cNvSpPr>
          <p:nvPr/>
        </p:nvSpPr>
        <p:spPr>
          <a:xfrm>
            <a:off x="2718647" y="800100"/>
            <a:ext cx="1623385" cy="37719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CBD5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ko-KR" altLang="en-US" sz="840" dirty="0"/>
          </a:p>
        </p:txBody>
      </p:sp>
      <p:sp>
        <p:nvSpPr>
          <p:cNvPr id="7" name="panel-b-badge">
            <a:extLst>
              <a:ext uri="{FF2B5EF4-FFF2-40B4-BE49-F238E27FC236}">
                <a16:creationId xmlns:a16="http://schemas.microsoft.com/office/drawing/2014/main" id="{612E4B44-2D8E-F616-8FB5-BED6A3B0CF92}"/>
              </a:ext>
            </a:extLst>
          </p:cNvPr>
          <p:cNvSpPr>
            <a:spLocks noGrp="1"/>
          </p:cNvSpPr>
          <p:nvPr/>
        </p:nvSpPr>
        <p:spPr>
          <a:xfrm>
            <a:off x="3074670" y="891540"/>
            <a:ext cx="194310" cy="194310"/>
          </a:xfrm>
          <a:prstGeom prst="ellipse">
            <a:avLst/>
          </a:prstGeom>
          <a:solidFill>
            <a:srgbClr val="1F2937"/>
          </a:solidFill>
          <a:ln w="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panel-c-badge">
            <a:extLst>
              <a:ext uri="{FF2B5EF4-FFF2-40B4-BE49-F238E27FC236}">
                <a16:creationId xmlns:a16="http://schemas.microsoft.com/office/drawing/2014/main" id="{C233893D-9202-F170-A2ED-794255CF0F0A}"/>
              </a:ext>
            </a:extLst>
          </p:cNvPr>
          <p:cNvSpPr>
            <a:spLocks noGrp="1"/>
          </p:cNvSpPr>
          <p:nvPr/>
        </p:nvSpPr>
        <p:spPr>
          <a:xfrm>
            <a:off x="5326380" y="891540"/>
            <a:ext cx="194310" cy="194310"/>
          </a:xfrm>
          <a:prstGeom prst="ellipse">
            <a:avLst/>
          </a:prstGeom>
          <a:solidFill>
            <a:srgbClr val="1F2937"/>
          </a:solidFill>
          <a:ln w="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" name="panel-c-title">
            <a:extLst>
              <a:ext uri="{FF2B5EF4-FFF2-40B4-BE49-F238E27FC236}">
                <a16:creationId xmlns:a16="http://schemas.microsoft.com/office/drawing/2014/main" id="{36132467-A4A3-FA6F-492D-F3B94A71D9AA}"/>
              </a:ext>
            </a:extLst>
          </p:cNvPr>
          <p:cNvSpPr>
            <a:spLocks noGrp="1"/>
          </p:cNvSpPr>
          <p:nvPr/>
        </p:nvSpPr>
        <p:spPr>
          <a:xfrm>
            <a:off x="5577840" y="908685"/>
            <a:ext cx="313182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76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2" name="train-data">
            <a:extLst>
              <a:ext uri="{FF2B5EF4-FFF2-40B4-BE49-F238E27FC236}">
                <a16:creationId xmlns:a16="http://schemas.microsoft.com/office/drawing/2014/main" id="{3D300B48-3D53-EC04-0BBE-BA84E51B9857}"/>
              </a:ext>
            </a:extLst>
          </p:cNvPr>
          <p:cNvSpPr>
            <a:spLocks noGrp="1"/>
          </p:cNvSpPr>
          <p:nvPr/>
        </p:nvSpPr>
        <p:spPr>
          <a:xfrm>
            <a:off x="530528" y="2237665"/>
            <a:ext cx="857250" cy="525780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72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Training set</a:t>
            </a:r>
          </a:p>
          <a:p>
            <a:pPr algn="ctr">
              <a:defRPr sz="12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72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(except Friday)</a:t>
            </a:r>
            <a:endParaRPr sz="72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train-exp-0">
            <a:extLst>
              <a:ext uri="{FF2B5EF4-FFF2-40B4-BE49-F238E27FC236}">
                <a16:creationId xmlns:a16="http://schemas.microsoft.com/office/drawing/2014/main" id="{EE8D1D64-2923-0454-C054-D1447782418C}"/>
              </a:ext>
            </a:extLst>
          </p:cNvPr>
          <p:cNvSpPr>
            <a:spLocks noGrp="1"/>
          </p:cNvSpPr>
          <p:nvPr/>
        </p:nvSpPr>
        <p:spPr>
          <a:xfrm>
            <a:off x="1809137" y="2128654"/>
            <a:ext cx="771525" cy="468630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  <a:endParaRPr sz="63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</a:t>
            </a:r>
            <a:endParaRPr lang="en-US" sz="63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{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DoS</a:t>
            </a: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7" name="train-exp-1">
            <a:extLst>
              <a:ext uri="{FF2B5EF4-FFF2-40B4-BE49-F238E27FC236}">
                <a16:creationId xmlns:a16="http://schemas.microsoft.com/office/drawing/2014/main" id="{A4449880-0D93-9354-A1B9-ABB94E93F36D}"/>
              </a:ext>
            </a:extLst>
          </p:cNvPr>
          <p:cNvSpPr>
            <a:spLocks noGrp="1"/>
          </p:cNvSpPr>
          <p:nvPr/>
        </p:nvSpPr>
        <p:spPr>
          <a:xfrm>
            <a:off x="1809137" y="2928754"/>
            <a:ext cx="763596" cy="468630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</a:t>
            </a:r>
            <a:endParaRPr sz="63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{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Credential</a:t>
            </a: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/Web</a:t>
            </a: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18" name="train-exp-2">
            <a:extLst>
              <a:ext uri="{FF2B5EF4-FFF2-40B4-BE49-F238E27FC236}">
                <a16:creationId xmlns:a16="http://schemas.microsoft.com/office/drawing/2014/main" id="{B5BA9DC9-8808-774D-DE78-FB25CABE4711}"/>
              </a:ext>
            </a:extLst>
          </p:cNvPr>
          <p:cNvSpPr>
            <a:spLocks noGrp="1"/>
          </p:cNvSpPr>
          <p:nvPr/>
        </p:nvSpPr>
        <p:spPr>
          <a:xfrm>
            <a:off x="1809137" y="3728854"/>
            <a:ext cx="771525" cy="468630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</a:t>
            </a:r>
            <a:endParaRPr sz="63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</a:t>
            </a:r>
            <a:endParaRPr lang="en-US" sz="63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{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Rare</a:t>
            </a: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D487694-4813-F06C-3BB1-DA7B4A6CFFEA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1387778" y="2362969"/>
            <a:ext cx="421359" cy="137586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804E30A3-554E-D40A-66AA-651AF31ADDBE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1387778" y="2500555"/>
            <a:ext cx="421359" cy="662514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84B4FF8B-159D-40AB-8F40-4181CA29C294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1387778" y="2500555"/>
            <a:ext cx="421359" cy="1462614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6" name="gate0">
            <a:extLst>
              <a:ext uri="{FF2B5EF4-FFF2-40B4-BE49-F238E27FC236}">
                <a16:creationId xmlns:a16="http://schemas.microsoft.com/office/drawing/2014/main" id="{8497361C-53C8-9E10-792B-4B247E560B4D}"/>
              </a:ext>
            </a:extLst>
          </p:cNvPr>
          <p:cNvSpPr>
            <a:spLocks noGrp="1"/>
          </p:cNvSpPr>
          <p:nvPr/>
        </p:nvSpPr>
        <p:spPr>
          <a:xfrm>
            <a:off x="5978732" y="2643912"/>
            <a:ext cx="400050" cy="171450"/>
          </a:xfrm>
          <a:prstGeom prst="roundRect">
            <a:avLst>
              <a:gd name="adj" fmla="val 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94" name="input-x">
            <a:extLst>
              <a:ext uri="{FF2B5EF4-FFF2-40B4-BE49-F238E27FC236}">
                <a16:creationId xmlns:a16="http://schemas.microsoft.com/office/drawing/2014/main" id="{D5680360-A030-C19C-A05A-4C6E5C8D2758}"/>
              </a:ext>
            </a:extLst>
          </p:cNvPr>
          <p:cNvSpPr>
            <a:spLocks noGrp="1"/>
          </p:cNvSpPr>
          <p:nvPr/>
        </p:nvSpPr>
        <p:spPr>
          <a:xfrm>
            <a:off x="4493526" y="1203549"/>
            <a:ext cx="556748" cy="404682"/>
          </a:xfrm>
          <a:prstGeom prst="roundRect">
            <a:avLst>
              <a:gd name="adj" fmla="val 17857"/>
            </a:avLst>
          </a:prstGeom>
          <a:solidFill>
            <a:srgbClr val="FFC000"/>
          </a:solidFill>
          <a:ln w="1143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 set</a:t>
            </a:r>
          </a:p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6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(including Friday)</a:t>
            </a:r>
            <a:endParaRPr sz="6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5" name="test-exp-0">
            <a:extLst>
              <a:ext uri="{FF2B5EF4-FFF2-40B4-BE49-F238E27FC236}">
                <a16:creationId xmlns:a16="http://schemas.microsoft.com/office/drawing/2014/main" id="{80239F3E-ECFE-BF59-C32F-CBD3CBF4B09A}"/>
              </a:ext>
            </a:extLst>
          </p:cNvPr>
          <p:cNvSpPr>
            <a:spLocks noGrp="1"/>
          </p:cNvSpPr>
          <p:nvPr/>
        </p:nvSpPr>
        <p:spPr>
          <a:xfrm>
            <a:off x="5208762" y="1228725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0</a:t>
            </a:r>
          </a:p>
        </p:txBody>
      </p:sp>
      <p:sp>
        <p:nvSpPr>
          <p:cNvPr id="96" name="test-exp-1">
            <a:extLst>
              <a:ext uri="{FF2B5EF4-FFF2-40B4-BE49-F238E27FC236}">
                <a16:creationId xmlns:a16="http://schemas.microsoft.com/office/drawing/2014/main" id="{AEC2D486-6780-710E-2FEE-2216B4A4EC8D}"/>
              </a:ext>
            </a:extLst>
          </p:cNvPr>
          <p:cNvSpPr>
            <a:spLocks noGrp="1"/>
          </p:cNvSpPr>
          <p:nvPr/>
        </p:nvSpPr>
        <p:spPr>
          <a:xfrm>
            <a:off x="5208762" y="2586406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1</a:t>
            </a:r>
          </a:p>
        </p:txBody>
      </p:sp>
      <p:sp>
        <p:nvSpPr>
          <p:cNvPr id="97" name="test-exp-2">
            <a:extLst>
              <a:ext uri="{FF2B5EF4-FFF2-40B4-BE49-F238E27FC236}">
                <a16:creationId xmlns:a16="http://schemas.microsoft.com/office/drawing/2014/main" id="{E3290C60-5B86-CDB8-B4FE-A16F201CA895}"/>
              </a:ext>
            </a:extLst>
          </p:cNvPr>
          <p:cNvSpPr>
            <a:spLocks noGrp="1"/>
          </p:cNvSpPr>
          <p:nvPr/>
        </p:nvSpPr>
        <p:spPr>
          <a:xfrm>
            <a:off x="5224867" y="3039634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2</a:t>
            </a:r>
          </a:p>
        </p:txBody>
      </p:sp>
      <p:sp>
        <p:nvSpPr>
          <p:cNvPr id="104" name="gate1">
            <a:extLst>
              <a:ext uri="{FF2B5EF4-FFF2-40B4-BE49-F238E27FC236}">
                <a16:creationId xmlns:a16="http://schemas.microsoft.com/office/drawing/2014/main" id="{6628AA02-E9D7-CB74-CE72-E5EC42F8D828}"/>
              </a:ext>
            </a:extLst>
          </p:cNvPr>
          <p:cNvSpPr>
            <a:spLocks noGrp="1"/>
          </p:cNvSpPr>
          <p:nvPr/>
        </p:nvSpPr>
        <p:spPr>
          <a:xfrm>
            <a:off x="5966026" y="3780397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58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AC01E495-6700-46DB-B39E-376160202EAB}"/>
              </a:ext>
            </a:extLst>
          </p:cNvPr>
          <p:cNvCxnSpPr>
            <a:cxnSpLocks/>
          </p:cNvCxnSpPr>
          <p:nvPr/>
        </p:nvCxnSpPr>
        <p:spPr>
          <a:xfrm>
            <a:off x="4558621" y="2410272"/>
            <a:ext cx="4215148" cy="0"/>
          </a:xfrm>
          <a:prstGeom prst="straightConnector1">
            <a:avLst/>
          </a:prstGeom>
          <a:ln w="13335">
            <a:solidFill>
              <a:srgbClr val="D9770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37" name="stab0">
            <a:extLst>
              <a:ext uri="{FF2B5EF4-FFF2-40B4-BE49-F238E27FC236}">
                <a16:creationId xmlns:a16="http://schemas.microsoft.com/office/drawing/2014/main" id="{78EB3968-CD8A-9B08-8AA8-372107EB4DBC}"/>
              </a:ext>
            </a:extLst>
          </p:cNvPr>
          <p:cNvSpPr>
            <a:spLocks noGrp="1"/>
          </p:cNvSpPr>
          <p:nvPr/>
        </p:nvSpPr>
        <p:spPr>
          <a:xfrm>
            <a:off x="6498344" y="2542235"/>
            <a:ext cx="702881" cy="3596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TTA stability</a:t>
            </a:r>
            <a:r>
              <a:rPr lang="en-US"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+ confidence</a:t>
            </a:r>
            <a:endParaRPr sz="58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rain-exp-0">
            <a:extLst>
              <a:ext uri="{FF2B5EF4-FFF2-40B4-BE49-F238E27FC236}">
                <a16:creationId xmlns:a16="http://schemas.microsoft.com/office/drawing/2014/main" id="{94441A6D-273D-67F1-1060-92D7703354A0}"/>
              </a:ext>
            </a:extLst>
          </p:cNvPr>
          <p:cNvSpPr>
            <a:spLocks noGrp="1"/>
          </p:cNvSpPr>
          <p:nvPr/>
        </p:nvSpPr>
        <p:spPr>
          <a:xfrm>
            <a:off x="1809137" y="1328187"/>
            <a:ext cx="771525" cy="468630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0</a:t>
            </a: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classes </a:t>
            </a:r>
            <a:endParaRPr lang="en-US" sz="63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  <a:p>
            <a:pPr algn="ctr"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{</a:t>
            </a:r>
            <a:r>
              <a:rPr lang="en-US"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ALL</a:t>
            </a:r>
            <a:r>
              <a:rPr sz="63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E5091DD-D6D2-8246-1EFD-998F1E72BBAE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1387778" y="1562502"/>
            <a:ext cx="421359" cy="938053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2" name="panel-a-title">
            <a:extLst>
              <a:ext uri="{FF2B5EF4-FFF2-40B4-BE49-F238E27FC236}">
                <a16:creationId xmlns:a16="http://schemas.microsoft.com/office/drawing/2014/main" id="{D174D008-35A1-82AC-6084-66C0C37ABD07}"/>
              </a:ext>
            </a:extLst>
          </p:cNvPr>
          <p:cNvSpPr>
            <a:spLocks noGrp="1"/>
          </p:cNvSpPr>
          <p:nvPr/>
        </p:nvSpPr>
        <p:spPr>
          <a:xfrm>
            <a:off x="3321105" y="908685"/>
            <a:ext cx="198882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Training</a:t>
            </a:r>
            <a:endParaRPr sz="9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density-plot-axis-x">
            <a:extLst>
              <a:ext uri="{FF2B5EF4-FFF2-40B4-BE49-F238E27FC236}">
                <a16:creationId xmlns:a16="http://schemas.microsoft.com/office/drawing/2014/main" id="{E591A8C4-A6B7-F7B2-C4E5-AD8824955CFC}"/>
              </a:ext>
            </a:extLst>
          </p:cNvPr>
          <p:cNvSpPr>
            <a:spLocks noGrp="1"/>
          </p:cNvSpPr>
          <p:nvPr/>
        </p:nvSpPr>
        <p:spPr>
          <a:xfrm>
            <a:off x="3496856" y="2486342"/>
            <a:ext cx="828675" cy="571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82868" y="0"/>
                </a:moveTo>
                <a:lnTo>
                  <a:pt x="1325880" y="0"/>
                </a:lnTo>
              </a:path>
            </a:pathLst>
          </a:cu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42" name="density-plot-axis-y">
            <a:extLst>
              <a:ext uri="{FF2B5EF4-FFF2-40B4-BE49-F238E27FC236}">
                <a16:creationId xmlns:a16="http://schemas.microsoft.com/office/drawing/2014/main" id="{42E7AE30-58C3-2249-2136-B2B931CE9D0D}"/>
              </a:ext>
            </a:extLst>
          </p:cNvPr>
          <p:cNvSpPr>
            <a:spLocks noGrp="1"/>
          </p:cNvSpPr>
          <p:nvPr/>
        </p:nvSpPr>
        <p:spPr>
          <a:xfrm>
            <a:off x="3565436" y="2143441"/>
            <a:ext cx="5715" cy="411480"/>
          </a:xfrm>
          <a:custGeom>
            <a:avLst/>
            <a:gdLst/>
            <a:ahLst/>
            <a:cxnLst/>
            <a:rect l="0" t="0" r="0" b="0"/>
            <a:pathLst>
              <a:path w="9525" h="685800">
                <a:moveTo>
                  <a:pt x="0" y="68580"/>
                </a:moveTo>
                <a:lnTo>
                  <a:pt x="0" y="617220"/>
                </a:lnTo>
              </a:path>
            </a:pathLst>
          </a:cu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43" name="density-plot-id">
            <a:extLst>
              <a:ext uri="{FF2B5EF4-FFF2-40B4-BE49-F238E27FC236}">
                <a16:creationId xmlns:a16="http://schemas.microsoft.com/office/drawing/2014/main" id="{575A8319-B59B-7AC6-9695-EA6AE0D2A4E2}"/>
              </a:ext>
            </a:extLst>
          </p:cNvPr>
          <p:cNvSpPr>
            <a:spLocks noGrp="1"/>
          </p:cNvSpPr>
          <p:nvPr/>
        </p:nvSpPr>
        <p:spPr>
          <a:xfrm>
            <a:off x="3560395" y="2191913"/>
            <a:ext cx="245313" cy="297180"/>
          </a:xfrm>
          <a:custGeom>
            <a:avLst/>
            <a:gdLst/>
            <a:ahLst/>
            <a:cxnLst/>
            <a:rect l="0" t="0" r="0" b="0"/>
            <a:pathLst>
              <a:path w="1152525" h="495300">
                <a:moveTo>
                  <a:pt x="23051" y="470535"/>
                </a:moveTo>
                <a:lnTo>
                  <a:pt x="138303" y="287274"/>
                </a:lnTo>
                <a:lnTo>
                  <a:pt x="276606" y="99060"/>
                </a:lnTo>
                <a:lnTo>
                  <a:pt x="414909" y="39624"/>
                </a:lnTo>
                <a:lnTo>
                  <a:pt x="553212" y="84201"/>
                </a:lnTo>
                <a:lnTo>
                  <a:pt x="714566" y="227838"/>
                </a:lnTo>
                <a:lnTo>
                  <a:pt x="898970" y="376428"/>
                </a:lnTo>
                <a:lnTo>
                  <a:pt x="1106424" y="465582"/>
                </a:lnTo>
              </a:path>
            </a:pathLst>
          </a:custGeom>
          <a:noFill/>
          <a:ln w="2095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840" dirty="0"/>
          </a:p>
        </p:txBody>
      </p:sp>
      <p:sp>
        <p:nvSpPr>
          <p:cNvPr id="44" name="density-plot-ood">
            <a:extLst>
              <a:ext uri="{FF2B5EF4-FFF2-40B4-BE49-F238E27FC236}">
                <a16:creationId xmlns:a16="http://schemas.microsoft.com/office/drawing/2014/main" id="{E34C223A-21CE-B07A-557F-5902B5C3A709}"/>
              </a:ext>
            </a:extLst>
          </p:cNvPr>
          <p:cNvSpPr>
            <a:spLocks noGrp="1"/>
          </p:cNvSpPr>
          <p:nvPr/>
        </p:nvSpPr>
        <p:spPr>
          <a:xfrm>
            <a:off x="3699974" y="2189161"/>
            <a:ext cx="556977" cy="297180"/>
          </a:xfrm>
          <a:custGeom>
            <a:avLst/>
            <a:gdLst/>
            <a:ahLst/>
            <a:cxnLst/>
            <a:rect l="0" t="0" r="0" b="0"/>
            <a:pathLst>
              <a:path w="1152525" h="495300">
                <a:moveTo>
                  <a:pt x="46101" y="465582"/>
                </a:moveTo>
                <a:lnTo>
                  <a:pt x="230505" y="346710"/>
                </a:lnTo>
                <a:lnTo>
                  <a:pt x="437960" y="262509"/>
                </a:lnTo>
                <a:lnTo>
                  <a:pt x="645414" y="212979"/>
                </a:lnTo>
                <a:lnTo>
                  <a:pt x="852868" y="227838"/>
                </a:lnTo>
                <a:lnTo>
                  <a:pt x="1060323" y="312039"/>
                </a:lnTo>
              </a:path>
            </a:pathLst>
          </a:cu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A194D2-7663-58E7-C8EC-C75910F9710E}"/>
              </a:ext>
            </a:extLst>
          </p:cNvPr>
          <p:cNvSpPr txBox="1"/>
          <p:nvPr/>
        </p:nvSpPr>
        <p:spPr>
          <a:xfrm>
            <a:off x="3479962" y="2468880"/>
            <a:ext cx="70418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00" b="1" dirty="0">
                <a:solidFill>
                  <a:srgbClr val="14532D"/>
                </a:solidFill>
              </a:rPr>
              <a:t>Threshold 1</a:t>
            </a:r>
            <a:endParaRPr lang="ko-KR" altLang="en-US" sz="1050" dirty="0"/>
          </a:p>
        </p:txBody>
      </p:sp>
      <p:sp>
        <p:nvSpPr>
          <p:cNvPr id="47" name="density-plot-axis-x">
            <a:extLst>
              <a:ext uri="{FF2B5EF4-FFF2-40B4-BE49-F238E27FC236}">
                <a16:creationId xmlns:a16="http://schemas.microsoft.com/office/drawing/2014/main" id="{AAD8CD30-1860-76DC-ACB4-A27C1EA15586}"/>
              </a:ext>
            </a:extLst>
          </p:cNvPr>
          <p:cNvSpPr>
            <a:spLocks noGrp="1"/>
          </p:cNvSpPr>
          <p:nvPr/>
        </p:nvSpPr>
        <p:spPr>
          <a:xfrm>
            <a:off x="3496856" y="3301679"/>
            <a:ext cx="828675" cy="571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82868" y="0"/>
                </a:moveTo>
                <a:lnTo>
                  <a:pt x="1325880" y="0"/>
                </a:lnTo>
              </a:path>
            </a:pathLst>
          </a:cu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48" name="density-plot-axis-y">
            <a:extLst>
              <a:ext uri="{FF2B5EF4-FFF2-40B4-BE49-F238E27FC236}">
                <a16:creationId xmlns:a16="http://schemas.microsoft.com/office/drawing/2014/main" id="{9753F4A7-9C63-0072-A73F-4C07EF0BDA70}"/>
              </a:ext>
            </a:extLst>
          </p:cNvPr>
          <p:cNvSpPr>
            <a:spLocks noGrp="1"/>
          </p:cNvSpPr>
          <p:nvPr/>
        </p:nvSpPr>
        <p:spPr>
          <a:xfrm>
            <a:off x="3565436" y="2958778"/>
            <a:ext cx="5715" cy="411480"/>
          </a:xfrm>
          <a:custGeom>
            <a:avLst/>
            <a:gdLst/>
            <a:ahLst/>
            <a:cxnLst/>
            <a:rect l="0" t="0" r="0" b="0"/>
            <a:pathLst>
              <a:path w="9525" h="685800">
                <a:moveTo>
                  <a:pt x="0" y="68580"/>
                </a:moveTo>
                <a:lnTo>
                  <a:pt x="0" y="617220"/>
                </a:lnTo>
              </a:path>
            </a:pathLst>
          </a:cu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49" name="density-plot-id">
            <a:extLst>
              <a:ext uri="{FF2B5EF4-FFF2-40B4-BE49-F238E27FC236}">
                <a16:creationId xmlns:a16="http://schemas.microsoft.com/office/drawing/2014/main" id="{D33E9BB4-4CAF-CCD2-E8E8-887C18023D57}"/>
              </a:ext>
            </a:extLst>
          </p:cNvPr>
          <p:cNvSpPr>
            <a:spLocks noGrp="1"/>
          </p:cNvSpPr>
          <p:nvPr/>
        </p:nvSpPr>
        <p:spPr>
          <a:xfrm>
            <a:off x="3699974" y="3007250"/>
            <a:ext cx="551936" cy="297180"/>
          </a:xfrm>
          <a:custGeom>
            <a:avLst/>
            <a:gdLst/>
            <a:ahLst/>
            <a:cxnLst/>
            <a:rect l="0" t="0" r="0" b="0"/>
            <a:pathLst>
              <a:path w="1152525" h="495300">
                <a:moveTo>
                  <a:pt x="23051" y="470535"/>
                </a:moveTo>
                <a:lnTo>
                  <a:pt x="138303" y="287274"/>
                </a:lnTo>
                <a:lnTo>
                  <a:pt x="276606" y="99060"/>
                </a:lnTo>
                <a:lnTo>
                  <a:pt x="414909" y="39624"/>
                </a:lnTo>
                <a:lnTo>
                  <a:pt x="553212" y="84201"/>
                </a:lnTo>
                <a:lnTo>
                  <a:pt x="714566" y="227838"/>
                </a:lnTo>
                <a:lnTo>
                  <a:pt x="898970" y="376428"/>
                </a:lnTo>
                <a:lnTo>
                  <a:pt x="1106424" y="465582"/>
                </a:lnTo>
              </a:path>
            </a:pathLst>
          </a:custGeom>
          <a:noFill/>
          <a:ln w="2095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840" dirty="0"/>
          </a:p>
        </p:txBody>
      </p:sp>
      <p:sp>
        <p:nvSpPr>
          <p:cNvPr id="50" name="density-plot-ood">
            <a:extLst>
              <a:ext uri="{FF2B5EF4-FFF2-40B4-BE49-F238E27FC236}">
                <a16:creationId xmlns:a16="http://schemas.microsoft.com/office/drawing/2014/main" id="{7808A758-B701-4062-D4D6-E201641497A2}"/>
              </a:ext>
            </a:extLst>
          </p:cNvPr>
          <p:cNvSpPr>
            <a:spLocks noGrp="1"/>
          </p:cNvSpPr>
          <p:nvPr/>
        </p:nvSpPr>
        <p:spPr>
          <a:xfrm>
            <a:off x="3971201" y="3004498"/>
            <a:ext cx="285750" cy="297180"/>
          </a:xfrm>
          <a:custGeom>
            <a:avLst/>
            <a:gdLst/>
            <a:ahLst/>
            <a:cxnLst/>
            <a:rect l="0" t="0" r="0" b="0"/>
            <a:pathLst>
              <a:path w="1152525" h="495300">
                <a:moveTo>
                  <a:pt x="46101" y="465582"/>
                </a:moveTo>
                <a:lnTo>
                  <a:pt x="230505" y="346710"/>
                </a:lnTo>
                <a:lnTo>
                  <a:pt x="437960" y="262509"/>
                </a:lnTo>
                <a:lnTo>
                  <a:pt x="645414" y="212979"/>
                </a:lnTo>
                <a:lnTo>
                  <a:pt x="852868" y="227838"/>
                </a:lnTo>
                <a:lnTo>
                  <a:pt x="1060323" y="312039"/>
                </a:lnTo>
              </a:path>
            </a:pathLst>
          </a:cu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9157E2-A62A-8FC3-F870-99D10827666C}"/>
              </a:ext>
            </a:extLst>
          </p:cNvPr>
          <p:cNvSpPr txBox="1"/>
          <p:nvPr/>
        </p:nvSpPr>
        <p:spPr>
          <a:xfrm>
            <a:off x="3689922" y="3282226"/>
            <a:ext cx="70418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00" b="1" dirty="0">
                <a:solidFill>
                  <a:srgbClr val="14532D"/>
                </a:solidFill>
              </a:rPr>
              <a:t>Threshold 2</a:t>
            </a:r>
            <a:endParaRPr lang="ko-KR" altLang="en-US" sz="1050" dirty="0"/>
          </a:p>
        </p:txBody>
      </p:sp>
      <p:sp>
        <p:nvSpPr>
          <p:cNvPr id="53" name="density-plot-axis-x">
            <a:extLst>
              <a:ext uri="{FF2B5EF4-FFF2-40B4-BE49-F238E27FC236}">
                <a16:creationId xmlns:a16="http://schemas.microsoft.com/office/drawing/2014/main" id="{7D9F38FC-A280-610C-BBCF-258FC56FC0A6}"/>
              </a:ext>
            </a:extLst>
          </p:cNvPr>
          <p:cNvSpPr>
            <a:spLocks noGrp="1"/>
          </p:cNvSpPr>
          <p:nvPr/>
        </p:nvSpPr>
        <p:spPr>
          <a:xfrm>
            <a:off x="3491815" y="1663933"/>
            <a:ext cx="828675" cy="571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82868" y="0"/>
                </a:moveTo>
                <a:lnTo>
                  <a:pt x="1325880" y="0"/>
                </a:lnTo>
              </a:path>
            </a:pathLst>
          </a:cu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54" name="density-plot-axis-y">
            <a:extLst>
              <a:ext uri="{FF2B5EF4-FFF2-40B4-BE49-F238E27FC236}">
                <a16:creationId xmlns:a16="http://schemas.microsoft.com/office/drawing/2014/main" id="{7450A431-7C6C-E8D9-FABA-D53414F1E9BD}"/>
              </a:ext>
            </a:extLst>
          </p:cNvPr>
          <p:cNvSpPr>
            <a:spLocks noGrp="1"/>
          </p:cNvSpPr>
          <p:nvPr/>
        </p:nvSpPr>
        <p:spPr>
          <a:xfrm>
            <a:off x="3560395" y="1321032"/>
            <a:ext cx="5715" cy="411480"/>
          </a:xfrm>
          <a:custGeom>
            <a:avLst/>
            <a:gdLst/>
            <a:ahLst/>
            <a:cxnLst/>
            <a:rect l="0" t="0" r="0" b="0"/>
            <a:pathLst>
              <a:path w="9525" h="685800">
                <a:moveTo>
                  <a:pt x="0" y="68580"/>
                </a:moveTo>
                <a:lnTo>
                  <a:pt x="0" y="617220"/>
                </a:lnTo>
              </a:path>
            </a:pathLst>
          </a:cu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55" name="density-plot-id">
            <a:extLst>
              <a:ext uri="{FF2B5EF4-FFF2-40B4-BE49-F238E27FC236}">
                <a16:creationId xmlns:a16="http://schemas.microsoft.com/office/drawing/2014/main" id="{23122D4D-3A24-A623-B7AB-03D48E493EA5}"/>
              </a:ext>
            </a:extLst>
          </p:cNvPr>
          <p:cNvSpPr>
            <a:spLocks noGrp="1"/>
          </p:cNvSpPr>
          <p:nvPr/>
        </p:nvSpPr>
        <p:spPr>
          <a:xfrm>
            <a:off x="3685073" y="1377614"/>
            <a:ext cx="328848" cy="297180"/>
          </a:xfrm>
          <a:custGeom>
            <a:avLst/>
            <a:gdLst/>
            <a:ahLst/>
            <a:cxnLst/>
            <a:rect l="0" t="0" r="0" b="0"/>
            <a:pathLst>
              <a:path w="1152525" h="495300">
                <a:moveTo>
                  <a:pt x="23051" y="470535"/>
                </a:moveTo>
                <a:lnTo>
                  <a:pt x="138303" y="287274"/>
                </a:lnTo>
                <a:lnTo>
                  <a:pt x="276606" y="99060"/>
                </a:lnTo>
                <a:lnTo>
                  <a:pt x="414909" y="39624"/>
                </a:lnTo>
                <a:lnTo>
                  <a:pt x="553212" y="84201"/>
                </a:lnTo>
                <a:lnTo>
                  <a:pt x="714566" y="227838"/>
                </a:lnTo>
                <a:lnTo>
                  <a:pt x="898970" y="376428"/>
                </a:lnTo>
                <a:lnTo>
                  <a:pt x="1106424" y="465582"/>
                </a:lnTo>
              </a:path>
            </a:pathLst>
          </a:custGeom>
          <a:noFill/>
          <a:ln w="2095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840" dirty="0"/>
          </a:p>
        </p:txBody>
      </p:sp>
      <p:sp>
        <p:nvSpPr>
          <p:cNvPr id="62" name="density-plot-ood">
            <a:extLst>
              <a:ext uri="{FF2B5EF4-FFF2-40B4-BE49-F238E27FC236}">
                <a16:creationId xmlns:a16="http://schemas.microsoft.com/office/drawing/2014/main" id="{F4F17A00-1997-19D4-4FB2-FF818AC611ED}"/>
              </a:ext>
            </a:extLst>
          </p:cNvPr>
          <p:cNvSpPr>
            <a:spLocks noGrp="1"/>
          </p:cNvSpPr>
          <p:nvPr/>
        </p:nvSpPr>
        <p:spPr>
          <a:xfrm>
            <a:off x="3966160" y="1366752"/>
            <a:ext cx="285750" cy="297180"/>
          </a:xfrm>
          <a:custGeom>
            <a:avLst/>
            <a:gdLst/>
            <a:ahLst/>
            <a:cxnLst/>
            <a:rect l="0" t="0" r="0" b="0"/>
            <a:pathLst>
              <a:path w="1152525" h="495300">
                <a:moveTo>
                  <a:pt x="46101" y="465582"/>
                </a:moveTo>
                <a:lnTo>
                  <a:pt x="230505" y="346710"/>
                </a:lnTo>
                <a:lnTo>
                  <a:pt x="437960" y="262509"/>
                </a:lnTo>
                <a:lnTo>
                  <a:pt x="645414" y="212979"/>
                </a:lnTo>
                <a:lnTo>
                  <a:pt x="852868" y="227838"/>
                </a:lnTo>
                <a:lnTo>
                  <a:pt x="1060323" y="312039"/>
                </a:lnTo>
              </a:path>
            </a:pathLst>
          </a:cu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ko-KR" altLang="en-US" sz="84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B1E43E-9045-552F-D6E3-BA017BC5D5EF}"/>
              </a:ext>
            </a:extLst>
          </p:cNvPr>
          <p:cNvSpPr txBox="1"/>
          <p:nvPr/>
        </p:nvSpPr>
        <p:spPr>
          <a:xfrm>
            <a:off x="3630805" y="1646182"/>
            <a:ext cx="70418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500" b="1" dirty="0">
                <a:solidFill>
                  <a:srgbClr val="14532D"/>
                </a:solidFill>
              </a:rPr>
              <a:t>Threshold 0</a:t>
            </a:r>
            <a:endParaRPr lang="ko-KR" altLang="en-US" sz="10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6EFAE6-3BB5-F86E-6C00-DADE5FC72961}"/>
              </a:ext>
            </a:extLst>
          </p:cNvPr>
          <p:cNvSpPr txBox="1"/>
          <p:nvPr/>
        </p:nvSpPr>
        <p:spPr>
          <a:xfrm>
            <a:off x="3193907" y="1675191"/>
            <a:ext cx="91860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rgbClr val="1F2937"/>
                </a:solidFill>
                <a:latin typeface="Aptos"/>
              </a:rPr>
              <a:t>Baseline logits</a:t>
            </a:r>
            <a:endParaRPr lang="ko-KR" altLang="en-US" sz="1100" dirty="0"/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4F3E2A0B-D9E8-021D-116F-54AE66E76D62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2580662" y="1551072"/>
            <a:ext cx="975122" cy="1143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1E28F9AA-8FB2-ED4A-0850-EA4A2657272E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>
            <a:off x="5050274" y="1405890"/>
            <a:ext cx="158488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3AD97B2-DB57-62DF-7795-289FC5021036}"/>
              </a:ext>
            </a:extLst>
          </p:cNvPr>
          <p:cNvCxnSpPr>
            <a:cxnSpLocks/>
            <a:stCxn id="95" idx="3"/>
          </p:cNvCxnSpPr>
          <p:nvPr/>
        </p:nvCxnSpPr>
        <p:spPr>
          <a:xfrm flipV="1">
            <a:off x="5865987" y="1228724"/>
            <a:ext cx="232115" cy="177166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C71F9373-38AB-034F-3DD9-F462C4C632AE}"/>
              </a:ext>
            </a:extLst>
          </p:cNvPr>
          <p:cNvCxnSpPr>
            <a:cxnSpLocks/>
            <a:stCxn id="101" idx="3"/>
            <a:endCxn id="96" idx="1"/>
          </p:cNvCxnSpPr>
          <p:nvPr/>
        </p:nvCxnSpPr>
        <p:spPr>
          <a:xfrm flipV="1">
            <a:off x="5061823" y="2763571"/>
            <a:ext cx="146939" cy="219257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2" name="test-exp-2">
            <a:extLst>
              <a:ext uri="{FF2B5EF4-FFF2-40B4-BE49-F238E27FC236}">
                <a16:creationId xmlns:a16="http://schemas.microsoft.com/office/drawing/2014/main" id="{A923DE87-A91E-800C-DC0A-AC35C471AFCE}"/>
              </a:ext>
            </a:extLst>
          </p:cNvPr>
          <p:cNvSpPr>
            <a:spLocks noGrp="1"/>
          </p:cNvSpPr>
          <p:nvPr/>
        </p:nvSpPr>
        <p:spPr>
          <a:xfrm>
            <a:off x="6618365" y="4654370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</a:t>
            </a:r>
            <a:r>
              <a:rPr lang="en-US"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</a:t>
            </a:r>
            <a:endParaRPr sz="67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EF45226A-105F-F15F-3B8F-ABB0D5F7484B}"/>
              </a:ext>
            </a:extLst>
          </p:cNvPr>
          <p:cNvCxnSpPr>
            <a:cxnSpLocks/>
            <a:stCxn id="101" idx="3"/>
            <a:endCxn id="97" idx="1"/>
          </p:cNvCxnSpPr>
          <p:nvPr/>
        </p:nvCxnSpPr>
        <p:spPr>
          <a:xfrm>
            <a:off x="5061823" y="2982828"/>
            <a:ext cx="163044" cy="233971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68F0EC06-9A9A-1F0B-3003-A04049DE85BB}"/>
              </a:ext>
            </a:extLst>
          </p:cNvPr>
          <p:cNvCxnSpPr>
            <a:cxnSpLocks/>
            <a:stCxn id="57" idx="3"/>
            <a:endCxn id="112" idx="1"/>
          </p:cNvCxnSpPr>
          <p:nvPr/>
        </p:nvCxnSpPr>
        <p:spPr>
          <a:xfrm>
            <a:off x="5045468" y="4369659"/>
            <a:ext cx="1572897" cy="461876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9" name="gate0">
            <a:extLst>
              <a:ext uri="{FF2B5EF4-FFF2-40B4-BE49-F238E27FC236}">
                <a16:creationId xmlns:a16="http://schemas.microsoft.com/office/drawing/2014/main" id="{92BDC11F-556E-27DF-A979-B9ED2C0477FD}"/>
              </a:ext>
            </a:extLst>
          </p:cNvPr>
          <p:cNvSpPr>
            <a:spLocks noGrp="1"/>
          </p:cNvSpPr>
          <p:nvPr/>
        </p:nvSpPr>
        <p:spPr>
          <a:xfrm>
            <a:off x="5998824" y="3102065"/>
            <a:ext cx="400050" cy="171450"/>
          </a:xfrm>
          <a:prstGeom prst="roundRect">
            <a:avLst>
              <a:gd name="adj" fmla="val 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A800FCAC-A3AF-0637-DD1F-3A707381101F}"/>
              </a:ext>
            </a:extLst>
          </p:cNvPr>
          <p:cNvCxnSpPr>
            <a:cxnSpLocks/>
          </p:cNvCxnSpPr>
          <p:nvPr/>
        </p:nvCxnSpPr>
        <p:spPr>
          <a:xfrm flipV="1">
            <a:off x="7518607" y="2953475"/>
            <a:ext cx="688891" cy="3408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1F751CF7-42D3-623A-4C56-EEDC0766F878}"/>
              </a:ext>
            </a:extLst>
          </p:cNvPr>
          <p:cNvCxnSpPr>
            <a:cxnSpLocks/>
          </p:cNvCxnSpPr>
          <p:nvPr/>
        </p:nvCxnSpPr>
        <p:spPr>
          <a:xfrm>
            <a:off x="7198603" y="2731341"/>
            <a:ext cx="333639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D284C013-C2AC-7FD9-DFAD-B8A6EEC4FC2D}"/>
              </a:ext>
            </a:extLst>
          </p:cNvPr>
          <p:cNvCxnSpPr>
            <a:cxnSpLocks/>
          </p:cNvCxnSpPr>
          <p:nvPr/>
        </p:nvCxnSpPr>
        <p:spPr>
          <a:xfrm>
            <a:off x="7218695" y="3184184"/>
            <a:ext cx="333639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3" name="final-y">
            <a:extLst>
              <a:ext uri="{FF2B5EF4-FFF2-40B4-BE49-F238E27FC236}">
                <a16:creationId xmlns:a16="http://schemas.microsoft.com/office/drawing/2014/main" id="{C661AD91-0BEB-A51A-BDAD-A7242D255685}"/>
              </a:ext>
            </a:extLst>
          </p:cNvPr>
          <p:cNvSpPr>
            <a:spLocks noGrp="1"/>
          </p:cNvSpPr>
          <p:nvPr/>
        </p:nvSpPr>
        <p:spPr>
          <a:xfrm>
            <a:off x="8203961" y="2804885"/>
            <a:ext cx="563173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y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4BA07C84-4730-5ECA-24D5-DF74DF953010}"/>
              </a:ext>
            </a:extLst>
          </p:cNvPr>
          <p:cNvCxnSpPr>
            <a:cxnSpLocks/>
          </p:cNvCxnSpPr>
          <p:nvPr/>
        </p:nvCxnSpPr>
        <p:spPr>
          <a:xfrm>
            <a:off x="7532242" y="2722052"/>
            <a:ext cx="0" cy="452419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" name="final-y">
            <a:extLst>
              <a:ext uri="{FF2B5EF4-FFF2-40B4-BE49-F238E27FC236}">
                <a16:creationId xmlns:a16="http://schemas.microsoft.com/office/drawing/2014/main" id="{EBE68D60-D732-DBE8-E20F-6C97F707D1B7}"/>
              </a:ext>
            </a:extLst>
          </p:cNvPr>
          <p:cNvSpPr>
            <a:spLocks noGrp="1"/>
          </p:cNvSpPr>
          <p:nvPr/>
        </p:nvSpPr>
        <p:spPr>
          <a:xfrm>
            <a:off x="2811255" y="1392822"/>
            <a:ext cx="631984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Binary Classifier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final-y">
            <a:extLst>
              <a:ext uri="{FF2B5EF4-FFF2-40B4-BE49-F238E27FC236}">
                <a16:creationId xmlns:a16="http://schemas.microsoft.com/office/drawing/2014/main" id="{E081E757-C00B-BF4C-2DD8-3D8133DA48FC}"/>
              </a:ext>
            </a:extLst>
          </p:cNvPr>
          <p:cNvSpPr>
            <a:spLocks noGrp="1"/>
          </p:cNvSpPr>
          <p:nvPr/>
        </p:nvSpPr>
        <p:spPr>
          <a:xfrm>
            <a:off x="2811255" y="3803257"/>
            <a:ext cx="631984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Classifier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3226F1-8616-D696-F29E-241AF5494F9C}"/>
              </a:ext>
            </a:extLst>
          </p:cNvPr>
          <p:cNvSpPr txBox="1"/>
          <p:nvPr/>
        </p:nvSpPr>
        <p:spPr>
          <a:xfrm>
            <a:off x="3193907" y="2478981"/>
            <a:ext cx="91860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rgbClr val="1F2937"/>
                </a:solidFill>
                <a:latin typeface="Aptos"/>
              </a:rPr>
              <a:t>Exp1 logits</a:t>
            </a:r>
            <a:endParaRPr lang="ko-KR" altLang="en-US" sz="1100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52EA50E-7D46-A9FA-D2C3-781FE34EE78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580662" y="2354862"/>
            <a:ext cx="975122" cy="8107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A9518DD-61B2-8072-4664-7ED1BD89C6E8}"/>
              </a:ext>
            </a:extLst>
          </p:cNvPr>
          <p:cNvSpPr txBox="1"/>
          <p:nvPr/>
        </p:nvSpPr>
        <p:spPr>
          <a:xfrm>
            <a:off x="3193907" y="3298590"/>
            <a:ext cx="91860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b="1" dirty="0">
                <a:solidFill>
                  <a:srgbClr val="1F2937"/>
                </a:solidFill>
                <a:latin typeface="Aptos"/>
              </a:rPr>
              <a:t>Exp2 logits</a:t>
            </a:r>
            <a:endParaRPr lang="ko-KR" altLang="en-US" sz="11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0C79A55-6149-8E5E-D7F5-63F6DC0F3A97}"/>
              </a:ext>
            </a:extLst>
          </p:cNvPr>
          <p:cNvCxnSpPr>
            <a:cxnSpLocks/>
          </p:cNvCxnSpPr>
          <p:nvPr/>
        </p:nvCxnSpPr>
        <p:spPr>
          <a:xfrm>
            <a:off x="2580662" y="3174471"/>
            <a:ext cx="975122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final-y">
            <a:extLst>
              <a:ext uri="{FF2B5EF4-FFF2-40B4-BE49-F238E27FC236}">
                <a16:creationId xmlns:a16="http://schemas.microsoft.com/office/drawing/2014/main" id="{1986672F-1169-8581-DCE8-E45592059901}"/>
              </a:ext>
            </a:extLst>
          </p:cNvPr>
          <p:cNvSpPr>
            <a:spLocks noGrp="1"/>
          </p:cNvSpPr>
          <p:nvPr/>
        </p:nvSpPr>
        <p:spPr>
          <a:xfrm>
            <a:off x="2811255" y="2214379"/>
            <a:ext cx="631984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Classifier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final-y">
            <a:extLst>
              <a:ext uri="{FF2B5EF4-FFF2-40B4-BE49-F238E27FC236}">
                <a16:creationId xmlns:a16="http://schemas.microsoft.com/office/drawing/2014/main" id="{D18E150F-E223-C39D-3C22-8CBB6218E622}"/>
              </a:ext>
            </a:extLst>
          </p:cNvPr>
          <p:cNvSpPr>
            <a:spLocks noGrp="1"/>
          </p:cNvSpPr>
          <p:nvPr/>
        </p:nvSpPr>
        <p:spPr>
          <a:xfrm>
            <a:off x="2811255" y="3004498"/>
            <a:ext cx="631984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Classifier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C9F77C2-25AB-A7AC-A5F8-460B44DA1572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5865987" y="1400176"/>
            <a:ext cx="200079" cy="200891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1" name="gate1">
            <a:extLst>
              <a:ext uri="{FF2B5EF4-FFF2-40B4-BE49-F238E27FC236}">
                <a16:creationId xmlns:a16="http://schemas.microsoft.com/office/drawing/2014/main" id="{C555AEC6-31D0-E164-DF46-115484823761}"/>
              </a:ext>
            </a:extLst>
          </p:cNvPr>
          <p:cNvSpPr>
            <a:spLocks noGrp="1"/>
          </p:cNvSpPr>
          <p:nvPr/>
        </p:nvSpPr>
        <p:spPr>
          <a:xfrm>
            <a:off x="6098102" y="1161664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58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gate0">
            <a:extLst>
              <a:ext uri="{FF2B5EF4-FFF2-40B4-BE49-F238E27FC236}">
                <a16:creationId xmlns:a16="http://schemas.microsoft.com/office/drawing/2014/main" id="{7D5A51BF-D736-8C5D-E21B-9315F93C80F6}"/>
              </a:ext>
            </a:extLst>
          </p:cNvPr>
          <p:cNvSpPr>
            <a:spLocks noGrp="1"/>
          </p:cNvSpPr>
          <p:nvPr/>
        </p:nvSpPr>
        <p:spPr>
          <a:xfrm>
            <a:off x="6066066" y="1515342"/>
            <a:ext cx="400050" cy="171450"/>
          </a:xfrm>
          <a:prstGeom prst="roundRect">
            <a:avLst>
              <a:gd name="adj" fmla="val 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6B29671-D463-5113-DFB1-5DCC4C0EF222}"/>
              </a:ext>
            </a:extLst>
          </p:cNvPr>
          <p:cNvCxnSpPr>
            <a:cxnSpLocks/>
          </p:cNvCxnSpPr>
          <p:nvPr/>
        </p:nvCxnSpPr>
        <p:spPr>
          <a:xfrm flipV="1">
            <a:off x="6466116" y="1429615"/>
            <a:ext cx="232115" cy="177166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BDB082A-4F80-7B47-AB36-32217435A258}"/>
              </a:ext>
            </a:extLst>
          </p:cNvPr>
          <p:cNvCxnSpPr>
            <a:cxnSpLocks/>
          </p:cNvCxnSpPr>
          <p:nvPr/>
        </p:nvCxnSpPr>
        <p:spPr>
          <a:xfrm>
            <a:off x="6466116" y="1601067"/>
            <a:ext cx="200079" cy="200891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61" name="final-y">
            <a:extLst>
              <a:ext uri="{FF2B5EF4-FFF2-40B4-BE49-F238E27FC236}">
                <a16:creationId xmlns:a16="http://schemas.microsoft.com/office/drawing/2014/main" id="{2E566E83-C872-38D8-0237-9830F4EA83EE}"/>
              </a:ext>
            </a:extLst>
          </p:cNvPr>
          <p:cNvSpPr>
            <a:spLocks noGrp="1"/>
          </p:cNvSpPr>
          <p:nvPr/>
        </p:nvSpPr>
        <p:spPr>
          <a:xfrm>
            <a:off x="6694609" y="1280133"/>
            <a:ext cx="563173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Benign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test-exp-1">
            <a:extLst>
              <a:ext uri="{FF2B5EF4-FFF2-40B4-BE49-F238E27FC236}">
                <a16:creationId xmlns:a16="http://schemas.microsoft.com/office/drawing/2014/main" id="{0E07EC99-5F93-7C84-7CF6-0F11F9F819AA}"/>
              </a:ext>
            </a:extLst>
          </p:cNvPr>
          <p:cNvSpPr>
            <a:spLocks noGrp="1"/>
          </p:cNvSpPr>
          <p:nvPr/>
        </p:nvSpPr>
        <p:spPr>
          <a:xfrm>
            <a:off x="6677638" y="1743975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</a:t>
            </a:r>
            <a:r>
              <a:rPr lang="en-US"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 &amp; 2</a:t>
            </a:r>
            <a:endParaRPr sz="67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7DF70A9-FE93-59EA-A268-E4E5F5EEE5E0}"/>
              </a:ext>
            </a:extLst>
          </p:cNvPr>
          <p:cNvCxnSpPr>
            <a:cxnSpLocks/>
          </p:cNvCxnSpPr>
          <p:nvPr/>
        </p:nvCxnSpPr>
        <p:spPr>
          <a:xfrm flipV="1">
            <a:off x="7332163" y="1735681"/>
            <a:ext cx="232115" cy="177166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CCB0C45-2F35-2AA2-9AF2-0428DE688ED4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7332163" y="1907133"/>
            <a:ext cx="200079" cy="200891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70" name="gate1">
            <a:extLst>
              <a:ext uri="{FF2B5EF4-FFF2-40B4-BE49-F238E27FC236}">
                <a16:creationId xmlns:a16="http://schemas.microsoft.com/office/drawing/2014/main" id="{AE1FFEFE-C7DF-EB9A-7DF5-AB01AD6E487C}"/>
              </a:ext>
            </a:extLst>
          </p:cNvPr>
          <p:cNvSpPr>
            <a:spLocks noGrp="1"/>
          </p:cNvSpPr>
          <p:nvPr/>
        </p:nvSpPr>
        <p:spPr>
          <a:xfrm>
            <a:off x="7564278" y="1668621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58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1" name="gate0">
            <a:extLst>
              <a:ext uri="{FF2B5EF4-FFF2-40B4-BE49-F238E27FC236}">
                <a16:creationId xmlns:a16="http://schemas.microsoft.com/office/drawing/2014/main" id="{2E80423C-565F-AAC7-4763-D0030BB21812}"/>
              </a:ext>
            </a:extLst>
          </p:cNvPr>
          <p:cNvSpPr>
            <a:spLocks noGrp="1"/>
          </p:cNvSpPr>
          <p:nvPr/>
        </p:nvSpPr>
        <p:spPr>
          <a:xfrm>
            <a:off x="7532242" y="2022299"/>
            <a:ext cx="400050" cy="171450"/>
          </a:xfrm>
          <a:prstGeom prst="roundRect">
            <a:avLst>
              <a:gd name="adj" fmla="val 0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DC14571-9153-611D-376D-3CA01A5E5D17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>
            <a:off x="7932292" y="2108024"/>
            <a:ext cx="289244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73" name="final-y">
            <a:extLst>
              <a:ext uri="{FF2B5EF4-FFF2-40B4-BE49-F238E27FC236}">
                <a16:creationId xmlns:a16="http://schemas.microsoft.com/office/drawing/2014/main" id="{B678ABEB-76FB-C268-F862-3313AB52C481}"/>
              </a:ext>
            </a:extLst>
          </p:cNvPr>
          <p:cNvSpPr>
            <a:spLocks noGrp="1"/>
          </p:cNvSpPr>
          <p:nvPr/>
        </p:nvSpPr>
        <p:spPr>
          <a:xfrm>
            <a:off x="8221536" y="1959434"/>
            <a:ext cx="563173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y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9" name="stab0">
            <a:extLst>
              <a:ext uri="{FF2B5EF4-FFF2-40B4-BE49-F238E27FC236}">
                <a16:creationId xmlns:a16="http://schemas.microsoft.com/office/drawing/2014/main" id="{1DBC0051-8ED4-03B1-4EE0-0E7BD0D79B00}"/>
              </a:ext>
            </a:extLst>
          </p:cNvPr>
          <p:cNvSpPr>
            <a:spLocks noGrp="1"/>
          </p:cNvSpPr>
          <p:nvPr/>
        </p:nvSpPr>
        <p:spPr>
          <a:xfrm>
            <a:off x="6518436" y="3010625"/>
            <a:ext cx="702881" cy="35963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TTA stability</a:t>
            </a:r>
            <a:r>
              <a:rPr lang="en-US"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+ confidence</a:t>
            </a:r>
            <a:endParaRPr sz="58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9210435-6CD4-70D8-F477-B300764EB55C}"/>
              </a:ext>
            </a:extLst>
          </p:cNvPr>
          <p:cNvSpPr/>
          <p:nvPr/>
        </p:nvSpPr>
        <p:spPr>
          <a:xfrm>
            <a:off x="6618365" y="1631234"/>
            <a:ext cx="2229244" cy="68261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input-x">
            <a:extLst>
              <a:ext uri="{FF2B5EF4-FFF2-40B4-BE49-F238E27FC236}">
                <a16:creationId xmlns:a16="http://schemas.microsoft.com/office/drawing/2014/main" id="{DEC6E574-618E-C00C-B5EC-DA219F2CB65D}"/>
              </a:ext>
            </a:extLst>
          </p:cNvPr>
          <p:cNvSpPr>
            <a:spLocks noGrp="1"/>
          </p:cNvSpPr>
          <p:nvPr/>
        </p:nvSpPr>
        <p:spPr>
          <a:xfrm>
            <a:off x="4505075" y="2780487"/>
            <a:ext cx="556748" cy="404682"/>
          </a:xfrm>
          <a:prstGeom prst="roundRect">
            <a:avLst>
              <a:gd name="adj" fmla="val 17857"/>
            </a:avLst>
          </a:prstGeom>
          <a:solidFill>
            <a:srgbClr val="FFC000"/>
          </a:solidFill>
          <a:ln w="1143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 set</a:t>
            </a:r>
          </a:p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6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(including Friday)</a:t>
            </a:r>
            <a:endParaRPr sz="6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final-y">
            <a:extLst>
              <a:ext uri="{FF2B5EF4-FFF2-40B4-BE49-F238E27FC236}">
                <a16:creationId xmlns:a16="http://schemas.microsoft.com/office/drawing/2014/main" id="{548A44E3-A502-2EFD-14EF-0F38A92623FB}"/>
              </a:ext>
            </a:extLst>
          </p:cNvPr>
          <p:cNvSpPr>
            <a:spLocks noGrp="1"/>
          </p:cNvSpPr>
          <p:nvPr/>
        </p:nvSpPr>
        <p:spPr>
          <a:xfrm>
            <a:off x="3750646" y="1445839"/>
            <a:ext cx="410376" cy="13983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final-y">
            <a:extLst>
              <a:ext uri="{FF2B5EF4-FFF2-40B4-BE49-F238E27FC236}">
                <a16:creationId xmlns:a16="http://schemas.microsoft.com/office/drawing/2014/main" id="{23728D57-4964-9D1A-5FC6-92D6E03E2244}"/>
              </a:ext>
            </a:extLst>
          </p:cNvPr>
          <p:cNvSpPr>
            <a:spLocks noGrp="1"/>
          </p:cNvSpPr>
          <p:nvPr/>
        </p:nvSpPr>
        <p:spPr>
          <a:xfrm>
            <a:off x="3750646" y="2257591"/>
            <a:ext cx="410376" cy="13983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final-y">
            <a:extLst>
              <a:ext uri="{FF2B5EF4-FFF2-40B4-BE49-F238E27FC236}">
                <a16:creationId xmlns:a16="http://schemas.microsoft.com/office/drawing/2014/main" id="{FA313303-F7BF-1CDA-149E-2AEE420D0643}"/>
              </a:ext>
            </a:extLst>
          </p:cNvPr>
          <p:cNvSpPr>
            <a:spLocks noGrp="1"/>
          </p:cNvSpPr>
          <p:nvPr/>
        </p:nvSpPr>
        <p:spPr>
          <a:xfrm>
            <a:off x="3750646" y="3090876"/>
            <a:ext cx="410376" cy="13983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19F73E1-CFE5-015E-B4AA-0DF4F1C04FFA}"/>
              </a:ext>
            </a:extLst>
          </p:cNvPr>
          <p:cNvCxnSpPr>
            <a:cxnSpLocks/>
          </p:cNvCxnSpPr>
          <p:nvPr/>
        </p:nvCxnSpPr>
        <p:spPr>
          <a:xfrm>
            <a:off x="7964328" y="1743975"/>
            <a:ext cx="289244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test-exp-1">
            <a:extLst>
              <a:ext uri="{FF2B5EF4-FFF2-40B4-BE49-F238E27FC236}">
                <a16:creationId xmlns:a16="http://schemas.microsoft.com/office/drawing/2014/main" id="{40604623-4DFA-6196-5FEA-5BBB7B011EC3}"/>
              </a:ext>
            </a:extLst>
          </p:cNvPr>
          <p:cNvSpPr>
            <a:spLocks noGrp="1"/>
          </p:cNvSpPr>
          <p:nvPr/>
        </p:nvSpPr>
        <p:spPr>
          <a:xfrm>
            <a:off x="8218803" y="1686792"/>
            <a:ext cx="605157" cy="15328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</a:t>
            </a:r>
            <a:r>
              <a:rPr lang="en-US"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</a:t>
            </a:r>
            <a:endParaRPr sz="67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test-exp-1">
            <a:extLst>
              <a:ext uri="{FF2B5EF4-FFF2-40B4-BE49-F238E27FC236}">
                <a16:creationId xmlns:a16="http://schemas.microsoft.com/office/drawing/2014/main" id="{F5ED0819-F8BE-DBAC-A629-84CCF3B7F00B}"/>
              </a:ext>
            </a:extLst>
          </p:cNvPr>
          <p:cNvSpPr>
            <a:spLocks noGrp="1"/>
          </p:cNvSpPr>
          <p:nvPr/>
        </p:nvSpPr>
        <p:spPr>
          <a:xfrm>
            <a:off x="5208762" y="3734008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1</a:t>
            </a:r>
          </a:p>
        </p:txBody>
      </p:sp>
      <p:sp>
        <p:nvSpPr>
          <p:cNvPr id="38" name="test-exp-2">
            <a:extLst>
              <a:ext uri="{FF2B5EF4-FFF2-40B4-BE49-F238E27FC236}">
                <a16:creationId xmlns:a16="http://schemas.microsoft.com/office/drawing/2014/main" id="{41B9EEA2-2DFA-72DB-7375-59F98430B6E1}"/>
              </a:ext>
            </a:extLst>
          </p:cNvPr>
          <p:cNvSpPr>
            <a:spLocks noGrp="1"/>
          </p:cNvSpPr>
          <p:nvPr/>
        </p:nvSpPr>
        <p:spPr>
          <a:xfrm>
            <a:off x="5204775" y="4197484"/>
            <a:ext cx="657225" cy="354330"/>
          </a:xfrm>
          <a:prstGeom prst="roundRect">
            <a:avLst>
              <a:gd name="adj" fmla="val 16129"/>
            </a:avLst>
          </a:prstGeom>
          <a:solidFill>
            <a:srgbClr val="EEF2FF"/>
          </a:solidFill>
          <a:ln w="11430">
            <a:solidFill>
              <a:srgbClr val="4F46E5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67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Expert 2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7ED1F31-7F69-8D6D-9BF5-56BD340F50E5}"/>
              </a:ext>
            </a:extLst>
          </p:cNvPr>
          <p:cNvCxnSpPr>
            <a:cxnSpLocks/>
            <a:stCxn id="57" idx="3"/>
            <a:endCxn id="36" idx="1"/>
          </p:cNvCxnSpPr>
          <p:nvPr/>
        </p:nvCxnSpPr>
        <p:spPr>
          <a:xfrm flipV="1">
            <a:off x="5045468" y="3911173"/>
            <a:ext cx="163294" cy="458486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D07C7FC-367B-BE34-B42A-58FC4560C6B1}"/>
              </a:ext>
            </a:extLst>
          </p:cNvPr>
          <p:cNvCxnSpPr>
            <a:cxnSpLocks/>
            <a:stCxn id="57" idx="3"/>
            <a:endCxn id="38" idx="1"/>
          </p:cNvCxnSpPr>
          <p:nvPr/>
        </p:nvCxnSpPr>
        <p:spPr>
          <a:xfrm>
            <a:off x="5045468" y="4369659"/>
            <a:ext cx="159307" cy="499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57" name="input-x">
            <a:extLst>
              <a:ext uri="{FF2B5EF4-FFF2-40B4-BE49-F238E27FC236}">
                <a16:creationId xmlns:a16="http://schemas.microsoft.com/office/drawing/2014/main" id="{0265CFCF-7CA2-39EB-33CB-CB48C9FB395B}"/>
              </a:ext>
            </a:extLst>
          </p:cNvPr>
          <p:cNvSpPr>
            <a:spLocks noGrp="1"/>
          </p:cNvSpPr>
          <p:nvPr/>
        </p:nvSpPr>
        <p:spPr>
          <a:xfrm>
            <a:off x="4488720" y="4167318"/>
            <a:ext cx="556748" cy="404682"/>
          </a:xfrm>
          <a:prstGeom prst="roundRect">
            <a:avLst>
              <a:gd name="adj" fmla="val 17857"/>
            </a:avLst>
          </a:prstGeom>
          <a:solidFill>
            <a:srgbClr val="FFC000"/>
          </a:solidFill>
          <a:ln w="1143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 set</a:t>
            </a:r>
          </a:p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6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(including Friday)</a:t>
            </a:r>
            <a:endParaRPr sz="6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gate1">
            <a:extLst>
              <a:ext uri="{FF2B5EF4-FFF2-40B4-BE49-F238E27FC236}">
                <a16:creationId xmlns:a16="http://schemas.microsoft.com/office/drawing/2014/main" id="{B06FFDF1-1D33-170C-A376-1027F3DCC71E}"/>
              </a:ext>
            </a:extLst>
          </p:cNvPr>
          <p:cNvSpPr>
            <a:spLocks noGrp="1"/>
          </p:cNvSpPr>
          <p:nvPr/>
        </p:nvSpPr>
        <p:spPr>
          <a:xfrm>
            <a:off x="5966026" y="4287279"/>
            <a:ext cx="400050" cy="1714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585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OOD</a:t>
            </a:r>
            <a:endParaRPr sz="585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DDAEA7F5-24B9-CC42-5170-D93DCDDB6595}"/>
              </a:ext>
            </a:extLst>
          </p:cNvPr>
          <p:cNvCxnSpPr>
            <a:cxnSpLocks/>
            <a:stCxn id="112" idx="3"/>
          </p:cNvCxnSpPr>
          <p:nvPr/>
        </p:nvCxnSpPr>
        <p:spPr>
          <a:xfrm>
            <a:off x="7275590" y="4831535"/>
            <a:ext cx="931908" cy="0"/>
          </a:xfrm>
          <a:prstGeom prst="straightConnector1">
            <a:avLst/>
          </a:prstGeom>
          <a:ln w="15240">
            <a:solidFill>
              <a:srgbClr val="2563E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7" name="final-y">
            <a:extLst>
              <a:ext uri="{FF2B5EF4-FFF2-40B4-BE49-F238E27FC236}">
                <a16:creationId xmlns:a16="http://schemas.microsoft.com/office/drawing/2014/main" id="{9720D044-02A0-E76E-7B63-207AC8D4D8FE}"/>
              </a:ext>
            </a:extLst>
          </p:cNvPr>
          <p:cNvSpPr>
            <a:spLocks noGrp="1"/>
          </p:cNvSpPr>
          <p:nvPr/>
        </p:nvSpPr>
        <p:spPr>
          <a:xfrm>
            <a:off x="8191263" y="4682945"/>
            <a:ext cx="575872" cy="2971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1430">
            <a:solidFill>
              <a:srgbClr val="1F2937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lang="en-US" sz="80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y</a:t>
            </a:r>
            <a:endParaRPr sz="800" b="1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559813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122</Words>
  <Application>Microsoft Office PowerPoint</Application>
  <PresentationFormat>화면 슬라이드 쇼(16:9)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Simple Light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박민서</cp:lastModifiedBy>
  <cp:revision>13</cp:revision>
  <dcterms:modified xsi:type="dcterms:W3CDTF">2026-07-01T05:28:55Z</dcterms:modified>
</cp:coreProperties>
</file>