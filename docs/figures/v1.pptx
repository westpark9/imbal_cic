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
  </p:notesMasterIdLst>
  <p:sldIdLst>
    <p:sldId id="296" r:id="rId2"/>
    <p:sldId id="297" r:id="rId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2563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7" autoAdjust="0"/>
    <p:restoredTop sz="81826" autoAdjust="0"/>
  </p:normalViewPr>
  <p:slideViewPr>
    <p:cSldViewPr snapToGrid="0">
      <p:cViewPr varScale="1">
        <p:scale>
          <a:sx n="119" d="100"/>
          <a:sy n="119" d="100"/>
        </p:scale>
        <p:origin x="1376" y="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053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image" Target="../media/image6.png"/><Relationship Id="rId1" Type="http://schemas.openxmlformats.org/officeDocument/2006/relationships/slideLayout" Target="../slideLayouts/slideLayout11.xml"/><Relationship Id="rId6" Type="http://schemas.openxmlformats.org/officeDocument/2006/relationships/image" Target="../media/image15.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78BA8-6DA0-732C-B379-046594AED9A9}"/>
            </a:ext>
          </a:extLst>
        </p:cNvPr>
        <p:cNvGrpSpPr/>
        <p:nvPr/>
      </p:nvGrpSpPr>
      <p:grpSpPr>
        <a:xfrm>
          <a:off x="0" y="0"/>
          <a:ext cx="0" cy="0"/>
          <a:chOff x="0" y="0"/>
          <a:chExt cx="0" cy="0"/>
        </a:xfrm>
      </p:grpSpPr>
      <p:sp>
        <p:nvSpPr>
          <p:cNvPr id="150" name="TextBox 149">
            <a:extLst>
              <a:ext uri="{FF2B5EF4-FFF2-40B4-BE49-F238E27FC236}">
                <a16:creationId xmlns:a16="http://schemas.microsoft.com/office/drawing/2014/main" id="{B1EBE6BE-3127-8404-8C36-E5C8D6483D59}"/>
              </a:ext>
            </a:extLst>
          </p:cNvPr>
          <p:cNvSpPr txBox="1"/>
          <p:nvPr/>
        </p:nvSpPr>
        <p:spPr>
          <a:xfrm>
            <a:off x="1381178" y="1111216"/>
            <a:ext cx="1897685" cy="307777"/>
          </a:xfrm>
          <a:prstGeom prst="rect">
            <a:avLst/>
          </a:prstGeom>
          <a:noFill/>
        </p:spPr>
        <p:txBody>
          <a:bodyPr wrap="square">
            <a:spAutoFit/>
          </a:bodyPr>
          <a:lstStyle/>
          <a:p>
            <a:pPr algn="ctr"/>
            <a:r>
              <a:rPr lang="en-US" altLang="ko-KR" sz="1400" dirty="0">
                <a:latin typeface="Times New Roman" panose="02020603050405020304" pitchFamily="18" charset="0"/>
                <a:cs typeface="Times New Roman" panose="02020603050405020304" pitchFamily="18" charset="0"/>
              </a:rPr>
              <a:t>(A) Training</a:t>
            </a:r>
          </a:p>
        </p:txBody>
      </p:sp>
      <p:grpSp>
        <p:nvGrpSpPr>
          <p:cNvPr id="16" name="그룹 15">
            <a:extLst>
              <a:ext uri="{FF2B5EF4-FFF2-40B4-BE49-F238E27FC236}">
                <a16:creationId xmlns:a16="http://schemas.microsoft.com/office/drawing/2014/main" id="{FCD4A8F7-D43E-85EC-211A-0D3F5DB849B9}"/>
              </a:ext>
            </a:extLst>
          </p:cNvPr>
          <p:cNvGrpSpPr/>
          <p:nvPr/>
        </p:nvGrpSpPr>
        <p:grpSpPr>
          <a:xfrm>
            <a:off x="2861737" y="1331154"/>
            <a:ext cx="437882" cy="967975"/>
            <a:chOff x="1386625" y="1066887"/>
            <a:chExt cx="437882" cy="967975"/>
          </a:xfrm>
        </p:grpSpPr>
        <p:sp>
          <p:nvSpPr>
            <p:cNvPr id="2" name="순서도: 자기 디스크 1">
              <a:extLst>
                <a:ext uri="{FF2B5EF4-FFF2-40B4-BE49-F238E27FC236}">
                  <a16:creationId xmlns:a16="http://schemas.microsoft.com/office/drawing/2014/main" id="{AC2C4790-B2C8-8F4A-8B09-A4224BDEB5DB}"/>
                </a:ext>
              </a:extLst>
            </p:cNvPr>
            <p:cNvSpPr/>
            <p:nvPr/>
          </p:nvSpPr>
          <p:spPr>
            <a:xfrm>
              <a:off x="1386625" y="1639910"/>
              <a:ext cx="437882" cy="394952"/>
            </a:xfrm>
            <a:prstGeom prst="flowChartMagneticDisk">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1" name="직선 화살표 연결선 10">
              <a:extLst>
                <a:ext uri="{FF2B5EF4-FFF2-40B4-BE49-F238E27FC236}">
                  <a16:creationId xmlns:a16="http://schemas.microsoft.com/office/drawing/2014/main" id="{8439FDB9-872D-433C-E24D-C798C1D45631}"/>
                </a:ext>
              </a:extLst>
            </p:cNvPr>
            <p:cNvCxnSpPr>
              <a:cxnSpLocks/>
            </p:cNvCxnSpPr>
            <p:nvPr/>
          </p:nvCxnSpPr>
          <p:spPr>
            <a:xfrm flipV="1">
              <a:off x="1730062" y="1066887"/>
              <a:ext cx="0" cy="567018"/>
            </a:xfrm>
            <a:prstGeom prst="straightConnector1">
              <a:avLst/>
            </a:prstGeom>
            <a:ln w="12700">
              <a:solidFill>
                <a:schemeClr val="tx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0EE20C4-EA4C-F2BF-883C-059E494565A3}"/>
                  </a:ext>
                </a:extLst>
              </p:cNvPr>
              <p:cNvSpPr txBox="1"/>
              <p:nvPr/>
            </p:nvSpPr>
            <p:spPr>
              <a:xfrm>
                <a:off x="2861737" y="2016739"/>
                <a:ext cx="437882" cy="25391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000" i="1" dirty="0" smtClean="0">
                              <a:solidFill>
                                <a:schemeClr val="tx1"/>
                              </a:solidFill>
                              <a:latin typeface="Cambria Math" panose="02040503050406030204" pitchFamily="18" charset="0"/>
                              <a:cs typeface="Times New Roman" panose="02020603050405020304" pitchFamily="18" charset="0"/>
                            </a:rPr>
                          </m:ctrlPr>
                        </m:sSubPr>
                        <m:e>
                          <m:r>
                            <a:rPr lang="en-US" altLang="ko-KR" sz="1000" b="0" i="1" dirty="0" smtClean="0">
                              <a:solidFill>
                                <a:schemeClr val="tx1"/>
                              </a:solidFill>
                              <a:latin typeface="Cambria Math" panose="02040503050406030204" pitchFamily="18" charset="0"/>
                              <a:cs typeface="Times New Roman" panose="02020603050405020304" pitchFamily="18" charset="0"/>
                            </a:rPr>
                            <m:t>𝐷</m:t>
                          </m:r>
                        </m:e>
                        <m:sub>
                          <m:r>
                            <a:rPr lang="en-US" altLang="ko-KR" sz="1000" b="0" i="1" dirty="0" smtClean="0">
                              <a:solidFill>
                                <a:schemeClr val="tx1"/>
                              </a:solidFill>
                              <a:latin typeface="Cambria Math" panose="02040503050406030204" pitchFamily="18" charset="0"/>
                              <a:cs typeface="Times New Roman" panose="02020603050405020304" pitchFamily="18" charset="0"/>
                            </a:rPr>
                            <m:t>𝑡𝑟𝑎𝑖𝑛</m:t>
                          </m:r>
                        </m:sub>
                      </m:sSub>
                    </m:oMath>
                  </m:oMathPara>
                </a14:m>
                <a:endParaRPr dirty="0"/>
              </a:p>
            </p:txBody>
          </p:sp>
        </mc:Choice>
        <mc:Fallback>
          <p:sp>
            <p:nvSpPr>
              <p:cNvPr id="18" name="TextBox 17">
                <a:extLst>
                  <a:ext uri="{FF2B5EF4-FFF2-40B4-BE49-F238E27FC236}">
                    <a16:creationId xmlns:a16="http://schemas.microsoft.com/office/drawing/2014/main" id="{B0EE20C4-EA4C-F2BF-883C-059E494565A3}"/>
                  </a:ext>
                </a:extLst>
              </p:cNvPr>
              <p:cNvSpPr txBox="1">
                <a:spLocks noRot="1" noChangeAspect="1" noMove="1" noResize="1" noEditPoints="1" noAdjustHandles="1" noChangeArrowheads="1" noChangeShapeType="1" noTextEdit="1"/>
              </p:cNvSpPr>
              <p:nvPr/>
            </p:nvSpPr>
            <p:spPr>
              <a:xfrm>
                <a:off x="2861737" y="2016739"/>
                <a:ext cx="437882" cy="253916"/>
              </a:xfrm>
              <a:prstGeom prst="rect">
                <a:avLst/>
              </a:prstGeom>
              <a:blipFill>
                <a:blip r:embed="rId2"/>
                <a:stretch>
                  <a:fillRect l="-1389"/>
                </a:stretch>
              </a:blipFill>
            </p:spPr>
            <p:txBody>
              <a:bodyPr/>
              <a:lstStyle/>
              <a:p>
                <a:r>
                  <a:rPr lang="ko-KR" altLang="en-US">
                    <a:noFill/>
                  </a:rPr>
                  <a:t> </a:t>
                </a:r>
              </a:p>
            </p:txBody>
          </p:sp>
        </mc:Fallback>
      </mc:AlternateContent>
      <p:grpSp>
        <p:nvGrpSpPr>
          <p:cNvPr id="23" name="그룹 22">
            <a:extLst>
              <a:ext uri="{FF2B5EF4-FFF2-40B4-BE49-F238E27FC236}">
                <a16:creationId xmlns:a16="http://schemas.microsoft.com/office/drawing/2014/main" id="{445202D4-5EF8-5995-14BE-0C76DE6BA781}"/>
              </a:ext>
            </a:extLst>
          </p:cNvPr>
          <p:cNvGrpSpPr/>
          <p:nvPr/>
        </p:nvGrpSpPr>
        <p:grpSpPr>
          <a:xfrm>
            <a:off x="3516412" y="1091625"/>
            <a:ext cx="1416677" cy="581957"/>
            <a:chOff x="2337514" y="1500388"/>
            <a:chExt cx="1416677" cy="905815"/>
          </a:xfrm>
        </p:grpSpPr>
        <p:sp>
          <p:nvSpPr>
            <p:cNvPr id="24" name="순서도: 수동 연산 23">
              <a:extLst>
                <a:ext uri="{FF2B5EF4-FFF2-40B4-BE49-F238E27FC236}">
                  <a16:creationId xmlns:a16="http://schemas.microsoft.com/office/drawing/2014/main" id="{DECB7896-823A-F55C-1FFE-A92535FDA980}"/>
                </a:ext>
              </a:extLst>
            </p:cNvPr>
            <p:cNvSpPr/>
            <p:nvPr/>
          </p:nvSpPr>
          <p:spPr>
            <a:xfrm rot="16200000">
              <a:off x="2592946" y="1712890"/>
              <a:ext cx="905815" cy="480811"/>
            </a:xfrm>
            <a:prstGeom prst="flowChartManualOpera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D50D9FB8-4E15-795C-A88F-E3BAD6F9079A}"/>
                </a:ext>
              </a:extLst>
            </p:cNvPr>
            <p:cNvSpPr txBox="1"/>
            <p:nvPr/>
          </p:nvSpPr>
          <p:spPr>
            <a:xfrm>
              <a:off x="2337514" y="1628156"/>
              <a:ext cx="1416677" cy="431148"/>
            </a:xfrm>
            <a:prstGeom prst="rect">
              <a:avLst/>
            </a:prstGeom>
            <a:noFill/>
          </p:spPr>
          <p:txBody>
            <a:bodyPr wrap="square">
              <a:spAutoFit/>
            </a:bodyPr>
            <a:lstStyle/>
            <a:p>
              <a:pPr algn="ctr"/>
              <a:r>
                <a:rPr lang="en-US" altLang="ko-KR" sz="1200" dirty="0">
                  <a:solidFill>
                    <a:schemeClr val="tx1"/>
                  </a:solidFill>
                  <a:latin typeface="Times New Roman" panose="02020603050405020304" pitchFamily="18" charset="0"/>
                  <a:cs typeface="Times New Roman" panose="02020603050405020304" pitchFamily="18" charset="0"/>
                </a:rPr>
                <a:t>Exp 0</a:t>
              </a:r>
            </a:p>
          </p:txBody>
        </p:sp>
      </p:grpSp>
      <p:grpSp>
        <p:nvGrpSpPr>
          <p:cNvPr id="26" name="그룹 25">
            <a:extLst>
              <a:ext uri="{FF2B5EF4-FFF2-40B4-BE49-F238E27FC236}">
                <a16:creationId xmlns:a16="http://schemas.microsoft.com/office/drawing/2014/main" id="{BE1CBFE3-01D3-61FF-B7D0-EF97AE7FA1E9}"/>
              </a:ext>
            </a:extLst>
          </p:cNvPr>
          <p:cNvGrpSpPr/>
          <p:nvPr/>
        </p:nvGrpSpPr>
        <p:grpSpPr>
          <a:xfrm>
            <a:off x="3516412" y="1740438"/>
            <a:ext cx="1416677" cy="581957"/>
            <a:chOff x="2337514" y="1500388"/>
            <a:chExt cx="1416677" cy="905815"/>
          </a:xfrm>
        </p:grpSpPr>
        <p:sp>
          <p:nvSpPr>
            <p:cNvPr id="27" name="순서도: 수동 연산 26">
              <a:extLst>
                <a:ext uri="{FF2B5EF4-FFF2-40B4-BE49-F238E27FC236}">
                  <a16:creationId xmlns:a16="http://schemas.microsoft.com/office/drawing/2014/main" id="{EBA1095F-2F79-E80F-AFE8-436657E61862}"/>
                </a:ext>
              </a:extLst>
            </p:cNvPr>
            <p:cNvSpPr/>
            <p:nvPr/>
          </p:nvSpPr>
          <p:spPr>
            <a:xfrm rot="16200000">
              <a:off x="2592946" y="1712890"/>
              <a:ext cx="905815" cy="480811"/>
            </a:xfrm>
            <a:prstGeom prst="flowChartManualOpera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a:extLst>
                <a:ext uri="{FF2B5EF4-FFF2-40B4-BE49-F238E27FC236}">
                  <a16:creationId xmlns:a16="http://schemas.microsoft.com/office/drawing/2014/main" id="{FEAFF134-509D-C81D-8F53-CF7FDA0A0334}"/>
                </a:ext>
              </a:extLst>
            </p:cNvPr>
            <p:cNvSpPr txBox="1"/>
            <p:nvPr/>
          </p:nvSpPr>
          <p:spPr>
            <a:xfrm>
              <a:off x="2337514" y="1628156"/>
              <a:ext cx="1416677" cy="431148"/>
            </a:xfrm>
            <a:prstGeom prst="rect">
              <a:avLst/>
            </a:prstGeom>
            <a:noFill/>
          </p:spPr>
          <p:txBody>
            <a:bodyPr wrap="square">
              <a:spAutoFit/>
            </a:bodyPr>
            <a:lstStyle/>
            <a:p>
              <a:pPr algn="ctr"/>
              <a:r>
                <a:rPr lang="en-US" altLang="ko-KR" sz="1200" dirty="0">
                  <a:solidFill>
                    <a:schemeClr val="tx1"/>
                  </a:solidFill>
                  <a:latin typeface="Times New Roman" panose="02020603050405020304" pitchFamily="18" charset="0"/>
                  <a:cs typeface="Times New Roman" panose="02020603050405020304" pitchFamily="18" charset="0"/>
                </a:rPr>
                <a:t>Exp 1</a:t>
              </a:r>
            </a:p>
          </p:txBody>
        </p:sp>
      </p:grpSp>
      <p:grpSp>
        <p:nvGrpSpPr>
          <p:cNvPr id="29" name="그룹 28">
            <a:extLst>
              <a:ext uri="{FF2B5EF4-FFF2-40B4-BE49-F238E27FC236}">
                <a16:creationId xmlns:a16="http://schemas.microsoft.com/office/drawing/2014/main" id="{E7B4B20F-D10B-1991-5322-65D345890C96}"/>
              </a:ext>
            </a:extLst>
          </p:cNvPr>
          <p:cNvGrpSpPr/>
          <p:nvPr/>
        </p:nvGrpSpPr>
        <p:grpSpPr>
          <a:xfrm>
            <a:off x="3526074" y="2509454"/>
            <a:ext cx="1416677" cy="581957"/>
            <a:chOff x="2337514" y="1500388"/>
            <a:chExt cx="1416677" cy="905815"/>
          </a:xfrm>
        </p:grpSpPr>
        <p:sp>
          <p:nvSpPr>
            <p:cNvPr id="30" name="순서도: 수동 연산 29">
              <a:extLst>
                <a:ext uri="{FF2B5EF4-FFF2-40B4-BE49-F238E27FC236}">
                  <a16:creationId xmlns:a16="http://schemas.microsoft.com/office/drawing/2014/main" id="{E489177B-35F9-53BF-A8C4-A6699F2B4B65}"/>
                </a:ext>
              </a:extLst>
            </p:cNvPr>
            <p:cNvSpPr/>
            <p:nvPr/>
          </p:nvSpPr>
          <p:spPr>
            <a:xfrm rot="16200000">
              <a:off x="2592946" y="1712890"/>
              <a:ext cx="905815" cy="480811"/>
            </a:xfrm>
            <a:prstGeom prst="flowChartManualOpera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TextBox 30">
              <a:extLst>
                <a:ext uri="{FF2B5EF4-FFF2-40B4-BE49-F238E27FC236}">
                  <a16:creationId xmlns:a16="http://schemas.microsoft.com/office/drawing/2014/main" id="{3BB4FDC5-DF7B-2E57-6EF6-09D33406B34C}"/>
                </a:ext>
              </a:extLst>
            </p:cNvPr>
            <p:cNvSpPr txBox="1"/>
            <p:nvPr/>
          </p:nvSpPr>
          <p:spPr>
            <a:xfrm>
              <a:off x="2337514" y="1628156"/>
              <a:ext cx="1416677" cy="431148"/>
            </a:xfrm>
            <a:prstGeom prst="rect">
              <a:avLst/>
            </a:prstGeom>
            <a:noFill/>
          </p:spPr>
          <p:txBody>
            <a:bodyPr wrap="square">
              <a:spAutoFit/>
            </a:bodyPr>
            <a:lstStyle/>
            <a:p>
              <a:pPr algn="ctr"/>
              <a:r>
                <a:rPr lang="en-US" altLang="ko-KR" sz="1200" dirty="0">
                  <a:solidFill>
                    <a:schemeClr val="tx1"/>
                  </a:solidFill>
                  <a:latin typeface="Times New Roman" panose="02020603050405020304" pitchFamily="18" charset="0"/>
                  <a:cs typeface="Times New Roman" panose="02020603050405020304" pitchFamily="18" charset="0"/>
                </a:rPr>
                <a:t>Exp K</a:t>
              </a:r>
            </a:p>
          </p:txBody>
        </p:sp>
      </p:grpSp>
      <p:cxnSp>
        <p:nvCxnSpPr>
          <p:cNvPr id="42" name="직선 화살표 연결선 41">
            <a:extLst>
              <a:ext uri="{FF2B5EF4-FFF2-40B4-BE49-F238E27FC236}">
                <a16:creationId xmlns:a16="http://schemas.microsoft.com/office/drawing/2014/main" id="{1F54AD47-5E8F-72AF-9AED-4BDF16012A4C}"/>
              </a:ext>
            </a:extLst>
          </p:cNvPr>
          <p:cNvCxnSpPr>
            <a:cxnSpLocks/>
          </p:cNvCxnSpPr>
          <p:nvPr/>
        </p:nvCxnSpPr>
        <p:spPr>
          <a:xfrm flipH="1">
            <a:off x="3205174" y="1337159"/>
            <a:ext cx="779172"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45100B3B-32CB-24EB-DC54-F3DCD3C45CE7}"/>
                  </a:ext>
                </a:extLst>
              </p:cNvPr>
              <p:cNvSpPr txBox="1"/>
              <p:nvPr/>
            </p:nvSpPr>
            <p:spPr>
              <a:xfrm>
                <a:off x="3436993" y="1117810"/>
                <a:ext cx="437882" cy="25391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000" b="0" i="1" dirty="0" smtClean="0">
                              <a:solidFill>
                                <a:schemeClr val="tx1"/>
                              </a:solidFill>
                              <a:latin typeface="Cambria Math" panose="02040503050406030204" pitchFamily="18" charset="0"/>
                              <a:cs typeface="Times New Roman" panose="02020603050405020304" pitchFamily="18" charset="0"/>
                            </a:rPr>
                          </m:ctrlPr>
                        </m:sSubPr>
                        <m:e>
                          <m:r>
                            <a:rPr lang="en-US" altLang="ko-KR" sz="1000" b="0" i="1" dirty="0" smtClean="0">
                              <a:solidFill>
                                <a:schemeClr val="tx1"/>
                              </a:solidFill>
                              <a:latin typeface="Cambria Math" panose="02040503050406030204" pitchFamily="18" charset="0"/>
                              <a:cs typeface="Times New Roman" panose="02020603050405020304" pitchFamily="18" charset="0"/>
                            </a:rPr>
                            <m:t>𝐷</m:t>
                          </m:r>
                        </m:e>
                        <m:sub>
                          <m:r>
                            <a:rPr lang="en-US" altLang="ko-KR" sz="1000" b="0" i="1" dirty="0" smtClean="0">
                              <a:solidFill>
                                <a:schemeClr val="tx1"/>
                              </a:solidFill>
                              <a:latin typeface="Cambria Math" panose="02040503050406030204" pitchFamily="18" charset="0"/>
                              <a:cs typeface="Times New Roman" panose="02020603050405020304" pitchFamily="18" charset="0"/>
                            </a:rPr>
                            <m:t>0</m:t>
                          </m:r>
                        </m:sub>
                      </m:sSub>
                    </m:oMath>
                  </m:oMathPara>
                </a14:m>
                <a:endParaRPr dirty="0"/>
              </a:p>
            </p:txBody>
          </p:sp>
        </mc:Choice>
        <mc:Fallback>
          <p:sp>
            <p:nvSpPr>
              <p:cNvPr id="43" name="TextBox 42">
                <a:extLst>
                  <a:ext uri="{FF2B5EF4-FFF2-40B4-BE49-F238E27FC236}">
                    <a16:creationId xmlns:a16="http://schemas.microsoft.com/office/drawing/2014/main" id="{45100B3B-32CB-24EB-DC54-F3DCD3C45CE7}"/>
                  </a:ext>
                </a:extLst>
              </p:cNvPr>
              <p:cNvSpPr txBox="1">
                <a:spLocks noRot="1" noChangeAspect="1" noMove="1" noResize="1" noEditPoints="1" noAdjustHandles="1" noChangeArrowheads="1" noChangeShapeType="1" noTextEdit="1"/>
              </p:cNvSpPr>
              <p:nvPr/>
            </p:nvSpPr>
            <p:spPr>
              <a:xfrm>
                <a:off x="3436993" y="1117810"/>
                <a:ext cx="437882" cy="253916"/>
              </a:xfrm>
              <a:prstGeom prst="rect">
                <a:avLst/>
              </a:prstGeom>
              <a:blipFill>
                <a:blip r:embed="rId3"/>
                <a:stretch>
                  <a:fillRect/>
                </a:stretch>
              </a:blipFill>
            </p:spPr>
            <p:txBody>
              <a:bodyPr/>
              <a:lstStyle/>
              <a:p>
                <a:r>
                  <a:rPr lang="ko-KR" altLang="en-US">
                    <a:noFill/>
                  </a:rPr>
                  <a:t> </a:t>
                </a:r>
              </a:p>
            </p:txBody>
          </p:sp>
        </mc:Fallback>
      </mc:AlternateContent>
      <p:cxnSp>
        <p:nvCxnSpPr>
          <p:cNvPr id="44" name="직선 화살표 연결선 43">
            <a:extLst>
              <a:ext uri="{FF2B5EF4-FFF2-40B4-BE49-F238E27FC236}">
                <a16:creationId xmlns:a16="http://schemas.microsoft.com/office/drawing/2014/main" id="{AD8426B6-E071-B1EA-74E1-D02A86463164}"/>
              </a:ext>
            </a:extLst>
          </p:cNvPr>
          <p:cNvCxnSpPr>
            <a:cxnSpLocks/>
          </p:cNvCxnSpPr>
          <p:nvPr/>
        </p:nvCxnSpPr>
        <p:spPr>
          <a:xfrm flipH="1">
            <a:off x="3299619" y="2041551"/>
            <a:ext cx="684727"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176DEBC0-A462-1A92-18A1-F605C076F878}"/>
                  </a:ext>
                </a:extLst>
              </p:cNvPr>
              <p:cNvSpPr txBox="1"/>
              <p:nvPr/>
            </p:nvSpPr>
            <p:spPr>
              <a:xfrm>
                <a:off x="3436993" y="1817893"/>
                <a:ext cx="437882" cy="24622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000" b="0" i="1" dirty="0" smtClean="0">
                              <a:solidFill>
                                <a:schemeClr val="tx1"/>
                              </a:solidFill>
                              <a:latin typeface="Cambria Math" panose="02040503050406030204" pitchFamily="18" charset="0"/>
                              <a:cs typeface="Times New Roman" panose="02020603050405020304" pitchFamily="18" charset="0"/>
                            </a:rPr>
                          </m:ctrlPr>
                        </m:sSubPr>
                        <m:e>
                          <m:r>
                            <a:rPr lang="en-US" altLang="ko-KR" sz="1000" b="0" i="1" dirty="0" smtClean="0">
                              <a:solidFill>
                                <a:schemeClr val="tx1"/>
                              </a:solidFill>
                              <a:latin typeface="Cambria Math" panose="02040503050406030204" pitchFamily="18" charset="0"/>
                              <a:cs typeface="Times New Roman" panose="02020603050405020304" pitchFamily="18" charset="0"/>
                            </a:rPr>
                            <m:t>𝐷</m:t>
                          </m:r>
                        </m:e>
                        <m:sub>
                          <m:r>
                            <a:rPr lang="en-US" altLang="ko-KR" sz="1000" b="0" i="1" dirty="0" smtClean="0">
                              <a:solidFill>
                                <a:schemeClr val="tx1"/>
                              </a:solidFill>
                              <a:latin typeface="Cambria Math" panose="02040503050406030204" pitchFamily="18" charset="0"/>
                              <a:cs typeface="Times New Roman" panose="02020603050405020304" pitchFamily="18" charset="0"/>
                            </a:rPr>
                            <m:t>1</m:t>
                          </m:r>
                        </m:sub>
                      </m:sSub>
                    </m:oMath>
                  </m:oMathPara>
                </a14:m>
                <a:endParaRPr dirty="0"/>
              </a:p>
            </p:txBody>
          </p:sp>
        </mc:Choice>
        <mc:Fallback>
          <p:sp>
            <p:nvSpPr>
              <p:cNvPr id="45" name="TextBox 44">
                <a:extLst>
                  <a:ext uri="{FF2B5EF4-FFF2-40B4-BE49-F238E27FC236}">
                    <a16:creationId xmlns:a16="http://schemas.microsoft.com/office/drawing/2014/main" id="{176DEBC0-A462-1A92-18A1-F605C076F878}"/>
                  </a:ext>
                </a:extLst>
              </p:cNvPr>
              <p:cNvSpPr txBox="1">
                <a:spLocks noRot="1" noChangeAspect="1" noMove="1" noResize="1" noEditPoints="1" noAdjustHandles="1" noChangeArrowheads="1" noChangeShapeType="1" noTextEdit="1"/>
              </p:cNvSpPr>
              <p:nvPr/>
            </p:nvSpPr>
            <p:spPr>
              <a:xfrm>
                <a:off x="3436993" y="1817893"/>
                <a:ext cx="437882" cy="246221"/>
              </a:xfrm>
              <a:prstGeom prst="rect">
                <a:avLst/>
              </a:prstGeom>
              <a:blipFill>
                <a:blip r:embed="rId4"/>
                <a:stretch>
                  <a:fillRect/>
                </a:stretch>
              </a:blipFill>
            </p:spPr>
            <p:txBody>
              <a:bodyPr/>
              <a:lstStyle/>
              <a:p>
                <a:r>
                  <a:rPr lang="ko-KR" altLang="en-US">
                    <a:noFill/>
                  </a:rPr>
                  <a:t> </a:t>
                </a:r>
              </a:p>
            </p:txBody>
          </p:sp>
        </mc:Fallback>
      </mc:AlternateContent>
      <p:cxnSp>
        <p:nvCxnSpPr>
          <p:cNvPr id="46" name="직선 화살표 연결선 45">
            <a:extLst>
              <a:ext uri="{FF2B5EF4-FFF2-40B4-BE49-F238E27FC236}">
                <a16:creationId xmlns:a16="http://schemas.microsoft.com/office/drawing/2014/main" id="{BF53D2FD-D935-250C-B994-23A2F2A24E6F}"/>
              </a:ext>
            </a:extLst>
          </p:cNvPr>
          <p:cNvCxnSpPr>
            <a:cxnSpLocks/>
          </p:cNvCxnSpPr>
          <p:nvPr/>
        </p:nvCxnSpPr>
        <p:spPr>
          <a:xfrm flipH="1">
            <a:off x="3205174" y="2831993"/>
            <a:ext cx="779172"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47" name="TextBox 46">
                <a:extLst>
                  <a:ext uri="{FF2B5EF4-FFF2-40B4-BE49-F238E27FC236}">
                    <a16:creationId xmlns:a16="http://schemas.microsoft.com/office/drawing/2014/main" id="{1260D9AB-E5F6-C6CA-DF4C-15F9B3EA5654}"/>
                  </a:ext>
                </a:extLst>
              </p:cNvPr>
              <p:cNvSpPr txBox="1"/>
              <p:nvPr/>
            </p:nvSpPr>
            <p:spPr>
              <a:xfrm>
                <a:off x="3436993" y="2612644"/>
                <a:ext cx="437882" cy="25391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000" b="0" i="1" dirty="0" smtClean="0">
                              <a:solidFill>
                                <a:schemeClr val="tx1"/>
                              </a:solidFill>
                              <a:latin typeface="Cambria Math" panose="02040503050406030204" pitchFamily="18" charset="0"/>
                              <a:cs typeface="Times New Roman" panose="02020603050405020304" pitchFamily="18" charset="0"/>
                            </a:rPr>
                          </m:ctrlPr>
                        </m:sSubPr>
                        <m:e>
                          <m:r>
                            <a:rPr lang="en-US" altLang="ko-KR" sz="1000" b="0" i="1" dirty="0" smtClean="0">
                              <a:solidFill>
                                <a:schemeClr val="tx1"/>
                              </a:solidFill>
                              <a:latin typeface="Cambria Math" panose="02040503050406030204" pitchFamily="18" charset="0"/>
                              <a:cs typeface="Times New Roman" panose="02020603050405020304" pitchFamily="18" charset="0"/>
                            </a:rPr>
                            <m:t>𝐷</m:t>
                          </m:r>
                        </m:e>
                        <m:sub>
                          <m:r>
                            <a:rPr lang="en-US" altLang="ko-KR" sz="1000" b="0" i="1" dirty="0" smtClean="0">
                              <a:solidFill>
                                <a:schemeClr val="tx1"/>
                              </a:solidFill>
                              <a:latin typeface="Cambria Math" panose="02040503050406030204" pitchFamily="18" charset="0"/>
                              <a:cs typeface="Times New Roman" panose="02020603050405020304" pitchFamily="18" charset="0"/>
                            </a:rPr>
                            <m:t>𝐾</m:t>
                          </m:r>
                        </m:sub>
                      </m:sSub>
                    </m:oMath>
                  </m:oMathPara>
                </a14:m>
                <a:endParaRPr dirty="0"/>
              </a:p>
            </p:txBody>
          </p:sp>
        </mc:Choice>
        <mc:Fallback>
          <p:sp>
            <p:nvSpPr>
              <p:cNvPr id="47" name="TextBox 46">
                <a:extLst>
                  <a:ext uri="{FF2B5EF4-FFF2-40B4-BE49-F238E27FC236}">
                    <a16:creationId xmlns:a16="http://schemas.microsoft.com/office/drawing/2014/main" id="{1260D9AB-E5F6-C6CA-DF4C-15F9B3EA5654}"/>
                  </a:ext>
                </a:extLst>
              </p:cNvPr>
              <p:cNvSpPr txBox="1">
                <a:spLocks noRot="1" noChangeAspect="1" noMove="1" noResize="1" noEditPoints="1" noAdjustHandles="1" noChangeArrowheads="1" noChangeShapeType="1" noTextEdit="1"/>
              </p:cNvSpPr>
              <p:nvPr/>
            </p:nvSpPr>
            <p:spPr>
              <a:xfrm>
                <a:off x="3436993" y="2612644"/>
                <a:ext cx="437882" cy="253916"/>
              </a:xfrm>
              <a:prstGeom prst="rect">
                <a:avLst/>
              </a:prstGeom>
              <a:blipFill>
                <a:blip r:embed="rId5"/>
                <a:stretch>
                  <a:fillRect/>
                </a:stretch>
              </a:blipFill>
            </p:spPr>
            <p:txBody>
              <a:bodyPr/>
              <a:lstStyle/>
              <a:p>
                <a:r>
                  <a:rPr lang="ko-KR" altLang="en-US">
                    <a:noFill/>
                  </a:rPr>
                  <a:t> </a:t>
                </a:r>
              </a:p>
            </p:txBody>
          </p:sp>
        </mc:Fallback>
      </mc:AlternateContent>
      <p:cxnSp>
        <p:nvCxnSpPr>
          <p:cNvPr id="50" name="직선 화살표 연결선 49">
            <a:extLst>
              <a:ext uri="{FF2B5EF4-FFF2-40B4-BE49-F238E27FC236}">
                <a16:creationId xmlns:a16="http://schemas.microsoft.com/office/drawing/2014/main" id="{57B6CDAD-99E6-39FE-9044-1949152AC83D}"/>
              </a:ext>
            </a:extLst>
          </p:cNvPr>
          <p:cNvCxnSpPr>
            <a:cxnSpLocks/>
          </p:cNvCxnSpPr>
          <p:nvPr/>
        </p:nvCxnSpPr>
        <p:spPr>
          <a:xfrm flipV="1">
            <a:off x="3205174" y="2287030"/>
            <a:ext cx="0" cy="544963"/>
          </a:xfrm>
          <a:prstGeom prst="straightConnector1">
            <a:avLst/>
          </a:prstGeom>
          <a:ln w="12700">
            <a:solidFill>
              <a:schemeClr val="tx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5" name="직선 화살표 연결선 54">
            <a:extLst>
              <a:ext uri="{FF2B5EF4-FFF2-40B4-BE49-F238E27FC236}">
                <a16:creationId xmlns:a16="http://schemas.microsoft.com/office/drawing/2014/main" id="{D72E55E3-117A-BDF0-1A16-31ED00956239}"/>
              </a:ext>
            </a:extLst>
          </p:cNvPr>
          <p:cNvCxnSpPr>
            <a:cxnSpLocks/>
          </p:cNvCxnSpPr>
          <p:nvPr/>
        </p:nvCxnSpPr>
        <p:spPr>
          <a:xfrm flipH="1">
            <a:off x="4465157" y="1335131"/>
            <a:ext cx="547352"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60" name="TextBox 59">
            <a:extLst>
              <a:ext uri="{FF2B5EF4-FFF2-40B4-BE49-F238E27FC236}">
                <a16:creationId xmlns:a16="http://schemas.microsoft.com/office/drawing/2014/main" id="{BB23E3A2-8070-A160-712A-6EBFEB143AF4}"/>
              </a:ext>
            </a:extLst>
          </p:cNvPr>
          <p:cNvSpPr txBox="1"/>
          <p:nvPr/>
        </p:nvSpPr>
        <p:spPr>
          <a:xfrm>
            <a:off x="4306856" y="1121657"/>
            <a:ext cx="784535" cy="246221"/>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logits</a:t>
            </a:r>
            <a:endParaRPr sz="1000" dirty="0">
              <a:latin typeface="Times New Roman" panose="02020603050405020304" pitchFamily="18" charset="0"/>
              <a:cs typeface="Times New Roman" panose="02020603050405020304" pitchFamily="18" charset="0"/>
            </a:endParaRPr>
          </a:p>
        </p:txBody>
      </p:sp>
      <p:sp>
        <p:nvSpPr>
          <p:cNvPr id="61" name="순서도: 판단 60">
            <a:extLst>
              <a:ext uri="{FF2B5EF4-FFF2-40B4-BE49-F238E27FC236}">
                <a16:creationId xmlns:a16="http://schemas.microsoft.com/office/drawing/2014/main" id="{BAD2047B-E8E4-5315-51FD-6BF8C4D0537B}"/>
              </a:ext>
            </a:extLst>
          </p:cNvPr>
          <p:cNvSpPr/>
          <p:nvPr/>
        </p:nvSpPr>
        <p:spPr>
          <a:xfrm>
            <a:off x="5029948" y="1111216"/>
            <a:ext cx="1137366" cy="442163"/>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ysClr val="windowText" lastClr="000000"/>
                </a:solidFill>
                <a:latin typeface="Times New Roman" panose="02020603050405020304" pitchFamily="18" charset="0"/>
                <a:cs typeface="Times New Roman" panose="02020603050405020304" pitchFamily="18" charset="0"/>
              </a:rPr>
              <a:t>Exp</a:t>
            </a:r>
            <a:r>
              <a:rPr lang="ko-KR" altLang="en-US" sz="1200" dirty="0">
                <a:solidFill>
                  <a:sysClr val="windowText" lastClr="000000"/>
                </a:solidFill>
                <a:latin typeface="Times New Roman" panose="02020603050405020304" pitchFamily="18" charset="0"/>
                <a:cs typeface="Times New Roman" panose="02020603050405020304" pitchFamily="18" charset="0"/>
              </a:rPr>
              <a:t> </a:t>
            </a:r>
            <a:r>
              <a:rPr lang="en-US" altLang="ko-KR" sz="1200" dirty="0">
                <a:solidFill>
                  <a:sysClr val="windowText" lastClr="000000"/>
                </a:solidFill>
                <a:latin typeface="Times New Roman" panose="02020603050405020304" pitchFamily="18" charset="0"/>
                <a:cs typeface="Times New Roman" panose="02020603050405020304" pitchFamily="18" charset="0"/>
              </a:rPr>
              <a:t>0</a:t>
            </a:r>
          </a:p>
          <a:p>
            <a:pPr algn="ctr"/>
            <a:r>
              <a:rPr lang="en-US" altLang="ko-KR" sz="800" dirty="0">
                <a:solidFill>
                  <a:sysClr val="windowText" lastClr="000000"/>
                </a:solidFill>
                <a:latin typeface="Times New Roman" panose="02020603050405020304" pitchFamily="18" charset="0"/>
                <a:cs typeface="Times New Roman" panose="02020603050405020304" pitchFamily="18" charset="0"/>
              </a:rPr>
              <a:t>OOD</a:t>
            </a:r>
            <a:endParaRPr lang="ko-KR" altLang="en-US" sz="800" dirty="0">
              <a:solidFill>
                <a:sysClr val="windowText" lastClr="000000"/>
              </a:solidFill>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9F0301DD-EF18-FD88-5010-91010B9BFCAF}"/>
              </a:ext>
            </a:extLst>
          </p:cNvPr>
          <p:cNvSpPr txBox="1"/>
          <p:nvPr/>
        </p:nvSpPr>
        <p:spPr>
          <a:xfrm>
            <a:off x="4073427" y="2279631"/>
            <a:ext cx="480811" cy="307777"/>
          </a:xfrm>
          <a:prstGeom prst="rect">
            <a:avLst/>
          </a:prstGeom>
          <a:noFill/>
        </p:spPr>
        <p:txBody>
          <a:bodyPr wrap="square" rtlCol="0">
            <a:spAutoFit/>
          </a:bodyPr>
          <a:lstStyle/>
          <a:p>
            <a:r>
              <a:rPr lang="en-US" altLang="ko-KR" dirty="0"/>
              <a:t>⁞</a:t>
            </a:r>
            <a:endParaRPr lang="ko-KR" altLang="en-US" dirty="0"/>
          </a:p>
        </p:txBody>
      </p:sp>
      <p:cxnSp>
        <p:nvCxnSpPr>
          <p:cNvPr id="78" name="직선 화살표 연결선 77">
            <a:extLst>
              <a:ext uri="{FF2B5EF4-FFF2-40B4-BE49-F238E27FC236}">
                <a16:creationId xmlns:a16="http://schemas.microsoft.com/office/drawing/2014/main" id="{47FF8D7F-96EB-5FF9-2D4C-9770D3FFB531}"/>
              </a:ext>
            </a:extLst>
          </p:cNvPr>
          <p:cNvCxnSpPr>
            <a:cxnSpLocks/>
          </p:cNvCxnSpPr>
          <p:nvPr/>
        </p:nvCxnSpPr>
        <p:spPr>
          <a:xfrm flipH="1">
            <a:off x="4465157" y="2050830"/>
            <a:ext cx="547352"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79" name="TextBox 78">
            <a:extLst>
              <a:ext uri="{FF2B5EF4-FFF2-40B4-BE49-F238E27FC236}">
                <a16:creationId xmlns:a16="http://schemas.microsoft.com/office/drawing/2014/main" id="{9112A340-D520-8960-0A16-A97E37B02056}"/>
              </a:ext>
            </a:extLst>
          </p:cNvPr>
          <p:cNvSpPr txBox="1"/>
          <p:nvPr/>
        </p:nvSpPr>
        <p:spPr>
          <a:xfrm>
            <a:off x="4306856" y="1837356"/>
            <a:ext cx="784535" cy="246221"/>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logits</a:t>
            </a:r>
            <a:endParaRPr sz="1000" dirty="0">
              <a:latin typeface="Times New Roman" panose="02020603050405020304" pitchFamily="18" charset="0"/>
              <a:cs typeface="Times New Roman" panose="02020603050405020304" pitchFamily="18" charset="0"/>
            </a:endParaRPr>
          </a:p>
        </p:txBody>
      </p:sp>
      <p:sp>
        <p:nvSpPr>
          <p:cNvPr id="80" name="순서도: 판단 79">
            <a:extLst>
              <a:ext uri="{FF2B5EF4-FFF2-40B4-BE49-F238E27FC236}">
                <a16:creationId xmlns:a16="http://schemas.microsoft.com/office/drawing/2014/main" id="{E0294807-8A4E-5251-53FC-A06CE04B19CB}"/>
              </a:ext>
            </a:extLst>
          </p:cNvPr>
          <p:cNvSpPr/>
          <p:nvPr/>
        </p:nvSpPr>
        <p:spPr>
          <a:xfrm>
            <a:off x="5029948" y="1826915"/>
            <a:ext cx="1137366" cy="442163"/>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ysClr val="windowText" lastClr="000000"/>
                </a:solidFill>
                <a:latin typeface="Times New Roman" panose="02020603050405020304" pitchFamily="18" charset="0"/>
                <a:cs typeface="Times New Roman" panose="02020603050405020304" pitchFamily="18" charset="0"/>
              </a:rPr>
              <a:t>Exp</a:t>
            </a:r>
            <a:r>
              <a:rPr lang="ko-KR" altLang="en-US" sz="1200" dirty="0">
                <a:solidFill>
                  <a:sysClr val="windowText" lastClr="000000"/>
                </a:solidFill>
                <a:latin typeface="Times New Roman" panose="02020603050405020304" pitchFamily="18" charset="0"/>
                <a:cs typeface="Times New Roman" panose="02020603050405020304" pitchFamily="18" charset="0"/>
              </a:rPr>
              <a:t> </a:t>
            </a:r>
            <a:r>
              <a:rPr lang="en-US" altLang="ko-KR" sz="1200" dirty="0">
                <a:solidFill>
                  <a:sysClr val="windowText" lastClr="000000"/>
                </a:solidFill>
                <a:latin typeface="Times New Roman" panose="02020603050405020304" pitchFamily="18" charset="0"/>
                <a:cs typeface="Times New Roman" panose="02020603050405020304" pitchFamily="18" charset="0"/>
              </a:rPr>
              <a:t>1</a:t>
            </a:r>
          </a:p>
          <a:p>
            <a:pPr algn="ctr"/>
            <a:r>
              <a:rPr lang="en-US" altLang="ko-KR" sz="800" dirty="0">
                <a:solidFill>
                  <a:sysClr val="windowText" lastClr="000000"/>
                </a:solidFill>
                <a:latin typeface="Times New Roman" panose="02020603050405020304" pitchFamily="18" charset="0"/>
                <a:cs typeface="Times New Roman" panose="02020603050405020304" pitchFamily="18" charset="0"/>
              </a:rPr>
              <a:t>OOD</a:t>
            </a:r>
            <a:endParaRPr lang="ko-KR" altLang="en-US" sz="800" dirty="0">
              <a:solidFill>
                <a:sysClr val="windowText" lastClr="00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37A66C2-83B5-937C-A5C8-8533973758D1}"/>
              </a:ext>
            </a:extLst>
          </p:cNvPr>
          <p:cNvSpPr txBox="1"/>
          <p:nvPr/>
        </p:nvSpPr>
        <p:spPr>
          <a:xfrm>
            <a:off x="2995311" y="439677"/>
            <a:ext cx="1029150" cy="707886"/>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Step 1: assign training dataset according to the class taxonomy</a:t>
            </a:r>
            <a:endParaRPr sz="1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DE4C7F5-434C-E37D-6BB5-9E6595DB0B77}"/>
              </a:ext>
            </a:extLst>
          </p:cNvPr>
          <p:cNvSpPr txBox="1"/>
          <p:nvPr/>
        </p:nvSpPr>
        <p:spPr>
          <a:xfrm>
            <a:off x="4425042" y="175900"/>
            <a:ext cx="1029150" cy="1015663"/>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Step 2: Each expert trains MLP and deliver its logits to get energy score OOD.</a:t>
            </a:r>
            <a:endParaRPr sz="1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5162A98-245F-091B-8A3B-646F75B58A52}"/>
              </a:ext>
            </a:extLst>
          </p:cNvPr>
          <p:cNvSpPr txBox="1"/>
          <p:nvPr/>
        </p:nvSpPr>
        <p:spPr>
          <a:xfrm>
            <a:off x="2662230" y="3544043"/>
            <a:ext cx="2425289" cy="1015663"/>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In case of NF-CSE-CIC-IDS2018-v3, we can indicate specific classes for D_0,1,..,K.</a:t>
            </a:r>
          </a:p>
          <a:p>
            <a:pPr algn="ctr"/>
            <a:endParaRPr lang="en-US" sz="1000" dirty="0">
              <a:latin typeface="Times New Roman" panose="02020603050405020304" pitchFamily="18" charset="0"/>
              <a:cs typeface="Times New Roman" panose="02020603050405020304" pitchFamily="18" charset="0"/>
            </a:endParaRPr>
          </a:p>
          <a:p>
            <a:pPr algn="ctr"/>
            <a:r>
              <a:rPr lang="en-US" sz="1000" dirty="0">
                <a:latin typeface="Times New Roman" panose="02020603050405020304" pitchFamily="18" charset="0"/>
                <a:cs typeface="Times New Roman" panose="02020603050405020304" pitchFamily="18" charset="0"/>
              </a:rPr>
              <a:t>And we should represent the aux OOD dataset was generated with other NF-v3 datasets excluding ID classes!!!  </a:t>
            </a:r>
            <a:endParaRPr sz="1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BF1AD66-5E18-6E8C-C4A9-046852C8E490}"/>
              </a:ext>
            </a:extLst>
          </p:cNvPr>
          <p:cNvSpPr txBox="1"/>
          <p:nvPr/>
        </p:nvSpPr>
        <p:spPr>
          <a:xfrm>
            <a:off x="6238968" y="381520"/>
            <a:ext cx="1029150" cy="707886"/>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Step 3: Each expert trains XGB as classifier.</a:t>
            </a:r>
            <a:endParaRPr sz="1000" dirty="0">
              <a:latin typeface="Times New Roman" panose="02020603050405020304" pitchFamily="18" charset="0"/>
              <a:cs typeface="Times New Roman" panose="02020603050405020304" pitchFamily="18" charset="0"/>
            </a:endParaRPr>
          </a:p>
        </p:txBody>
      </p:sp>
      <p:grpSp>
        <p:nvGrpSpPr>
          <p:cNvPr id="21" name="그룹 20">
            <a:extLst>
              <a:ext uri="{FF2B5EF4-FFF2-40B4-BE49-F238E27FC236}">
                <a16:creationId xmlns:a16="http://schemas.microsoft.com/office/drawing/2014/main" id="{A26F29FB-AF2A-E5E8-1E52-E6293DE0AC08}"/>
              </a:ext>
            </a:extLst>
          </p:cNvPr>
          <p:cNvGrpSpPr/>
          <p:nvPr/>
        </p:nvGrpSpPr>
        <p:grpSpPr>
          <a:xfrm>
            <a:off x="2309993" y="1911958"/>
            <a:ext cx="489284" cy="394952"/>
            <a:chOff x="2861737" y="3038212"/>
            <a:chExt cx="489284" cy="394952"/>
          </a:xfrm>
        </p:grpSpPr>
        <p:sp>
          <p:nvSpPr>
            <p:cNvPr id="15" name="순서도: 자기 디스크 14">
              <a:extLst>
                <a:ext uri="{FF2B5EF4-FFF2-40B4-BE49-F238E27FC236}">
                  <a16:creationId xmlns:a16="http://schemas.microsoft.com/office/drawing/2014/main" id="{8CE68DC5-BDD1-97A9-E3DE-0C072A58C2C6}"/>
                </a:ext>
              </a:extLst>
            </p:cNvPr>
            <p:cNvSpPr/>
            <p:nvPr/>
          </p:nvSpPr>
          <p:spPr>
            <a:xfrm>
              <a:off x="2883202" y="3038212"/>
              <a:ext cx="437882" cy="394952"/>
            </a:xfrm>
            <a:prstGeom prst="flowChartMagneticDisk">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6FF8B8BD-53CF-0442-43B9-CD63E592BB66}"/>
                    </a:ext>
                  </a:extLst>
                </p:cNvPr>
                <p:cNvSpPr txBox="1"/>
                <p:nvPr/>
              </p:nvSpPr>
              <p:spPr>
                <a:xfrm>
                  <a:off x="2861737" y="3170393"/>
                  <a:ext cx="489284" cy="24622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ar-AE" altLang="ko-KR" sz="1000" i="1" dirty="0" smtClean="0">
                                <a:solidFill>
                                  <a:schemeClr val="tx1"/>
                                </a:solidFill>
                                <a:latin typeface="Cambria Math" panose="02040503050406030204" pitchFamily="18" charset="0"/>
                                <a:cs typeface="Times New Roman" panose="02020603050405020304" pitchFamily="18" charset="0"/>
                              </a:rPr>
                            </m:ctrlPr>
                          </m:sSubPr>
                          <m:e>
                            <m:r>
                              <a:rPr lang="ko-KR" altLang="ar-AE" sz="1000" b="0" i="1" dirty="0" smtClean="0">
                                <a:solidFill>
                                  <a:schemeClr val="tx1"/>
                                </a:solidFill>
                                <a:latin typeface="Cambria Math" panose="02040503050406030204" pitchFamily="18" charset="0"/>
                                <a:cs typeface="Times New Roman" panose="02020603050405020304" pitchFamily="18" charset="0"/>
                              </a:rPr>
                              <m:t>𝐷</m:t>
                            </m:r>
                          </m:e>
                          <m:sub>
                            <m:r>
                              <a:rPr lang="en-US" altLang="ko-KR" sz="1000" b="0" i="1" dirty="0" smtClean="0">
                                <a:solidFill>
                                  <a:schemeClr val="tx1"/>
                                </a:solidFill>
                                <a:latin typeface="Cambria Math" panose="02040503050406030204" pitchFamily="18" charset="0"/>
                                <a:cs typeface="Times New Roman" panose="02020603050405020304" pitchFamily="18" charset="0"/>
                              </a:rPr>
                              <m:t>𝐴𝑢𝑥</m:t>
                            </m:r>
                          </m:sub>
                        </m:sSub>
                      </m:oMath>
                    </m:oMathPara>
                  </a14:m>
                  <a:endParaRPr lang="ar-AE" altLang="ko-KR" sz="1400" dirty="0"/>
                </a:p>
              </p:txBody>
            </p:sp>
          </mc:Choice>
          <mc:Fallback>
            <p:sp>
              <p:nvSpPr>
                <p:cNvPr id="20" name="TextBox 19">
                  <a:extLst>
                    <a:ext uri="{FF2B5EF4-FFF2-40B4-BE49-F238E27FC236}">
                      <a16:creationId xmlns:a16="http://schemas.microsoft.com/office/drawing/2014/main" id="{6FF8B8BD-53CF-0442-43B9-CD63E592BB66}"/>
                    </a:ext>
                  </a:extLst>
                </p:cNvPr>
                <p:cNvSpPr txBox="1">
                  <a:spLocks noRot="1" noChangeAspect="1" noMove="1" noResize="1" noEditPoints="1" noAdjustHandles="1" noChangeArrowheads="1" noChangeShapeType="1" noTextEdit="1"/>
                </p:cNvSpPr>
                <p:nvPr/>
              </p:nvSpPr>
              <p:spPr>
                <a:xfrm>
                  <a:off x="2861737" y="3170393"/>
                  <a:ext cx="489284" cy="246221"/>
                </a:xfrm>
                <a:prstGeom prst="rect">
                  <a:avLst/>
                </a:prstGeom>
                <a:blipFill>
                  <a:blip r:embed="rId6"/>
                  <a:stretch>
                    <a:fillRect/>
                  </a:stretch>
                </a:blipFill>
              </p:spPr>
              <p:txBody>
                <a:bodyPr/>
                <a:lstStyle/>
                <a:p>
                  <a:r>
                    <a:rPr lang="ko-KR" altLang="en-US">
                      <a:noFill/>
                    </a:rPr>
                    <a:t> </a:t>
                  </a:r>
                </a:p>
              </p:txBody>
            </p:sp>
          </mc:Fallback>
        </mc:AlternateContent>
      </p:grpSp>
    </p:spTree>
    <p:extLst>
      <p:ext uri="{BB962C8B-B14F-4D97-AF65-F5344CB8AC3E}">
        <p14:creationId xmlns:p14="http://schemas.microsoft.com/office/powerpoint/2010/main" val="2472160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3E556-D2ED-E840-1C64-B33A266C13F7}"/>
            </a:ext>
          </a:extLst>
        </p:cNvPr>
        <p:cNvGrpSpPr/>
        <p:nvPr/>
      </p:nvGrpSpPr>
      <p:grpSpPr>
        <a:xfrm>
          <a:off x="0" y="0"/>
          <a:ext cx="0" cy="0"/>
          <a:chOff x="0" y="0"/>
          <a:chExt cx="0" cy="0"/>
        </a:xfrm>
      </p:grpSpPr>
      <p:grpSp>
        <p:nvGrpSpPr>
          <p:cNvPr id="98" name="그룹 97">
            <a:extLst>
              <a:ext uri="{FF2B5EF4-FFF2-40B4-BE49-F238E27FC236}">
                <a16:creationId xmlns:a16="http://schemas.microsoft.com/office/drawing/2014/main" id="{6402B5B1-B8C3-409F-6398-167A585D2E02}"/>
              </a:ext>
            </a:extLst>
          </p:cNvPr>
          <p:cNvGrpSpPr/>
          <p:nvPr/>
        </p:nvGrpSpPr>
        <p:grpSpPr>
          <a:xfrm>
            <a:off x="816104" y="893978"/>
            <a:ext cx="766829" cy="394952"/>
            <a:chOff x="1793921" y="2146072"/>
            <a:chExt cx="766829" cy="394952"/>
          </a:xfrm>
        </p:grpSpPr>
        <p:sp>
          <p:nvSpPr>
            <p:cNvPr id="145" name="순서도: 자기 디스크 144">
              <a:extLst>
                <a:ext uri="{FF2B5EF4-FFF2-40B4-BE49-F238E27FC236}">
                  <a16:creationId xmlns:a16="http://schemas.microsoft.com/office/drawing/2014/main" id="{674506B7-0D8B-2C3E-8FC2-EF70AD429283}"/>
                </a:ext>
              </a:extLst>
            </p:cNvPr>
            <p:cNvSpPr/>
            <p:nvPr/>
          </p:nvSpPr>
          <p:spPr>
            <a:xfrm>
              <a:off x="1793921" y="2146072"/>
              <a:ext cx="437882" cy="394952"/>
            </a:xfrm>
            <a:prstGeom prst="flowChartMagneticDisk">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99D7CF07-53A1-0B6B-2BFA-7560FB4905C1}"/>
                    </a:ext>
                  </a:extLst>
                </p:cNvPr>
                <p:cNvSpPr txBox="1"/>
                <p:nvPr/>
              </p:nvSpPr>
              <p:spPr>
                <a:xfrm>
                  <a:off x="1793921" y="2258634"/>
                  <a:ext cx="437882" cy="25391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000" i="1" dirty="0" smtClean="0">
                                <a:solidFill>
                                  <a:schemeClr val="tx1"/>
                                </a:solidFill>
                                <a:latin typeface="Cambria Math" panose="02040503050406030204" pitchFamily="18" charset="0"/>
                                <a:cs typeface="Times New Roman" panose="02020603050405020304" pitchFamily="18" charset="0"/>
                              </a:rPr>
                            </m:ctrlPr>
                          </m:sSubPr>
                          <m:e>
                            <m:r>
                              <a:rPr lang="en-US" altLang="ko-KR" sz="1000" b="0" i="1" dirty="0" smtClean="0">
                                <a:solidFill>
                                  <a:schemeClr val="tx1"/>
                                </a:solidFill>
                                <a:latin typeface="Cambria Math" panose="02040503050406030204" pitchFamily="18" charset="0"/>
                                <a:cs typeface="Times New Roman" panose="02020603050405020304" pitchFamily="18" charset="0"/>
                              </a:rPr>
                              <m:t>𝐷</m:t>
                            </m:r>
                          </m:e>
                          <m:sub>
                            <m:r>
                              <a:rPr lang="en-US" altLang="ko-KR" sz="1000" b="0" i="1" dirty="0" smtClean="0">
                                <a:solidFill>
                                  <a:schemeClr val="tx1"/>
                                </a:solidFill>
                                <a:latin typeface="Cambria Math" panose="02040503050406030204" pitchFamily="18" charset="0"/>
                                <a:cs typeface="Times New Roman" panose="02020603050405020304" pitchFamily="18" charset="0"/>
                              </a:rPr>
                              <m:t>𝑡𝑒𝑠𝑡</m:t>
                            </m:r>
                          </m:sub>
                        </m:sSub>
                      </m:oMath>
                    </m:oMathPara>
                  </a14:m>
                  <a:endParaRPr/>
                </a:p>
              </p:txBody>
            </p:sp>
          </mc:Choice>
          <mc:Fallback xmlns="">
            <p:sp>
              <p:nvSpPr>
                <p:cNvPr id="143" name="TextBox 142">
                  <a:extLst>
                    <a:ext uri="{FF2B5EF4-FFF2-40B4-BE49-F238E27FC236}">
                      <a16:creationId xmlns:a16="http://schemas.microsoft.com/office/drawing/2014/main" id="{222FA8F1-8200-5407-AC32-29796876CB43}"/>
                    </a:ext>
                  </a:extLst>
                </p:cNvPr>
                <p:cNvSpPr txBox="1">
                  <a:spLocks noRot="1" noChangeAspect="1" noMove="1" noResize="1" noEditPoints="1" noAdjustHandles="1" noChangeArrowheads="1" noChangeShapeType="1" noTextEdit="1"/>
                </p:cNvSpPr>
                <p:nvPr/>
              </p:nvSpPr>
              <p:spPr>
                <a:xfrm>
                  <a:off x="1793921" y="2258634"/>
                  <a:ext cx="437882" cy="253916"/>
                </a:xfrm>
                <a:prstGeom prst="rect">
                  <a:avLst/>
                </a:prstGeom>
                <a:blipFill>
                  <a:blip r:embed="rId6"/>
                  <a:stretch>
                    <a:fillRect r="-2778" b="-9524"/>
                  </a:stretch>
                </a:blipFill>
              </p:spPr>
              <p:txBody>
                <a:bodyPr/>
                <a:lstStyle/>
                <a:p>
                  <a:r>
                    <a:rPr lang="ko-KR" altLang="en-US">
                      <a:noFill/>
                    </a:rPr>
                    <a:t> </a:t>
                  </a:r>
                </a:p>
              </p:txBody>
            </p:sp>
          </mc:Fallback>
        </mc:AlternateContent>
        <p:cxnSp>
          <p:nvCxnSpPr>
            <p:cNvPr id="144" name="직선 화살표 연결선 143">
              <a:extLst>
                <a:ext uri="{FF2B5EF4-FFF2-40B4-BE49-F238E27FC236}">
                  <a16:creationId xmlns:a16="http://schemas.microsoft.com/office/drawing/2014/main" id="{B1CB8B6A-1AF7-A7BC-1E51-03C52F227617}"/>
                </a:ext>
              </a:extLst>
            </p:cNvPr>
            <p:cNvCxnSpPr>
              <a:cxnSpLocks/>
            </p:cNvCxnSpPr>
            <p:nvPr/>
          </p:nvCxnSpPr>
          <p:spPr>
            <a:xfrm flipH="1">
              <a:off x="2232338" y="2368804"/>
              <a:ext cx="328412"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100" name="순서도: 판단 99">
            <a:extLst>
              <a:ext uri="{FF2B5EF4-FFF2-40B4-BE49-F238E27FC236}">
                <a16:creationId xmlns:a16="http://schemas.microsoft.com/office/drawing/2014/main" id="{60B66E06-E650-FEDA-4129-496B328F7430}"/>
              </a:ext>
            </a:extLst>
          </p:cNvPr>
          <p:cNvSpPr/>
          <p:nvPr/>
        </p:nvSpPr>
        <p:spPr>
          <a:xfrm>
            <a:off x="1582933" y="898079"/>
            <a:ext cx="1137366" cy="442163"/>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ysClr val="windowText" lastClr="000000"/>
                </a:solidFill>
                <a:latin typeface="Times New Roman" panose="02020603050405020304" pitchFamily="18" charset="0"/>
                <a:cs typeface="Times New Roman" panose="02020603050405020304" pitchFamily="18" charset="0"/>
              </a:rPr>
              <a:t>Exp</a:t>
            </a:r>
            <a:r>
              <a:rPr lang="ko-KR" altLang="en-US" sz="1200" dirty="0">
                <a:solidFill>
                  <a:sysClr val="windowText" lastClr="000000"/>
                </a:solidFill>
                <a:latin typeface="Times New Roman" panose="02020603050405020304" pitchFamily="18" charset="0"/>
                <a:cs typeface="Times New Roman" panose="02020603050405020304" pitchFamily="18" charset="0"/>
              </a:rPr>
              <a:t> </a:t>
            </a:r>
            <a:r>
              <a:rPr lang="en-US" altLang="ko-KR" sz="1200" dirty="0">
                <a:solidFill>
                  <a:sysClr val="windowText" lastClr="000000"/>
                </a:solidFill>
                <a:latin typeface="Times New Roman" panose="02020603050405020304" pitchFamily="18" charset="0"/>
                <a:cs typeface="Times New Roman" panose="02020603050405020304" pitchFamily="18" charset="0"/>
              </a:rPr>
              <a:t>1</a:t>
            </a:r>
          </a:p>
          <a:p>
            <a:pPr algn="ctr"/>
            <a:r>
              <a:rPr lang="en-US" altLang="ko-KR" sz="800" dirty="0">
                <a:solidFill>
                  <a:sysClr val="windowText" lastClr="000000"/>
                </a:solidFill>
                <a:latin typeface="Times New Roman" panose="02020603050405020304" pitchFamily="18" charset="0"/>
                <a:cs typeface="Times New Roman" panose="02020603050405020304" pitchFamily="18" charset="0"/>
              </a:rPr>
              <a:t>OOD</a:t>
            </a:r>
            <a:endParaRPr lang="ko-KR" altLang="en-US" sz="800" dirty="0">
              <a:solidFill>
                <a:sysClr val="windowText" lastClr="000000"/>
              </a:solidFill>
              <a:latin typeface="Times New Roman" panose="02020603050405020304" pitchFamily="18" charset="0"/>
              <a:cs typeface="Times New Roman" panose="02020603050405020304" pitchFamily="18" charset="0"/>
            </a:endParaRPr>
          </a:p>
        </p:txBody>
      </p:sp>
      <p:cxnSp>
        <p:nvCxnSpPr>
          <p:cNvPr id="101" name="직선 화살표 연결선 100">
            <a:extLst>
              <a:ext uri="{FF2B5EF4-FFF2-40B4-BE49-F238E27FC236}">
                <a16:creationId xmlns:a16="http://schemas.microsoft.com/office/drawing/2014/main" id="{253A8838-7CB9-A578-39A3-C67BF0D23177}"/>
              </a:ext>
            </a:extLst>
          </p:cNvPr>
          <p:cNvCxnSpPr>
            <a:cxnSpLocks/>
          </p:cNvCxnSpPr>
          <p:nvPr/>
        </p:nvCxnSpPr>
        <p:spPr>
          <a:xfrm flipV="1">
            <a:off x="7685471" y="414846"/>
            <a:ext cx="0" cy="279647"/>
          </a:xfrm>
          <a:prstGeom prst="straightConnector1">
            <a:avLst/>
          </a:prstGeom>
          <a:ln w="12700">
            <a:solidFill>
              <a:schemeClr val="tx1"/>
            </a:solidFill>
            <a:prstDash val="sysDash"/>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2" name="직선 화살표 연결선 101">
            <a:extLst>
              <a:ext uri="{FF2B5EF4-FFF2-40B4-BE49-F238E27FC236}">
                <a16:creationId xmlns:a16="http://schemas.microsoft.com/office/drawing/2014/main" id="{57267468-67BC-377A-AE6D-0808ECFED1F1}"/>
              </a:ext>
            </a:extLst>
          </p:cNvPr>
          <p:cNvCxnSpPr>
            <a:cxnSpLocks/>
          </p:cNvCxnSpPr>
          <p:nvPr/>
        </p:nvCxnSpPr>
        <p:spPr>
          <a:xfrm flipH="1">
            <a:off x="7685471" y="414846"/>
            <a:ext cx="903668" cy="0"/>
          </a:xfrm>
          <a:prstGeom prst="straightConnector1">
            <a:avLst/>
          </a:prstGeom>
          <a:ln w="12700">
            <a:solidFill>
              <a:schemeClr val="tx1"/>
            </a:solidFill>
            <a:prstDash val="sysDash"/>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103" name="TextBox 102">
            <a:extLst>
              <a:ext uri="{FF2B5EF4-FFF2-40B4-BE49-F238E27FC236}">
                <a16:creationId xmlns:a16="http://schemas.microsoft.com/office/drawing/2014/main" id="{795533C6-C6E5-8C4F-AFA9-AE1B2B057340}"/>
              </a:ext>
            </a:extLst>
          </p:cNvPr>
          <p:cNvSpPr txBox="1"/>
          <p:nvPr/>
        </p:nvSpPr>
        <p:spPr>
          <a:xfrm>
            <a:off x="8457667" y="276845"/>
            <a:ext cx="784535" cy="246221"/>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OOD</a:t>
            </a:r>
            <a:endParaRPr sz="1000" dirty="0">
              <a:latin typeface="Times New Roman" panose="02020603050405020304" pitchFamily="18" charset="0"/>
              <a:cs typeface="Times New Roman" panose="02020603050405020304" pitchFamily="18" charset="0"/>
            </a:endParaRPr>
          </a:p>
        </p:txBody>
      </p:sp>
      <p:cxnSp>
        <p:nvCxnSpPr>
          <p:cNvPr id="104" name="직선 화살표 연결선 103">
            <a:extLst>
              <a:ext uri="{FF2B5EF4-FFF2-40B4-BE49-F238E27FC236}">
                <a16:creationId xmlns:a16="http://schemas.microsoft.com/office/drawing/2014/main" id="{7F846417-D4BD-A75C-1A1E-D78BBD9D9688}"/>
              </a:ext>
            </a:extLst>
          </p:cNvPr>
          <p:cNvCxnSpPr>
            <a:cxnSpLocks/>
          </p:cNvCxnSpPr>
          <p:nvPr/>
        </p:nvCxnSpPr>
        <p:spPr>
          <a:xfrm flipH="1">
            <a:off x="8319653" y="1458627"/>
            <a:ext cx="519175"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5" name="직선 화살표 연결선 104">
            <a:extLst>
              <a:ext uri="{FF2B5EF4-FFF2-40B4-BE49-F238E27FC236}">
                <a16:creationId xmlns:a16="http://schemas.microsoft.com/office/drawing/2014/main" id="{B172077F-92D4-6B27-88A5-01F20FDEEE36}"/>
              </a:ext>
            </a:extLst>
          </p:cNvPr>
          <p:cNvCxnSpPr>
            <a:cxnSpLocks/>
          </p:cNvCxnSpPr>
          <p:nvPr/>
        </p:nvCxnSpPr>
        <p:spPr>
          <a:xfrm flipH="1" flipV="1">
            <a:off x="8319653" y="1186146"/>
            <a:ext cx="6573" cy="1485970"/>
          </a:xfrm>
          <a:prstGeom prst="straightConnector1">
            <a:avLst/>
          </a:prstGeom>
          <a:ln w="12700">
            <a:solidFill>
              <a:schemeClr val="tx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06" name="순서도: 판단 105">
            <a:extLst>
              <a:ext uri="{FF2B5EF4-FFF2-40B4-BE49-F238E27FC236}">
                <a16:creationId xmlns:a16="http://schemas.microsoft.com/office/drawing/2014/main" id="{5415E815-21AA-651B-51F3-FD9408D5EAFF}"/>
              </a:ext>
            </a:extLst>
          </p:cNvPr>
          <p:cNvSpPr/>
          <p:nvPr/>
        </p:nvSpPr>
        <p:spPr>
          <a:xfrm>
            <a:off x="1582933" y="1420844"/>
            <a:ext cx="1137366" cy="442163"/>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ysClr val="windowText" lastClr="000000"/>
                </a:solidFill>
                <a:latin typeface="Times New Roman" panose="02020603050405020304" pitchFamily="18" charset="0"/>
                <a:cs typeface="Times New Roman" panose="02020603050405020304" pitchFamily="18" charset="0"/>
              </a:rPr>
              <a:t>Exp</a:t>
            </a:r>
            <a:r>
              <a:rPr lang="ko-KR" altLang="en-US" sz="1200" dirty="0">
                <a:solidFill>
                  <a:sysClr val="windowText" lastClr="000000"/>
                </a:solidFill>
                <a:latin typeface="Times New Roman" panose="02020603050405020304" pitchFamily="18" charset="0"/>
                <a:cs typeface="Times New Roman" panose="02020603050405020304" pitchFamily="18" charset="0"/>
              </a:rPr>
              <a:t> </a:t>
            </a:r>
            <a:r>
              <a:rPr lang="en-US" altLang="ko-KR" sz="1200" dirty="0">
                <a:solidFill>
                  <a:sysClr val="windowText" lastClr="000000"/>
                </a:solidFill>
                <a:latin typeface="Times New Roman" panose="02020603050405020304" pitchFamily="18" charset="0"/>
                <a:cs typeface="Times New Roman" panose="02020603050405020304" pitchFamily="18" charset="0"/>
              </a:rPr>
              <a:t>2</a:t>
            </a:r>
          </a:p>
          <a:p>
            <a:pPr algn="ctr"/>
            <a:r>
              <a:rPr lang="en-US" altLang="ko-KR" sz="800" dirty="0">
                <a:solidFill>
                  <a:sysClr val="windowText" lastClr="000000"/>
                </a:solidFill>
                <a:latin typeface="Times New Roman" panose="02020603050405020304" pitchFamily="18" charset="0"/>
                <a:cs typeface="Times New Roman" panose="02020603050405020304" pitchFamily="18" charset="0"/>
              </a:rPr>
              <a:t>OOD</a:t>
            </a:r>
            <a:endParaRPr lang="ko-KR" altLang="en-US" sz="800" dirty="0">
              <a:solidFill>
                <a:sysClr val="windowText" lastClr="000000"/>
              </a:solidFill>
              <a:latin typeface="Times New Roman" panose="02020603050405020304" pitchFamily="18" charset="0"/>
              <a:cs typeface="Times New Roman" panose="02020603050405020304" pitchFamily="18" charset="0"/>
            </a:endParaRPr>
          </a:p>
        </p:txBody>
      </p:sp>
      <p:cxnSp>
        <p:nvCxnSpPr>
          <p:cNvPr id="107" name="직선 화살표 연결선 106">
            <a:extLst>
              <a:ext uri="{FF2B5EF4-FFF2-40B4-BE49-F238E27FC236}">
                <a16:creationId xmlns:a16="http://schemas.microsoft.com/office/drawing/2014/main" id="{BBCDFA65-C326-BCAD-B3C6-13FE8E291DED}"/>
              </a:ext>
            </a:extLst>
          </p:cNvPr>
          <p:cNvCxnSpPr>
            <a:cxnSpLocks/>
          </p:cNvCxnSpPr>
          <p:nvPr/>
        </p:nvCxnSpPr>
        <p:spPr>
          <a:xfrm flipH="1">
            <a:off x="8319653" y="1981392"/>
            <a:ext cx="519175"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8" name="직선 화살표 연결선 107">
            <a:extLst>
              <a:ext uri="{FF2B5EF4-FFF2-40B4-BE49-F238E27FC236}">
                <a16:creationId xmlns:a16="http://schemas.microsoft.com/office/drawing/2014/main" id="{B2CAB092-1B45-BAC9-E61B-C5548E377A52}"/>
              </a:ext>
            </a:extLst>
          </p:cNvPr>
          <p:cNvCxnSpPr>
            <a:cxnSpLocks/>
          </p:cNvCxnSpPr>
          <p:nvPr/>
        </p:nvCxnSpPr>
        <p:spPr>
          <a:xfrm flipH="1">
            <a:off x="8319653" y="2672116"/>
            <a:ext cx="519175"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109" name="TextBox 108">
            <a:extLst>
              <a:ext uri="{FF2B5EF4-FFF2-40B4-BE49-F238E27FC236}">
                <a16:creationId xmlns:a16="http://schemas.microsoft.com/office/drawing/2014/main" id="{C1E35804-0582-8743-A519-044B3162FB3A}"/>
              </a:ext>
            </a:extLst>
          </p:cNvPr>
          <p:cNvSpPr txBox="1"/>
          <p:nvPr/>
        </p:nvSpPr>
        <p:spPr>
          <a:xfrm>
            <a:off x="2034770" y="1833399"/>
            <a:ext cx="480811" cy="307777"/>
          </a:xfrm>
          <a:prstGeom prst="rect">
            <a:avLst/>
          </a:prstGeom>
          <a:noFill/>
        </p:spPr>
        <p:txBody>
          <a:bodyPr wrap="square" rtlCol="0">
            <a:spAutoFit/>
          </a:bodyPr>
          <a:lstStyle/>
          <a:p>
            <a:r>
              <a:rPr lang="en-US" altLang="ko-KR" dirty="0"/>
              <a:t>⁞</a:t>
            </a:r>
            <a:endParaRPr lang="ko-KR" altLang="en-US" dirty="0"/>
          </a:p>
        </p:txBody>
      </p:sp>
      <p:grpSp>
        <p:nvGrpSpPr>
          <p:cNvPr id="110" name="그룹 109">
            <a:extLst>
              <a:ext uri="{FF2B5EF4-FFF2-40B4-BE49-F238E27FC236}">
                <a16:creationId xmlns:a16="http://schemas.microsoft.com/office/drawing/2014/main" id="{9B537DD8-CC2B-7820-F662-5BA6145A8C23}"/>
              </a:ext>
            </a:extLst>
          </p:cNvPr>
          <p:cNvGrpSpPr/>
          <p:nvPr/>
        </p:nvGrpSpPr>
        <p:grpSpPr>
          <a:xfrm>
            <a:off x="1582933" y="2111568"/>
            <a:ext cx="1137366" cy="442163"/>
            <a:chOff x="2412642" y="3800352"/>
            <a:chExt cx="1137366" cy="442163"/>
          </a:xfrm>
        </p:grpSpPr>
        <p:sp>
          <p:nvSpPr>
            <p:cNvPr id="140" name="순서도: 판단 139">
              <a:extLst>
                <a:ext uri="{FF2B5EF4-FFF2-40B4-BE49-F238E27FC236}">
                  <a16:creationId xmlns:a16="http://schemas.microsoft.com/office/drawing/2014/main" id="{1AF10356-9320-AC6F-1BE6-45A5B893DEFF}"/>
                </a:ext>
              </a:extLst>
            </p:cNvPr>
            <p:cNvSpPr/>
            <p:nvPr/>
          </p:nvSpPr>
          <p:spPr>
            <a:xfrm>
              <a:off x="2412642" y="3800352"/>
              <a:ext cx="1137366" cy="442163"/>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dirty="0">
                <a:solidFill>
                  <a:sysClr val="windowText" lastClr="000000"/>
                </a:solidFill>
                <a:latin typeface="Times New Roman" panose="02020603050405020304" pitchFamily="18" charset="0"/>
                <a:cs typeface="Times New Roman" panose="02020603050405020304" pitchFamily="18" charset="0"/>
              </a:endParaRPr>
            </a:p>
          </p:txBody>
        </p:sp>
        <p:sp>
          <p:nvSpPr>
            <p:cNvPr id="141" name="TextBox 140">
              <a:extLst>
                <a:ext uri="{FF2B5EF4-FFF2-40B4-BE49-F238E27FC236}">
                  <a16:creationId xmlns:a16="http://schemas.microsoft.com/office/drawing/2014/main" id="{27E64F01-9898-970F-8274-6B1409976110}"/>
                </a:ext>
              </a:extLst>
            </p:cNvPr>
            <p:cNvSpPr txBox="1"/>
            <p:nvPr/>
          </p:nvSpPr>
          <p:spPr>
            <a:xfrm>
              <a:off x="2590733" y="3842405"/>
              <a:ext cx="781184" cy="400110"/>
            </a:xfrm>
            <a:prstGeom prst="rect">
              <a:avLst/>
            </a:prstGeom>
            <a:noFill/>
          </p:spPr>
          <p:txBody>
            <a:bodyPr wrap="square">
              <a:spAutoFit/>
            </a:bodyPr>
            <a:lstStyle/>
            <a:p>
              <a:pPr algn="ctr"/>
              <a:r>
                <a:rPr lang="en-US" altLang="ko-KR" sz="1200" dirty="0">
                  <a:solidFill>
                    <a:sysClr val="windowText" lastClr="000000"/>
                  </a:solidFill>
                  <a:latin typeface="Times New Roman" panose="02020603050405020304" pitchFamily="18" charset="0"/>
                  <a:cs typeface="Times New Roman" panose="02020603050405020304" pitchFamily="18" charset="0"/>
                </a:rPr>
                <a:t>Exp</a:t>
              </a:r>
              <a:r>
                <a:rPr lang="ko-KR" altLang="en-US" sz="1200" dirty="0">
                  <a:solidFill>
                    <a:sysClr val="windowText" lastClr="000000"/>
                  </a:solidFill>
                  <a:latin typeface="Times New Roman" panose="02020603050405020304" pitchFamily="18" charset="0"/>
                  <a:cs typeface="Times New Roman" panose="02020603050405020304" pitchFamily="18" charset="0"/>
                </a:rPr>
                <a:t> </a:t>
              </a:r>
              <a:r>
                <a:rPr lang="en-US" altLang="ko-KR" sz="1200" dirty="0">
                  <a:solidFill>
                    <a:sysClr val="windowText" lastClr="000000"/>
                  </a:solidFill>
                  <a:latin typeface="Times New Roman" panose="02020603050405020304" pitchFamily="18" charset="0"/>
                  <a:cs typeface="Times New Roman" panose="02020603050405020304" pitchFamily="18" charset="0"/>
                </a:rPr>
                <a:t>K</a:t>
              </a:r>
            </a:p>
            <a:p>
              <a:pPr algn="ctr"/>
              <a:r>
                <a:rPr lang="en-US" altLang="ko-KR" sz="800" dirty="0">
                  <a:solidFill>
                    <a:sysClr val="windowText" lastClr="000000"/>
                  </a:solidFill>
                  <a:latin typeface="Times New Roman" panose="02020603050405020304" pitchFamily="18" charset="0"/>
                  <a:cs typeface="Times New Roman" panose="02020603050405020304" pitchFamily="18" charset="0"/>
                </a:rPr>
                <a:t>OOD</a:t>
              </a:r>
              <a:endParaRPr lang="ko-KR" altLang="en-US" sz="800" dirty="0"/>
            </a:p>
          </p:txBody>
        </p:sp>
      </p:grpSp>
      <p:cxnSp>
        <p:nvCxnSpPr>
          <p:cNvPr id="111" name="직선 화살표 연결선 110">
            <a:extLst>
              <a:ext uri="{FF2B5EF4-FFF2-40B4-BE49-F238E27FC236}">
                <a16:creationId xmlns:a16="http://schemas.microsoft.com/office/drawing/2014/main" id="{A6AB5F57-0744-C88D-21D0-B899B01CD300}"/>
              </a:ext>
            </a:extLst>
          </p:cNvPr>
          <p:cNvCxnSpPr>
            <a:cxnSpLocks/>
          </p:cNvCxnSpPr>
          <p:nvPr/>
        </p:nvCxnSpPr>
        <p:spPr>
          <a:xfrm flipH="1">
            <a:off x="2720299" y="1118561"/>
            <a:ext cx="519175"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12" name="직선 화살표 연결선 111">
            <a:extLst>
              <a:ext uri="{FF2B5EF4-FFF2-40B4-BE49-F238E27FC236}">
                <a16:creationId xmlns:a16="http://schemas.microsoft.com/office/drawing/2014/main" id="{3508D008-B0FC-3738-B6D3-3820E7892084}"/>
              </a:ext>
            </a:extLst>
          </p:cNvPr>
          <p:cNvCxnSpPr>
            <a:cxnSpLocks/>
          </p:cNvCxnSpPr>
          <p:nvPr/>
        </p:nvCxnSpPr>
        <p:spPr>
          <a:xfrm flipH="1">
            <a:off x="2720299" y="1641326"/>
            <a:ext cx="519175"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13" name="직선 화살표 연결선 112">
            <a:extLst>
              <a:ext uri="{FF2B5EF4-FFF2-40B4-BE49-F238E27FC236}">
                <a16:creationId xmlns:a16="http://schemas.microsoft.com/office/drawing/2014/main" id="{61905929-D462-0100-5B4A-6064E94608B0}"/>
              </a:ext>
            </a:extLst>
          </p:cNvPr>
          <p:cNvCxnSpPr>
            <a:cxnSpLocks/>
          </p:cNvCxnSpPr>
          <p:nvPr/>
        </p:nvCxnSpPr>
        <p:spPr>
          <a:xfrm flipH="1">
            <a:off x="2720299" y="2332050"/>
            <a:ext cx="519175" cy="0"/>
          </a:xfrm>
          <a:prstGeom prst="straightConnector1">
            <a:avLst/>
          </a:prstGeom>
          <a:ln w="12700">
            <a:solidFill>
              <a:schemeClr val="tx1"/>
            </a:solidFill>
            <a:prstDash val="sysDash"/>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114" name="TextBox 113">
            <a:extLst>
              <a:ext uri="{FF2B5EF4-FFF2-40B4-BE49-F238E27FC236}">
                <a16:creationId xmlns:a16="http://schemas.microsoft.com/office/drawing/2014/main" id="{4B329A62-BE44-8F76-F3CF-8159C471099A}"/>
              </a:ext>
            </a:extLst>
          </p:cNvPr>
          <p:cNvSpPr txBox="1"/>
          <p:nvPr/>
        </p:nvSpPr>
        <p:spPr>
          <a:xfrm>
            <a:off x="2542207" y="2107455"/>
            <a:ext cx="784535" cy="246221"/>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OOD</a:t>
            </a:r>
            <a:endParaRPr sz="1000" dirty="0">
              <a:latin typeface="Times New Roman" panose="02020603050405020304" pitchFamily="18" charset="0"/>
              <a:cs typeface="Times New Roman" panose="02020603050405020304" pitchFamily="18" charset="0"/>
            </a:endParaRPr>
          </a:p>
        </p:txBody>
      </p:sp>
      <p:sp>
        <p:nvSpPr>
          <p:cNvPr id="115" name="TextBox 114">
            <a:extLst>
              <a:ext uri="{FF2B5EF4-FFF2-40B4-BE49-F238E27FC236}">
                <a16:creationId xmlns:a16="http://schemas.microsoft.com/office/drawing/2014/main" id="{07C762EB-B829-F410-1A1A-479474DCCC52}"/>
              </a:ext>
            </a:extLst>
          </p:cNvPr>
          <p:cNvSpPr txBox="1"/>
          <p:nvPr/>
        </p:nvSpPr>
        <p:spPr>
          <a:xfrm>
            <a:off x="2542208" y="912071"/>
            <a:ext cx="784535" cy="246221"/>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accept</a:t>
            </a:r>
            <a:endParaRPr sz="1000" dirty="0">
              <a:latin typeface="Times New Roman" panose="02020603050405020304" pitchFamily="18" charset="0"/>
              <a:cs typeface="Times New Roman" panose="02020603050405020304" pitchFamily="18" charset="0"/>
            </a:endParaRPr>
          </a:p>
        </p:txBody>
      </p:sp>
      <p:sp>
        <p:nvSpPr>
          <p:cNvPr id="116" name="TextBox 115">
            <a:extLst>
              <a:ext uri="{FF2B5EF4-FFF2-40B4-BE49-F238E27FC236}">
                <a16:creationId xmlns:a16="http://schemas.microsoft.com/office/drawing/2014/main" id="{246AB6C9-2995-9A1D-5D98-CD8C7F1511B9}"/>
              </a:ext>
            </a:extLst>
          </p:cNvPr>
          <p:cNvSpPr txBox="1"/>
          <p:nvPr/>
        </p:nvSpPr>
        <p:spPr>
          <a:xfrm>
            <a:off x="2542208" y="1434836"/>
            <a:ext cx="784535" cy="246221"/>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accept</a:t>
            </a:r>
            <a:endParaRPr sz="1000" dirty="0">
              <a:latin typeface="Times New Roman" panose="02020603050405020304" pitchFamily="18" charset="0"/>
              <a:cs typeface="Times New Roman" panose="02020603050405020304" pitchFamily="18" charset="0"/>
            </a:endParaRPr>
          </a:p>
        </p:txBody>
      </p:sp>
      <p:grpSp>
        <p:nvGrpSpPr>
          <p:cNvPr id="117" name="그룹 116">
            <a:extLst>
              <a:ext uri="{FF2B5EF4-FFF2-40B4-BE49-F238E27FC236}">
                <a16:creationId xmlns:a16="http://schemas.microsoft.com/office/drawing/2014/main" id="{95D99813-3DCC-258B-7F9B-5C76E404CB60}"/>
              </a:ext>
            </a:extLst>
          </p:cNvPr>
          <p:cNvGrpSpPr/>
          <p:nvPr/>
        </p:nvGrpSpPr>
        <p:grpSpPr>
          <a:xfrm>
            <a:off x="2766516" y="758284"/>
            <a:ext cx="1416677" cy="581957"/>
            <a:chOff x="2337514" y="1500387"/>
            <a:chExt cx="1416677" cy="905815"/>
          </a:xfrm>
        </p:grpSpPr>
        <p:sp>
          <p:nvSpPr>
            <p:cNvPr id="138" name="순서도: 수동 연산 137">
              <a:extLst>
                <a:ext uri="{FF2B5EF4-FFF2-40B4-BE49-F238E27FC236}">
                  <a16:creationId xmlns:a16="http://schemas.microsoft.com/office/drawing/2014/main" id="{01CDA1F2-D1C8-7F50-B941-A696D6532B4D}"/>
                </a:ext>
              </a:extLst>
            </p:cNvPr>
            <p:cNvSpPr/>
            <p:nvPr/>
          </p:nvSpPr>
          <p:spPr>
            <a:xfrm rot="16200000">
              <a:off x="2606458" y="1699377"/>
              <a:ext cx="905815" cy="507836"/>
            </a:xfrm>
            <a:prstGeom prst="flowChartManualOperation">
              <a:avLst/>
            </a:prstGeom>
            <a:solidFill>
              <a:srgbClr val="00CC00">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9" name="TextBox 138">
              <a:extLst>
                <a:ext uri="{FF2B5EF4-FFF2-40B4-BE49-F238E27FC236}">
                  <a16:creationId xmlns:a16="http://schemas.microsoft.com/office/drawing/2014/main" id="{62D37074-EC73-DAEE-A1D2-7999BA9E5231}"/>
                </a:ext>
              </a:extLst>
            </p:cNvPr>
            <p:cNvSpPr txBox="1"/>
            <p:nvPr/>
          </p:nvSpPr>
          <p:spPr>
            <a:xfrm>
              <a:off x="2337514" y="1628155"/>
              <a:ext cx="1416677" cy="431148"/>
            </a:xfrm>
            <a:prstGeom prst="rect">
              <a:avLst/>
            </a:prstGeom>
            <a:noFill/>
          </p:spPr>
          <p:txBody>
            <a:bodyPr wrap="square">
              <a:spAutoFit/>
            </a:bodyPr>
            <a:lstStyle/>
            <a:p>
              <a:pPr algn="ctr"/>
              <a:r>
                <a:rPr lang="en-US" altLang="ko-KR" sz="1200" dirty="0">
                  <a:solidFill>
                    <a:schemeClr val="tx1"/>
                  </a:solidFill>
                  <a:latin typeface="Times New Roman" panose="02020603050405020304" pitchFamily="18" charset="0"/>
                  <a:cs typeface="Times New Roman" panose="02020603050405020304" pitchFamily="18" charset="0"/>
                </a:rPr>
                <a:t>Exp 1</a:t>
              </a:r>
            </a:p>
          </p:txBody>
        </p:sp>
      </p:grpSp>
      <p:grpSp>
        <p:nvGrpSpPr>
          <p:cNvPr id="118" name="그룹 117">
            <a:extLst>
              <a:ext uri="{FF2B5EF4-FFF2-40B4-BE49-F238E27FC236}">
                <a16:creationId xmlns:a16="http://schemas.microsoft.com/office/drawing/2014/main" id="{E4B8DBB4-7BE1-3680-7B7A-BB374D85EEE7}"/>
              </a:ext>
            </a:extLst>
          </p:cNvPr>
          <p:cNvGrpSpPr/>
          <p:nvPr/>
        </p:nvGrpSpPr>
        <p:grpSpPr>
          <a:xfrm>
            <a:off x="2766516" y="1391226"/>
            <a:ext cx="1416677" cy="581957"/>
            <a:chOff x="2337514" y="1500385"/>
            <a:chExt cx="1416677" cy="905815"/>
          </a:xfrm>
        </p:grpSpPr>
        <p:sp>
          <p:nvSpPr>
            <p:cNvPr id="136" name="순서도: 수동 연산 135">
              <a:extLst>
                <a:ext uri="{FF2B5EF4-FFF2-40B4-BE49-F238E27FC236}">
                  <a16:creationId xmlns:a16="http://schemas.microsoft.com/office/drawing/2014/main" id="{68ED9E6A-1DE9-DD5D-339B-7883A7A4DE67}"/>
                </a:ext>
              </a:extLst>
            </p:cNvPr>
            <p:cNvSpPr/>
            <p:nvPr/>
          </p:nvSpPr>
          <p:spPr>
            <a:xfrm rot="16200000">
              <a:off x="2604950" y="1700883"/>
              <a:ext cx="905815" cy="504820"/>
            </a:xfrm>
            <a:prstGeom prst="flowChartManualOperation">
              <a:avLst/>
            </a:prstGeom>
            <a:solidFill>
              <a:srgbClr val="00CC00">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7" name="TextBox 136">
              <a:extLst>
                <a:ext uri="{FF2B5EF4-FFF2-40B4-BE49-F238E27FC236}">
                  <a16:creationId xmlns:a16="http://schemas.microsoft.com/office/drawing/2014/main" id="{B1AAEF5C-90D9-1F1E-386A-0A72DB66E720}"/>
                </a:ext>
              </a:extLst>
            </p:cNvPr>
            <p:cNvSpPr txBox="1"/>
            <p:nvPr/>
          </p:nvSpPr>
          <p:spPr>
            <a:xfrm>
              <a:off x="2337514" y="1628156"/>
              <a:ext cx="1416677" cy="431148"/>
            </a:xfrm>
            <a:prstGeom prst="rect">
              <a:avLst/>
            </a:prstGeom>
            <a:noFill/>
          </p:spPr>
          <p:txBody>
            <a:bodyPr wrap="square">
              <a:spAutoFit/>
            </a:bodyPr>
            <a:lstStyle/>
            <a:p>
              <a:pPr algn="ctr"/>
              <a:r>
                <a:rPr lang="en-US" altLang="ko-KR" sz="1200" dirty="0">
                  <a:solidFill>
                    <a:schemeClr val="tx1"/>
                  </a:solidFill>
                  <a:latin typeface="Times New Roman" panose="02020603050405020304" pitchFamily="18" charset="0"/>
                  <a:cs typeface="Times New Roman" panose="02020603050405020304" pitchFamily="18" charset="0"/>
                </a:rPr>
                <a:t>Exp 2</a:t>
              </a:r>
            </a:p>
          </p:txBody>
        </p:sp>
      </p:grpSp>
      <p:grpSp>
        <p:nvGrpSpPr>
          <p:cNvPr id="119" name="그룹 118">
            <a:extLst>
              <a:ext uri="{FF2B5EF4-FFF2-40B4-BE49-F238E27FC236}">
                <a16:creationId xmlns:a16="http://schemas.microsoft.com/office/drawing/2014/main" id="{6B012E3E-D80B-BBF3-6E4D-8CA7513C4C21}"/>
              </a:ext>
            </a:extLst>
          </p:cNvPr>
          <p:cNvGrpSpPr/>
          <p:nvPr/>
        </p:nvGrpSpPr>
        <p:grpSpPr>
          <a:xfrm>
            <a:off x="2778520" y="2077378"/>
            <a:ext cx="1416677" cy="581957"/>
            <a:chOff x="2349518" y="1500387"/>
            <a:chExt cx="1416677" cy="905815"/>
          </a:xfrm>
        </p:grpSpPr>
        <p:sp>
          <p:nvSpPr>
            <p:cNvPr id="134" name="순서도: 수동 연산 133">
              <a:extLst>
                <a:ext uri="{FF2B5EF4-FFF2-40B4-BE49-F238E27FC236}">
                  <a16:creationId xmlns:a16="http://schemas.microsoft.com/office/drawing/2014/main" id="{092FDFF1-AD08-44D9-76A8-A8C605C85E73}"/>
                </a:ext>
              </a:extLst>
            </p:cNvPr>
            <p:cNvSpPr/>
            <p:nvPr/>
          </p:nvSpPr>
          <p:spPr>
            <a:xfrm rot="16200000">
              <a:off x="2604950" y="1700885"/>
              <a:ext cx="905815" cy="504820"/>
            </a:xfrm>
            <a:prstGeom prst="flowChartManualOperation">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5" name="TextBox 134">
              <a:extLst>
                <a:ext uri="{FF2B5EF4-FFF2-40B4-BE49-F238E27FC236}">
                  <a16:creationId xmlns:a16="http://schemas.microsoft.com/office/drawing/2014/main" id="{61CB0298-1C1A-CE36-02A3-7CF197483BB6}"/>
                </a:ext>
              </a:extLst>
            </p:cNvPr>
            <p:cNvSpPr txBox="1"/>
            <p:nvPr/>
          </p:nvSpPr>
          <p:spPr>
            <a:xfrm>
              <a:off x="2349518" y="1629660"/>
              <a:ext cx="1416677" cy="431148"/>
            </a:xfrm>
            <a:prstGeom prst="rect">
              <a:avLst/>
            </a:prstGeom>
            <a:noFill/>
          </p:spPr>
          <p:txBody>
            <a:bodyPr wrap="square">
              <a:spAutoFit/>
            </a:bodyPr>
            <a:lstStyle/>
            <a:p>
              <a:pPr algn="ctr"/>
              <a:r>
                <a:rPr lang="en-US" altLang="ko-KR" sz="1200" dirty="0">
                  <a:solidFill>
                    <a:schemeClr val="tx1"/>
                  </a:solidFill>
                  <a:latin typeface="Times New Roman" panose="02020603050405020304" pitchFamily="18" charset="0"/>
                  <a:cs typeface="Times New Roman" panose="02020603050405020304" pitchFamily="18" charset="0"/>
                </a:rPr>
                <a:t>Exp K</a:t>
              </a:r>
            </a:p>
          </p:txBody>
        </p:sp>
      </p:grpSp>
      <p:cxnSp>
        <p:nvCxnSpPr>
          <p:cNvPr id="120" name="직선 화살표 연결선 119">
            <a:extLst>
              <a:ext uri="{FF2B5EF4-FFF2-40B4-BE49-F238E27FC236}">
                <a16:creationId xmlns:a16="http://schemas.microsoft.com/office/drawing/2014/main" id="{3F87E2BE-EA2D-28EF-DFFE-6ED4CB4F540A}"/>
              </a:ext>
            </a:extLst>
          </p:cNvPr>
          <p:cNvCxnSpPr>
            <a:cxnSpLocks/>
          </p:cNvCxnSpPr>
          <p:nvPr/>
        </p:nvCxnSpPr>
        <p:spPr>
          <a:xfrm flipH="1">
            <a:off x="3745312" y="1118561"/>
            <a:ext cx="278978" cy="0"/>
          </a:xfrm>
          <a:prstGeom prst="straightConnector1">
            <a:avLst/>
          </a:prstGeom>
          <a:ln w="12700">
            <a:solidFill>
              <a:schemeClr val="tx1"/>
            </a:solidFill>
            <a:prstDash val="solid"/>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21" name="직선 화살표 연결선 120">
            <a:extLst>
              <a:ext uri="{FF2B5EF4-FFF2-40B4-BE49-F238E27FC236}">
                <a16:creationId xmlns:a16="http://schemas.microsoft.com/office/drawing/2014/main" id="{214670FA-2477-DB55-0959-952BA69F06D6}"/>
              </a:ext>
            </a:extLst>
          </p:cNvPr>
          <p:cNvCxnSpPr>
            <a:cxnSpLocks/>
          </p:cNvCxnSpPr>
          <p:nvPr/>
        </p:nvCxnSpPr>
        <p:spPr>
          <a:xfrm flipH="1">
            <a:off x="4024290" y="1389607"/>
            <a:ext cx="1499497"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22" name="직선 화살표 연결선 121">
            <a:extLst>
              <a:ext uri="{FF2B5EF4-FFF2-40B4-BE49-F238E27FC236}">
                <a16:creationId xmlns:a16="http://schemas.microsoft.com/office/drawing/2014/main" id="{2CBAA9D6-8752-7177-BE05-4461FBFB5B33}"/>
              </a:ext>
            </a:extLst>
          </p:cNvPr>
          <p:cNvCxnSpPr>
            <a:cxnSpLocks/>
          </p:cNvCxnSpPr>
          <p:nvPr/>
        </p:nvCxnSpPr>
        <p:spPr>
          <a:xfrm flipH="1">
            <a:off x="3745312" y="1660563"/>
            <a:ext cx="278978" cy="0"/>
          </a:xfrm>
          <a:prstGeom prst="straightConnector1">
            <a:avLst/>
          </a:prstGeom>
          <a:ln w="12700">
            <a:solidFill>
              <a:schemeClr val="tx1"/>
            </a:solidFill>
            <a:prstDash val="solid"/>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23" name="직선 화살표 연결선 122">
            <a:extLst>
              <a:ext uri="{FF2B5EF4-FFF2-40B4-BE49-F238E27FC236}">
                <a16:creationId xmlns:a16="http://schemas.microsoft.com/office/drawing/2014/main" id="{34B1C2E1-6B4A-8845-21DC-AE1E1C7A90CB}"/>
              </a:ext>
            </a:extLst>
          </p:cNvPr>
          <p:cNvCxnSpPr>
            <a:cxnSpLocks/>
          </p:cNvCxnSpPr>
          <p:nvPr/>
        </p:nvCxnSpPr>
        <p:spPr>
          <a:xfrm flipV="1">
            <a:off x="4017717" y="1117524"/>
            <a:ext cx="0" cy="543039"/>
          </a:xfrm>
          <a:prstGeom prst="straightConnector1">
            <a:avLst/>
          </a:prstGeom>
          <a:ln w="12700">
            <a:solidFill>
              <a:schemeClr val="tx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124" name="TextBox 123">
                <a:extLst>
                  <a:ext uri="{FF2B5EF4-FFF2-40B4-BE49-F238E27FC236}">
                    <a16:creationId xmlns:a16="http://schemas.microsoft.com/office/drawing/2014/main" id="{8312A9B0-DDF4-82C1-E82E-FD8DEC058BB9}"/>
                  </a:ext>
                </a:extLst>
              </p:cNvPr>
              <p:cNvSpPr txBox="1"/>
              <p:nvPr/>
            </p:nvSpPr>
            <p:spPr>
              <a:xfrm>
                <a:off x="5490227" y="1186353"/>
                <a:ext cx="369658"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400" b="0" i="1" dirty="0" smtClean="0">
                          <a:solidFill>
                            <a:schemeClr val="tx1"/>
                          </a:solidFill>
                          <a:latin typeface="Cambria Math" panose="02040503050406030204" pitchFamily="18" charset="0"/>
                          <a:cs typeface="Times New Roman" panose="02020603050405020304" pitchFamily="18" charset="0"/>
                        </a:rPr>
                        <m:t>𝑦</m:t>
                      </m:r>
                    </m:oMath>
                  </m:oMathPara>
                </a14:m>
                <a:endParaRPr lang="ko-KR" altLang="en-US" dirty="0"/>
              </a:p>
            </p:txBody>
          </p:sp>
        </mc:Choice>
        <mc:Fallback>
          <p:sp>
            <p:nvSpPr>
              <p:cNvPr id="124" name="TextBox 123">
                <a:extLst>
                  <a:ext uri="{FF2B5EF4-FFF2-40B4-BE49-F238E27FC236}">
                    <a16:creationId xmlns:a16="http://schemas.microsoft.com/office/drawing/2014/main" id="{8312A9B0-DDF4-82C1-E82E-FD8DEC058BB9}"/>
                  </a:ext>
                </a:extLst>
              </p:cNvPr>
              <p:cNvSpPr txBox="1">
                <a:spLocks noRot="1" noChangeAspect="1" noMove="1" noResize="1" noEditPoints="1" noAdjustHandles="1" noChangeArrowheads="1" noChangeShapeType="1" noTextEdit="1"/>
              </p:cNvSpPr>
              <p:nvPr/>
            </p:nvSpPr>
            <p:spPr>
              <a:xfrm>
                <a:off x="5490227" y="1186353"/>
                <a:ext cx="369658" cy="307777"/>
              </a:xfrm>
              <a:prstGeom prst="rect">
                <a:avLst/>
              </a:prstGeom>
              <a:blipFill>
                <a:blip r:embed="rId7"/>
                <a:stretch>
                  <a:fillRect b="-4000"/>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125" name="직사각형 124">
                <a:extLst>
                  <a:ext uri="{FF2B5EF4-FFF2-40B4-BE49-F238E27FC236}">
                    <a16:creationId xmlns:a16="http://schemas.microsoft.com/office/drawing/2014/main" id="{BCE53631-5F4D-03AB-9D0A-629EEFBBFF66}"/>
                  </a:ext>
                </a:extLst>
              </p:cNvPr>
              <p:cNvSpPr/>
              <p:nvPr/>
            </p:nvSpPr>
            <p:spPr>
              <a:xfrm>
                <a:off x="4104878" y="1142353"/>
                <a:ext cx="949214" cy="462401"/>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ko-KR" sz="1000" b="0" i="1" smtClean="0">
                          <a:solidFill>
                            <a:schemeClr val="tx1"/>
                          </a:solidFill>
                          <a:latin typeface="Cambria Math" panose="02040503050406030204" pitchFamily="18" charset="0"/>
                          <a:cs typeface="Times New Roman" panose="02020603050405020304" pitchFamily="18" charset="0"/>
                        </a:rPr>
                        <m:t>𝑐𝑜𝑛𝑓𝑖𝑑𝑒𝑛𝑐𝑒</m:t>
                      </m:r>
                    </m:oMath>
                  </m:oMathPara>
                </a14:m>
                <a:endParaRPr lang="en-US" altLang="ko-KR" sz="1000" b="0" i="1" dirty="0">
                  <a:solidFill>
                    <a:schemeClr val="tx1"/>
                  </a:solidFill>
                  <a:latin typeface="Cambria Math" panose="020405030504060302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altLang="ko-KR" sz="1000" b="0" i="1" smtClean="0">
                          <a:solidFill>
                            <a:schemeClr val="tx1"/>
                          </a:solidFill>
                          <a:latin typeface="Cambria Math" panose="02040503050406030204" pitchFamily="18" charset="0"/>
                          <a:cs typeface="Times New Roman" panose="02020603050405020304" pitchFamily="18" charset="0"/>
                        </a:rPr>
                        <m:t>+</m:t>
                      </m:r>
                      <m:r>
                        <a:rPr lang="ko-KR" altLang="en-US" sz="1000" b="0" i="1" smtClean="0">
                          <a:solidFill>
                            <a:schemeClr val="tx1"/>
                          </a:solidFill>
                          <a:latin typeface="Cambria Math" panose="02040503050406030204" pitchFamily="18" charset="0"/>
                          <a:cs typeface="Times New Roman" panose="02020603050405020304" pitchFamily="18" charset="0"/>
                        </a:rPr>
                        <m:t>𝜆</m:t>
                      </m:r>
                      <m:r>
                        <a:rPr lang="ko-KR" altLang="en-US" sz="1000" b="0" i="1" smtClean="0">
                          <a:solidFill>
                            <a:schemeClr val="tx1"/>
                          </a:solidFill>
                          <a:latin typeface="Cambria Math" panose="02040503050406030204" pitchFamily="18" charset="0"/>
                          <a:cs typeface="Times New Roman" panose="02020603050405020304" pitchFamily="18" charset="0"/>
                        </a:rPr>
                        <m:t>∙</m:t>
                      </m:r>
                      <m:r>
                        <a:rPr lang="en-US" altLang="ko-KR" sz="1000" b="0" i="1" smtClean="0">
                          <a:solidFill>
                            <a:schemeClr val="tx1"/>
                          </a:solidFill>
                          <a:latin typeface="Cambria Math" panose="02040503050406030204" pitchFamily="18" charset="0"/>
                          <a:cs typeface="Times New Roman" panose="02020603050405020304" pitchFamily="18" charset="0"/>
                        </a:rPr>
                        <m:t>𝑠𝑡𝑎𝑏𝑖𝑙𝑖𝑡𝑦</m:t>
                      </m:r>
                    </m:oMath>
                  </m:oMathPara>
                </a14:m>
                <a:endParaRPr lang="en-US" altLang="ko-KR" sz="1000" dirty="0">
                  <a:solidFill>
                    <a:schemeClr val="tx1"/>
                  </a:solidFill>
                  <a:latin typeface="Times New Roman" panose="02020603050405020304" pitchFamily="18" charset="0"/>
                  <a:cs typeface="Times New Roman" panose="02020603050405020304" pitchFamily="18" charset="0"/>
                </a:endParaRPr>
              </a:p>
            </p:txBody>
          </p:sp>
        </mc:Choice>
        <mc:Fallback>
          <p:sp>
            <p:nvSpPr>
              <p:cNvPr id="125" name="직사각형 124">
                <a:extLst>
                  <a:ext uri="{FF2B5EF4-FFF2-40B4-BE49-F238E27FC236}">
                    <a16:creationId xmlns:a16="http://schemas.microsoft.com/office/drawing/2014/main" id="{BCE53631-5F4D-03AB-9D0A-629EEFBBFF66}"/>
                  </a:ext>
                </a:extLst>
              </p:cNvPr>
              <p:cNvSpPr>
                <a:spLocks noRot="1" noChangeAspect="1" noMove="1" noResize="1" noEditPoints="1" noAdjustHandles="1" noChangeArrowheads="1" noChangeShapeType="1" noTextEdit="1"/>
              </p:cNvSpPr>
              <p:nvPr/>
            </p:nvSpPr>
            <p:spPr>
              <a:xfrm>
                <a:off x="4104878" y="1142353"/>
                <a:ext cx="949214" cy="462401"/>
              </a:xfrm>
              <a:prstGeom prst="rect">
                <a:avLst/>
              </a:prstGeom>
              <a:blipFill>
                <a:blip r:embed="rId8"/>
                <a:stretch>
                  <a:fillRect/>
                </a:stretch>
              </a:blipFill>
              <a:ln w="9525">
                <a:solidFill>
                  <a:schemeClr val="tx1"/>
                </a:solidFill>
              </a:ln>
            </p:spPr>
            <p:txBody>
              <a:bodyPr/>
              <a:lstStyle/>
              <a:p>
                <a:r>
                  <a:rPr lang="ko-KR" altLang="en-US">
                    <a:noFill/>
                  </a:rPr>
                  <a:t> </a:t>
                </a:r>
              </a:p>
            </p:txBody>
          </p:sp>
        </mc:Fallback>
      </mc:AlternateContent>
      <p:sp>
        <p:nvSpPr>
          <p:cNvPr id="152" name="TextBox 151">
            <a:extLst>
              <a:ext uri="{FF2B5EF4-FFF2-40B4-BE49-F238E27FC236}">
                <a16:creationId xmlns:a16="http://schemas.microsoft.com/office/drawing/2014/main" id="{7FA4CE7B-5BDD-6429-B52F-9808999EBBA3}"/>
              </a:ext>
            </a:extLst>
          </p:cNvPr>
          <p:cNvSpPr txBox="1"/>
          <p:nvPr/>
        </p:nvSpPr>
        <p:spPr>
          <a:xfrm>
            <a:off x="-85551" y="47104"/>
            <a:ext cx="1289962" cy="307777"/>
          </a:xfrm>
          <a:prstGeom prst="rect">
            <a:avLst/>
          </a:prstGeom>
          <a:noFill/>
        </p:spPr>
        <p:txBody>
          <a:bodyPr wrap="square">
            <a:spAutoFit/>
          </a:bodyPr>
          <a:lstStyle/>
          <a:p>
            <a:pPr algn="ctr"/>
            <a:r>
              <a:rPr lang="en-US" altLang="ko-KR" sz="1400" dirty="0">
                <a:latin typeface="Times New Roman" panose="02020603050405020304" pitchFamily="18" charset="0"/>
                <a:cs typeface="Times New Roman" panose="02020603050405020304" pitchFamily="18" charset="0"/>
              </a:rPr>
              <a:t>(B) Test</a:t>
            </a:r>
          </a:p>
        </p:txBody>
      </p:sp>
      <p:sp>
        <p:nvSpPr>
          <p:cNvPr id="4" name="TextBox 3">
            <a:extLst>
              <a:ext uri="{FF2B5EF4-FFF2-40B4-BE49-F238E27FC236}">
                <a16:creationId xmlns:a16="http://schemas.microsoft.com/office/drawing/2014/main" id="{571272F8-A4D5-7B44-03E8-35CC03672A51}"/>
              </a:ext>
            </a:extLst>
          </p:cNvPr>
          <p:cNvSpPr txBox="1"/>
          <p:nvPr/>
        </p:nvSpPr>
        <p:spPr>
          <a:xfrm>
            <a:off x="1810090" y="45224"/>
            <a:ext cx="5222318" cy="400110"/>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Should we show the test root according to the result case by case? (e.g. benign goes to this way and attack goes to this case) OR is there any way to describe it all at once?</a:t>
            </a:r>
            <a:endParaRPr sz="1000" dirty="0">
              <a:latin typeface="Times New Roman" panose="02020603050405020304" pitchFamily="18" charset="0"/>
              <a:cs typeface="Times New Roman" panose="02020603050405020304" pitchFamily="18" charset="0"/>
            </a:endParaRPr>
          </a:p>
        </p:txBody>
      </p:sp>
      <p:cxnSp>
        <p:nvCxnSpPr>
          <p:cNvPr id="5" name="직선 화살표 연결선 4">
            <a:extLst>
              <a:ext uri="{FF2B5EF4-FFF2-40B4-BE49-F238E27FC236}">
                <a16:creationId xmlns:a16="http://schemas.microsoft.com/office/drawing/2014/main" id="{E1AA9068-6BFE-4D33-E522-62F3620F7625}"/>
              </a:ext>
            </a:extLst>
          </p:cNvPr>
          <p:cNvCxnSpPr>
            <a:cxnSpLocks/>
          </p:cNvCxnSpPr>
          <p:nvPr/>
        </p:nvCxnSpPr>
        <p:spPr>
          <a:xfrm flipV="1">
            <a:off x="1361079" y="1116710"/>
            <a:ext cx="0" cy="1231029"/>
          </a:xfrm>
          <a:prstGeom prst="straightConnector1">
            <a:avLst/>
          </a:prstGeom>
          <a:ln w="12700">
            <a:solidFill>
              <a:schemeClr val="tx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6" name="직선 화살표 연결선 5">
            <a:extLst>
              <a:ext uri="{FF2B5EF4-FFF2-40B4-BE49-F238E27FC236}">
                <a16:creationId xmlns:a16="http://schemas.microsoft.com/office/drawing/2014/main" id="{CD7D9107-98C7-6B19-F4D6-09766427CEB9}"/>
              </a:ext>
            </a:extLst>
          </p:cNvPr>
          <p:cNvCxnSpPr>
            <a:cxnSpLocks/>
          </p:cNvCxnSpPr>
          <p:nvPr/>
        </p:nvCxnSpPr>
        <p:spPr>
          <a:xfrm flipH="1">
            <a:off x="1355924" y="1657015"/>
            <a:ext cx="265707"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 name="직선 화살표 연결선 6">
            <a:extLst>
              <a:ext uri="{FF2B5EF4-FFF2-40B4-BE49-F238E27FC236}">
                <a16:creationId xmlns:a16="http://schemas.microsoft.com/office/drawing/2014/main" id="{843F0F09-7B4D-F148-5AB5-FB2D8912942E}"/>
              </a:ext>
            </a:extLst>
          </p:cNvPr>
          <p:cNvCxnSpPr>
            <a:cxnSpLocks/>
          </p:cNvCxnSpPr>
          <p:nvPr/>
        </p:nvCxnSpPr>
        <p:spPr>
          <a:xfrm flipH="1">
            <a:off x="1355924" y="2347739"/>
            <a:ext cx="265707"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grpSp>
        <p:nvGrpSpPr>
          <p:cNvPr id="34" name="그룹 33">
            <a:extLst>
              <a:ext uri="{FF2B5EF4-FFF2-40B4-BE49-F238E27FC236}">
                <a16:creationId xmlns:a16="http://schemas.microsoft.com/office/drawing/2014/main" id="{F4379084-D11F-6282-4C5A-064D2A04E6D6}"/>
              </a:ext>
            </a:extLst>
          </p:cNvPr>
          <p:cNvGrpSpPr/>
          <p:nvPr/>
        </p:nvGrpSpPr>
        <p:grpSpPr>
          <a:xfrm>
            <a:off x="816104" y="3099543"/>
            <a:ext cx="766829" cy="394952"/>
            <a:chOff x="1793921" y="2146072"/>
            <a:chExt cx="766829" cy="394952"/>
          </a:xfrm>
        </p:grpSpPr>
        <p:sp>
          <p:nvSpPr>
            <p:cNvPr id="35" name="순서도: 자기 디스크 34">
              <a:extLst>
                <a:ext uri="{FF2B5EF4-FFF2-40B4-BE49-F238E27FC236}">
                  <a16:creationId xmlns:a16="http://schemas.microsoft.com/office/drawing/2014/main" id="{816E8A68-BE5B-B119-C102-C647B8E05848}"/>
                </a:ext>
              </a:extLst>
            </p:cNvPr>
            <p:cNvSpPr/>
            <p:nvPr/>
          </p:nvSpPr>
          <p:spPr>
            <a:xfrm>
              <a:off x="1793921" y="2146072"/>
              <a:ext cx="437882" cy="394952"/>
            </a:xfrm>
            <a:prstGeom prst="flowChartMagneticDisk">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C3C7BBF-511C-8DF8-2C5A-A6B4932C4EE8}"/>
                    </a:ext>
                  </a:extLst>
                </p:cNvPr>
                <p:cNvSpPr txBox="1"/>
                <p:nvPr/>
              </p:nvSpPr>
              <p:spPr>
                <a:xfrm>
                  <a:off x="1793921" y="2258634"/>
                  <a:ext cx="437882" cy="25391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000" i="1" dirty="0" smtClean="0">
                                <a:solidFill>
                                  <a:schemeClr val="tx1"/>
                                </a:solidFill>
                                <a:latin typeface="Cambria Math" panose="02040503050406030204" pitchFamily="18" charset="0"/>
                                <a:cs typeface="Times New Roman" panose="02020603050405020304" pitchFamily="18" charset="0"/>
                              </a:rPr>
                            </m:ctrlPr>
                          </m:sSubPr>
                          <m:e>
                            <m:r>
                              <a:rPr lang="en-US" altLang="ko-KR" sz="1000" b="0" i="1" dirty="0" smtClean="0">
                                <a:solidFill>
                                  <a:schemeClr val="tx1"/>
                                </a:solidFill>
                                <a:latin typeface="Cambria Math" panose="02040503050406030204" pitchFamily="18" charset="0"/>
                                <a:cs typeface="Times New Roman" panose="02020603050405020304" pitchFamily="18" charset="0"/>
                              </a:rPr>
                              <m:t>𝐷</m:t>
                            </m:r>
                          </m:e>
                          <m:sub>
                            <m:r>
                              <a:rPr lang="en-US" altLang="ko-KR" sz="1000" b="0" i="1" dirty="0" smtClean="0">
                                <a:solidFill>
                                  <a:schemeClr val="tx1"/>
                                </a:solidFill>
                                <a:latin typeface="Cambria Math" panose="02040503050406030204" pitchFamily="18" charset="0"/>
                                <a:cs typeface="Times New Roman" panose="02020603050405020304" pitchFamily="18" charset="0"/>
                              </a:rPr>
                              <m:t>𝑡𝑒𝑠𝑡</m:t>
                            </m:r>
                          </m:sub>
                        </m:sSub>
                      </m:oMath>
                    </m:oMathPara>
                  </a14:m>
                  <a:endParaRPr/>
                </a:p>
              </p:txBody>
            </p:sp>
          </mc:Choice>
          <mc:Fallback xmlns="">
            <p:sp>
              <p:nvSpPr>
                <p:cNvPr id="143" name="TextBox 142">
                  <a:extLst>
                    <a:ext uri="{FF2B5EF4-FFF2-40B4-BE49-F238E27FC236}">
                      <a16:creationId xmlns:a16="http://schemas.microsoft.com/office/drawing/2014/main" id="{222FA8F1-8200-5407-AC32-29796876CB43}"/>
                    </a:ext>
                  </a:extLst>
                </p:cNvPr>
                <p:cNvSpPr txBox="1">
                  <a:spLocks noRot="1" noChangeAspect="1" noMove="1" noResize="1" noEditPoints="1" noAdjustHandles="1" noChangeArrowheads="1" noChangeShapeType="1" noTextEdit="1"/>
                </p:cNvSpPr>
                <p:nvPr/>
              </p:nvSpPr>
              <p:spPr>
                <a:xfrm>
                  <a:off x="1793921" y="2258634"/>
                  <a:ext cx="437882" cy="253916"/>
                </a:xfrm>
                <a:prstGeom prst="rect">
                  <a:avLst/>
                </a:prstGeom>
                <a:blipFill>
                  <a:blip r:embed="rId6"/>
                  <a:stretch>
                    <a:fillRect r="-2778" b="-9524"/>
                  </a:stretch>
                </a:blipFill>
              </p:spPr>
              <p:txBody>
                <a:bodyPr/>
                <a:lstStyle/>
                <a:p>
                  <a:r>
                    <a:rPr lang="ko-KR" altLang="en-US">
                      <a:noFill/>
                    </a:rPr>
                    <a:t> </a:t>
                  </a:r>
                </a:p>
              </p:txBody>
            </p:sp>
          </mc:Fallback>
        </mc:AlternateContent>
        <p:cxnSp>
          <p:nvCxnSpPr>
            <p:cNvPr id="37" name="직선 화살표 연결선 36">
              <a:extLst>
                <a:ext uri="{FF2B5EF4-FFF2-40B4-BE49-F238E27FC236}">
                  <a16:creationId xmlns:a16="http://schemas.microsoft.com/office/drawing/2014/main" id="{57463914-3A8C-0677-093F-9AD1DB841026}"/>
                </a:ext>
              </a:extLst>
            </p:cNvPr>
            <p:cNvCxnSpPr>
              <a:cxnSpLocks/>
            </p:cNvCxnSpPr>
            <p:nvPr/>
          </p:nvCxnSpPr>
          <p:spPr>
            <a:xfrm flipH="1">
              <a:off x="2232338" y="2368804"/>
              <a:ext cx="328412"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38" name="순서도: 판단 37">
            <a:extLst>
              <a:ext uri="{FF2B5EF4-FFF2-40B4-BE49-F238E27FC236}">
                <a16:creationId xmlns:a16="http://schemas.microsoft.com/office/drawing/2014/main" id="{284718FB-89B5-B3F8-C2DC-94FCB139E342}"/>
              </a:ext>
            </a:extLst>
          </p:cNvPr>
          <p:cNvSpPr/>
          <p:nvPr/>
        </p:nvSpPr>
        <p:spPr>
          <a:xfrm>
            <a:off x="1582933" y="3103644"/>
            <a:ext cx="1137366" cy="442163"/>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ysClr val="windowText" lastClr="000000"/>
                </a:solidFill>
                <a:latin typeface="Times New Roman" panose="02020603050405020304" pitchFamily="18" charset="0"/>
                <a:cs typeface="Times New Roman" panose="02020603050405020304" pitchFamily="18" charset="0"/>
              </a:rPr>
              <a:t>Exp</a:t>
            </a:r>
            <a:r>
              <a:rPr lang="ko-KR" altLang="en-US" sz="1200" dirty="0">
                <a:solidFill>
                  <a:sysClr val="windowText" lastClr="000000"/>
                </a:solidFill>
                <a:latin typeface="Times New Roman" panose="02020603050405020304" pitchFamily="18" charset="0"/>
                <a:cs typeface="Times New Roman" panose="02020603050405020304" pitchFamily="18" charset="0"/>
              </a:rPr>
              <a:t> </a:t>
            </a:r>
            <a:r>
              <a:rPr lang="en-US" altLang="ko-KR" sz="1200" dirty="0">
                <a:solidFill>
                  <a:sysClr val="windowText" lastClr="000000"/>
                </a:solidFill>
                <a:latin typeface="Times New Roman" panose="02020603050405020304" pitchFamily="18" charset="0"/>
                <a:cs typeface="Times New Roman" panose="02020603050405020304" pitchFamily="18" charset="0"/>
              </a:rPr>
              <a:t>1</a:t>
            </a:r>
          </a:p>
          <a:p>
            <a:pPr algn="ctr"/>
            <a:r>
              <a:rPr lang="en-US" altLang="ko-KR" sz="800" dirty="0">
                <a:solidFill>
                  <a:sysClr val="windowText" lastClr="000000"/>
                </a:solidFill>
                <a:latin typeface="Times New Roman" panose="02020603050405020304" pitchFamily="18" charset="0"/>
                <a:cs typeface="Times New Roman" panose="02020603050405020304" pitchFamily="18" charset="0"/>
              </a:rPr>
              <a:t>OOD</a:t>
            </a:r>
            <a:endParaRPr lang="ko-KR" altLang="en-US" sz="800" dirty="0">
              <a:solidFill>
                <a:sysClr val="windowText" lastClr="000000"/>
              </a:solidFill>
              <a:latin typeface="Times New Roman" panose="02020603050405020304" pitchFamily="18" charset="0"/>
              <a:cs typeface="Times New Roman" panose="02020603050405020304" pitchFamily="18" charset="0"/>
            </a:endParaRPr>
          </a:p>
        </p:txBody>
      </p:sp>
      <p:sp>
        <p:nvSpPr>
          <p:cNvPr id="39" name="순서도: 판단 38">
            <a:extLst>
              <a:ext uri="{FF2B5EF4-FFF2-40B4-BE49-F238E27FC236}">
                <a16:creationId xmlns:a16="http://schemas.microsoft.com/office/drawing/2014/main" id="{B8ED706E-8C75-53D7-7429-B41469C3A3B5}"/>
              </a:ext>
            </a:extLst>
          </p:cNvPr>
          <p:cNvSpPr/>
          <p:nvPr/>
        </p:nvSpPr>
        <p:spPr>
          <a:xfrm>
            <a:off x="1582933" y="3626409"/>
            <a:ext cx="1137366" cy="442163"/>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ysClr val="windowText" lastClr="000000"/>
                </a:solidFill>
                <a:latin typeface="Times New Roman" panose="02020603050405020304" pitchFamily="18" charset="0"/>
                <a:cs typeface="Times New Roman" panose="02020603050405020304" pitchFamily="18" charset="0"/>
              </a:rPr>
              <a:t>Exp</a:t>
            </a:r>
            <a:r>
              <a:rPr lang="ko-KR" altLang="en-US" sz="1200" dirty="0">
                <a:solidFill>
                  <a:sysClr val="windowText" lastClr="000000"/>
                </a:solidFill>
                <a:latin typeface="Times New Roman" panose="02020603050405020304" pitchFamily="18" charset="0"/>
                <a:cs typeface="Times New Roman" panose="02020603050405020304" pitchFamily="18" charset="0"/>
              </a:rPr>
              <a:t> </a:t>
            </a:r>
            <a:r>
              <a:rPr lang="en-US" altLang="ko-KR" sz="1200" dirty="0">
                <a:solidFill>
                  <a:sysClr val="windowText" lastClr="000000"/>
                </a:solidFill>
                <a:latin typeface="Times New Roman" panose="02020603050405020304" pitchFamily="18" charset="0"/>
                <a:cs typeface="Times New Roman" panose="02020603050405020304" pitchFamily="18" charset="0"/>
              </a:rPr>
              <a:t>2</a:t>
            </a:r>
          </a:p>
          <a:p>
            <a:pPr algn="ctr"/>
            <a:r>
              <a:rPr lang="en-US" altLang="ko-KR" sz="800" dirty="0">
                <a:solidFill>
                  <a:sysClr val="windowText" lastClr="000000"/>
                </a:solidFill>
                <a:latin typeface="Times New Roman" panose="02020603050405020304" pitchFamily="18" charset="0"/>
                <a:cs typeface="Times New Roman" panose="02020603050405020304" pitchFamily="18" charset="0"/>
              </a:rPr>
              <a:t>OOD</a:t>
            </a:r>
            <a:endParaRPr lang="ko-KR" altLang="en-US" sz="800" dirty="0">
              <a:solidFill>
                <a:sysClr val="windowText" lastClr="000000"/>
              </a:solidFill>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3397FAA3-1B42-0AE3-970D-671A9EB8C7F0}"/>
              </a:ext>
            </a:extLst>
          </p:cNvPr>
          <p:cNvSpPr txBox="1"/>
          <p:nvPr/>
        </p:nvSpPr>
        <p:spPr>
          <a:xfrm>
            <a:off x="2034770" y="4038964"/>
            <a:ext cx="480811" cy="307777"/>
          </a:xfrm>
          <a:prstGeom prst="rect">
            <a:avLst/>
          </a:prstGeom>
          <a:noFill/>
        </p:spPr>
        <p:txBody>
          <a:bodyPr wrap="square" rtlCol="0">
            <a:spAutoFit/>
          </a:bodyPr>
          <a:lstStyle/>
          <a:p>
            <a:r>
              <a:rPr lang="en-US" altLang="ko-KR" dirty="0"/>
              <a:t>⁞</a:t>
            </a:r>
            <a:endParaRPr lang="ko-KR" altLang="en-US" dirty="0"/>
          </a:p>
        </p:txBody>
      </p:sp>
      <p:grpSp>
        <p:nvGrpSpPr>
          <p:cNvPr id="41" name="그룹 40">
            <a:extLst>
              <a:ext uri="{FF2B5EF4-FFF2-40B4-BE49-F238E27FC236}">
                <a16:creationId xmlns:a16="http://schemas.microsoft.com/office/drawing/2014/main" id="{B8058BD1-936F-E5E3-5E91-E7FC979A9357}"/>
              </a:ext>
            </a:extLst>
          </p:cNvPr>
          <p:cNvGrpSpPr/>
          <p:nvPr/>
        </p:nvGrpSpPr>
        <p:grpSpPr>
          <a:xfrm>
            <a:off x="1582933" y="4317133"/>
            <a:ext cx="1137366" cy="442163"/>
            <a:chOff x="2412642" y="3800352"/>
            <a:chExt cx="1137366" cy="442163"/>
          </a:xfrm>
        </p:grpSpPr>
        <p:sp>
          <p:nvSpPr>
            <p:cNvPr id="48" name="순서도: 판단 47">
              <a:extLst>
                <a:ext uri="{FF2B5EF4-FFF2-40B4-BE49-F238E27FC236}">
                  <a16:creationId xmlns:a16="http://schemas.microsoft.com/office/drawing/2014/main" id="{F815CF65-0B03-1B9D-A5A4-0984A7045931}"/>
                </a:ext>
              </a:extLst>
            </p:cNvPr>
            <p:cNvSpPr/>
            <p:nvPr/>
          </p:nvSpPr>
          <p:spPr>
            <a:xfrm>
              <a:off x="2412642" y="3800352"/>
              <a:ext cx="1137366" cy="442163"/>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dirty="0">
                <a:solidFill>
                  <a:sysClr val="windowText" lastClr="000000"/>
                </a:solidFill>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E645069F-6B6D-5B29-85A3-F6E76BC8CCB3}"/>
                </a:ext>
              </a:extLst>
            </p:cNvPr>
            <p:cNvSpPr txBox="1"/>
            <p:nvPr/>
          </p:nvSpPr>
          <p:spPr>
            <a:xfrm>
              <a:off x="2590733" y="3842405"/>
              <a:ext cx="781184" cy="400110"/>
            </a:xfrm>
            <a:prstGeom prst="rect">
              <a:avLst/>
            </a:prstGeom>
            <a:noFill/>
          </p:spPr>
          <p:txBody>
            <a:bodyPr wrap="square">
              <a:spAutoFit/>
            </a:bodyPr>
            <a:lstStyle/>
            <a:p>
              <a:pPr algn="ctr"/>
              <a:r>
                <a:rPr lang="en-US" altLang="ko-KR" sz="1200" dirty="0">
                  <a:solidFill>
                    <a:sysClr val="windowText" lastClr="000000"/>
                  </a:solidFill>
                  <a:latin typeface="Times New Roman" panose="02020603050405020304" pitchFamily="18" charset="0"/>
                  <a:cs typeface="Times New Roman" panose="02020603050405020304" pitchFamily="18" charset="0"/>
                </a:rPr>
                <a:t>Exp</a:t>
              </a:r>
              <a:r>
                <a:rPr lang="ko-KR" altLang="en-US" sz="1200" dirty="0">
                  <a:solidFill>
                    <a:sysClr val="windowText" lastClr="000000"/>
                  </a:solidFill>
                  <a:latin typeface="Times New Roman" panose="02020603050405020304" pitchFamily="18" charset="0"/>
                  <a:cs typeface="Times New Roman" panose="02020603050405020304" pitchFamily="18" charset="0"/>
                </a:rPr>
                <a:t> </a:t>
              </a:r>
              <a:r>
                <a:rPr lang="en-US" altLang="ko-KR" sz="1200" dirty="0">
                  <a:solidFill>
                    <a:sysClr val="windowText" lastClr="000000"/>
                  </a:solidFill>
                  <a:latin typeface="Times New Roman" panose="02020603050405020304" pitchFamily="18" charset="0"/>
                  <a:cs typeface="Times New Roman" panose="02020603050405020304" pitchFamily="18" charset="0"/>
                </a:rPr>
                <a:t>K</a:t>
              </a:r>
            </a:p>
            <a:p>
              <a:pPr algn="ctr"/>
              <a:r>
                <a:rPr lang="en-US" altLang="ko-KR" sz="800" dirty="0">
                  <a:solidFill>
                    <a:sysClr val="windowText" lastClr="000000"/>
                  </a:solidFill>
                  <a:latin typeface="Times New Roman" panose="02020603050405020304" pitchFamily="18" charset="0"/>
                  <a:cs typeface="Times New Roman" panose="02020603050405020304" pitchFamily="18" charset="0"/>
                </a:rPr>
                <a:t>OOD</a:t>
              </a:r>
              <a:endParaRPr lang="ko-KR" altLang="en-US" sz="800" dirty="0"/>
            </a:p>
          </p:txBody>
        </p:sp>
      </p:grpSp>
      <p:cxnSp>
        <p:nvCxnSpPr>
          <p:cNvPr id="51" name="직선 화살표 연결선 50">
            <a:extLst>
              <a:ext uri="{FF2B5EF4-FFF2-40B4-BE49-F238E27FC236}">
                <a16:creationId xmlns:a16="http://schemas.microsoft.com/office/drawing/2014/main" id="{83B49CA1-951C-966F-B38E-6B52DFBB708E}"/>
              </a:ext>
            </a:extLst>
          </p:cNvPr>
          <p:cNvCxnSpPr>
            <a:cxnSpLocks/>
          </p:cNvCxnSpPr>
          <p:nvPr/>
        </p:nvCxnSpPr>
        <p:spPr>
          <a:xfrm flipH="1">
            <a:off x="2720299" y="3324126"/>
            <a:ext cx="519175"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2" name="직선 화살표 연결선 51">
            <a:extLst>
              <a:ext uri="{FF2B5EF4-FFF2-40B4-BE49-F238E27FC236}">
                <a16:creationId xmlns:a16="http://schemas.microsoft.com/office/drawing/2014/main" id="{D3AEC3BA-B2CF-C9FD-2609-6CAA550B4019}"/>
              </a:ext>
            </a:extLst>
          </p:cNvPr>
          <p:cNvCxnSpPr>
            <a:cxnSpLocks/>
          </p:cNvCxnSpPr>
          <p:nvPr/>
        </p:nvCxnSpPr>
        <p:spPr>
          <a:xfrm flipH="1">
            <a:off x="2720299" y="3846891"/>
            <a:ext cx="519175"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3" name="직선 화살표 연결선 52">
            <a:extLst>
              <a:ext uri="{FF2B5EF4-FFF2-40B4-BE49-F238E27FC236}">
                <a16:creationId xmlns:a16="http://schemas.microsoft.com/office/drawing/2014/main" id="{33812904-221C-2AE7-E5D7-81E80BAFA7F8}"/>
              </a:ext>
            </a:extLst>
          </p:cNvPr>
          <p:cNvCxnSpPr>
            <a:cxnSpLocks/>
          </p:cNvCxnSpPr>
          <p:nvPr/>
        </p:nvCxnSpPr>
        <p:spPr>
          <a:xfrm flipH="1">
            <a:off x="2720299" y="4537615"/>
            <a:ext cx="519175" cy="0"/>
          </a:xfrm>
          <a:prstGeom prst="straightConnector1">
            <a:avLst/>
          </a:prstGeom>
          <a:ln w="12700">
            <a:solidFill>
              <a:schemeClr val="tx1"/>
            </a:solidFill>
            <a:prstDash val="sysDash"/>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54" name="TextBox 53">
            <a:extLst>
              <a:ext uri="{FF2B5EF4-FFF2-40B4-BE49-F238E27FC236}">
                <a16:creationId xmlns:a16="http://schemas.microsoft.com/office/drawing/2014/main" id="{80FDDBD0-245D-DEF8-B95D-2364799D638A}"/>
              </a:ext>
            </a:extLst>
          </p:cNvPr>
          <p:cNvSpPr txBox="1"/>
          <p:nvPr/>
        </p:nvSpPr>
        <p:spPr>
          <a:xfrm>
            <a:off x="2542207" y="4313020"/>
            <a:ext cx="784535" cy="246221"/>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OOD</a:t>
            </a:r>
            <a:endParaRPr sz="1000" dirty="0">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390A52B2-C447-C3B0-A326-60032253B2BE}"/>
              </a:ext>
            </a:extLst>
          </p:cNvPr>
          <p:cNvSpPr txBox="1"/>
          <p:nvPr/>
        </p:nvSpPr>
        <p:spPr>
          <a:xfrm>
            <a:off x="2542208" y="3117636"/>
            <a:ext cx="784535" cy="246221"/>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OOD</a:t>
            </a:r>
            <a:endParaRPr sz="1000"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CEC2D3FD-79A5-BF77-5817-890E805605E7}"/>
              </a:ext>
            </a:extLst>
          </p:cNvPr>
          <p:cNvSpPr txBox="1"/>
          <p:nvPr/>
        </p:nvSpPr>
        <p:spPr>
          <a:xfrm>
            <a:off x="2542208" y="3640401"/>
            <a:ext cx="784535" cy="246221"/>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OOD</a:t>
            </a:r>
            <a:endParaRPr sz="1000" dirty="0">
              <a:latin typeface="Times New Roman" panose="02020603050405020304" pitchFamily="18" charset="0"/>
              <a:cs typeface="Times New Roman" panose="02020603050405020304" pitchFamily="18" charset="0"/>
            </a:endParaRPr>
          </a:p>
        </p:txBody>
      </p:sp>
      <p:grpSp>
        <p:nvGrpSpPr>
          <p:cNvPr id="58" name="그룹 57">
            <a:extLst>
              <a:ext uri="{FF2B5EF4-FFF2-40B4-BE49-F238E27FC236}">
                <a16:creationId xmlns:a16="http://schemas.microsoft.com/office/drawing/2014/main" id="{AC6511BC-218B-1F87-61CE-8A531A7FA696}"/>
              </a:ext>
            </a:extLst>
          </p:cNvPr>
          <p:cNvGrpSpPr/>
          <p:nvPr/>
        </p:nvGrpSpPr>
        <p:grpSpPr>
          <a:xfrm>
            <a:off x="3214536" y="2963849"/>
            <a:ext cx="544643" cy="581957"/>
            <a:chOff x="2785534" y="1500387"/>
            <a:chExt cx="544643" cy="905815"/>
          </a:xfrm>
        </p:grpSpPr>
        <p:sp>
          <p:nvSpPr>
            <p:cNvPr id="59" name="순서도: 수동 연산 58">
              <a:extLst>
                <a:ext uri="{FF2B5EF4-FFF2-40B4-BE49-F238E27FC236}">
                  <a16:creationId xmlns:a16="http://schemas.microsoft.com/office/drawing/2014/main" id="{CBC6E5DA-CF23-EBEC-49EF-403FE83E2E74}"/>
                </a:ext>
              </a:extLst>
            </p:cNvPr>
            <p:cNvSpPr/>
            <p:nvPr/>
          </p:nvSpPr>
          <p:spPr>
            <a:xfrm rot="16200000">
              <a:off x="2606458" y="1699377"/>
              <a:ext cx="905815" cy="507836"/>
            </a:xfrm>
            <a:prstGeom prst="flowChartManualOperation">
              <a:avLst/>
            </a:prstGeom>
            <a:solidFill>
              <a:schemeClr val="tx2">
                <a:lumMod val="75000"/>
                <a:alpha val="50196"/>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2" name="TextBox 61">
              <a:extLst>
                <a:ext uri="{FF2B5EF4-FFF2-40B4-BE49-F238E27FC236}">
                  <a16:creationId xmlns:a16="http://schemas.microsoft.com/office/drawing/2014/main" id="{93C45314-5DC6-CF89-C08D-64864838055F}"/>
                </a:ext>
              </a:extLst>
            </p:cNvPr>
            <p:cNvSpPr txBox="1"/>
            <p:nvPr/>
          </p:nvSpPr>
          <p:spPr>
            <a:xfrm>
              <a:off x="2785534" y="1657558"/>
              <a:ext cx="544643" cy="431148"/>
            </a:xfrm>
            <a:prstGeom prst="rect">
              <a:avLst/>
            </a:prstGeom>
            <a:noFill/>
          </p:spPr>
          <p:txBody>
            <a:bodyPr wrap="square">
              <a:spAutoFit/>
            </a:bodyPr>
            <a:lstStyle/>
            <a:p>
              <a:pPr algn="ctr"/>
              <a:r>
                <a:rPr lang="en-US" altLang="ko-KR" sz="1200" dirty="0">
                  <a:solidFill>
                    <a:schemeClr val="tx1"/>
                  </a:solidFill>
                  <a:latin typeface="Times New Roman" panose="02020603050405020304" pitchFamily="18" charset="0"/>
                  <a:cs typeface="Times New Roman" panose="02020603050405020304" pitchFamily="18" charset="0"/>
                </a:rPr>
                <a:t>Exp 1</a:t>
              </a:r>
            </a:p>
          </p:txBody>
        </p:sp>
      </p:grpSp>
      <p:grpSp>
        <p:nvGrpSpPr>
          <p:cNvPr id="63" name="그룹 62">
            <a:extLst>
              <a:ext uri="{FF2B5EF4-FFF2-40B4-BE49-F238E27FC236}">
                <a16:creationId xmlns:a16="http://schemas.microsoft.com/office/drawing/2014/main" id="{EB7E9493-A9AB-C785-C099-98BB44721B2A}"/>
              </a:ext>
            </a:extLst>
          </p:cNvPr>
          <p:cNvGrpSpPr/>
          <p:nvPr/>
        </p:nvGrpSpPr>
        <p:grpSpPr>
          <a:xfrm>
            <a:off x="2766516" y="3596791"/>
            <a:ext cx="1416677" cy="581957"/>
            <a:chOff x="2337514" y="1500385"/>
            <a:chExt cx="1416677" cy="905815"/>
          </a:xfrm>
        </p:grpSpPr>
        <p:sp>
          <p:nvSpPr>
            <p:cNvPr id="64" name="순서도: 수동 연산 63">
              <a:extLst>
                <a:ext uri="{FF2B5EF4-FFF2-40B4-BE49-F238E27FC236}">
                  <a16:creationId xmlns:a16="http://schemas.microsoft.com/office/drawing/2014/main" id="{BB0DF12D-BE54-4D99-F545-5B8924162AF6}"/>
                </a:ext>
              </a:extLst>
            </p:cNvPr>
            <p:cNvSpPr/>
            <p:nvPr/>
          </p:nvSpPr>
          <p:spPr>
            <a:xfrm rot="16200000">
              <a:off x="2604950" y="1700883"/>
              <a:ext cx="905815" cy="504820"/>
            </a:xfrm>
            <a:prstGeom prst="flowChartManualOperation">
              <a:avLst/>
            </a:prstGeom>
            <a:solidFill>
              <a:schemeClr val="tx2">
                <a:lumMod val="75000"/>
                <a:alpha val="50196"/>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5" name="TextBox 64">
              <a:extLst>
                <a:ext uri="{FF2B5EF4-FFF2-40B4-BE49-F238E27FC236}">
                  <a16:creationId xmlns:a16="http://schemas.microsoft.com/office/drawing/2014/main" id="{30D4FF0A-4574-FEC4-4CFF-E2C6F76464E7}"/>
                </a:ext>
              </a:extLst>
            </p:cNvPr>
            <p:cNvSpPr txBox="1"/>
            <p:nvPr/>
          </p:nvSpPr>
          <p:spPr>
            <a:xfrm>
              <a:off x="2337514" y="1628156"/>
              <a:ext cx="1416677" cy="431148"/>
            </a:xfrm>
            <a:prstGeom prst="rect">
              <a:avLst/>
            </a:prstGeom>
            <a:noFill/>
          </p:spPr>
          <p:txBody>
            <a:bodyPr wrap="square">
              <a:spAutoFit/>
            </a:bodyPr>
            <a:lstStyle/>
            <a:p>
              <a:pPr algn="ctr"/>
              <a:r>
                <a:rPr lang="en-US" altLang="ko-KR" sz="1200" dirty="0">
                  <a:solidFill>
                    <a:schemeClr val="tx1"/>
                  </a:solidFill>
                  <a:latin typeface="Times New Roman" panose="02020603050405020304" pitchFamily="18" charset="0"/>
                  <a:cs typeface="Times New Roman" panose="02020603050405020304" pitchFamily="18" charset="0"/>
                </a:rPr>
                <a:t>Exp 2</a:t>
              </a:r>
            </a:p>
          </p:txBody>
        </p:sp>
      </p:grpSp>
      <p:grpSp>
        <p:nvGrpSpPr>
          <p:cNvPr id="66" name="그룹 65">
            <a:extLst>
              <a:ext uri="{FF2B5EF4-FFF2-40B4-BE49-F238E27FC236}">
                <a16:creationId xmlns:a16="http://schemas.microsoft.com/office/drawing/2014/main" id="{C66E7861-07A1-CA56-D6B7-92A35FFD224D}"/>
              </a:ext>
            </a:extLst>
          </p:cNvPr>
          <p:cNvGrpSpPr/>
          <p:nvPr/>
        </p:nvGrpSpPr>
        <p:grpSpPr>
          <a:xfrm>
            <a:off x="2778520" y="4282943"/>
            <a:ext cx="1416677" cy="581957"/>
            <a:chOff x="2349518" y="1500387"/>
            <a:chExt cx="1416677" cy="905815"/>
          </a:xfrm>
        </p:grpSpPr>
        <p:sp>
          <p:nvSpPr>
            <p:cNvPr id="68" name="순서도: 수동 연산 67">
              <a:extLst>
                <a:ext uri="{FF2B5EF4-FFF2-40B4-BE49-F238E27FC236}">
                  <a16:creationId xmlns:a16="http://schemas.microsoft.com/office/drawing/2014/main" id="{3A8FEFD4-1746-01FF-AC75-76261E7691F7}"/>
                </a:ext>
              </a:extLst>
            </p:cNvPr>
            <p:cNvSpPr/>
            <p:nvPr/>
          </p:nvSpPr>
          <p:spPr>
            <a:xfrm rot="16200000">
              <a:off x="2604950" y="1700885"/>
              <a:ext cx="905815" cy="504820"/>
            </a:xfrm>
            <a:prstGeom prst="flowChartManualOperation">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9" name="TextBox 68">
              <a:extLst>
                <a:ext uri="{FF2B5EF4-FFF2-40B4-BE49-F238E27FC236}">
                  <a16:creationId xmlns:a16="http://schemas.microsoft.com/office/drawing/2014/main" id="{38FACDB9-A9E9-6576-D14D-A01EF031E53F}"/>
                </a:ext>
              </a:extLst>
            </p:cNvPr>
            <p:cNvSpPr txBox="1"/>
            <p:nvPr/>
          </p:nvSpPr>
          <p:spPr>
            <a:xfrm>
              <a:off x="2349518" y="1629660"/>
              <a:ext cx="1416677" cy="431148"/>
            </a:xfrm>
            <a:prstGeom prst="rect">
              <a:avLst/>
            </a:prstGeom>
            <a:noFill/>
          </p:spPr>
          <p:txBody>
            <a:bodyPr wrap="square">
              <a:spAutoFit/>
            </a:bodyPr>
            <a:lstStyle/>
            <a:p>
              <a:pPr algn="ctr"/>
              <a:r>
                <a:rPr lang="en-US" altLang="ko-KR" sz="1200" dirty="0">
                  <a:solidFill>
                    <a:schemeClr val="tx1"/>
                  </a:solidFill>
                  <a:latin typeface="Times New Roman" panose="02020603050405020304" pitchFamily="18" charset="0"/>
                  <a:cs typeface="Times New Roman" panose="02020603050405020304" pitchFamily="18" charset="0"/>
                </a:rPr>
                <a:t>Exp K</a:t>
              </a:r>
            </a:p>
          </p:txBody>
        </p:sp>
      </p:grpSp>
      <p:cxnSp>
        <p:nvCxnSpPr>
          <p:cNvPr id="70" name="직선 화살표 연결선 69">
            <a:extLst>
              <a:ext uri="{FF2B5EF4-FFF2-40B4-BE49-F238E27FC236}">
                <a16:creationId xmlns:a16="http://schemas.microsoft.com/office/drawing/2014/main" id="{753E92D8-A29B-F165-A080-C9E8D7A16217}"/>
              </a:ext>
            </a:extLst>
          </p:cNvPr>
          <p:cNvCxnSpPr>
            <a:cxnSpLocks/>
          </p:cNvCxnSpPr>
          <p:nvPr/>
        </p:nvCxnSpPr>
        <p:spPr>
          <a:xfrm flipH="1">
            <a:off x="3745312" y="3324126"/>
            <a:ext cx="278978" cy="0"/>
          </a:xfrm>
          <a:prstGeom prst="straightConnector1">
            <a:avLst/>
          </a:prstGeom>
          <a:ln w="12700">
            <a:solidFill>
              <a:schemeClr val="tx1"/>
            </a:solidFill>
            <a:prstDash val="solid"/>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1" name="직선 화살표 연결선 70">
            <a:extLst>
              <a:ext uri="{FF2B5EF4-FFF2-40B4-BE49-F238E27FC236}">
                <a16:creationId xmlns:a16="http://schemas.microsoft.com/office/drawing/2014/main" id="{69ED4130-C101-0C57-6388-96F509686E13}"/>
              </a:ext>
            </a:extLst>
          </p:cNvPr>
          <p:cNvCxnSpPr>
            <a:cxnSpLocks/>
          </p:cNvCxnSpPr>
          <p:nvPr/>
        </p:nvCxnSpPr>
        <p:spPr>
          <a:xfrm flipH="1">
            <a:off x="4017717" y="3864168"/>
            <a:ext cx="1499497"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2" name="직선 화살표 연결선 71">
            <a:extLst>
              <a:ext uri="{FF2B5EF4-FFF2-40B4-BE49-F238E27FC236}">
                <a16:creationId xmlns:a16="http://schemas.microsoft.com/office/drawing/2014/main" id="{47A9486C-ADA3-8CB0-B044-1BC333AE9D96}"/>
              </a:ext>
            </a:extLst>
          </p:cNvPr>
          <p:cNvCxnSpPr>
            <a:cxnSpLocks/>
          </p:cNvCxnSpPr>
          <p:nvPr/>
        </p:nvCxnSpPr>
        <p:spPr>
          <a:xfrm flipH="1">
            <a:off x="3745312" y="3866128"/>
            <a:ext cx="278978" cy="0"/>
          </a:xfrm>
          <a:prstGeom prst="straightConnector1">
            <a:avLst/>
          </a:prstGeom>
          <a:ln w="12700">
            <a:solidFill>
              <a:schemeClr val="tx1"/>
            </a:solidFill>
            <a:prstDash val="solid"/>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3" name="직선 화살표 연결선 72">
            <a:extLst>
              <a:ext uri="{FF2B5EF4-FFF2-40B4-BE49-F238E27FC236}">
                <a16:creationId xmlns:a16="http://schemas.microsoft.com/office/drawing/2014/main" id="{65197A12-CC7C-EABD-EA00-F05FE6D212D9}"/>
              </a:ext>
            </a:extLst>
          </p:cNvPr>
          <p:cNvCxnSpPr>
            <a:cxnSpLocks/>
          </p:cNvCxnSpPr>
          <p:nvPr/>
        </p:nvCxnSpPr>
        <p:spPr>
          <a:xfrm flipV="1">
            <a:off x="4017717" y="3323089"/>
            <a:ext cx="0" cy="1236152"/>
          </a:xfrm>
          <a:prstGeom prst="straightConnector1">
            <a:avLst/>
          </a:prstGeom>
          <a:ln w="12700">
            <a:solidFill>
              <a:schemeClr val="tx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B6F6BD09-F8D0-6F79-8E57-D78C0B027D90}"/>
                  </a:ext>
                </a:extLst>
              </p:cNvPr>
              <p:cNvSpPr txBox="1"/>
              <p:nvPr/>
            </p:nvSpPr>
            <p:spPr>
              <a:xfrm>
                <a:off x="5517214" y="3709658"/>
                <a:ext cx="34266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400" b="0" i="1" dirty="0" smtClean="0">
                          <a:solidFill>
                            <a:schemeClr val="tx1"/>
                          </a:solidFill>
                          <a:latin typeface="Cambria Math" panose="02040503050406030204" pitchFamily="18" charset="0"/>
                          <a:cs typeface="Times New Roman" panose="02020603050405020304" pitchFamily="18" charset="0"/>
                        </a:rPr>
                        <m:t>𝑂𝑂𝐷</m:t>
                      </m:r>
                    </m:oMath>
                  </m:oMathPara>
                </a14:m>
                <a:endParaRPr lang="ko-KR" altLang="en-US" dirty="0"/>
              </a:p>
            </p:txBody>
          </p:sp>
        </mc:Choice>
        <mc:Fallback>
          <p:sp>
            <p:nvSpPr>
              <p:cNvPr id="74" name="TextBox 73">
                <a:extLst>
                  <a:ext uri="{FF2B5EF4-FFF2-40B4-BE49-F238E27FC236}">
                    <a16:creationId xmlns:a16="http://schemas.microsoft.com/office/drawing/2014/main" id="{B6F6BD09-F8D0-6F79-8E57-D78C0B027D90}"/>
                  </a:ext>
                </a:extLst>
              </p:cNvPr>
              <p:cNvSpPr txBox="1">
                <a:spLocks noRot="1" noChangeAspect="1" noMove="1" noResize="1" noEditPoints="1" noAdjustHandles="1" noChangeArrowheads="1" noChangeShapeType="1" noTextEdit="1"/>
              </p:cNvSpPr>
              <p:nvPr/>
            </p:nvSpPr>
            <p:spPr>
              <a:xfrm>
                <a:off x="5517214" y="3709658"/>
                <a:ext cx="342667" cy="307777"/>
              </a:xfrm>
              <a:prstGeom prst="rect">
                <a:avLst/>
              </a:prstGeom>
              <a:blipFill>
                <a:blip r:embed="rId9"/>
                <a:stretch>
                  <a:fillRect r="-51786"/>
                </a:stretch>
              </a:blipFill>
            </p:spPr>
            <p:txBody>
              <a:bodyPr/>
              <a:lstStyle/>
              <a:p>
                <a:r>
                  <a:rPr lang="ko-KR" altLang="en-US">
                    <a:noFill/>
                  </a:rPr>
                  <a:t> </a:t>
                </a:r>
              </a:p>
            </p:txBody>
          </p:sp>
        </mc:Fallback>
      </mc:AlternateContent>
      <p:cxnSp>
        <p:nvCxnSpPr>
          <p:cNvPr id="76" name="직선 화살표 연결선 75">
            <a:extLst>
              <a:ext uri="{FF2B5EF4-FFF2-40B4-BE49-F238E27FC236}">
                <a16:creationId xmlns:a16="http://schemas.microsoft.com/office/drawing/2014/main" id="{BF61FB51-D6AF-29FA-5047-115C198BD7FD}"/>
              </a:ext>
            </a:extLst>
          </p:cNvPr>
          <p:cNvCxnSpPr>
            <a:cxnSpLocks/>
          </p:cNvCxnSpPr>
          <p:nvPr/>
        </p:nvCxnSpPr>
        <p:spPr>
          <a:xfrm flipV="1">
            <a:off x="1361079" y="3322275"/>
            <a:ext cx="0" cy="1231029"/>
          </a:xfrm>
          <a:prstGeom prst="straightConnector1">
            <a:avLst/>
          </a:prstGeom>
          <a:ln w="12700">
            <a:solidFill>
              <a:schemeClr val="tx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7" name="직선 화살표 연결선 76">
            <a:extLst>
              <a:ext uri="{FF2B5EF4-FFF2-40B4-BE49-F238E27FC236}">
                <a16:creationId xmlns:a16="http://schemas.microsoft.com/office/drawing/2014/main" id="{E005FDC2-0331-E0DA-DCAD-09AE413C440F}"/>
              </a:ext>
            </a:extLst>
          </p:cNvPr>
          <p:cNvCxnSpPr>
            <a:cxnSpLocks/>
          </p:cNvCxnSpPr>
          <p:nvPr/>
        </p:nvCxnSpPr>
        <p:spPr>
          <a:xfrm flipH="1">
            <a:off x="1355924" y="3862580"/>
            <a:ext cx="265707"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81" name="직선 화살표 연결선 80">
            <a:extLst>
              <a:ext uri="{FF2B5EF4-FFF2-40B4-BE49-F238E27FC236}">
                <a16:creationId xmlns:a16="http://schemas.microsoft.com/office/drawing/2014/main" id="{55FEB289-EADC-06F0-63D3-67243CB7D80E}"/>
              </a:ext>
            </a:extLst>
          </p:cNvPr>
          <p:cNvCxnSpPr>
            <a:cxnSpLocks/>
          </p:cNvCxnSpPr>
          <p:nvPr/>
        </p:nvCxnSpPr>
        <p:spPr>
          <a:xfrm flipH="1">
            <a:off x="1355924" y="4553304"/>
            <a:ext cx="265707" cy="0"/>
          </a:xfrm>
          <a:prstGeom prst="straightConnector1">
            <a:avLst/>
          </a:prstGeom>
          <a:ln w="12700">
            <a:solidFill>
              <a:schemeClr val="tx1"/>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83" name="TextBox 82">
            <a:extLst>
              <a:ext uri="{FF2B5EF4-FFF2-40B4-BE49-F238E27FC236}">
                <a16:creationId xmlns:a16="http://schemas.microsoft.com/office/drawing/2014/main" id="{404B86B5-4B5D-BE3E-BA9A-BC28B6B3DA5C}"/>
              </a:ext>
            </a:extLst>
          </p:cNvPr>
          <p:cNvSpPr txBox="1"/>
          <p:nvPr/>
        </p:nvSpPr>
        <p:spPr>
          <a:xfrm>
            <a:off x="253981" y="1758382"/>
            <a:ext cx="784535" cy="400110"/>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Case 1: attack</a:t>
            </a:r>
            <a:endParaRPr sz="1000" dirty="0">
              <a:latin typeface="Times New Roman" panose="02020603050405020304" pitchFamily="18" charset="0"/>
              <a:cs typeface="Times New Roman" panose="02020603050405020304" pitchFamily="18" charset="0"/>
            </a:endParaRPr>
          </a:p>
        </p:txBody>
      </p:sp>
      <p:sp>
        <p:nvSpPr>
          <p:cNvPr id="85" name="TextBox 84">
            <a:extLst>
              <a:ext uri="{FF2B5EF4-FFF2-40B4-BE49-F238E27FC236}">
                <a16:creationId xmlns:a16="http://schemas.microsoft.com/office/drawing/2014/main" id="{A6E7BBB3-38B1-4D39-3E27-B3B8DFB13F7A}"/>
              </a:ext>
            </a:extLst>
          </p:cNvPr>
          <p:cNvSpPr txBox="1"/>
          <p:nvPr/>
        </p:nvSpPr>
        <p:spPr>
          <a:xfrm>
            <a:off x="142414" y="2880093"/>
            <a:ext cx="784535" cy="553998"/>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Case 2:</a:t>
            </a:r>
          </a:p>
          <a:p>
            <a:pPr algn="ctr"/>
            <a:r>
              <a:rPr lang="en-US" sz="1000" dirty="0">
                <a:latin typeface="Times New Roman" panose="02020603050405020304" pitchFamily="18" charset="0"/>
                <a:cs typeface="Times New Roman" panose="02020603050405020304" pitchFamily="18" charset="0"/>
              </a:rPr>
              <a:t>Unseen</a:t>
            </a:r>
          </a:p>
          <a:p>
            <a:pPr algn="ctr"/>
            <a:r>
              <a:rPr lang="en-US" sz="1000" dirty="0">
                <a:latin typeface="Times New Roman" panose="02020603050405020304" pitchFamily="18" charset="0"/>
                <a:cs typeface="Times New Roman" panose="02020603050405020304" pitchFamily="18" charset="0"/>
              </a:rPr>
              <a:t>Or Benign </a:t>
            </a:r>
            <a:endParaRPr sz="1000" dirty="0">
              <a:latin typeface="Times New Roman" panose="02020603050405020304" pitchFamily="18" charset="0"/>
              <a:cs typeface="Times New Roman" panose="02020603050405020304" pitchFamily="18" charset="0"/>
            </a:endParaRPr>
          </a:p>
        </p:txBody>
      </p:sp>
      <p:sp>
        <p:nvSpPr>
          <p:cNvPr id="87" name="TextBox 86">
            <a:extLst>
              <a:ext uri="{FF2B5EF4-FFF2-40B4-BE49-F238E27FC236}">
                <a16:creationId xmlns:a16="http://schemas.microsoft.com/office/drawing/2014/main" id="{698E61F1-D115-69BE-4D93-FC4F59272D65}"/>
              </a:ext>
            </a:extLst>
          </p:cNvPr>
          <p:cNvSpPr txBox="1"/>
          <p:nvPr/>
        </p:nvSpPr>
        <p:spPr>
          <a:xfrm>
            <a:off x="3731578" y="1745231"/>
            <a:ext cx="2049564" cy="553998"/>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Also want to show that if only one exp accepts then it will classify the label alone.</a:t>
            </a:r>
            <a:endParaRPr sz="1000" dirty="0">
              <a:latin typeface="Times New Roman" panose="02020603050405020304" pitchFamily="18" charset="0"/>
              <a:cs typeface="Times New Roman" panose="02020603050405020304" pitchFamily="18" charset="0"/>
            </a:endParaRPr>
          </a:p>
        </p:txBody>
      </p:sp>
      <p:cxnSp>
        <p:nvCxnSpPr>
          <p:cNvPr id="88" name="직선 화살표 연결선 87">
            <a:extLst>
              <a:ext uri="{FF2B5EF4-FFF2-40B4-BE49-F238E27FC236}">
                <a16:creationId xmlns:a16="http://schemas.microsoft.com/office/drawing/2014/main" id="{CF41C93B-C622-ACAF-EEA8-68C3290FB398}"/>
              </a:ext>
            </a:extLst>
          </p:cNvPr>
          <p:cNvCxnSpPr>
            <a:cxnSpLocks/>
          </p:cNvCxnSpPr>
          <p:nvPr/>
        </p:nvCxnSpPr>
        <p:spPr>
          <a:xfrm flipH="1">
            <a:off x="3745312" y="4547937"/>
            <a:ext cx="278978" cy="0"/>
          </a:xfrm>
          <a:prstGeom prst="straightConnector1">
            <a:avLst/>
          </a:prstGeom>
          <a:ln w="12700">
            <a:solidFill>
              <a:schemeClr val="tx1"/>
            </a:solidFill>
            <a:prstDash val="solid"/>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91" name="TextBox 90">
            <a:extLst>
              <a:ext uri="{FF2B5EF4-FFF2-40B4-BE49-F238E27FC236}">
                <a16:creationId xmlns:a16="http://schemas.microsoft.com/office/drawing/2014/main" id="{5671963B-3E19-12D1-28E7-C5CCB029F9D3}"/>
              </a:ext>
            </a:extLst>
          </p:cNvPr>
          <p:cNvSpPr txBox="1"/>
          <p:nvPr/>
        </p:nvSpPr>
        <p:spPr>
          <a:xfrm>
            <a:off x="4377585" y="4186363"/>
            <a:ext cx="4036644" cy="707886"/>
          </a:xfrm>
          <a:prstGeom prst="rect">
            <a:avLst/>
          </a:prstGeom>
          <a:noFill/>
        </p:spPr>
        <p:txBody>
          <a:bodyPr wrap="square">
            <a:spAutoFit/>
          </a:bodyPr>
          <a:lstStyle/>
          <a:p>
            <a:pPr algn="ctr"/>
            <a:r>
              <a:rPr lang="en-US" sz="1000" dirty="0">
                <a:latin typeface="Times New Roman" panose="02020603050405020304" pitchFamily="18" charset="0"/>
                <a:cs typeface="Times New Roman" panose="02020603050405020304" pitchFamily="18" charset="0"/>
              </a:rPr>
              <a:t>We should distinguish unseen or benign but so far, we would try to select benign test samples by comparing the distance to the normal centroids. If the OOD sample was close to normal samples, then it determined as normal. </a:t>
            </a:r>
            <a:endParaRPr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764446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714</TotalTime>
  <Words>263</Words>
  <Application>Microsoft Office PowerPoint</Application>
  <PresentationFormat>화면 슬라이드 쇼(16:9)</PresentationFormat>
  <Paragraphs>63</Paragraphs>
  <Slides>2</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vt:i4>
      </vt:variant>
    </vt:vector>
  </HeadingPairs>
  <TitlesOfParts>
    <vt:vector size="6" baseType="lpstr">
      <vt:lpstr>Arial</vt:lpstr>
      <vt:lpstr>Cambria Math</vt:lpstr>
      <vt:lpstr>Times New Roman</vt:lpstr>
      <vt:lpstr>Simple Light</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박민서</cp:lastModifiedBy>
  <cp:revision>17</cp:revision>
  <dcterms:modified xsi:type="dcterms:W3CDTF">2026-07-30T08:51:44Z</dcterms:modified>
</cp:coreProperties>
</file>