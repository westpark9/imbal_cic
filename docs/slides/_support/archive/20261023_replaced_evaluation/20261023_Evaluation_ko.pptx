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이 발표는 기존 평가 시나리오를 이해시키는 데 중심을 둡니다. IDS는 flow 특징으로 정상과 공격 유형을 구분하는 분류기입니다. 새 공격의 라벨을 조금 확보했을 때 어떤 방식으로 반영할지 비교합니다. XGB는 여기서 선택한 기준선으로 매 단계 재학습합니다. 모든 트리 모델이 반드시 전체 재학습해야 한다는 주장은 아닙니다. TabPFN은 가중치를 고정하지만 context 전처리와 캐시 구성, query 추론에 비용이 듭니다. 기존 실행 설명, 별도 요청으로 수행한 극소수 선행 실험, 아직 실행하지 않은 보완 설계안을 구별합니다.</a:t>
            </a:r>
          </a:p>
          <a:p/>
          <a:p>
            <a:r>
              <a:t>원문 근거</a:t>
            </a:r>
          </a:p>
          <a:p>
            <a:r>
              <a:t>CSE-CIC-IDS2018 on AWS</a:t>
            </a:r>
          </a:p>
          <a:p>
            <a:r>
              <a:t>UNB CIC official dataset documentation</a:t>
            </a:r>
          </a:p>
          <a:p>
            <a:r>
              <a:t>Collection environment and attack schedule</a:t>
            </a:r>
          </a:p>
          <a:p>
            <a:r>
              <a:t>https://www.unb.ca/cic/datasets/ids-2018.html</a:t>
            </a:r>
          </a:p>
          <a:p/>
          <a:p>
            <a:r>
              <a:t>Rethinking Tabular Foundation Models On Data Streams</a:t>
            </a:r>
          </a:p>
          <a:p>
            <a:r>
              <a:t>arXiv, 2026</a:t>
            </a:r>
          </a:p>
          <a:p>
            <a:r>
              <a:t>Tables 2–6, Figures 1 and 7, Appendix A and D</a:t>
            </a:r>
          </a:p>
          <a:p>
            <a:r>
              <a:t>https://arxiv.org/abs/2610.05352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청중이 A와 B라는 별도 데이터셋으로 이해한 부분에 대한 첫 답변입니다. 두 열 사이에는 행 이동이 없습니다. CIC도 ToN도 자신의 NF-v3 자료와 고정 분할을 사용합니다. 원본은 통제된 실험망에서 수집한 트래픽이며 무가공 운영망을 뜻하지 않습니다. 실제 모델 입력은 기존 파이프라인의 46개 특징입니다. 상충 라벨을 가진 동일 특징 그룹을 제거했고 정제 후에도 원래 split membership을 유지했습니다. 표의 수는 context 크기가 아니라 정제 후 전체 후보 train/test 크기입니다. 이 오프라인 정제는 test 라벨도 활용한 기존 감사에 기반하므로 독립적인 배포 검증이라고 주장하지 않습니다. 현재 사례 집합을 만들 때 행 선택과 라벨 공개 조건을 설계했으며 다른 출처의 표를 합치거나 특징값을 합성하지 않았습니다.</a:t>
            </a:r>
          </a:p>
          <a:p/>
          <a:p>
            <a:r>
              <a:t>원문 근거</a:t>
            </a:r>
          </a:p>
          <a:p>
            <a:r>
              <a:t>CSE-CIC-IDS2018 on AWS</a:t>
            </a:r>
          </a:p>
          <a:p>
            <a:r>
              <a:t>UNB CIC official dataset documentation</a:t>
            </a:r>
          </a:p>
          <a:p>
            <a:r>
              <a:t>Collection environment and attack schedule</a:t>
            </a:r>
          </a:p>
          <a:p>
            <a:r>
              <a:t>https://www.unb.ca/cic/datasets/ids-2018.html</a:t>
            </a:r>
          </a:p>
          <a:p/>
          <a:p>
            <a:r>
              <a:t>NetFlow V3 Datasets</a:t>
            </a:r>
          </a:p>
          <a:p>
            <a:r>
              <a:t>University of Queensland dataset documentation</a:t>
            </a:r>
          </a:p>
          <a:p>
            <a:r>
              <a:t>NF-CSE-CIC-IDS2018-v3 / NF-ToN-IoT-v3; preprocessing and split counts follow local experiment records</a:t>
            </a:r>
          </a:p>
          <a:p>
            <a:r>
              <a:t>https://staff.itee.uq.edu.au/marius/NIDS_datasets/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A에서 B를 어떻게 만드는지를 숫자로 설명하는 장입니다. A는 이 예시에서 CIC 학습 후보 집합입니다. B라고 불린 것은 별도 데이터셋이 아니라 현재까지 공개한 라벨 사례 L_t입니다. 초기 1000개에 같은 train의 DDoS 100개를 더하면 1100개가 됩니다. 모든 모델이 이 동일 행을 사용합니다. 100은 실생활 하루 발생량이나 최적값이 아니라 기존 발표에서 선택한 한 조건이며 5부터100까지 비교했습니다. 시간 정보는 공격 클래스 도입 순서의 근거였지만 행 전체를 시간순으로 재생한 실험은 아닙니다. 각 n 조건의 표본은 기록된 seed와 행 ID로 재현합니다. ToN의 자체 클래스 도입 순서는 마지막 부록에서 별도로 설명합니다.</a:t>
            </a:r>
          </a:p>
          <a:p/>
          <a:p>
            <a:r>
              <a:t>원문 근거</a:t>
            </a:r>
          </a:p>
          <a:p>
            <a:r>
              <a:t>CSE-CIC-IDS2018 on AWS</a:t>
            </a:r>
          </a:p>
          <a:p>
            <a:r>
              <a:t>UNB CIC official dataset documentation</a:t>
            </a:r>
          </a:p>
          <a:p>
            <a:r>
              <a:t>Collection environment and attack schedule</a:t>
            </a:r>
          </a:p>
          <a:p>
            <a:r>
              <a:t>https://www.unb.ca/cic/datasets/ids-2018.html</a:t>
            </a:r>
          </a:p>
          <a:p/>
          <a:p>
            <a:r>
              <a:t>NetFlow V3 Datasets</a:t>
            </a:r>
          </a:p>
          <a:p>
            <a:r>
              <a:t>University of Queensland dataset documentation</a:t>
            </a:r>
          </a:p>
          <a:p>
            <a:r>
              <a:t>NF-CSE-CIC-IDS2018-v3 / NF-ToN-IoT-v3; preprocessing and split counts follow local experiment records</a:t>
            </a:r>
          </a:p>
          <a:p>
            <a:r>
              <a:t>https://staff.itee.uq.edu.au/marius/NIDS_datasets/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테두리는 실제 모델에 제공되는 학습 집합 또는 context의 범위입니다. 회색은 기존 사례, 주황은 신규 라벨 사례입니다. 누적은1100행을 모두 사용하고 버퍼는100행을 삭제해1000행을 유지합니다. 그림은 삭제 정책의 실제 클래스별 결과가 아닌 개념도입니다. 기존 정책은 신규 사례를 전량 편입하고 이미 표현된 클래스 최소1행을 보존했습니다. EXP85에서 XGB도 PFN의 각 정책과 같은 행 ID 및 순서를 받아 모든 단계에서 새로 학습했습니다. 모델 효과를 설명할 때 PFN 버퍼와 XGB 누적만 비교해서는 안 됩니다. TabPFN은 추가 가중치 학습 없이 context에 따른 전처리와 캐시를 준비합니다. 이 동작에도 계산 비용이 있습니다.</a:t>
            </a:r>
          </a:p>
          <a:p/>
          <a:p>
            <a:r>
              <a:t>원문 근거</a:t>
            </a:r>
          </a:p>
          <a:p>
            <a:r>
              <a:t>Rethinking Tabular Foundation Models On Data Streams</a:t>
            </a:r>
          </a:p>
          <a:p>
            <a:r>
              <a:t>arXiv, 2026</a:t>
            </a:r>
          </a:p>
          <a:p>
            <a:r>
              <a:t>Tables 2–6, Figures 1 and 7, Appendix A and D</a:t>
            </a:r>
          </a:p>
          <a:p>
            <a:r>
              <a:t>https://arxiv.org/abs/2610.05352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소수 신규 공격 라벨을 반영하는 IDS 평가</a:t>
            </a:r>
          </a:p>
        </p:txBody>
      </p:sp>
      <p:sp>
        <p:nvSpPr>
          <p:cNvPr id="3" name="TextBox 2"/>
          <p:cNvSpPr txBox="1"/>
          <p:nvPr/>
        </p:nvSpPr>
        <p:spPr>
          <a:xfrm>
            <a:off x="658368" y="1033271"/>
            <a:ext cx="1092708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617080"/>
                </a:solidFill>
                <a:latin typeface="Pretendard"/>
                <a:ea typeface="Pretendard"/>
                <a:cs typeface="Pretendard"/>
              </a:rPr>
              <a:t>침입 탐지 시스템 (IDS) · 통신 기록의 특징으로 정상·공격 유형을 구분</a:t>
            </a:r>
          </a:p>
        </p:txBody>
      </p:sp>
      <p:sp>
        <p:nvSpPr>
          <p:cNvPr id="4" name="TextBox 3"/>
          <p:cNvSpPr txBox="1"/>
          <p:nvPr/>
        </p:nvSpPr>
        <p:spPr>
          <a:xfrm>
            <a:off x="694944" y="1810512"/>
            <a:ext cx="10789920" cy="466597"/>
          </a:xfrm>
          <a:prstGeom prst="rect">
            <a:avLst/>
          </a:prstGeom>
          <a:noFill/>
          <a:effectLst/>
        </p:spPr>
        <p:txBody>
          <a:bodyPr wrap="none" anchor="t" lIns="0" rIns="0" tIns="0" bIns="0">
            <a:noAutofit/>
          </a:bodyPr>
          <a:lstStyle/>
          <a:p>
            <a:pPr algn="l">
              <a:lnSpc>
                <a:spcPct val="118000"/>
              </a:lnSpc>
              <a:spcBef>
                <a:spcPts val="0"/>
              </a:spcBef>
              <a:spcAft>
                <a:spcPts val="0"/>
              </a:spcAft>
            </a:pPr>
            <a:r>
              <a:rPr sz="2900" b="1" lang="ko-KR">
                <a:solidFill>
                  <a:srgbClr val="00306C"/>
                </a:solidFill>
                <a:latin typeface="Pretendard"/>
                <a:ea typeface="Pretendard"/>
                <a:cs typeface="Pretendard"/>
              </a:rPr>
              <a:t>새 공격의 정답 사례를 조금 확보했을 때</a:t>
            </a:r>
          </a:p>
        </p:txBody>
      </p:sp>
      <p:sp>
        <p:nvSpPr>
          <p:cNvPr id="5" name="TextBox 4"/>
          <p:cNvSpPr txBox="1"/>
          <p:nvPr/>
        </p:nvSpPr>
        <p:spPr>
          <a:xfrm>
            <a:off x="731520" y="2414016"/>
            <a:ext cx="10607040" cy="391668"/>
          </a:xfrm>
          <a:prstGeom prst="rect">
            <a:avLst/>
          </a:prstGeom>
          <a:noFill/>
          <a:effectLst/>
        </p:spPr>
        <p:txBody>
          <a:bodyPr wrap="none" anchor="t" lIns="0" rIns="0" tIns="0" bIns="0">
            <a:noAutofit/>
          </a:bodyPr>
          <a:lstStyle/>
          <a:p>
            <a:pPr algn="l">
              <a:lnSpc>
                <a:spcPct val="118000"/>
              </a:lnSpc>
              <a:spcBef>
                <a:spcPts val="0"/>
              </a:spcBef>
              <a:spcAft>
                <a:spcPts val="0"/>
              </a:spcAft>
            </a:pPr>
            <a:r>
              <a:rPr sz="2400" b="0" lang="ko-KR">
                <a:solidFill>
                  <a:srgbClr val="20262E"/>
                </a:solidFill>
                <a:latin typeface="Pretendard"/>
                <a:ea typeface="Pretendard"/>
                <a:cs typeface="Pretendard"/>
              </a:rPr>
              <a:t>기존 정상·공격 구분을 유지하면서 탐지기에 반영할 방법</a:t>
            </a:r>
          </a:p>
        </p:txBody>
      </p:sp>
      <p:sp>
        <p:nvSpPr>
          <p:cNvPr id="6" name="Rectangle 5"/>
          <p:cNvSpPr/>
          <p:nvPr/>
        </p:nvSpPr>
        <p:spPr>
          <a:xfrm>
            <a:off x="731520" y="3200400"/>
            <a:ext cx="5157216" cy="155448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32688" y="3383280"/>
            <a:ext cx="4754880" cy="391668"/>
          </a:xfrm>
          <a:prstGeom prst="rect">
            <a:avLst/>
          </a:prstGeom>
          <a:noFill/>
          <a:effectLst/>
        </p:spPr>
        <p:txBody>
          <a:bodyPr wrap="none" anchor="t" lIns="0" rIns="0" tIns="0" bIns="0">
            <a:noAutofit/>
          </a:bodyPr>
          <a:lstStyle/>
          <a:p>
            <a:pPr algn="l">
              <a:lnSpc>
                <a:spcPct val="118000"/>
              </a:lnSpc>
              <a:spcBef>
                <a:spcPts val="0"/>
              </a:spcBef>
              <a:spcAft>
                <a:spcPts val="0"/>
              </a:spcAft>
            </a:pPr>
            <a:r>
              <a:rPr sz="2400" b="1" lang="ko-KR">
                <a:solidFill>
                  <a:srgbClr val="00306C"/>
                </a:solidFill>
                <a:latin typeface="Pretendard"/>
                <a:ea typeface="Pretendard"/>
                <a:cs typeface="Pretendard"/>
              </a:rPr>
              <a:t>XGB</a:t>
            </a:r>
          </a:p>
        </p:txBody>
      </p:sp>
      <p:sp>
        <p:nvSpPr>
          <p:cNvPr id="8" name="TextBox 7"/>
          <p:cNvSpPr txBox="1"/>
          <p:nvPr/>
        </p:nvSpPr>
        <p:spPr>
          <a:xfrm>
            <a:off x="932688" y="3877056"/>
            <a:ext cx="4754880" cy="691388"/>
          </a:xfrm>
          <a:prstGeom prst="rect">
            <a:avLst/>
          </a:prstGeom>
          <a:noFill/>
          <a:effectLst/>
        </p:spPr>
        <p:txBody>
          <a:bodyPr wrap="none" anchor="t" lIns="0" rIns="0" tIns="0" bIns="0">
            <a:noAutofit/>
          </a:bodyPr>
          <a:lstStyle/>
          <a:p>
            <a:pPr algn="l">
              <a:lnSpc>
                <a:spcPct val="118000"/>
              </a:lnSpc>
              <a:spcBef>
                <a:spcPts val="0"/>
              </a:spcBef>
              <a:spcAft>
                <a:spcPts val="0"/>
              </a:spcAft>
            </a:pPr>
            <a:r>
              <a:rPr sz="2200" b="0" lang="ko-KR">
                <a:solidFill>
                  <a:srgbClr val="20262E"/>
                </a:solidFill>
                <a:latin typeface="Pretendard"/>
                <a:ea typeface="Pretendard"/>
                <a:cs typeface="Pretendard"/>
              </a:rPr>
              <a:t>확보한 라벨 사례로</a:t>
            </a:r>
          </a:p>
          <a:p>
            <a:pPr algn="l">
              <a:lnSpc>
                <a:spcPct val="118000"/>
              </a:lnSpc>
              <a:spcBef>
                <a:spcPts val="0"/>
              </a:spcBef>
              <a:spcAft>
                <a:spcPts val="0"/>
              </a:spcAft>
            </a:pPr>
            <a:r>
              <a:rPr sz="2200" b="0" lang="ko-KR">
                <a:solidFill>
                  <a:srgbClr val="20262E"/>
                </a:solidFill>
                <a:latin typeface="Pretendard"/>
                <a:ea typeface="Pretendard"/>
                <a:cs typeface="Pretendard"/>
              </a:rPr>
              <a:t>트리 모델 재학습</a:t>
            </a:r>
          </a:p>
        </p:txBody>
      </p:sp>
      <p:sp>
        <p:nvSpPr>
          <p:cNvPr id="9" name="Rectangle 8"/>
          <p:cNvSpPr/>
          <p:nvPr/>
        </p:nvSpPr>
        <p:spPr>
          <a:xfrm>
            <a:off x="6254496" y="3200400"/>
            <a:ext cx="5157216" cy="155448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55664" y="3383280"/>
            <a:ext cx="4754880" cy="391668"/>
          </a:xfrm>
          <a:prstGeom prst="rect">
            <a:avLst/>
          </a:prstGeom>
          <a:noFill/>
          <a:effectLst/>
        </p:spPr>
        <p:txBody>
          <a:bodyPr wrap="none" anchor="t" lIns="0" rIns="0" tIns="0" bIns="0">
            <a:noAutofit/>
          </a:bodyPr>
          <a:lstStyle/>
          <a:p>
            <a:pPr algn="l">
              <a:lnSpc>
                <a:spcPct val="118000"/>
              </a:lnSpc>
              <a:spcBef>
                <a:spcPts val="0"/>
              </a:spcBef>
              <a:spcAft>
                <a:spcPts val="0"/>
              </a:spcAft>
            </a:pPr>
            <a:r>
              <a:rPr sz="2400" b="1" lang="ko-KR">
                <a:solidFill>
                  <a:srgbClr val="007BC6"/>
                </a:solidFill>
                <a:latin typeface="Pretendard"/>
                <a:ea typeface="Pretendard"/>
                <a:cs typeface="Pretendard"/>
              </a:rPr>
              <a:t>TabPFN</a:t>
            </a:r>
          </a:p>
        </p:txBody>
      </p:sp>
      <p:sp>
        <p:nvSpPr>
          <p:cNvPr id="11" name="TextBox 10"/>
          <p:cNvSpPr txBox="1"/>
          <p:nvPr/>
        </p:nvSpPr>
        <p:spPr>
          <a:xfrm>
            <a:off x="6455664" y="3877056"/>
            <a:ext cx="4754880" cy="691388"/>
          </a:xfrm>
          <a:prstGeom prst="rect">
            <a:avLst/>
          </a:prstGeom>
          <a:noFill/>
          <a:effectLst/>
        </p:spPr>
        <p:txBody>
          <a:bodyPr wrap="none" anchor="t" lIns="0" rIns="0" tIns="0" bIns="0">
            <a:noAutofit/>
          </a:bodyPr>
          <a:lstStyle/>
          <a:p>
            <a:pPr algn="l">
              <a:lnSpc>
                <a:spcPct val="118000"/>
              </a:lnSpc>
              <a:spcBef>
                <a:spcPts val="0"/>
              </a:spcBef>
              <a:spcAft>
                <a:spcPts val="0"/>
              </a:spcAft>
            </a:pPr>
            <a:r>
              <a:rPr sz="2200" b="0" lang="ko-KR">
                <a:solidFill>
                  <a:srgbClr val="20262E"/>
                </a:solidFill>
                <a:latin typeface="Pretendard"/>
                <a:ea typeface="Pretendard"/>
                <a:cs typeface="Pretendard"/>
              </a:rPr>
              <a:t>사전학습 가중치는 고정</a:t>
            </a:r>
          </a:p>
          <a:p>
            <a:pPr algn="l">
              <a:lnSpc>
                <a:spcPct val="118000"/>
              </a:lnSpc>
              <a:spcBef>
                <a:spcPts val="0"/>
              </a:spcBef>
              <a:spcAft>
                <a:spcPts val="0"/>
              </a:spcAft>
            </a:pPr>
            <a:r>
              <a:rPr sz="2200" b="0" lang="ko-KR">
                <a:solidFill>
                  <a:srgbClr val="20262E"/>
                </a:solidFill>
                <a:latin typeface="Pretendard"/>
                <a:ea typeface="Pretendard"/>
                <a:cs typeface="Pretendard"/>
              </a:rPr>
              <a:t>라벨 사례를 context로 제공</a:t>
            </a:r>
          </a:p>
        </p:txBody>
      </p:sp>
      <p:sp>
        <p:nvSpPr>
          <p:cNvPr id="12" name="TextBox 11"/>
          <p:cNvSpPr txBox="1"/>
          <p:nvPr/>
        </p:nvSpPr>
        <p:spPr>
          <a:xfrm>
            <a:off x="749808" y="4992624"/>
            <a:ext cx="1069848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00306C"/>
                </a:solidFill>
                <a:latin typeface="Pretendard"/>
                <a:ea typeface="Pretendard"/>
                <a:cs typeface="Pretendard"/>
              </a:rPr>
              <a:t>Context = 현재 IDS 문제에서 참조할 특징·라벨 사례</a:t>
            </a:r>
          </a:p>
        </p:txBody>
      </p:sp>
      <p:sp>
        <p:nvSpPr>
          <p:cNvPr id="13" name="TextBox 12"/>
          <p:cNvSpPr txBox="1"/>
          <p:nvPr/>
        </p:nvSpPr>
        <p:spPr>
          <a:xfrm>
            <a:off x="749808" y="5605272"/>
            <a:ext cx="10698480"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227B71"/>
                </a:solidFill>
                <a:latin typeface="Pretendard"/>
                <a:ea typeface="Pretendard"/>
                <a:cs typeface="Pretendard"/>
              </a:rPr>
              <a:t>연구 질문  같은 사례로 얻는 탐지 품질·기존 성능 유지·처리 비용</a:t>
            </a:r>
          </a:p>
        </p:txBody>
      </p:sp>
      <p:sp>
        <p:nvSpPr>
          <p:cNvPr id="14" name="Rectangle 13"/>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재학습 여부와 비용 우위는 별개 · 같은 사례와 평가 집합으로 비교</a:t>
            </a:r>
          </a:p>
        </p:txBody>
      </p:sp>
      <p:sp>
        <p:nvSpPr>
          <p:cNvPr id="16" name="TextBox 15"/>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평가 시나리오</a:t>
            </a:r>
          </a:p>
        </p:txBody>
      </p:sp>
      <p:sp>
        <p:nvSpPr>
          <p:cNvPr id="17" name="TextBox 16"/>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데이터 출처 · 두 벤치마크를 섞지 않는 구성</a:t>
            </a:r>
          </a:p>
        </p:txBody>
      </p:sp>
      <p:sp>
        <p:nvSpPr>
          <p:cNvPr id="3" name="TextBox 2"/>
          <p:cNvSpPr txBox="1"/>
          <p:nvPr/>
        </p:nvSpPr>
        <p:spPr>
          <a:xfrm>
            <a:off x="658368" y="1033271"/>
            <a:ext cx="10927080"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227B71"/>
                </a:solidFill>
                <a:latin typeface="Pretendard"/>
                <a:ea typeface="Pretendard"/>
                <a:cs typeface="Pretendard"/>
              </a:rPr>
              <a:t>CIC2018과 ToN-IoT의 사례 선택·평가를 각각 독립 수행</a:t>
            </a:r>
          </a:p>
        </p:txBody>
      </p:sp>
      <p:sp>
        <p:nvSpPr>
          <p:cNvPr id="4" name="Rectangle 3"/>
          <p:cNvSpPr/>
          <p:nvPr/>
        </p:nvSpPr>
        <p:spPr>
          <a:xfrm>
            <a:off x="658368" y="1664208"/>
            <a:ext cx="5175504" cy="9875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58368" y="1664208"/>
            <a:ext cx="5175504"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49808" y="1732788"/>
            <a:ext cx="4992624"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CIC2018 원본 트래픽</a:t>
            </a:r>
          </a:p>
        </p:txBody>
      </p:sp>
      <p:sp>
        <p:nvSpPr>
          <p:cNvPr id="7" name="TextBox 6"/>
          <p:cNvSpPr txBox="1"/>
          <p:nvPr/>
        </p:nvSpPr>
        <p:spPr>
          <a:xfrm>
            <a:off x="768096" y="2240280"/>
            <a:ext cx="4956048"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0" lang="ko-KR">
                <a:solidFill>
                  <a:srgbClr val="20262E"/>
                </a:solidFill>
                <a:latin typeface="Pretendard"/>
                <a:ea typeface="Pretendard"/>
                <a:cs typeface="Pretendard"/>
              </a:rPr>
              <a:t>실험 환경에서 수집한 네트워크 기록</a:t>
            </a:r>
          </a:p>
        </p:txBody>
      </p:sp>
      <p:sp>
        <p:nvSpPr>
          <p:cNvPr id="8" name="Down Arrow 7"/>
          <p:cNvSpPr/>
          <p:nvPr/>
        </p:nvSpPr>
        <p:spPr>
          <a:xfrm>
            <a:off x="3008376" y="2743200"/>
            <a:ext cx="329184" cy="320040"/>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3191256"/>
            <a:ext cx="4919472" cy="316738"/>
          </a:xfrm>
          <a:prstGeom prst="rect">
            <a:avLst/>
          </a:prstGeom>
          <a:noFill/>
          <a:effectLst/>
        </p:spPr>
        <p:txBody>
          <a:bodyPr wrap="none" anchor="t" lIns="0" rIns="0" tIns="0" bIns="0">
            <a:noAutofit/>
          </a:bodyPr>
          <a:lstStyle/>
          <a:p>
            <a:pPr algn="l">
              <a:lnSpc>
                <a:spcPct val="118000"/>
              </a:lnSpc>
              <a:spcBef>
                <a:spcPts val="0"/>
              </a:spcBef>
              <a:spcAft>
                <a:spcPts val="0"/>
              </a:spcAft>
            </a:pPr>
            <a:r>
              <a:rPr sz="1900" b="1" lang="ko-KR">
                <a:solidFill>
                  <a:srgbClr val="00306C"/>
                </a:solidFill>
                <a:latin typeface="Pretendard"/>
                <a:ea typeface="Pretendard"/>
                <a:cs typeface="Pretendard"/>
              </a:rPr>
              <a:t>NF-v3 flow 표 → 기존 정제·고정 분할</a:t>
            </a:r>
          </a:p>
        </p:txBody>
      </p:sp>
      <p:sp>
        <p:nvSpPr>
          <p:cNvPr id="10" name="Rectangle 9"/>
          <p:cNvSpPr/>
          <p:nvPr/>
        </p:nvSpPr>
        <p:spPr>
          <a:xfrm>
            <a:off x="658368" y="3767328"/>
            <a:ext cx="2532888" cy="106984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658368" y="3767328"/>
            <a:ext cx="2532888" cy="40233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3835908"/>
            <a:ext cx="2350008"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학습 후보 집합</a:t>
            </a:r>
          </a:p>
        </p:txBody>
      </p:sp>
      <p:sp>
        <p:nvSpPr>
          <p:cNvPr id="13" name="TextBox 12"/>
          <p:cNvSpPr txBox="1"/>
          <p:nvPr/>
        </p:nvSpPr>
        <p:spPr>
          <a:xfrm>
            <a:off x="768096" y="4343400"/>
            <a:ext cx="231343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8,666,430행</a:t>
            </a:r>
          </a:p>
        </p:txBody>
      </p:sp>
      <p:sp>
        <p:nvSpPr>
          <p:cNvPr id="14" name="Rectangle 13"/>
          <p:cNvSpPr/>
          <p:nvPr/>
        </p:nvSpPr>
        <p:spPr>
          <a:xfrm>
            <a:off x="3337560" y="3767328"/>
            <a:ext cx="2496312" cy="106984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3337560" y="3767328"/>
            <a:ext cx="2496312" cy="402336"/>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429000" y="3835908"/>
            <a:ext cx="231343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고정 test</a:t>
            </a:r>
          </a:p>
        </p:txBody>
      </p:sp>
      <p:sp>
        <p:nvSpPr>
          <p:cNvPr id="17" name="TextBox 16"/>
          <p:cNvSpPr txBox="1"/>
          <p:nvPr/>
        </p:nvSpPr>
        <p:spPr>
          <a:xfrm>
            <a:off x="3447288" y="4343400"/>
            <a:ext cx="2276856"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3,042,473행</a:t>
            </a:r>
          </a:p>
        </p:txBody>
      </p:sp>
      <p:sp>
        <p:nvSpPr>
          <p:cNvPr id="18" name="TextBox 17"/>
          <p:cNvSpPr txBox="1"/>
          <p:nvPr/>
        </p:nvSpPr>
        <p:spPr>
          <a:xfrm>
            <a:off x="768096" y="5111496"/>
            <a:ext cx="2377440" cy="271779"/>
          </a:xfrm>
          <a:prstGeom prst="rect">
            <a:avLst/>
          </a:prstGeom>
          <a:noFill/>
          <a:effectLst/>
        </p:spPr>
        <p:txBody>
          <a:bodyPr wrap="none" anchor="t" lIns="0" rIns="0" tIns="0" bIns="0">
            <a:noAutofit/>
          </a:bodyPr>
          <a:lstStyle/>
          <a:p>
            <a:pPr algn="l">
              <a:lnSpc>
                <a:spcPct val="118000"/>
              </a:lnSpc>
              <a:spcBef>
                <a:spcPts val="0"/>
              </a:spcBef>
              <a:spcAft>
                <a:spcPts val="0"/>
              </a:spcAft>
            </a:pPr>
            <a:r>
              <a:rPr sz="1600" b="0" lang="ko-KR">
                <a:solidFill>
                  <a:srgbClr val="007BC6"/>
                </a:solidFill>
                <a:latin typeface="Pretendard"/>
                <a:ea typeface="Pretendard"/>
                <a:cs typeface="Pretendard"/>
              </a:rPr>
              <a:t>초기·신규 라벨 사례 선택</a:t>
            </a:r>
          </a:p>
        </p:txBody>
      </p:sp>
      <p:sp>
        <p:nvSpPr>
          <p:cNvPr id="19" name="TextBox 18"/>
          <p:cNvSpPr txBox="1"/>
          <p:nvPr/>
        </p:nvSpPr>
        <p:spPr>
          <a:xfrm>
            <a:off x="3419856" y="5111496"/>
            <a:ext cx="2331720" cy="271779"/>
          </a:xfrm>
          <a:prstGeom prst="rect">
            <a:avLst/>
          </a:prstGeom>
          <a:noFill/>
          <a:effectLst/>
        </p:spPr>
        <p:txBody>
          <a:bodyPr wrap="none" anchor="t" lIns="0" rIns="0" tIns="0" bIns="0">
            <a:noAutofit/>
          </a:bodyPr>
          <a:lstStyle/>
          <a:p>
            <a:pPr algn="l">
              <a:lnSpc>
                <a:spcPct val="118000"/>
              </a:lnSpc>
              <a:spcBef>
                <a:spcPts val="0"/>
              </a:spcBef>
              <a:spcAft>
                <a:spcPts val="0"/>
              </a:spcAft>
            </a:pPr>
            <a:r>
              <a:rPr sz="1600" b="0" lang="ko-KR">
                <a:solidFill>
                  <a:srgbClr val="227B71"/>
                </a:solidFill>
                <a:latin typeface="Pretendard"/>
                <a:ea typeface="Pretendard"/>
                <a:cs typeface="Pretendard"/>
              </a:rPr>
              <a:t>예측 채점에만 사용</a:t>
            </a:r>
          </a:p>
        </p:txBody>
      </p:sp>
      <p:sp>
        <p:nvSpPr>
          <p:cNvPr id="20" name="Rectangle 19"/>
          <p:cNvSpPr/>
          <p:nvPr/>
        </p:nvSpPr>
        <p:spPr>
          <a:xfrm>
            <a:off x="6345936" y="1664208"/>
            <a:ext cx="5175504" cy="9875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6345936" y="1664208"/>
            <a:ext cx="5175504"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37376" y="1732788"/>
            <a:ext cx="4992624"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ToN-IoT 원본 트래픽</a:t>
            </a:r>
          </a:p>
        </p:txBody>
      </p:sp>
      <p:sp>
        <p:nvSpPr>
          <p:cNvPr id="23" name="TextBox 22"/>
          <p:cNvSpPr txBox="1"/>
          <p:nvPr/>
        </p:nvSpPr>
        <p:spPr>
          <a:xfrm>
            <a:off x="6455664" y="2240280"/>
            <a:ext cx="4956048"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0" lang="ko-KR">
                <a:solidFill>
                  <a:srgbClr val="20262E"/>
                </a:solidFill>
                <a:latin typeface="Pretendard"/>
                <a:ea typeface="Pretendard"/>
                <a:cs typeface="Pretendard"/>
              </a:rPr>
              <a:t>실험 환경에서 수집한 네트워크 기록</a:t>
            </a:r>
          </a:p>
        </p:txBody>
      </p:sp>
      <p:sp>
        <p:nvSpPr>
          <p:cNvPr id="24" name="Down Arrow 23"/>
          <p:cNvSpPr/>
          <p:nvPr/>
        </p:nvSpPr>
        <p:spPr>
          <a:xfrm>
            <a:off x="8695944" y="2743200"/>
            <a:ext cx="329184" cy="320040"/>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473952" y="3191256"/>
            <a:ext cx="4919472" cy="316738"/>
          </a:xfrm>
          <a:prstGeom prst="rect">
            <a:avLst/>
          </a:prstGeom>
          <a:noFill/>
          <a:effectLst/>
        </p:spPr>
        <p:txBody>
          <a:bodyPr wrap="none" anchor="t" lIns="0" rIns="0" tIns="0" bIns="0">
            <a:noAutofit/>
          </a:bodyPr>
          <a:lstStyle/>
          <a:p>
            <a:pPr algn="l">
              <a:lnSpc>
                <a:spcPct val="118000"/>
              </a:lnSpc>
              <a:spcBef>
                <a:spcPts val="0"/>
              </a:spcBef>
              <a:spcAft>
                <a:spcPts val="0"/>
              </a:spcAft>
            </a:pPr>
            <a:r>
              <a:rPr sz="1900" b="1" lang="ko-KR">
                <a:solidFill>
                  <a:srgbClr val="00306C"/>
                </a:solidFill>
                <a:latin typeface="Pretendard"/>
                <a:ea typeface="Pretendard"/>
                <a:cs typeface="Pretendard"/>
              </a:rPr>
              <a:t>NF-v3 flow 표 → 기존 정제·고정 분할</a:t>
            </a:r>
          </a:p>
        </p:txBody>
      </p:sp>
      <p:sp>
        <p:nvSpPr>
          <p:cNvPr id="26" name="Rectangle 25"/>
          <p:cNvSpPr/>
          <p:nvPr/>
        </p:nvSpPr>
        <p:spPr>
          <a:xfrm>
            <a:off x="6345936" y="3767328"/>
            <a:ext cx="2532888" cy="106984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345936" y="3767328"/>
            <a:ext cx="2532888" cy="40233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437376" y="3835908"/>
            <a:ext cx="2350008"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학습 후보 집합</a:t>
            </a:r>
          </a:p>
        </p:txBody>
      </p:sp>
      <p:sp>
        <p:nvSpPr>
          <p:cNvPr id="29" name="TextBox 28"/>
          <p:cNvSpPr txBox="1"/>
          <p:nvPr/>
        </p:nvSpPr>
        <p:spPr>
          <a:xfrm>
            <a:off x="6455664" y="4343400"/>
            <a:ext cx="231343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4,669,119행</a:t>
            </a:r>
          </a:p>
        </p:txBody>
      </p:sp>
      <p:sp>
        <p:nvSpPr>
          <p:cNvPr id="30" name="Rectangle 29"/>
          <p:cNvSpPr/>
          <p:nvPr/>
        </p:nvSpPr>
        <p:spPr>
          <a:xfrm>
            <a:off x="9025128" y="3767328"/>
            <a:ext cx="2496312" cy="106984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9025128" y="3767328"/>
            <a:ext cx="2496312" cy="402336"/>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9116568" y="3835908"/>
            <a:ext cx="231343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고정 test</a:t>
            </a:r>
          </a:p>
        </p:txBody>
      </p:sp>
      <p:sp>
        <p:nvSpPr>
          <p:cNvPr id="33" name="TextBox 32"/>
          <p:cNvSpPr txBox="1"/>
          <p:nvPr/>
        </p:nvSpPr>
        <p:spPr>
          <a:xfrm>
            <a:off x="9134856" y="4343400"/>
            <a:ext cx="2276856"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2,271,723행</a:t>
            </a:r>
          </a:p>
        </p:txBody>
      </p:sp>
      <p:sp>
        <p:nvSpPr>
          <p:cNvPr id="34" name="TextBox 33"/>
          <p:cNvSpPr txBox="1"/>
          <p:nvPr/>
        </p:nvSpPr>
        <p:spPr>
          <a:xfrm>
            <a:off x="6455664" y="5111496"/>
            <a:ext cx="2377440" cy="271779"/>
          </a:xfrm>
          <a:prstGeom prst="rect">
            <a:avLst/>
          </a:prstGeom>
          <a:noFill/>
          <a:effectLst/>
        </p:spPr>
        <p:txBody>
          <a:bodyPr wrap="none" anchor="t" lIns="0" rIns="0" tIns="0" bIns="0">
            <a:noAutofit/>
          </a:bodyPr>
          <a:lstStyle/>
          <a:p>
            <a:pPr algn="l">
              <a:lnSpc>
                <a:spcPct val="118000"/>
              </a:lnSpc>
              <a:spcBef>
                <a:spcPts val="0"/>
              </a:spcBef>
              <a:spcAft>
                <a:spcPts val="0"/>
              </a:spcAft>
            </a:pPr>
            <a:r>
              <a:rPr sz="1600" b="0" lang="ko-KR">
                <a:solidFill>
                  <a:srgbClr val="007BC6"/>
                </a:solidFill>
                <a:latin typeface="Pretendard"/>
                <a:ea typeface="Pretendard"/>
                <a:cs typeface="Pretendard"/>
              </a:rPr>
              <a:t>초기·신규 라벨 사례 선택</a:t>
            </a:r>
          </a:p>
        </p:txBody>
      </p:sp>
      <p:sp>
        <p:nvSpPr>
          <p:cNvPr id="35" name="TextBox 34"/>
          <p:cNvSpPr txBox="1"/>
          <p:nvPr/>
        </p:nvSpPr>
        <p:spPr>
          <a:xfrm>
            <a:off x="9107424" y="5111496"/>
            <a:ext cx="2331720" cy="271779"/>
          </a:xfrm>
          <a:prstGeom prst="rect">
            <a:avLst/>
          </a:prstGeom>
          <a:noFill/>
          <a:effectLst/>
        </p:spPr>
        <p:txBody>
          <a:bodyPr wrap="none" anchor="t" lIns="0" rIns="0" tIns="0" bIns="0">
            <a:noAutofit/>
          </a:bodyPr>
          <a:lstStyle/>
          <a:p>
            <a:pPr algn="l">
              <a:lnSpc>
                <a:spcPct val="118000"/>
              </a:lnSpc>
              <a:spcBef>
                <a:spcPts val="0"/>
              </a:spcBef>
              <a:spcAft>
                <a:spcPts val="0"/>
              </a:spcAft>
            </a:pPr>
            <a:r>
              <a:rPr sz="1600" b="0" lang="ko-KR">
                <a:solidFill>
                  <a:srgbClr val="227B71"/>
                </a:solidFill>
                <a:latin typeface="Pretendard"/>
                <a:ea typeface="Pretendard"/>
                <a:cs typeface="Pretendard"/>
              </a:rPr>
              <a:t>예측 채점에만 사용</a:t>
            </a:r>
          </a:p>
        </p:txBody>
      </p:sp>
      <p:sp>
        <p:nvSpPr>
          <p:cNvPr id="36" name="TextBox 35"/>
          <p:cNvSpPr txBox="1"/>
          <p:nvPr/>
        </p:nvSpPr>
        <p:spPr>
          <a:xfrm>
            <a:off x="768096" y="5696712"/>
            <a:ext cx="10716768" cy="346710"/>
          </a:xfrm>
          <a:prstGeom prst="rect">
            <a:avLst/>
          </a:prstGeom>
          <a:noFill/>
          <a:effectLst/>
        </p:spPr>
        <p:txBody>
          <a:bodyPr wrap="none" anchor="t" lIns="0" rIns="0" tIns="0" bIns="0">
            <a:noAutofit/>
          </a:bodyPr>
          <a:lstStyle/>
          <a:p>
            <a:pPr algn="l">
              <a:lnSpc>
                <a:spcPct val="118000"/>
              </a:lnSpc>
              <a:spcBef>
                <a:spcPts val="0"/>
              </a:spcBef>
              <a:spcAft>
                <a:spcPts val="0"/>
              </a:spcAft>
            </a:pPr>
            <a:r>
              <a:rPr sz="2100" b="1" lang="ko-KR">
                <a:solidFill>
                  <a:srgbClr val="00306C"/>
                </a:solidFill>
                <a:latin typeface="Pretendard"/>
                <a:ea typeface="Pretendard"/>
                <a:cs typeface="Pretendard"/>
              </a:rPr>
              <a:t>행의 출처와 분할 유지 · 다른 데이터셋의 공격을 가져와 합치는 과정 없음</a:t>
            </a:r>
          </a:p>
        </p:txBody>
      </p:sp>
      <p:sp>
        <p:nvSpPr>
          <p:cNvPr id="37" name="Rectangle 36"/>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모델에 제공한 사례는 해당 벤치마크 train의 부분집합 · 특징값 합성 없음</a:t>
            </a:r>
          </a:p>
        </p:txBody>
      </p:sp>
      <p:sp>
        <p:nvSpPr>
          <p:cNvPr id="39" name="TextBox 38"/>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평가 시나리오</a:t>
            </a:r>
          </a:p>
        </p:txBody>
      </p:sp>
      <p:sp>
        <p:nvSpPr>
          <p:cNvPr id="40" name="TextBox 39"/>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현재 사례 집합 · 원본 train에서 라벨을 단계별 공개</a:t>
            </a:r>
          </a:p>
        </p:txBody>
      </p:sp>
      <p:sp>
        <p:nvSpPr>
          <p:cNvPr id="3" name="TextBox 2"/>
          <p:cNvSpPr txBox="1"/>
          <p:nvPr/>
        </p:nvSpPr>
        <p:spPr>
          <a:xfrm>
            <a:off x="658368" y="1005840"/>
            <a:ext cx="1088136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617080"/>
                </a:solidFill>
                <a:latin typeface="Pretendard"/>
                <a:ea typeface="Pretendard"/>
                <a:cs typeface="Pretendard"/>
              </a:rPr>
              <a:t>CIC2018 예시 · 모든 사례는 같은 CIC 학습 후보 집합에서 선택</a:t>
            </a:r>
          </a:p>
        </p:txBody>
      </p:sp>
      <p:sp>
        <p:nvSpPr>
          <p:cNvPr id="4" name="Rectangle 3"/>
          <p:cNvSpPr/>
          <p:nvPr/>
        </p:nvSpPr>
        <p:spPr>
          <a:xfrm>
            <a:off x="694944" y="1600200"/>
            <a:ext cx="3154680" cy="15087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94944" y="1600200"/>
            <a:ext cx="315468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86384" y="1668780"/>
            <a:ext cx="297180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초기 L₀ · 1,000개</a:t>
            </a:r>
          </a:p>
        </p:txBody>
      </p:sp>
      <p:sp>
        <p:nvSpPr>
          <p:cNvPr id="7" name="TextBox 6"/>
          <p:cNvSpPr txBox="1"/>
          <p:nvPr/>
        </p:nvSpPr>
        <p:spPr>
          <a:xfrm>
            <a:off x="804672" y="2176272"/>
            <a:ext cx="2935224" cy="601472"/>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정상 750</a:t>
            </a:r>
          </a:p>
          <a:p>
            <a:pPr algn="ctr">
              <a:lnSpc>
                <a:spcPct val="118000"/>
              </a:lnSpc>
              <a:spcBef>
                <a:spcPts val="0"/>
              </a:spcBef>
              <a:spcAft>
                <a:spcPts val="0"/>
              </a:spcAft>
            </a:pPr>
            <a:r>
              <a:rPr sz="1900" b="0" lang="ko-KR">
                <a:solidFill>
                  <a:srgbClr val="20262E"/>
                </a:solidFill>
                <a:latin typeface="Pretendard"/>
                <a:ea typeface="Pretendard"/>
                <a:cs typeface="Pretendard"/>
              </a:rPr>
              <a:t>Brute force 125 · DoS 125</a:t>
            </a:r>
          </a:p>
        </p:txBody>
      </p:sp>
      <p:sp>
        <p:nvSpPr>
          <p:cNvPr id="8" name="Rectangle 7"/>
          <p:cNvSpPr/>
          <p:nvPr/>
        </p:nvSpPr>
        <p:spPr>
          <a:xfrm>
            <a:off x="4178808" y="1600200"/>
            <a:ext cx="1655064" cy="15087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4178808" y="1600200"/>
            <a:ext cx="1655064" cy="40233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270248" y="1668780"/>
            <a:ext cx="1472184"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DDoS</a:t>
            </a:r>
          </a:p>
        </p:txBody>
      </p:sp>
      <p:sp>
        <p:nvSpPr>
          <p:cNvPr id="11" name="TextBox 10"/>
          <p:cNvSpPr txBox="1"/>
          <p:nvPr/>
        </p:nvSpPr>
        <p:spPr>
          <a:xfrm>
            <a:off x="4288536" y="2176272"/>
            <a:ext cx="1435608"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0" lang="ko-KR">
                <a:solidFill>
                  <a:srgbClr val="20262E"/>
                </a:solidFill>
                <a:latin typeface="Pretendard"/>
                <a:ea typeface="Pretendard"/>
                <a:cs typeface="Pretendard"/>
              </a:rPr>
              <a:t>라벨 n개</a:t>
            </a:r>
          </a:p>
        </p:txBody>
      </p:sp>
      <p:sp>
        <p:nvSpPr>
          <p:cNvPr id="12" name="Right Arrow 11"/>
          <p:cNvSpPr/>
          <p:nvPr/>
        </p:nvSpPr>
        <p:spPr>
          <a:xfrm>
            <a:off x="5870448" y="2249424"/>
            <a:ext cx="146304" cy="16459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035040" y="1600200"/>
            <a:ext cx="1655064" cy="15087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035040" y="1600200"/>
            <a:ext cx="1655064" cy="402336"/>
          </a:xfrm>
          <a:prstGeom prst="rect">
            <a:avLst/>
          </a:prstGeom>
          <a:solidFill>
            <a:srgbClr val="2B8E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126479" y="1668780"/>
            <a:ext cx="1472184"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Web attacks</a:t>
            </a:r>
          </a:p>
        </p:txBody>
      </p:sp>
      <p:sp>
        <p:nvSpPr>
          <p:cNvPr id="16" name="TextBox 15"/>
          <p:cNvSpPr txBox="1"/>
          <p:nvPr/>
        </p:nvSpPr>
        <p:spPr>
          <a:xfrm>
            <a:off x="6144768" y="2176272"/>
            <a:ext cx="1435608"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0" lang="ko-KR">
                <a:solidFill>
                  <a:srgbClr val="20262E"/>
                </a:solidFill>
                <a:latin typeface="Pretendard"/>
                <a:ea typeface="Pretendard"/>
                <a:cs typeface="Pretendard"/>
              </a:rPr>
              <a:t>라벨 n개</a:t>
            </a:r>
          </a:p>
        </p:txBody>
      </p:sp>
      <p:sp>
        <p:nvSpPr>
          <p:cNvPr id="17" name="Right Arrow 16"/>
          <p:cNvSpPr/>
          <p:nvPr/>
        </p:nvSpPr>
        <p:spPr>
          <a:xfrm>
            <a:off x="7726679" y="2249424"/>
            <a:ext cx="146304" cy="16459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7891271" y="1600200"/>
            <a:ext cx="1655064" cy="15087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7891271" y="1600200"/>
            <a:ext cx="1655064" cy="402336"/>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982711" y="1668780"/>
            <a:ext cx="1472184"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Infiltration</a:t>
            </a:r>
          </a:p>
        </p:txBody>
      </p:sp>
      <p:sp>
        <p:nvSpPr>
          <p:cNvPr id="21" name="TextBox 20"/>
          <p:cNvSpPr txBox="1"/>
          <p:nvPr/>
        </p:nvSpPr>
        <p:spPr>
          <a:xfrm>
            <a:off x="8000999" y="2176272"/>
            <a:ext cx="1435608"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0" lang="ko-KR">
                <a:solidFill>
                  <a:srgbClr val="20262E"/>
                </a:solidFill>
                <a:latin typeface="Pretendard"/>
                <a:ea typeface="Pretendard"/>
                <a:cs typeface="Pretendard"/>
              </a:rPr>
              <a:t>라벨 n개</a:t>
            </a:r>
          </a:p>
        </p:txBody>
      </p:sp>
      <p:sp>
        <p:nvSpPr>
          <p:cNvPr id="22" name="Right Arrow 21"/>
          <p:cNvSpPr/>
          <p:nvPr/>
        </p:nvSpPr>
        <p:spPr>
          <a:xfrm>
            <a:off x="9582911" y="2249424"/>
            <a:ext cx="146304" cy="16459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747504" y="1600200"/>
            <a:ext cx="1655064" cy="15087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9747504" y="1600200"/>
            <a:ext cx="1655064" cy="402336"/>
          </a:xfrm>
          <a:prstGeom prst="rect">
            <a:avLst/>
          </a:prstGeom>
          <a:solidFill>
            <a:srgbClr val="9F6B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838944" y="1668780"/>
            <a:ext cx="1472184"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Bot</a:t>
            </a:r>
          </a:p>
        </p:txBody>
      </p:sp>
      <p:sp>
        <p:nvSpPr>
          <p:cNvPr id="26" name="TextBox 25"/>
          <p:cNvSpPr txBox="1"/>
          <p:nvPr/>
        </p:nvSpPr>
        <p:spPr>
          <a:xfrm>
            <a:off x="9857232" y="2176272"/>
            <a:ext cx="1435608"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0" lang="ko-KR">
                <a:solidFill>
                  <a:srgbClr val="20262E"/>
                </a:solidFill>
                <a:latin typeface="Pretendard"/>
                <a:ea typeface="Pretendard"/>
                <a:cs typeface="Pretendard"/>
              </a:rPr>
              <a:t>라벨 n개</a:t>
            </a:r>
          </a:p>
        </p:txBody>
      </p:sp>
      <p:sp>
        <p:nvSpPr>
          <p:cNvPr id="27" name="TextBox 26"/>
          <p:cNvSpPr txBox="1"/>
          <p:nvPr/>
        </p:nvSpPr>
        <p:spPr>
          <a:xfrm>
            <a:off x="731520" y="3493008"/>
            <a:ext cx="10607040" cy="406654"/>
          </a:xfrm>
          <a:prstGeom prst="rect">
            <a:avLst/>
          </a:prstGeom>
          <a:noFill/>
          <a:effectLst/>
        </p:spPr>
        <p:txBody>
          <a:bodyPr wrap="none" anchor="t" lIns="0" rIns="0" tIns="0" bIns="0">
            <a:noAutofit/>
          </a:bodyPr>
          <a:lstStyle/>
          <a:p>
            <a:pPr algn="l">
              <a:lnSpc>
                <a:spcPct val="118000"/>
              </a:lnSpc>
              <a:spcBef>
                <a:spcPts val="0"/>
              </a:spcBef>
              <a:spcAft>
                <a:spcPts val="0"/>
              </a:spcAft>
            </a:pPr>
            <a:r>
              <a:rPr sz="2500" b="1" lang="ko-KR">
                <a:solidFill>
                  <a:srgbClr val="00306C"/>
                </a:solidFill>
                <a:latin typeface="Pretendard"/>
                <a:ea typeface="Pretendard"/>
                <a:cs typeface="Pretendard"/>
              </a:rPr>
              <a:t>n = 신규 공격 클래스별 확보 라벨 수</a:t>
            </a:r>
          </a:p>
        </p:txBody>
      </p:sp>
      <p:sp>
        <p:nvSpPr>
          <p:cNvPr id="28" name="TextBox 27"/>
          <p:cNvSpPr txBox="1"/>
          <p:nvPr/>
        </p:nvSpPr>
        <p:spPr>
          <a:xfrm>
            <a:off x="749808" y="4050791"/>
            <a:ext cx="10652760"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0" lang="ko-KR">
                <a:solidFill>
                  <a:srgbClr val="20262E"/>
                </a:solidFill>
                <a:latin typeface="Pretendard"/>
                <a:ea typeface="Pretendard"/>
                <a:cs typeface="Pretendard"/>
              </a:rPr>
              <a:t>기존 실험  5 · 10 · 20 · 30 · 50 · 100개</a:t>
            </a:r>
          </a:p>
        </p:txBody>
      </p:sp>
      <p:sp>
        <p:nvSpPr>
          <p:cNvPr id="29" name="TextBox 28"/>
          <p:cNvSpPr txBox="1"/>
          <p:nvPr/>
        </p:nvSpPr>
        <p:spPr>
          <a:xfrm>
            <a:off x="749808" y="4590288"/>
            <a:ext cx="10652760"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7BC6"/>
                </a:solidFill>
                <a:latin typeface="Pretendard"/>
                <a:ea typeface="Pretendard"/>
                <a:cs typeface="Pretendard"/>
              </a:rPr>
              <a:t>n=100 예시  누적 1,000 → 1,100 → 1,200 → 1,300 → 1,400개</a:t>
            </a:r>
          </a:p>
        </p:txBody>
      </p:sp>
      <p:sp>
        <p:nvSpPr>
          <p:cNvPr id="30" name="TextBox 29"/>
          <p:cNvSpPr txBox="1"/>
          <p:nvPr/>
        </p:nvSpPr>
        <p:spPr>
          <a:xfrm>
            <a:off x="749808" y="5230368"/>
            <a:ext cx="10652760" cy="661416"/>
          </a:xfrm>
          <a:prstGeom prst="rect">
            <a:avLst/>
          </a:prstGeom>
          <a:noFill/>
          <a:effectLst/>
        </p:spPr>
        <p:txBody>
          <a:bodyPr wrap="none" anchor="t" lIns="0" rIns="0" tIns="0" bIns="0">
            <a:noAutofit/>
          </a:bodyPr>
          <a:lstStyle/>
          <a:p>
            <a:pPr algn="l">
              <a:lnSpc>
                <a:spcPct val="118000"/>
              </a:lnSpc>
              <a:spcBef>
                <a:spcPts val="0"/>
              </a:spcBef>
              <a:spcAft>
                <a:spcPts val="0"/>
              </a:spcAft>
            </a:pPr>
            <a:r>
              <a:rPr sz="2100" b="0" lang="ko-KR">
                <a:solidFill>
                  <a:srgbClr val="20262E"/>
                </a:solidFill>
                <a:latin typeface="Pretendard"/>
                <a:ea typeface="Pretendard"/>
                <a:cs typeface="Pretendard"/>
              </a:rPr>
              <a:t>“현재 데이터셋 B” = 현재까지 공개한 라벨 사례 Lₜ</a:t>
            </a:r>
          </a:p>
          <a:p>
            <a:pPr algn="l">
              <a:lnSpc>
                <a:spcPct val="118000"/>
              </a:lnSpc>
              <a:spcBef>
                <a:spcPts val="0"/>
              </a:spcBef>
              <a:spcAft>
                <a:spcPts val="0"/>
              </a:spcAft>
            </a:pPr>
            <a:r>
              <a:rPr sz="2100" b="0" lang="ko-KR">
                <a:solidFill>
                  <a:srgbClr val="20262E"/>
                </a:solidFill>
                <a:latin typeface="Pretendard"/>
                <a:ea typeface="Pretendard"/>
                <a:cs typeface="Pretendard"/>
              </a:rPr>
              <a:t>100개는 비교용 조건 · 하루 공격량이나 최적값을 뜻하지 않는 수</a:t>
            </a:r>
          </a:p>
        </p:txBody>
      </p:sp>
      <p:sp>
        <p:nvSpPr>
          <p:cNvPr id="31" name="Rectangle 30"/>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공격 도입 순서는 평가 조건 · 원본 날짜별 전체 트래픽 재생과 구별</a:t>
            </a:r>
          </a:p>
        </p:txBody>
      </p:sp>
      <p:sp>
        <p:nvSpPr>
          <p:cNvPr id="33" name="TextBox 32"/>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평가 시나리오</a:t>
            </a:r>
          </a:p>
        </p:txBody>
      </p:sp>
      <p:sp>
        <p:nvSpPr>
          <p:cNvPr id="34" name="TextBox 33"/>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누적·고정 버퍼 · 같은 사례로 갱신 방식 비교</a:t>
            </a:r>
          </a:p>
        </p:txBody>
      </p:sp>
      <p:sp>
        <p:nvSpPr>
          <p:cNvPr id="3" name="TextBox 2"/>
          <p:cNvSpPr txBox="1"/>
          <p:nvPr/>
        </p:nvSpPr>
        <p:spPr>
          <a:xfrm>
            <a:off x="676656" y="1005840"/>
            <a:ext cx="10917936"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617080"/>
                </a:solidFill>
                <a:latin typeface="Pretendard"/>
                <a:ea typeface="Pretendard"/>
                <a:cs typeface="Pretendard"/>
              </a:rPr>
              <a:t>첫 신규 공격 100개를 확보한 예시 · 블록 하나는 100행</a:t>
            </a:r>
          </a:p>
        </p:txBody>
      </p:sp>
      <p:sp>
        <p:nvSpPr>
          <p:cNvPr id="4" name="TextBox 3"/>
          <p:cNvSpPr txBox="1"/>
          <p:nvPr/>
        </p:nvSpPr>
        <p:spPr>
          <a:xfrm>
            <a:off x="704088" y="1691640"/>
            <a:ext cx="1280160"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누적</a:t>
            </a:r>
          </a:p>
        </p:txBody>
      </p:sp>
      <p:sp>
        <p:nvSpPr>
          <p:cNvPr id="5" name="Rectangle 4"/>
          <p:cNvSpPr/>
          <p:nvPr/>
        </p:nvSpPr>
        <p:spPr>
          <a:xfrm>
            <a:off x="1920240" y="1618488"/>
            <a:ext cx="4773168" cy="960120"/>
          </a:xfrm>
          <a:prstGeom prst="rect">
            <a:avLst/>
          </a:prstGeom>
          <a:solidFill>
            <a:srgbClr val="FFFFFF"/>
          </a:solidFill>
          <a:ln w="10160">
            <a:solidFill>
              <a:srgbClr val="9AAEC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2039112"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2438704"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2838297"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3237890"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637483"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037076"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36668"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836261"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235854"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635447" y="1819656"/>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6035040" y="1819656"/>
            <a:ext cx="356616" cy="320040"/>
          </a:xfrm>
          <a:prstGeom prst="rect">
            <a:avLst/>
          </a:prstGeom>
          <a:solidFill>
            <a:srgbClr val="B8782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048256" y="2267712"/>
            <a:ext cx="2734056" cy="256794"/>
          </a:xfrm>
          <a:prstGeom prst="rect">
            <a:avLst/>
          </a:prstGeom>
          <a:noFill/>
          <a:effectLst/>
        </p:spPr>
        <p:txBody>
          <a:bodyPr wrap="none" anchor="t" lIns="0" rIns="0" tIns="0" bIns="0">
            <a:noAutofit/>
          </a:bodyPr>
          <a:lstStyle/>
          <a:p>
            <a:pPr algn="l">
              <a:lnSpc>
                <a:spcPct val="118000"/>
              </a:lnSpc>
              <a:spcBef>
                <a:spcPts val="0"/>
              </a:spcBef>
              <a:spcAft>
                <a:spcPts val="0"/>
              </a:spcAft>
            </a:pPr>
            <a:r>
              <a:rPr sz="1500" b="0" lang="ko-KR">
                <a:solidFill>
                  <a:srgbClr val="617080"/>
                </a:solidFill>
                <a:latin typeface="Pretendard"/>
                <a:ea typeface="Pretendard"/>
                <a:cs typeface="Pretendard"/>
              </a:rPr>
              <a:t>기존 사례 + 신규 사례</a:t>
            </a:r>
          </a:p>
        </p:txBody>
      </p:sp>
      <p:sp>
        <p:nvSpPr>
          <p:cNvPr id="18" name="TextBox 17"/>
          <p:cNvSpPr txBox="1"/>
          <p:nvPr/>
        </p:nvSpPr>
        <p:spPr>
          <a:xfrm>
            <a:off x="4965192" y="2267712"/>
            <a:ext cx="1490472" cy="256794"/>
          </a:xfrm>
          <a:prstGeom prst="rect">
            <a:avLst/>
          </a:prstGeom>
          <a:noFill/>
          <a:effectLst/>
        </p:spPr>
        <p:txBody>
          <a:bodyPr wrap="none" anchor="t" lIns="0" rIns="0" tIns="0" bIns="0">
            <a:noAutofit/>
          </a:bodyPr>
          <a:lstStyle/>
          <a:p>
            <a:pPr algn="r">
              <a:lnSpc>
                <a:spcPct val="118000"/>
              </a:lnSpc>
              <a:spcBef>
                <a:spcPts val="0"/>
              </a:spcBef>
              <a:spcAft>
                <a:spcPts val="0"/>
              </a:spcAft>
            </a:pPr>
            <a:r>
              <a:rPr sz="1500" b="1" lang="ko-KR">
                <a:solidFill>
                  <a:srgbClr val="00306C"/>
                </a:solidFill>
                <a:latin typeface="Pretendard"/>
                <a:ea typeface="Pretendard"/>
                <a:cs typeface="Pretendard"/>
              </a:rPr>
              <a:t>1,100행</a:t>
            </a:r>
          </a:p>
        </p:txBody>
      </p:sp>
      <p:sp>
        <p:nvSpPr>
          <p:cNvPr id="19" name="TextBox 18"/>
          <p:cNvSpPr txBox="1"/>
          <p:nvPr/>
        </p:nvSpPr>
        <p:spPr>
          <a:xfrm>
            <a:off x="704088" y="3136392"/>
            <a:ext cx="1280160"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버퍼</a:t>
            </a:r>
          </a:p>
        </p:txBody>
      </p:sp>
      <p:sp>
        <p:nvSpPr>
          <p:cNvPr id="20" name="Rectangle 19"/>
          <p:cNvSpPr/>
          <p:nvPr/>
        </p:nvSpPr>
        <p:spPr>
          <a:xfrm>
            <a:off x="1920240" y="3063240"/>
            <a:ext cx="4773168" cy="960120"/>
          </a:xfrm>
          <a:prstGeom prst="rect">
            <a:avLst/>
          </a:prstGeom>
          <a:solidFill>
            <a:srgbClr val="FFFFFF"/>
          </a:solidFill>
          <a:ln w="10160">
            <a:solidFill>
              <a:srgbClr val="9AAEC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2039112"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438704"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2838297"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3237890"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3637483"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4037076"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4436668"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836261"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5235854" y="3264408"/>
            <a:ext cx="356616" cy="320040"/>
          </a:xfrm>
          <a:prstGeom prst="rect">
            <a:avLst/>
          </a:prstGeom>
          <a:solidFill>
            <a:srgbClr val="6D8EA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5635447" y="3264408"/>
            <a:ext cx="356616" cy="320040"/>
          </a:xfrm>
          <a:prstGeom prst="rect">
            <a:avLst/>
          </a:prstGeom>
          <a:solidFill>
            <a:srgbClr val="B8782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2048256" y="3712464"/>
            <a:ext cx="2734056" cy="256794"/>
          </a:xfrm>
          <a:prstGeom prst="rect">
            <a:avLst/>
          </a:prstGeom>
          <a:noFill/>
          <a:effectLst/>
        </p:spPr>
        <p:txBody>
          <a:bodyPr wrap="none" anchor="t" lIns="0" rIns="0" tIns="0" bIns="0">
            <a:noAutofit/>
          </a:bodyPr>
          <a:lstStyle/>
          <a:p>
            <a:pPr algn="l">
              <a:lnSpc>
                <a:spcPct val="118000"/>
              </a:lnSpc>
              <a:spcBef>
                <a:spcPts val="0"/>
              </a:spcBef>
              <a:spcAft>
                <a:spcPts val="0"/>
              </a:spcAft>
            </a:pPr>
            <a:r>
              <a:rPr sz="1500" b="0" lang="ko-KR">
                <a:solidFill>
                  <a:srgbClr val="617080"/>
                </a:solidFill>
                <a:latin typeface="Pretendard"/>
                <a:ea typeface="Pretendard"/>
                <a:cs typeface="Pretendard"/>
              </a:rPr>
              <a:t>기존 사례 + 신규 사례</a:t>
            </a:r>
          </a:p>
        </p:txBody>
      </p:sp>
      <p:sp>
        <p:nvSpPr>
          <p:cNvPr id="32" name="TextBox 31"/>
          <p:cNvSpPr txBox="1"/>
          <p:nvPr/>
        </p:nvSpPr>
        <p:spPr>
          <a:xfrm>
            <a:off x="4965192" y="3712464"/>
            <a:ext cx="1490472" cy="256794"/>
          </a:xfrm>
          <a:prstGeom prst="rect">
            <a:avLst/>
          </a:prstGeom>
          <a:noFill/>
          <a:effectLst/>
        </p:spPr>
        <p:txBody>
          <a:bodyPr wrap="none" anchor="t" lIns="0" rIns="0" tIns="0" bIns="0">
            <a:noAutofit/>
          </a:bodyPr>
          <a:lstStyle/>
          <a:p>
            <a:pPr algn="r">
              <a:lnSpc>
                <a:spcPct val="118000"/>
              </a:lnSpc>
              <a:spcBef>
                <a:spcPts val="0"/>
              </a:spcBef>
              <a:spcAft>
                <a:spcPts val="0"/>
              </a:spcAft>
            </a:pPr>
            <a:r>
              <a:rPr sz="1500" b="1" lang="ko-KR">
                <a:solidFill>
                  <a:srgbClr val="00306C"/>
                </a:solidFill>
                <a:latin typeface="Pretendard"/>
                <a:ea typeface="Pretendard"/>
                <a:cs typeface="Pretendard"/>
              </a:rPr>
              <a:t>1,000행</a:t>
            </a:r>
          </a:p>
        </p:txBody>
      </p:sp>
      <p:sp>
        <p:nvSpPr>
          <p:cNvPr id="33" name="TextBox 32"/>
          <p:cNvSpPr txBox="1"/>
          <p:nvPr/>
        </p:nvSpPr>
        <p:spPr>
          <a:xfrm>
            <a:off x="731520" y="4425696"/>
            <a:ext cx="5925312" cy="601472"/>
          </a:xfrm>
          <a:prstGeom prst="rect">
            <a:avLst/>
          </a:prstGeom>
          <a:noFill/>
          <a:effectLst/>
        </p:spPr>
        <p:txBody>
          <a:bodyPr wrap="none" anchor="t" lIns="0" rIns="0" tIns="0" bIns="0">
            <a:noAutofit/>
          </a:bodyPr>
          <a:lstStyle/>
          <a:p>
            <a:pPr algn="l">
              <a:lnSpc>
                <a:spcPct val="118000"/>
              </a:lnSpc>
              <a:spcBef>
                <a:spcPts val="0"/>
              </a:spcBef>
              <a:spcAft>
                <a:spcPts val="0"/>
              </a:spcAft>
            </a:pPr>
            <a:r>
              <a:rPr sz="1900" b="0" lang="ko-KR">
                <a:solidFill>
                  <a:srgbClr val="20262E"/>
                </a:solidFill>
                <a:latin typeface="Pretendard"/>
                <a:ea typeface="Pretendard"/>
                <a:cs typeface="Pretendard"/>
              </a:rPr>
              <a:t>버퍼  기존 100행 삭제 → 신규 100행 전량 편입</a:t>
            </a:r>
          </a:p>
          <a:p>
            <a:pPr algn="l">
              <a:lnSpc>
                <a:spcPct val="118000"/>
              </a:lnSpc>
              <a:spcBef>
                <a:spcPts val="0"/>
              </a:spcBef>
              <a:spcAft>
                <a:spcPts val="0"/>
              </a:spcAft>
            </a:pPr>
            <a:r>
              <a:rPr sz="1900" b="0" lang="ko-KR">
                <a:solidFill>
                  <a:srgbClr val="20262E"/>
                </a:solidFill>
                <a:latin typeface="Pretendard"/>
                <a:ea typeface="Pretendard"/>
                <a:cs typeface="Pretendard"/>
              </a:rPr>
              <a:t>삭제 규칙  FIFO / 무작위 / 유사도</a:t>
            </a:r>
          </a:p>
        </p:txBody>
      </p:sp>
      <p:sp>
        <p:nvSpPr>
          <p:cNvPr id="34" name="TextBox 33"/>
          <p:cNvSpPr txBox="1"/>
          <p:nvPr/>
        </p:nvSpPr>
        <p:spPr>
          <a:xfrm>
            <a:off x="749808" y="5294376"/>
            <a:ext cx="5870448" cy="256794"/>
          </a:xfrm>
          <a:prstGeom prst="rect">
            <a:avLst/>
          </a:prstGeom>
          <a:noFill/>
          <a:effectLst/>
        </p:spPr>
        <p:txBody>
          <a:bodyPr wrap="none" anchor="t" lIns="0" rIns="0" tIns="0" bIns="0">
            <a:noAutofit/>
          </a:bodyPr>
          <a:lstStyle/>
          <a:p>
            <a:pPr algn="l">
              <a:lnSpc>
                <a:spcPct val="118000"/>
              </a:lnSpc>
              <a:spcBef>
                <a:spcPts val="0"/>
              </a:spcBef>
              <a:spcAft>
                <a:spcPts val="0"/>
              </a:spcAft>
            </a:pPr>
            <a:r>
              <a:rPr sz="1500" b="0" lang="ko-KR">
                <a:solidFill>
                  <a:srgbClr val="617080"/>
                </a:solidFill>
                <a:latin typeface="Pretendard"/>
                <a:ea typeface="Pretendard"/>
                <a:cs typeface="Pretendard"/>
              </a:rPr>
              <a:t>색 비율은 개념도 · 실제 클래스 구성은 정책별로 변화</a:t>
            </a:r>
          </a:p>
        </p:txBody>
      </p:sp>
      <p:sp>
        <p:nvSpPr>
          <p:cNvPr id="35" name="Right Arrow 34"/>
          <p:cNvSpPr/>
          <p:nvPr/>
        </p:nvSpPr>
        <p:spPr>
          <a:xfrm>
            <a:off x="6830568" y="2514600"/>
            <a:ext cx="438912" cy="38404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424927" y="1627632"/>
            <a:ext cx="4069080" cy="346710"/>
          </a:xfrm>
          <a:prstGeom prst="rect">
            <a:avLst/>
          </a:prstGeom>
          <a:noFill/>
          <a:effectLst/>
        </p:spPr>
        <p:txBody>
          <a:bodyPr wrap="none" anchor="t" lIns="0" rIns="0" tIns="0" bIns="0">
            <a:noAutofit/>
          </a:bodyPr>
          <a:lstStyle/>
          <a:p>
            <a:pPr algn="l">
              <a:lnSpc>
                <a:spcPct val="118000"/>
              </a:lnSpc>
              <a:spcBef>
                <a:spcPts val="0"/>
              </a:spcBef>
              <a:spcAft>
                <a:spcPts val="0"/>
              </a:spcAft>
            </a:pPr>
            <a:r>
              <a:rPr sz="2100" b="1" lang="ko-KR">
                <a:solidFill>
                  <a:srgbClr val="00306C"/>
                </a:solidFill>
                <a:latin typeface="Pretendard"/>
                <a:ea typeface="Pretendard"/>
                <a:cs typeface="Pretendard"/>
              </a:rPr>
              <a:t>같은 선택 행을 두 모델에 제공</a:t>
            </a:r>
          </a:p>
        </p:txBody>
      </p:sp>
      <p:sp>
        <p:nvSpPr>
          <p:cNvPr id="37" name="Rectangle 36"/>
          <p:cNvSpPr/>
          <p:nvPr/>
        </p:nvSpPr>
        <p:spPr>
          <a:xfrm>
            <a:off x="7424927" y="2194560"/>
            <a:ext cx="4050791" cy="10789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616952" y="2331720"/>
            <a:ext cx="3657600"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XGB  선택 행으로 재학습</a:t>
            </a:r>
          </a:p>
          <a:p>
            <a:pPr algn="l">
              <a:lnSpc>
                <a:spcPct val="118000"/>
              </a:lnSpc>
              <a:spcBef>
                <a:spcPts val="0"/>
              </a:spcBef>
              <a:spcAft>
                <a:spcPts val="0"/>
              </a:spcAft>
            </a:pPr>
            <a:r>
              <a:rPr sz="2000" b="0" lang="ko-KR">
                <a:solidFill>
                  <a:srgbClr val="20262E"/>
                </a:solidFill>
                <a:latin typeface="Pretendard"/>
                <a:ea typeface="Pretendard"/>
                <a:cs typeface="Pretendard"/>
              </a:rPr>
              <a:t>TabPFN  context·캐시 갱신</a:t>
            </a:r>
          </a:p>
        </p:txBody>
      </p:sp>
      <p:sp>
        <p:nvSpPr>
          <p:cNvPr id="39" name="Down Arrow 38"/>
          <p:cNvSpPr/>
          <p:nvPr/>
        </p:nvSpPr>
        <p:spPr>
          <a:xfrm>
            <a:off x="9253728" y="3401568"/>
            <a:ext cx="320040" cy="329184"/>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7424927" y="3867912"/>
            <a:ext cx="4050791" cy="102412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616952" y="4050791"/>
            <a:ext cx="3657600"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같은 고정 test로 평가</a:t>
            </a:r>
          </a:p>
          <a:p>
            <a:pPr algn="l">
              <a:lnSpc>
                <a:spcPct val="118000"/>
              </a:lnSpc>
              <a:spcBef>
                <a:spcPts val="0"/>
              </a:spcBef>
              <a:spcAft>
                <a:spcPts val="0"/>
              </a:spcAft>
            </a:pPr>
            <a:r>
              <a:rPr sz="2000" b="0" lang="ko-KR">
                <a:solidFill>
                  <a:srgbClr val="20262E"/>
                </a:solidFill>
                <a:latin typeface="Pretendard"/>
                <a:ea typeface="Pretendard"/>
                <a:cs typeface="Pretendard"/>
              </a:rPr>
              <a:t>TabPFN 가중치 FT 없음</a:t>
            </a:r>
          </a:p>
        </p:txBody>
      </p:sp>
      <p:sp>
        <p:nvSpPr>
          <p:cNvPr id="42" name="TextBox 41"/>
          <p:cNvSpPr txBox="1"/>
          <p:nvPr/>
        </p:nvSpPr>
        <p:spPr>
          <a:xfrm>
            <a:off x="749808" y="5833872"/>
            <a:ext cx="10607040" cy="376682"/>
          </a:xfrm>
          <a:prstGeom prst="rect">
            <a:avLst/>
          </a:prstGeom>
          <a:noFill/>
          <a:effectLst/>
        </p:spPr>
        <p:txBody>
          <a:bodyPr wrap="none" anchor="t" lIns="0" rIns="0" tIns="0" bIns="0">
            <a:noAutofit/>
          </a:bodyPr>
          <a:lstStyle/>
          <a:p>
            <a:pPr algn="l">
              <a:lnSpc>
                <a:spcPct val="118000"/>
              </a:lnSpc>
              <a:spcBef>
                <a:spcPts val="0"/>
              </a:spcBef>
              <a:spcAft>
                <a:spcPts val="0"/>
              </a:spcAft>
            </a:pPr>
            <a:r>
              <a:rPr sz="2300" b="1" lang="ko-KR">
                <a:solidFill>
                  <a:srgbClr val="227B71"/>
                </a:solidFill>
                <a:latin typeface="Pretendard"/>
                <a:ea typeface="Pretendard"/>
                <a:cs typeface="Pretendard"/>
              </a:rPr>
              <a:t>확보한 라벨 수 Lₜ와 실제 보관량 Mₜ를 따로 기록</a:t>
            </a:r>
          </a:p>
        </p:txBody>
      </p:sp>
      <p:sp>
        <p:nvSpPr>
          <p:cNvPr id="43" name="Rectangle 42"/>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XGB에도 동일 버퍼 제공 · 사례 구성의 효과와 모델 효과를 분리</a:t>
            </a:r>
          </a:p>
        </p:txBody>
      </p:sp>
      <p:sp>
        <p:nvSpPr>
          <p:cNvPr id="45" name="TextBox 44"/>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평가 시나리오</a:t>
            </a:r>
          </a:p>
        </p:txBody>
      </p:sp>
      <p:sp>
        <p:nvSpPr>
          <p:cNvPr id="46" name="TextBox 45"/>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IDS 평가 시나리오 · 데이터 구성과 갱신 절차</dc:title>
  <dc:subject>기존 평가 시나리오의 데이터 출처, 단계별 라벨 공개, 누적·버퍼 비교</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