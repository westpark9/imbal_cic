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6" r:id="rId3"/>
    <p:sldId id="261" r:id="rId4"/>
    <p:sldId id="262" r:id="rId5"/>
    <p:sldId id="263" r:id="rId6"/>
    <p:sldId id="264" r:id="rId7"/>
    <p:sldId id="257" r:id="rId8"/>
    <p:sldId id="259" r:id="rId9"/>
    <p:sldId id="258" r:id="rId10"/>
    <p:sldId id="260"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225" autoAdjust="0"/>
  </p:normalViewPr>
  <p:slideViewPr>
    <p:cSldViewPr snapToGrid="0" snapToObjects="1">
      <p:cViewPr varScale="1">
        <p:scale>
          <a:sx n="81" d="100"/>
          <a:sy n="81" d="100"/>
        </p:scale>
        <p:origin x="80" y="9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9314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발표</a:t>
            </a:r>
            <a:r>
              <a:rPr dirty="0"/>
              <a:t> </a:t>
            </a:r>
            <a:r>
              <a:rPr dirty="0" err="1"/>
              <a:t>설명</a:t>
            </a:r>
            <a:endParaRPr dirty="0"/>
          </a:p>
          <a:p>
            <a:r>
              <a:rPr dirty="0" err="1"/>
              <a:t>서베이</a:t>
            </a:r>
            <a:r>
              <a:rPr dirty="0"/>
              <a:t> Figure 3의 두 </a:t>
            </a:r>
            <a:r>
              <a:rPr dirty="0" err="1"/>
              <a:t>축만</a:t>
            </a:r>
            <a:r>
              <a:rPr dirty="0"/>
              <a:t> </a:t>
            </a:r>
            <a:r>
              <a:rPr dirty="0" err="1"/>
              <a:t>먼저</a:t>
            </a:r>
            <a:r>
              <a:rPr dirty="0"/>
              <a:t> </a:t>
            </a:r>
            <a:r>
              <a:rPr dirty="0" err="1"/>
              <a:t>읽습니다</a:t>
            </a:r>
            <a:r>
              <a:rPr dirty="0"/>
              <a:t>. </a:t>
            </a:r>
            <a:r>
              <a:rPr dirty="0" err="1"/>
              <a:t>열은</a:t>
            </a:r>
            <a:r>
              <a:rPr dirty="0"/>
              <a:t> </a:t>
            </a:r>
            <a:r>
              <a:rPr dirty="0" err="1"/>
              <a:t>합성</a:t>
            </a:r>
            <a:r>
              <a:rPr dirty="0"/>
              <a:t> </a:t>
            </a:r>
            <a:r>
              <a:rPr dirty="0" err="1"/>
              <a:t>prior와</a:t>
            </a:r>
            <a:r>
              <a:rPr dirty="0"/>
              <a:t> </a:t>
            </a:r>
            <a:r>
              <a:rPr dirty="0" err="1"/>
              <a:t>실제</a:t>
            </a:r>
            <a:r>
              <a:rPr dirty="0"/>
              <a:t> 표, </a:t>
            </a:r>
            <a:r>
              <a:rPr dirty="0" err="1"/>
              <a:t>행은</a:t>
            </a:r>
            <a:r>
              <a:rPr dirty="0"/>
              <a:t> 새 </a:t>
            </a:r>
            <a:r>
              <a:rPr dirty="0" err="1"/>
              <a:t>표에</a:t>
            </a:r>
            <a:r>
              <a:rPr dirty="0"/>
              <a:t> </a:t>
            </a:r>
            <a:r>
              <a:rPr dirty="0" err="1"/>
              <a:t>적용하는</a:t>
            </a:r>
            <a:r>
              <a:rPr dirty="0"/>
              <a:t> </a:t>
            </a:r>
            <a:r>
              <a:rPr dirty="0" err="1"/>
              <a:t>방식입니다</a:t>
            </a:r>
            <a:r>
              <a:rPr dirty="0"/>
              <a:t>. 42개 </a:t>
            </a:r>
            <a:r>
              <a:rPr dirty="0" err="1"/>
              <a:t>모델의</a:t>
            </a:r>
            <a:r>
              <a:rPr dirty="0"/>
              <a:t> </a:t>
            </a:r>
            <a:r>
              <a:rPr dirty="0" err="1"/>
              <a:t>족보를</a:t>
            </a:r>
            <a:r>
              <a:rPr dirty="0"/>
              <a:t> </a:t>
            </a:r>
            <a:r>
              <a:rPr dirty="0" err="1"/>
              <a:t>모두</a:t>
            </a:r>
            <a:r>
              <a:rPr dirty="0"/>
              <a:t> </a:t>
            </a:r>
            <a:r>
              <a:rPr dirty="0" err="1"/>
              <a:t>외우려는</a:t>
            </a:r>
            <a:r>
              <a:rPr dirty="0"/>
              <a:t> </a:t>
            </a:r>
            <a:r>
              <a:rPr dirty="0" err="1"/>
              <a:t>목적은</a:t>
            </a:r>
            <a:r>
              <a:rPr dirty="0"/>
              <a:t> </a:t>
            </a:r>
            <a:r>
              <a:rPr dirty="0" err="1"/>
              <a:t>아닙니다</a:t>
            </a:r>
            <a:r>
              <a:rPr dirty="0"/>
              <a:t>. Tabular foundation </a:t>
            </a:r>
            <a:r>
              <a:rPr dirty="0" err="1"/>
              <a:t>model은</a:t>
            </a:r>
            <a:r>
              <a:rPr dirty="0"/>
              <a:t> 표 </a:t>
            </a:r>
            <a:r>
              <a:rPr dirty="0" err="1"/>
              <a:t>데이터의</a:t>
            </a:r>
            <a:r>
              <a:rPr dirty="0"/>
              <a:t> </a:t>
            </a:r>
            <a:r>
              <a:rPr dirty="0" err="1"/>
              <a:t>예측</a:t>
            </a:r>
            <a:r>
              <a:rPr dirty="0"/>
              <a:t> </a:t>
            </a:r>
            <a:r>
              <a:rPr dirty="0" err="1"/>
              <a:t>규칙을</a:t>
            </a:r>
            <a:r>
              <a:rPr dirty="0"/>
              <a:t> </a:t>
            </a:r>
            <a:r>
              <a:rPr dirty="0" err="1"/>
              <a:t>사전학습한</a:t>
            </a:r>
            <a:r>
              <a:rPr dirty="0"/>
              <a:t> </a:t>
            </a:r>
            <a:r>
              <a:rPr dirty="0" err="1"/>
              <a:t>모델입니다</a:t>
            </a:r>
            <a:r>
              <a:rPr dirty="0"/>
              <a:t>. </a:t>
            </a:r>
            <a:r>
              <a:rPr dirty="0" err="1"/>
              <a:t>TabPFN은</a:t>
            </a:r>
            <a:r>
              <a:rPr dirty="0"/>
              <a:t> prior-data fitted network </a:t>
            </a:r>
            <a:r>
              <a:rPr dirty="0" err="1"/>
              <a:t>계열의</a:t>
            </a:r>
            <a:r>
              <a:rPr dirty="0"/>
              <a:t> </a:t>
            </a:r>
            <a:r>
              <a:rPr dirty="0" err="1"/>
              <a:t>Transformer이며</a:t>
            </a:r>
            <a:r>
              <a:rPr dirty="0"/>
              <a:t>, </a:t>
            </a:r>
            <a:r>
              <a:rPr dirty="0" err="1"/>
              <a:t>라벨이</a:t>
            </a:r>
            <a:r>
              <a:rPr dirty="0"/>
              <a:t> </a:t>
            </a:r>
            <a:r>
              <a:rPr dirty="0" err="1"/>
              <a:t>있는</a:t>
            </a:r>
            <a:r>
              <a:rPr dirty="0"/>
              <a:t> </a:t>
            </a:r>
            <a:r>
              <a:rPr dirty="0" err="1"/>
              <a:t>context와</a:t>
            </a:r>
            <a:r>
              <a:rPr dirty="0"/>
              <a:t> </a:t>
            </a:r>
            <a:r>
              <a:rPr dirty="0" err="1"/>
              <a:t>예측할</a:t>
            </a:r>
            <a:r>
              <a:rPr dirty="0"/>
              <a:t> </a:t>
            </a:r>
            <a:r>
              <a:rPr dirty="0" err="1"/>
              <a:t>query를</a:t>
            </a:r>
            <a:r>
              <a:rPr dirty="0"/>
              <a:t> </a:t>
            </a:r>
            <a:r>
              <a:rPr dirty="0" err="1"/>
              <a:t>함께</a:t>
            </a:r>
            <a:r>
              <a:rPr dirty="0"/>
              <a:t> </a:t>
            </a:r>
            <a:r>
              <a:rPr dirty="0" err="1"/>
              <a:t>읽습니다</a:t>
            </a:r>
            <a:r>
              <a:rPr dirty="0"/>
              <a:t>. </a:t>
            </a:r>
            <a:r>
              <a:rPr dirty="0" err="1"/>
              <a:t>여기서</a:t>
            </a:r>
            <a:r>
              <a:rPr dirty="0"/>
              <a:t> </a:t>
            </a:r>
            <a:r>
              <a:rPr dirty="0" err="1"/>
              <a:t>context는</a:t>
            </a:r>
            <a:r>
              <a:rPr dirty="0"/>
              <a:t> </a:t>
            </a:r>
            <a:r>
              <a:rPr dirty="0" err="1"/>
              <a:t>사전학습</a:t>
            </a:r>
            <a:r>
              <a:rPr dirty="0"/>
              <a:t> </a:t>
            </a:r>
            <a:r>
              <a:rPr dirty="0" err="1"/>
              <a:t>가중치</a:t>
            </a:r>
            <a:r>
              <a:rPr dirty="0"/>
              <a:t> </a:t>
            </a:r>
            <a:r>
              <a:rPr dirty="0" err="1"/>
              <a:t>안에</a:t>
            </a:r>
            <a:r>
              <a:rPr dirty="0"/>
              <a:t> </a:t>
            </a:r>
            <a:r>
              <a:rPr dirty="0" err="1"/>
              <a:t>들어</a:t>
            </a:r>
            <a:r>
              <a:rPr dirty="0"/>
              <a:t> </a:t>
            </a:r>
            <a:r>
              <a:rPr dirty="0" err="1"/>
              <a:t>있는</a:t>
            </a:r>
            <a:r>
              <a:rPr dirty="0"/>
              <a:t> </a:t>
            </a:r>
            <a:r>
              <a:rPr dirty="0" err="1"/>
              <a:t>데이터가</a:t>
            </a:r>
            <a:r>
              <a:rPr dirty="0"/>
              <a:t> </a:t>
            </a:r>
            <a:r>
              <a:rPr dirty="0" err="1"/>
              <a:t>아니라</a:t>
            </a:r>
            <a:r>
              <a:rPr dirty="0"/>
              <a:t> </a:t>
            </a:r>
            <a:r>
              <a:rPr dirty="0" err="1"/>
              <a:t>현재</a:t>
            </a:r>
            <a:r>
              <a:rPr dirty="0"/>
              <a:t> </a:t>
            </a:r>
            <a:r>
              <a:rPr dirty="0" err="1"/>
              <a:t>예측에</a:t>
            </a:r>
            <a:r>
              <a:rPr dirty="0"/>
              <a:t> </a:t>
            </a:r>
            <a:r>
              <a:rPr dirty="0" err="1"/>
              <a:t>주는</a:t>
            </a:r>
            <a:r>
              <a:rPr dirty="0"/>
              <a:t> </a:t>
            </a:r>
            <a:r>
              <a:rPr dirty="0" err="1"/>
              <a:t>입력입니다</a:t>
            </a:r>
            <a:r>
              <a:rPr dirty="0"/>
              <a:t>. </a:t>
            </a:r>
            <a:r>
              <a:rPr dirty="0" err="1"/>
              <a:t>가중치</a:t>
            </a:r>
            <a:r>
              <a:rPr dirty="0"/>
              <a:t> fine-</a:t>
            </a:r>
            <a:r>
              <a:rPr dirty="0" err="1"/>
              <a:t>tuning은</a:t>
            </a:r>
            <a:r>
              <a:rPr dirty="0"/>
              <a:t> </a:t>
            </a:r>
            <a:r>
              <a:rPr dirty="0" err="1"/>
              <a:t>별도</a:t>
            </a:r>
            <a:r>
              <a:rPr dirty="0"/>
              <a:t> </a:t>
            </a:r>
            <a:r>
              <a:rPr dirty="0" err="1"/>
              <a:t>최적화입니다</a:t>
            </a:r>
            <a:r>
              <a:rPr dirty="0"/>
              <a:t>. TabPFN-3.5는 </a:t>
            </a:r>
            <a:r>
              <a:rPr dirty="0" err="1"/>
              <a:t>수치</a:t>
            </a:r>
            <a:r>
              <a:rPr dirty="0"/>
              <a:t> </a:t>
            </a:r>
            <a:r>
              <a:rPr dirty="0" err="1"/>
              <a:t>인코딩과</a:t>
            </a:r>
            <a:r>
              <a:rPr dirty="0"/>
              <a:t> </a:t>
            </a:r>
            <a:r>
              <a:rPr dirty="0" err="1"/>
              <a:t>용량</a:t>
            </a:r>
            <a:r>
              <a:rPr dirty="0"/>
              <a:t> </a:t>
            </a:r>
            <a:r>
              <a:rPr dirty="0" err="1"/>
              <a:t>등을</a:t>
            </a:r>
            <a:r>
              <a:rPr dirty="0"/>
              <a:t> </a:t>
            </a:r>
            <a:r>
              <a:rPr dirty="0" err="1"/>
              <a:t>개선했지만</a:t>
            </a:r>
            <a:r>
              <a:rPr dirty="0"/>
              <a:t>, </a:t>
            </a:r>
            <a:r>
              <a:rPr dirty="0" err="1"/>
              <a:t>현재</a:t>
            </a:r>
            <a:r>
              <a:rPr dirty="0"/>
              <a:t> </a:t>
            </a:r>
            <a:r>
              <a:rPr dirty="0" err="1"/>
              <a:t>우리</a:t>
            </a:r>
            <a:r>
              <a:rPr dirty="0"/>
              <a:t> </a:t>
            </a:r>
            <a:r>
              <a:rPr dirty="0" err="1"/>
              <a:t>결과는</a:t>
            </a:r>
            <a:r>
              <a:rPr dirty="0"/>
              <a:t> v3로 </a:t>
            </a:r>
            <a:r>
              <a:rPr dirty="0" err="1"/>
              <a:t>측정했습니다</a:t>
            </a:r>
            <a:r>
              <a:rPr dirty="0"/>
              <a:t>. </a:t>
            </a:r>
            <a:r>
              <a:rPr dirty="0" err="1"/>
              <a:t>이후</a:t>
            </a:r>
            <a:r>
              <a:rPr dirty="0"/>
              <a:t> </a:t>
            </a:r>
            <a:r>
              <a:rPr dirty="0" err="1"/>
              <a:t>논문들은</a:t>
            </a:r>
            <a:r>
              <a:rPr dirty="0"/>
              <a:t> </a:t>
            </a:r>
            <a:r>
              <a:rPr dirty="0" err="1"/>
              <a:t>context를</a:t>
            </a:r>
            <a:r>
              <a:rPr dirty="0"/>
              <a:t> </a:t>
            </a:r>
            <a:r>
              <a:rPr dirty="0" err="1"/>
              <a:t>선택하거나</a:t>
            </a:r>
            <a:r>
              <a:rPr dirty="0"/>
              <a:t>, </a:t>
            </a:r>
            <a:r>
              <a:rPr dirty="0" err="1"/>
              <a:t>여러</a:t>
            </a:r>
            <a:r>
              <a:rPr dirty="0"/>
              <a:t> </a:t>
            </a:r>
            <a:r>
              <a:rPr dirty="0" err="1"/>
              <a:t>예측을</a:t>
            </a:r>
            <a:r>
              <a:rPr dirty="0"/>
              <a:t> </a:t>
            </a:r>
            <a:r>
              <a:rPr dirty="0" err="1"/>
              <a:t>합치거나</a:t>
            </a:r>
            <a:r>
              <a:rPr dirty="0"/>
              <a:t>, </a:t>
            </a:r>
            <a:r>
              <a:rPr dirty="0" err="1"/>
              <a:t>출력</a:t>
            </a:r>
            <a:r>
              <a:rPr dirty="0"/>
              <a:t> </a:t>
            </a:r>
            <a:r>
              <a:rPr dirty="0" err="1"/>
              <a:t>확률을</a:t>
            </a:r>
            <a:r>
              <a:rPr dirty="0"/>
              <a:t> </a:t>
            </a:r>
            <a:r>
              <a:rPr dirty="0" err="1"/>
              <a:t>보정하는</a:t>
            </a:r>
            <a:r>
              <a:rPr dirty="0"/>
              <a:t> </a:t>
            </a:r>
            <a:r>
              <a:rPr dirty="0" err="1"/>
              <a:t>서로</a:t>
            </a:r>
            <a:r>
              <a:rPr dirty="0"/>
              <a:t> </a:t>
            </a:r>
            <a:r>
              <a:rPr dirty="0" err="1"/>
              <a:t>다른</a:t>
            </a:r>
            <a:r>
              <a:rPr dirty="0"/>
              <a:t> </a:t>
            </a:r>
            <a:r>
              <a:rPr dirty="0" err="1"/>
              <a:t>지점을</a:t>
            </a:r>
            <a:r>
              <a:rPr dirty="0"/>
              <a:t> </a:t>
            </a:r>
            <a:r>
              <a:rPr dirty="0" err="1"/>
              <a:t>바꿉니다</a:t>
            </a:r>
            <a:r>
              <a:rPr dirty="0"/>
              <a:t>.</a:t>
            </a:r>
          </a:p>
          <a:p>
            <a:endParaRPr dirty="0"/>
          </a:p>
          <a:p>
            <a:r>
              <a:rPr dirty="0" err="1"/>
              <a:t>원문</a:t>
            </a:r>
            <a:r>
              <a:rPr dirty="0"/>
              <a:t> </a:t>
            </a:r>
            <a:r>
              <a:rPr dirty="0" err="1"/>
              <a:t>근거</a:t>
            </a:r>
            <a:endParaRPr dirty="0"/>
          </a:p>
          <a:p>
            <a:r>
              <a:rPr dirty="0"/>
              <a:t>Tabular Foundation Models: A Systematic Survey</a:t>
            </a:r>
          </a:p>
          <a:p>
            <a:r>
              <a:rPr dirty="0"/>
              <a:t>SSRN preprint, 2026</a:t>
            </a:r>
          </a:p>
          <a:p>
            <a:r>
              <a:rPr dirty="0"/>
              <a:t>§3.1, Figure 3, PDF pp.5–6</a:t>
            </a:r>
          </a:p>
          <a:p>
            <a:r>
              <a:rPr dirty="0"/>
              <a:t>https://papers.ssrn.com/sol3/papers.cfm?abstract_id=7531718</a:t>
            </a:r>
          </a:p>
          <a:p>
            <a:endParaRPr dirty="0"/>
          </a:p>
          <a:p>
            <a:r>
              <a:rPr dirty="0"/>
              <a:t>TabPFN-3.5: Technical Report</a:t>
            </a:r>
          </a:p>
          <a:p>
            <a:r>
              <a:rPr dirty="0" err="1"/>
              <a:t>arXiv</a:t>
            </a:r>
            <a:r>
              <a:rPr dirty="0"/>
              <a:t>, 2026</a:t>
            </a:r>
          </a:p>
          <a:p>
            <a:r>
              <a:rPr dirty="0"/>
              <a:t>§3.1–3.4, PDF pp.9–11</a:t>
            </a:r>
          </a:p>
          <a:p>
            <a:r>
              <a:rPr dirty="0"/>
              <a:t>https://arxiv.org/abs/2609.17895</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설명</a:t>
            </a:r>
          </a:p>
          <a:p>
            <a:r>
              <a:t>LotBoNC에서 참고할 첫 부분은 데이터 구성입니다. 원시 PCAP의 TCP/UDP flow를 모으고 burst와 byte bigram token으로 변환했습니다. 사전학습에는 별도 트래픽 출처를 사용했고, 여기에는 평가 구성에 사용한 IoT-23·ISCX-Bot-2014·CTU-13만 표시했습니다. 각 평가 데이터 안에서 알려진 공격의 균형 라벨 집합 L과, 알려진 공격과 새 공격이 섞인 불균형 비라벨 집합 U를 만들었습니다. 두 개의 서로 다른 벤치마크를 합쳐 B를 만드는 설명이 아닙니다. γ는 비라벨 U 안의 known 표본 총량을 novel 표본 총량으로 나눈 값이며, 우리 신규 공격당 n개 라벨 수와 다른 변수입니다. 그림의 블록은 실제 배분 수가 아닌 구성 예시입니다. 우리의 시나리오에도 같은 출처의 어느 행을 언제 라벨 사례로 공개하는지 설명하는 방식을 적용할 수 있습니다. LotBoNC는 새 공격 정답을 주지 않고 군집을 발견하는 과제이고, 우리는 공격별 정답 사례를 제공한 뒤 분류하므로 채점 목표는 다릅니다.</a:t>
            </a:r>
          </a:p>
          <a:p>
            <a:endParaRPr/>
          </a:p>
          <a:p>
            <a:r>
              <a:t>원문 근거</a:t>
            </a:r>
          </a:p>
          <a:p>
            <a:r>
              <a:t>LotBoNC: Novel Botnet Traffic Classification under Long-tailed Distributions</a:t>
            </a:r>
          </a:p>
          <a:p>
            <a:r>
              <a:t>ACM ASIA CCS, 2026</a:t>
            </a:r>
          </a:p>
          <a:p>
            <a:r>
              <a:t>§4 pp.3–6; §5 pp.6–8; Appendix A.1 p.15</a:t>
            </a:r>
          </a:p>
          <a:p>
            <a:r>
              <a:t>https://doi.org/10.1145/3779208.3785276</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설명</a:t>
            </a:r>
          </a:p>
          <a:p>
            <a:r>
              <a:t>그림의 윗부분이 E-step입니다. 각 사례를 단순 argmax로 분류하면 다수 클래스에 몰릴 수 있어, batch 전체의 배정 A를 함께 구합니다. 현재 예측 확률 P에 대한 비용 C=-log P를 작게 하면서, 행 합은 사례별 질량 w, 열 합은 추정 prior r가 되게 하는 최적 수송 문제입니다. 예를 들어 prior가 0.6, 0.3, 0.1이면 10개 사례를 6, 3, 1개에 해당하는 질량으로 배정하되 soft assignment가 가능합니다. Sinkhorn은 행과 열 합을 번갈아 맞춥니다. M-step에서는 클래스 대표 벡터인 prototype과 클래스 비율을 이동평균으로 갱신합니다. Masked-token과 대조 사전학습으로 준비한 encoder를 전체 loss로 실제 업데이트하므로 고정 PFN context 갱신과 다릅니다. Known 분류와 novel 군집 정합도를 평가하며, 군집 번호는 Hungarian matching으로 대응합니다. 원문 OT kernel 부호·행렬 차원과 prototype prior 항 표기에 불일치가 있어 세부 식을 그대로 재현하지 않았고, 보고서 부록에 확인 위치를 남겼습니다. 발표에서는 논문의 일관된 작동 의도를 설명하되 원문 구현이 검증됐다고 말하지 않습니다.</a:t>
            </a:r>
          </a:p>
          <a:p>
            <a:endParaRPr/>
          </a:p>
          <a:p>
            <a:r>
              <a:t>원문 근거</a:t>
            </a:r>
          </a:p>
          <a:p>
            <a:r>
              <a:t>LotBoNC: Novel Botnet Traffic Classification under Long-tailed Distributions</a:t>
            </a:r>
          </a:p>
          <a:p>
            <a:r>
              <a:t>ACM ASIA CCS, 2026</a:t>
            </a:r>
          </a:p>
          <a:p>
            <a:r>
              <a:t>§4 pp.3–6; §5 pp.6–8; Appendix A.1 p.15</a:t>
            </a:r>
          </a:p>
          <a:p>
            <a:r>
              <a:t>https://doi.org/10.1145/3779208.3785276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설명</a:t>
            </a:r>
          </a:p>
          <a:p>
            <a:r>
              <a:t>이 논문은 미리 고정한 최종 test가 아니라 예측 후 학습하는 prequential 평가입니다. 지금 도착한 사례를 현재까지 라벨을 확보한 memory로 예측하고, 정답이 지연 d 뒤에 도착한 다음에만 그 사례를 사용합니다. 기본 memory는 1,000행, warm-up은 100행, query batch는 1개입니다. 실데이터 5개와 합성 drift stream 4개에서 backbone과 memory 정책을 나눠 비교했습니다. 전체 평균에서는 FIFO가 더 복잡한 정책과 비슷했지만, 라벨 지연이 큰 특정 stream에서는 선택 정책의 이득이 있었습니다. 중요한 비용 구분은 memory의 행을 바꾸는 작업과, 그 내용을 모델이 encoding하는 작업입니다. 원문 구현은 예측마다 context를 다시 처리해, refresh 간격만 늘려서는 큰 비용을 줄이지 못했습니다. 저자들의 작은 causal 모델은 이전 표현을 cache에서 재사용하는 가능성을 보였습니다. 그 결과를 현재 TabPFN-v3의 cache가 공짜로 incremental update된다는 근거로 쓰지는 않습니다. 우리의 다음 비용 계측에서도 선택·전처리·cache 준비·query 추론을 나눠야 합니다.</a:t>
            </a:r>
          </a:p>
          <a:p>
            <a:endParaRPr/>
          </a:p>
          <a:p>
            <a:r>
              <a:t>원문 근거</a:t>
            </a:r>
          </a:p>
          <a:p>
            <a:r>
              <a:t>Rethinking Tabular Foundation Models On Data Streams</a:t>
            </a:r>
          </a:p>
          <a:p>
            <a:r>
              <a:t>arXiv, 2026</a:t>
            </a:r>
          </a:p>
          <a:p>
            <a:r>
              <a:t>Tables 2–6, Figures 1 and 7, Appendix A and D</a:t>
            </a:r>
          </a:p>
          <a:p>
            <a:r>
              <a:t>https://arxiv.org/abs/2610.05352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설명</a:t>
            </a:r>
          </a:p>
          <a:p>
            <a:r>
              <a:t>ICD는 in-context data distillation의 약자입니다. 핵심은 무엇을 학습하는지입니다. 일반 증류는 합성 데이터로 모델을 학습한 뒤 그 결과로 합성 데이터를 수정하는 두 겹 최적화가 필요합니다. TabPFN은 context를 읽는 forward 자체가 예측 절차이므로 본체를 학습하는 내부 반복을 생략할 수 있습니다. θ는 고정하고 작은 context의 라벨도 고정한 채 특징 X만 변수로 둡니다. 실제 train의 사례를 query로 넣어 정답 y의 음의 로그확률 loss를 계산하고, gradient로 context X를 업데이트합니다. 수식의 α는 context optimizer 학습률이고 ∂Loss/∂X는 어느 방향으로 context를 움직이면 예측 오류가 줄어드는지를 나타냅니다. Gradient가 모델 연산을 통과한다는 사실과 모델 가중치를 optimizer가 변경한다는 사실은 다릅니다. FIFO나 무작위 선택은 실제 행 ID를 바꾸지만, ICD가 만든 점은 실제 flow 행이 아닌 합성 특징값입니다.</a:t>
            </a:r>
          </a:p>
          <a:p>
            <a:endParaRPr/>
          </a:p>
          <a:p>
            <a:r>
              <a:t>원문 근거</a:t>
            </a:r>
          </a:p>
          <a:p>
            <a:r>
              <a:t>In-Context Data Distillation with TabPFN</a:t>
            </a:r>
          </a:p>
          <a:p>
            <a:r>
              <a:t>ICLR ME-FoMo Workshop, 2024</a:t>
            </a:r>
          </a:p>
          <a:p>
            <a:r>
              <a:t>Figure 2 p.3; §3–4 and Table 1 p.4</a:t>
            </a:r>
          </a:p>
          <a:p>
            <a:r>
              <a:t>https://arxiv.org/abs/2402.06971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설명</a:t>
            </a:r>
          </a:p>
          <a:p>
            <a:r>
              <a:t>두 논문은 context를 바꾼다는 공통점이 있지만 학습 대상은 다릅니다. LoCalPFN은 현재 query 주변의 이웃으로 context를 구성하고, 그 지역적인 입력 방식에 맞춰 본체 가중치도 fine-tuning합니다. 검색만 사용하면 TabPFN-kNN이며 원래 LoCalPFN과 구별해야 합니다. BoostPFN은 전체 라벨 pool의 일부로 약한 PFN 예측기를 만들고, 오분류에 집중하도록 다음 subset의 표본 가중치를 바꿉니다. PFN 본체를 FT하는 대신 여러 context의 예측을 결합합니다. LoCalPFN의 95개 자료 평균 AUC는 0.908, TabPFN 0.867, XGB 0.892였고, BoostPFN의 5,000개 train 조건 평균 AUC는 0.908, XGB 0.849였습니다. 서로 다른 논문과 프로토콜의 수치를 가로로 비교해서는 안 됩니다. 우리에게는 지역 검색의 효과와 오류를 보완하는 expert 구성을 따로 실험할 근거가 됩니다.</a:t>
            </a:r>
          </a:p>
          <a:p>
            <a:endParaRPr/>
          </a:p>
          <a:p>
            <a:r>
              <a:t>원문 근거</a:t>
            </a:r>
          </a:p>
          <a:p>
            <a:r>
              <a:t>Retrieval &amp; Fine-Tuning for In-Context Tabular Models</a:t>
            </a:r>
          </a:p>
          <a:p>
            <a:r>
              <a:t>NeurIPS, 2024</a:t>
            </a:r>
          </a:p>
          <a:p>
            <a:r>
              <a:t>Figure 3 p.5; Table 1 p.7</a:t>
            </a:r>
          </a:p>
          <a:p>
            <a:r>
              <a:t>https://papers.nips.cc/paper_files/paper/2024/file/c40daf14d7a6469e65116507c21faeb7-Paper-Conference.pdf</a:t>
            </a:r>
          </a:p>
          <a:p>
            <a:endParaRPr/>
          </a:p>
          <a:p>
            <a:r>
              <a:t>Prior-Fitted Networks Scale to Larger Datasets When Treated as Weak Learners</a:t>
            </a:r>
          </a:p>
          <a:p>
            <a:r>
              <a:t>AISTATS, 2025</a:t>
            </a:r>
          </a:p>
          <a:p>
            <a:r>
              <a:t>Figure 1 p.2; §4; Table 3 p.6</a:t>
            </a:r>
          </a:p>
          <a:p>
            <a:r>
              <a:t>https://arxiv.org/abs/2503.01256</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발표</a:t>
            </a:r>
            <a:r>
              <a:rPr dirty="0"/>
              <a:t> </a:t>
            </a:r>
            <a:r>
              <a:rPr dirty="0" err="1"/>
              <a:t>설명</a:t>
            </a:r>
            <a:endParaRPr dirty="0"/>
          </a:p>
          <a:p>
            <a:r>
              <a:rPr dirty="0" err="1"/>
              <a:t>소수</a:t>
            </a:r>
            <a:r>
              <a:rPr dirty="0"/>
              <a:t> </a:t>
            </a:r>
            <a:r>
              <a:rPr dirty="0" err="1"/>
              <a:t>공격이</a:t>
            </a:r>
            <a:r>
              <a:rPr dirty="0"/>
              <a:t> </a:t>
            </a:r>
            <a:r>
              <a:rPr dirty="0" err="1"/>
              <a:t>약한</a:t>
            </a:r>
            <a:r>
              <a:rPr dirty="0"/>
              <a:t> </a:t>
            </a:r>
            <a:r>
              <a:rPr dirty="0" err="1"/>
              <a:t>이유를</a:t>
            </a:r>
            <a:r>
              <a:rPr dirty="0"/>
              <a:t> </a:t>
            </a:r>
            <a:r>
              <a:rPr dirty="0" err="1"/>
              <a:t>모두</a:t>
            </a:r>
            <a:r>
              <a:rPr dirty="0"/>
              <a:t> context </a:t>
            </a:r>
            <a:r>
              <a:rPr dirty="0" err="1"/>
              <a:t>개수</a:t>
            </a:r>
            <a:r>
              <a:rPr dirty="0"/>
              <a:t> </a:t>
            </a:r>
            <a:r>
              <a:rPr dirty="0" err="1"/>
              <a:t>부족으로</a:t>
            </a:r>
            <a:r>
              <a:rPr dirty="0"/>
              <a:t> 볼 </a:t>
            </a:r>
            <a:r>
              <a:rPr dirty="0" err="1"/>
              <a:t>수는</a:t>
            </a:r>
            <a:r>
              <a:rPr dirty="0"/>
              <a:t> </a:t>
            </a:r>
            <a:r>
              <a:rPr dirty="0" err="1"/>
              <a:t>없습니다</a:t>
            </a:r>
            <a:r>
              <a:rPr dirty="0"/>
              <a:t>. </a:t>
            </a:r>
            <a:r>
              <a:rPr dirty="0" err="1"/>
              <a:t>DistPFN은</a:t>
            </a:r>
            <a:r>
              <a:rPr dirty="0"/>
              <a:t> </a:t>
            </a:r>
            <a:r>
              <a:rPr dirty="0" err="1"/>
              <a:t>context의</a:t>
            </a:r>
            <a:r>
              <a:rPr dirty="0"/>
              <a:t> </a:t>
            </a:r>
            <a:r>
              <a:rPr dirty="0" err="1"/>
              <a:t>클래스</a:t>
            </a:r>
            <a:r>
              <a:rPr dirty="0"/>
              <a:t> </a:t>
            </a:r>
            <a:r>
              <a:rPr dirty="0" err="1"/>
              <a:t>prior와</a:t>
            </a:r>
            <a:r>
              <a:rPr dirty="0"/>
              <a:t> </a:t>
            </a:r>
            <a:r>
              <a:rPr dirty="0" err="1"/>
              <a:t>예측</a:t>
            </a:r>
            <a:r>
              <a:rPr dirty="0"/>
              <a:t> </a:t>
            </a:r>
            <a:r>
              <a:rPr dirty="0" err="1"/>
              <a:t>분포를</a:t>
            </a:r>
            <a:r>
              <a:rPr dirty="0"/>
              <a:t> </a:t>
            </a:r>
            <a:r>
              <a:rPr dirty="0" err="1"/>
              <a:t>이용해</a:t>
            </a:r>
            <a:r>
              <a:rPr dirty="0"/>
              <a:t> </a:t>
            </a:r>
            <a:r>
              <a:rPr dirty="0" err="1"/>
              <a:t>출력</a:t>
            </a:r>
            <a:r>
              <a:rPr dirty="0"/>
              <a:t> </a:t>
            </a:r>
            <a:r>
              <a:rPr dirty="0" err="1"/>
              <a:t>확률을</a:t>
            </a:r>
            <a:r>
              <a:rPr dirty="0"/>
              <a:t> </a:t>
            </a:r>
            <a:r>
              <a:rPr dirty="0" err="1"/>
              <a:t>보정합니다</a:t>
            </a:r>
            <a:r>
              <a:rPr dirty="0"/>
              <a:t>. </a:t>
            </a:r>
            <a:r>
              <a:rPr dirty="0" err="1"/>
              <a:t>본체</a:t>
            </a:r>
            <a:r>
              <a:rPr dirty="0"/>
              <a:t> </a:t>
            </a:r>
            <a:r>
              <a:rPr dirty="0" err="1"/>
              <a:t>FT가</a:t>
            </a:r>
            <a:r>
              <a:rPr dirty="0"/>
              <a:t> </a:t>
            </a:r>
            <a:r>
              <a:rPr dirty="0" err="1"/>
              <a:t>필요하지</a:t>
            </a:r>
            <a:r>
              <a:rPr dirty="0"/>
              <a:t> </a:t>
            </a:r>
            <a:r>
              <a:rPr dirty="0" err="1"/>
              <a:t>않으며</a:t>
            </a:r>
            <a:r>
              <a:rPr dirty="0"/>
              <a:t>, </a:t>
            </a:r>
            <a:r>
              <a:rPr dirty="0" err="1"/>
              <a:t>원문</a:t>
            </a:r>
            <a:r>
              <a:rPr dirty="0"/>
              <a:t> </a:t>
            </a:r>
            <a:r>
              <a:rPr dirty="0" err="1"/>
              <a:t>기본</a:t>
            </a:r>
            <a:r>
              <a:rPr dirty="0"/>
              <a:t> </a:t>
            </a:r>
            <a:r>
              <a:rPr dirty="0" err="1"/>
              <a:t>실험은</a:t>
            </a:r>
            <a:r>
              <a:rPr dirty="0"/>
              <a:t> </a:t>
            </a:r>
            <a:r>
              <a:rPr dirty="0" err="1"/>
              <a:t>개별</a:t>
            </a:r>
            <a:r>
              <a:rPr dirty="0"/>
              <a:t> </a:t>
            </a:r>
            <a:r>
              <a:rPr dirty="0" err="1"/>
              <a:t>query가</a:t>
            </a:r>
            <a:r>
              <a:rPr dirty="0"/>
              <a:t> </a:t>
            </a:r>
            <a:r>
              <a:rPr dirty="0" err="1"/>
              <a:t>아니라</a:t>
            </a:r>
            <a:r>
              <a:rPr dirty="0"/>
              <a:t> query </a:t>
            </a:r>
            <a:r>
              <a:rPr dirty="0" err="1"/>
              <a:t>배치</a:t>
            </a:r>
            <a:r>
              <a:rPr dirty="0"/>
              <a:t> </a:t>
            </a:r>
            <a:r>
              <a:rPr dirty="0" err="1"/>
              <a:t>평균</a:t>
            </a:r>
            <a:r>
              <a:rPr dirty="0"/>
              <a:t> </a:t>
            </a:r>
            <a:r>
              <a:rPr dirty="0" err="1"/>
              <a:t>분포를</a:t>
            </a:r>
            <a:r>
              <a:rPr dirty="0"/>
              <a:t> </a:t>
            </a:r>
            <a:r>
              <a:rPr dirty="0" err="1"/>
              <a:t>보정</a:t>
            </a:r>
            <a:r>
              <a:rPr dirty="0"/>
              <a:t> </a:t>
            </a:r>
            <a:r>
              <a:rPr dirty="0" err="1"/>
              <a:t>계수에</a:t>
            </a:r>
            <a:r>
              <a:rPr dirty="0"/>
              <a:t> </a:t>
            </a:r>
            <a:r>
              <a:rPr dirty="0" err="1"/>
              <a:t>사용했습니다</a:t>
            </a:r>
            <a:r>
              <a:rPr dirty="0"/>
              <a:t>. 253개 </a:t>
            </a:r>
            <a:r>
              <a:rPr dirty="0" err="1"/>
              <a:t>분류</a:t>
            </a:r>
            <a:r>
              <a:rPr dirty="0"/>
              <a:t> </a:t>
            </a:r>
            <a:r>
              <a:rPr dirty="0" err="1"/>
              <a:t>자료에서</a:t>
            </a:r>
            <a:r>
              <a:rPr dirty="0"/>
              <a:t> label shift </a:t>
            </a:r>
            <a:r>
              <a:rPr dirty="0" err="1"/>
              <a:t>강도</a:t>
            </a:r>
            <a:r>
              <a:rPr dirty="0"/>
              <a:t> β=2일 때 TabPFN-v2 accuracy 0.759가 </a:t>
            </a:r>
            <a:r>
              <a:rPr dirty="0" err="1"/>
              <a:t>DistPFN</a:t>
            </a:r>
            <a:r>
              <a:rPr dirty="0"/>
              <a:t> 0.783으로 </a:t>
            </a:r>
            <a:r>
              <a:rPr dirty="0" err="1"/>
              <a:t>높아졌습니다</a:t>
            </a:r>
            <a:r>
              <a:rPr dirty="0"/>
              <a:t>. </a:t>
            </a:r>
            <a:r>
              <a:rPr dirty="0" err="1"/>
              <a:t>오른쪽</a:t>
            </a:r>
            <a:r>
              <a:rPr dirty="0"/>
              <a:t> </a:t>
            </a:r>
            <a:r>
              <a:rPr dirty="0" err="1"/>
              <a:t>연구는</a:t>
            </a:r>
            <a:r>
              <a:rPr dirty="0"/>
              <a:t> </a:t>
            </a:r>
            <a:r>
              <a:rPr dirty="0" err="1"/>
              <a:t>이진분류</a:t>
            </a:r>
            <a:r>
              <a:rPr dirty="0"/>
              <a:t> 11개 </a:t>
            </a:r>
            <a:r>
              <a:rPr dirty="0" err="1"/>
              <a:t>자료에서</a:t>
            </a:r>
            <a:r>
              <a:rPr dirty="0"/>
              <a:t> </a:t>
            </a:r>
            <a:r>
              <a:rPr dirty="0" err="1"/>
              <a:t>임계값</a:t>
            </a:r>
            <a:r>
              <a:rPr dirty="0"/>
              <a:t> </a:t>
            </a:r>
            <a:r>
              <a:rPr dirty="0" err="1"/>
              <a:t>조절과</a:t>
            </a:r>
            <a:r>
              <a:rPr dirty="0"/>
              <a:t> </a:t>
            </a:r>
            <a:r>
              <a:rPr dirty="0" err="1"/>
              <a:t>downsampling을</a:t>
            </a:r>
            <a:r>
              <a:rPr dirty="0"/>
              <a:t> </a:t>
            </a:r>
            <a:r>
              <a:rPr dirty="0" err="1"/>
              <a:t>비교했습니다</a:t>
            </a:r>
            <a:r>
              <a:rPr dirty="0"/>
              <a:t>. </a:t>
            </a:r>
            <a:r>
              <a:rPr dirty="0" err="1"/>
              <a:t>균형</a:t>
            </a:r>
            <a:r>
              <a:rPr dirty="0"/>
              <a:t> </a:t>
            </a:r>
            <a:r>
              <a:rPr dirty="0" err="1"/>
              <a:t>test의</a:t>
            </a:r>
            <a:r>
              <a:rPr dirty="0"/>
              <a:t> </a:t>
            </a:r>
            <a:r>
              <a:rPr dirty="0" err="1"/>
              <a:t>평균</a:t>
            </a:r>
            <a:r>
              <a:rPr dirty="0"/>
              <a:t> balanced </a:t>
            </a:r>
            <a:r>
              <a:rPr dirty="0" err="1"/>
              <a:t>accuracy는</a:t>
            </a:r>
            <a:r>
              <a:rPr dirty="0"/>
              <a:t> </a:t>
            </a:r>
            <a:r>
              <a:rPr dirty="0" err="1"/>
              <a:t>무보정</a:t>
            </a:r>
            <a:r>
              <a:rPr dirty="0"/>
              <a:t> 0.710, </a:t>
            </a:r>
            <a:r>
              <a:rPr dirty="0" err="1"/>
              <a:t>임계값</a:t>
            </a:r>
            <a:r>
              <a:rPr dirty="0"/>
              <a:t> 0.793, </a:t>
            </a:r>
            <a:r>
              <a:rPr dirty="0" err="1"/>
              <a:t>downsampling</a:t>
            </a:r>
            <a:r>
              <a:rPr dirty="0"/>
              <a:t> 0.779였습니다. 이 </a:t>
            </a:r>
            <a:r>
              <a:rPr dirty="0" err="1"/>
              <a:t>결과를</a:t>
            </a:r>
            <a:r>
              <a:rPr dirty="0"/>
              <a:t> </a:t>
            </a:r>
            <a:r>
              <a:rPr dirty="0" err="1"/>
              <a:t>다중</a:t>
            </a:r>
            <a:r>
              <a:rPr dirty="0"/>
              <a:t> </a:t>
            </a:r>
            <a:r>
              <a:rPr dirty="0" err="1"/>
              <a:t>공격의</a:t>
            </a:r>
            <a:r>
              <a:rPr dirty="0"/>
              <a:t> </a:t>
            </a:r>
            <a:r>
              <a:rPr dirty="0" err="1"/>
              <a:t>자연</a:t>
            </a:r>
            <a:r>
              <a:rPr dirty="0"/>
              <a:t> </a:t>
            </a:r>
            <a:r>
              <a:rPr dirty="0" err="1"/>
              <a:t>빈도</a:t>
            </a:r>
            <a:r>
              <a:rPr dirty="0"/>
              <a:t> </a:t>
            </a:r>
            <a:r>
              <a:rPr dirty="0" err="1"/>
              <a:t>test에</a:t>
            </a:r>
            <a:r>
              <a:rPr dirty="0"/>
              <a:t> </a:t>
            </a:r>
            <a:r>
              <a:rPr dirty="0" err="1"/>
              <a:t>그대로</a:t>
            </a:r>
            <a:r>
              <a:rPr dirty="0"/>
              <a:t> </a:t>
            </a:r>
            <a:r>
              <a:rPr dirty="0" err="1"/>
              <a:t>옮길</a:t>
            </a:r>
            <a:r>
              <a:rPr dirty="0"/>
              <a:t> </a:t>
            </a:r>
            <a:r>
              <a:rPr dirty="0" err="1"/>
              <a:t>수는</a:t>
            </a:r>
            <a:r>
              <a:rPr dirty="0"/>
              <a:t> </a:t>
            </a:r>
            <a:r>
              <a:rPr dirty="0" err="1"/>
              <a:t>없습니다</a:t>
            </a:r>
            <a:r>
              <a:rPr dirty="0"/>
              <a:t>. </a:t>
            </a:r>
            <a:r>
              <a:rPr dirty="0" err="1"/>
              <a:t>우리에게는</a:t>
            </a:r>
            <a:r>
              <a:rPr dirty="0"/>
              <a:t> </a:t>
            </a:r>
            <a:r>
              <a:rPr dirty="0" err="1"/>
              <a:t>prior가</a:t>
            </a:r>
            <a:r>
              <a:rPr dirty="0"/>
              <a:t> </a:t>
            </a:r>
            <a:r>
              <a:rPr dirty="0" err="1"/>
              <a:t>문제인지</a:t>
            </a:r>
            <a:r>
              <a:rPr dirty="0"/>
              <a:t> </a:t>
            </a:r>
            <a:r>
              <a:rPr dirty="0" err="1"/>
              <a:t>특징의</a:t>
            </a:r>
            <a:r>
              <a:rPr dirty="0"/>
              <a:t> </a:t>
            </a:r>
            <a:r>
              <a:rPr dirty="0" err="1"/>
              <a:t>구분이</a:t>
            </a:r>
            <a:r>
              <a:rPr dirty="0"/>
              <a:t> </a:t>
            </a:r>
            <a:r>
              <a:rPr dirty="0" err="1"/>
              <a:t>문제인지</a:t>
            </a:r>
            <a:r>
              <a:rPr dirty="0"/>
              <a:t> </a:t>
            </a:r>
            <a:r>
              <a:rPr dirty="0" err="1"/>
              <a:t>나누는</a:t>
            </a:r>
            <a:r>
              <a:rPr dirty="0"/>
              <a:t> </a:t>
            </a:r>
            <a:r>
              <a:rPr dirty="0" err="1"/>
              <a:t>대조군이며</a:t>
            </a:r>
            <a:r>
              <a:rPr dirty="0"/>
              <a:t>, </a:t>
            </a:r>
            <a:r>
              <a:rPr dirty="0" err="1"/>
              <a:t>정상</a:t>
            </a:r>
            <a:r>
              <a:rPr dirty="0"/>
              <a:t> </a:t>
            </a:r>
            <a:r>
              <a:rPr dirty="0" err="1"/>
              <a:t>오탐이</a:t>
            </a:r>
            <a:r>
              <a:rPr dirty="0"/>
              <a:t> </a:t>
            </a:r>
            <a:r>
              <a:rPr dirty="0" err="1"/>
              <a:t>함께</a:t>
            </a:r>
            <a:r>
              <a:rPr dirty="0"/>
              <a:t> </a:t>
            </a:r>
            <a:r>
              <a:rPr dirty="0" err="1"/>
              <a:t>늘지</a:t>
            </a:r>
            <a:r>
              <a:rPr dirty="0"/>
              <a:t> </a:t>
            </a:r>
            <a:r>
              <a:rPr dirty="0" err="1"/>
              <a:t>않는지도</a:t>
            </a:r>
            <a:r>
              <a:rPr dirty="0"/>
              <a:t> </a:t>
            </a:r>
            <a:r>
              <a:rPr dirty="0" err="1"/>
              <a:t>봐야</a:t>
            </a:r>
            <a:r>
              <a:rPr dirty="0"/>
              <a:t> </a:t>
            </a:r>
            <a:r>
              <a:rPr dirty="0" err="1"/>
              <a:t>합니다</a:t>
            </a:r>
            <a:r>
              <a:rPr dirty="0"/>
              <a:t>.</a:t>
            </a:r>
          </a:p>
          <a:p>
            <a:endParaRPr dirty="0"/>
          </a:p>
          <a:p>
            <a:r>
              <a:rPr dirty="0" err="1"/>
              <a:t>원문</a:t>
            </a:r>
            <a:r>
              <a:rPr dirty="0"/>
              <a:t> </a:t>
            </a:r>
            <a:r>
              <a:rPr dirty="0" err="1"/>
              <a:t>근거</a:t>
            </a:r>
            <a:endParaRPr dirty="0"/>
          </a:p>
          <a:p>
            <a:r>
              <a:rPr dirty="0"/>
              <a:t>Mitigating Label Shift in Tabular In-Context Learning via Test-Time Posterior Adjustment</a:t>
            </a:r>
          </a:p>
          <a:p>
            <a:r>
              <a:rPr dirty="0"/>
              <a:t>ICML, 2026</a:t>
            </a:r>
          </a:p>
          <a:p>
            <a:r>
              <a:rPr dirty="0"/>
              <a:t>Figure 4 p.4; Algorithm 1 p.5; Table 5 p.6</a:t>
            </a:r>
          </a:p>
          <a:p>
            <a:r>
              <a:rPr dirty="0"/>
              <a:t>https://arxiv.org/abs/2605.04363</a:t>
            </a:r>
          </a:p>
          <a:p>
            <a:endParaRPr dirty="0"/>
          </a:p>
          <a:p>
            <a:r>
              <a:rPr dirty="0"/>
              <a:t>Correcting Class Imbalance in Prior-Data Fitted Networks for Tabular Classification</a:t>
            </a:r>
          </a:p>
          <a:p>
            <a:r>
              <a:rPr dirty="0"/>
              <a:t>ITW </a:t>
            </a:r>
            <a:r>
              <a:rPr dirty="0" err="1"/>
              <a:t>표기</a:t>
            </a:r>
            <a:r>
              <a:rPr dirty="0"/>
              <a:t> </a:t>
            </a:r>
            <a:r>
              <a:rPr dirty="0" err="1"/>
              <a:t>원고</a:t>
            </a:r>
            <a:r>
              <a:rPr dirty="0"/>
              <a:t>, 2026</a:t>
            </a:r>
          </a:p>
          <a:p>
            <a:r>
              <a:rPr dirty="0"/>
              <a:t>Figure 4 p.4; Table II p.5</a:t>
            </a:r>
          </a:p>
          <a:p>
            <a:r>
              <a:rPr dirty="0"/>
              <a:t>https://arxiv.org/abs/2605.21742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설명</a:t>
            </a:r>
          </a:p>
          <a:p>
            <a:r>
              <a:t>TabFM은 TabPFN의 버전명이 아니라 별도 사전학습 모델입니다. 그림은 TabFM 기본 모델 구조로, 셀을 표현하고 행을 요약한 뒤 context와 query 관계로 예측합니다. TabFM+는 이 그림의 모델을 32개의 변환된 입력 view에 반복 적용하는 확장입니다. 여러 독립 모델을 새로 사전학습하는 방식은 아닙니다. Validation 정답으로 비음수 최소제곱 결합 가중치를 구하고, 75%의 학습 가중치와 25%의 균등 가중치를 혼합한 뒤 분류 확률을 보정합니다. 원문은 TabArena 51개 과제에서 TabFM+의 개선을 보고했습니다. 우리 연구가 참고할 부분은 서로 다른 관점의 입력이 상호 보완 오류를 만드는지입니다. 다만 본체가 고정돼 있다는 사실이 결합기 학습과 라벨 비용도 없다는 뜻은 아닙니다.</a:t>
            </a:r>
          </a:p>
          <a:p>
            <a:endParaRPr/>
          </a:p>
          <a:p>
            <a:r>
              <a:t>원문 근거</a:t>
            </a:r>
          </a:p>
          <a:p>
            <a:r>
              <a:t>TabFM: A Zero-Shot Foundation Model for Tabular Data</a:t>
            </a:r>
          </a:p>
          <a:p>
            <a:r>
              <a:t>arXiv, 2026</a:t>
            </a:r>
          </a:p>
          <a:p>
            <a:r>
              <a:t>Figure 2 p.2; §4 and implementation appendix</a:t>
            </a:r>
          </a:p>
          <a:p>
            <a:r>
              <a:t>https://arxiv.org/abs/2609.37959</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설명</a:t>
            </a:r>
          </a:p>
          <a:p>
            <a:r>
              <a:t>앙상블 논문은 강한 TFM 6개와 결합 전략 6개를 153개 자료에서 평가했습니다. 그림의 오른쪽으로 갈수록 비용이 크고 위로 갈수록 정확도가 높습니다. 저자들은 높은 오류 유사성과 일부 결합기의 확률 보정 저하를 관찰했습니다. 이는 모든 앙상블이 무의미하다는 결론은 아닙니다. 우리 모델에서는 먼저 어느 expert라도 맞힌 사례를 선택할 수 있다고 가정한 oracle 상한을 봐야 합니다. 그 상한조차 Global과 비슷하면 결합기를 더 복잡하게 만들기보다 expert context나 표현을 바꿀 필요가 있습니다. 상한의 여지가 크면 실제 선택기가 왜 그 수정을 놓치는지 분석합니다. ToN-IoT 장치 telemetry의 포렌식 응용도 PFN 선별 뒤 트리 앙상블 구조를 제안했지만, 개별 모델의 점수와 전체 cascade의 이득은 구분해야 합니다. 현재 제안 모델의 성능을 향상하려면 이 두 효과를 분리하는 진단이 우선입니다.</a:t>
            </a:r>
          </a:p>
          <a:p>
            <a:endParaRPr/>
          </a:p>
          <a:p>
            <a:r>
              <a:t>원문 근거</a:t>
            </a:r>
          </a:p>
          <a:p>
            <a:r>
              <a:t>Ensembling Tabular Foundation Models — A Diversity Ceiling And A Calibration Trap</a:t>
            </a:r>
          </a:p>
          <a:p>
            <a:r>
              <a:t>arXiv, 2026</a:t>
            </a:r>
          </a:p>
          <a:p>
            <a:r>
              <a:t>§3–5, Figure 1 p.5</a:t>
            </a:r>
          </a:p>
          <a:p>
            <a:r>
              <a:t>https://arxiv.org/abs/2605.18696</a:t>
            </a:r>
          </a:p>
          <a:p>
            <a:endParaRPr/>
          </a:p>
          <a:p>
            <a:r>
              <a:t>Optimizing IoT Intrusion Detection with Tabular Foundation Models for Smart City Forensics</a:t>
            </a:r>
          </a:p>
          <a:p>
            <a:r>
              <a:t>arXiv, 2026</a:t>
            </a:r>
          </a:p>
          <a:p>
            <a:r>
              <a:t>Figure 1 p.5; Tables 2–3 p.7</a:t>
            </a:r>
          </a:p>
          <a:p>
            <a:r>
              <a:t>https://arxiv.org/abs/2604.11394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발표 설명</a:t>
            </a:r>
          </a:p>
          <a:p>
            <a:r>
              <a:t>ICD의 실험은 실제 라벨이 극소량인 상황이 아니라 큰 라벨 train을 작은 context로 압축하는 상황입니다. 48개 자료는 전체 2,000개에서 200,000개였고 80/10/10으로 나눴습니다. 최종 context는 총 1,000개지만 그 점들을 최적화할 때 큰 train의 라벨을 계속 사용했습니다. 표의 F1 중앙값은 튜닝 XGB 92.1%, ICD 89.9%, 기본 XGB 89.3%, 무작위 TabPFN 84.4%입니다. ICD가 기본 PFN을 개선했지만 튜닝 XGB를 넘지는 못했습니다. F1 정의와 데이터 집계가 우리 IDS Macro-F1과 같다고 가정하지 않습니다. 작은 context만 보고 라벨 효율이 높다고 주장하면 확보한 정보량을 숨기게 됩니다. 현재 우리의 후속 질문은 실제 새 공격 라벨이 2–5개뿐일 때 정상·기존 공격과 함께 구분할 수 있는지입니다. 큰 라벨 이력이 쌓이면 동일 원본 pool과 보존 예산에서 실제 행 선택과 합성 증류를 비교할 수 있습니다. 이번 슬라이드는 그 연구 순서를 설명하며 새 실험 또는 모델 변경을 확정하지 않습니다.</a:t>
            </a:r>
          </a:p>
          <a:p>
            <a:endParaRPr/>
          </a:p>
          <a:p>
            <a:r>
              <a:t>원문 근거</a:t>
            </a:r>
          </a:p>
          <a:p>
            <a:r>
              <a:t>In-Context Data Distillation with TabPFN</a:t>
            </a:r>
          </a:p>
          <a:p>
            <a:r>
              <a:t>ICLR ME-FoMo Workshop, 2024</a:t>
            </a:r>
          </a:p>
          <a:p>
            <a:r>
              <a:t>Figure 2 p.3; §3–4 and Table 1 p.4</a:t>
            </a:r>
          </a:p>
          <a:p>
            <a:r>
              <a:t>https://arxiv.org/abs/2402.06971</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apers.ssrn.com/sol3/papers.cfm?abstract_id=7531718"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arxiv.org/abs/2609.17895"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1145/3779208.3785276"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abs/2610.05352"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2402.06971"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s://papers.nips.cc/paper_files/paper/2024/file/c40daf14d7a6469e65116507c21faeb7-Paper-Conference.pdf"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arxiv.org/abs/2503.01256"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abs/2605.04363"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hyperlink" Target="https://arxiv.org/abs/2605.21742" TargetMode="Externa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hyperlink" Target="https://arxiv.org/abs/2609.37959"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s://arxiv.org/abs/2605.18696"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https://arxiv.org/abs/2604.11394" TargetMode="Externa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abs/2402.06971"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11045952" cy="48158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3000" b="1">
                <a:solidFill>
                  <a:srgbClr val="00306C"/>
                </a:solidFill>
                <a:latin typeface="Pretendard"/>
                <a:ea typeface="Pretendard"/>
                <a:cs typeface="Pretendard"/>
              </a:rPr>
              <a:t>Tabular foundation model의 분류와 적용 방식</a:t>
            </a:r>
          </a:p>
        </p:txBody>
      </p:sp>
      <p:sp>
        <p:nvSpPr>
          <p:cNvPr id="3" name="TextBox 2"/>
          <p:cNvSpPr txBox="1"/>
          <p:nvPr/>
        </p:nvSpPr>
        <p:spPr>
          <a:xfrm>
            <a:off x="566928" y="960120"/>
            <a:ext cx="11018520" cy="256794"/>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500" b="0">
                <a:solidFill>
                  <a:srgbClr val="617080"/>
                </a:solidFill>
                <a:latin typeface="Pretendard"/>
                <a:ea typeface="Pretendard"/>
                <a:cs typeface="Pretendard"/>
                <a:hlinkClick r:id="rId3"/>
              </a:rPr>
              <a:t>Tabular Foundation Models: A Systematic Survey · 2026</a:t>
            </a:r>
          </a:p>
        </p:txBody>
      </p:sp>
      <p:pic>
        <p:nvPicPr>
          <p:cNvPr id="4" name="Picture 3" descr="survey.png"/>
          <p:cNvPicPr>
            <a:picLocks noChangeAspect="1"/>
          </p:cNvPicPr>
          <p:nvPr/>
        </p:nvPicPr>
        <p:blipFill>
          <a:blip r:embed="rId4"/>
          <a:stretch>
            <a:fillRect/>
          </a:stretch>
        </p:blipFill>
        <p:spPr>
          <a:xfrm>
            <a:off x="654759" y="1389888"/>
            <a:ext cx="3628240" cy="4590288"/>
          </a:xfrm>
          <a:prstGeom prst="rect">
            <a:avLst/>
          </a:prstGeom>
          <a:effectLst/>
        </p:spPr>
      </p:pic>
      <p:sp>
        <p:nvSpPr>
          <p:cNvPr id="5" name="TextBox 4"/>
          <p:cNvSpPr txBox="1"/>
          <p:nvPr/>
        </p:nvSpPr>
        <p:spPr>
          <a:xfrm>
            <a:off x="640080" y="6025896"/>
            <a:ext cx="3749039"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hlinkClick r:id="rId3"/>
              </a:rPr>
              <a:t>원문 Figure 3 · 기반 모델 42개</a:t>
            </a:r>
          </a:p>
        </p:txBody>
      </p:sp>
      <p:sp>
        <p:nvSpPr>
          <p:cNvPr id="6" name="TextBox 5"/>
          <p:cNvSpPr txBox="1"/>
          <p:nvPr/>
        </p:nvSpPr>
        <p:spPr>
          <a:xfrm>
            <a:off x="4709160" y="1426464"/>
            <a:ext cx="6766560" cy="376682"/>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300" b="1">
                <a:solidFill>
                  <a:srgbClr val="00306C"/>
                </a:solidFill>
                <a:latin typeface="Pretendard"/>
                <a:ea typeface="Pretendard"/>
                <a:cs typeface="Pretendard"/>
              </a:rPr>
              <a:t>두 분류 축</a:t>
            </a:r>
          </a:p>
        </p:txBody>
      </p:sp>
      <p:sp>
        <p:nvSpPr>
          <p:cNvPr id="7" name="TextBox 6"/>
          <p:cNvSpPr txBox="1"/>
          <p:nvPr/>
        </p:nvSpPr>
        <p:spPr>
          <a:xfrm>
            <a:off x="4709160" y="1856231"/>
            <a:ext cx="6766560" cy="976121"/>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100" b="0" dirty="0">
                <a:solidFill>
                  <a:srgbClr val="20262E"/>
                </a:solidFill>
                <a:latin typeface="Pretendard"/>
                <a:ea typeface="Pretendard"/>
                <a:cs typeface="Pretendard"/>
              </a:rPr>
              <a:t>사전학습 자료</a:t>
            </a:r>
            <a:r>
              <a:rPr lang="en-US" altLang="ko-KR" sz="2100" b="0" dirty="0">
                <a:solidFill>
                  <a:srgbClr val="20262E"/>
                </a:solidFill>
                <a:latin typeface="Pretendard"/>
                <a:ea typeface="Pretendard"/>
                <a:cs typeface="Pretendard"/>
              </a:rPr>
              <a:t>:</a:t>
            </a:r>
            <a:r>
              <a:rPr lang="ko-KR" sz="2100" b="0" dirty="0">
                <a:solidFill>
                  <a:srgbClr val="20262E"/>
                </a:solidFill>
                <a:latin typeface="Pretendard"/>
                <a:ea typeface="Pretendard"/>
                <a:cs typeface="Pretendard"/>
              </a:rPr>
              <a:t>  합성 </a:t>
            </a:r>
            <a:r>
              <a:rPr lang="ko-KR" sz="2100" b="0" dirty="0" err="1">
                <a:solidFill>
                  <a:srgbClr val="20262E"/>
                </a:solidFill>
                <a:latin typeface="Pretendard"/>
                <a:ea typeface="Pretendard"/>
                <a:cs typeface="Pretendard"/>
              </a:rPr>
              <a:t>prior</a:t>
            </a:r>
            <a:r>
              <a:rPr lang="ko-KR" sz="2100" b="0" dirty="0">
                <a:solidFill>
                  <a:srgbClr val="20262E"/>
                </a:solidFill>
                <a:latin typeface="Pretendard"/>
                <a:ea typeface="Pretendard"/>
                <a:cs typeface="Pretendard"/>
              </a:rPr>
              <a:t> / 실제 표</a:t>
            </a:r>
          </a:p>
          <a:p>
            <a:pPr algn="l">
              <a:lnSpc>
                <a:spcPct val="118000"/>
              </a:lnSpc>
              <a:spcBef>
                <a:spcPts val="0"/>
              </a:spcBef>
              <a:spcAft>
                <a:spcPts val="0"/>
              </a:spcAft>
            </a:pPr>
            <a:r>
              <a:rPr lang="ko-KR" sz="2100" b="0" dirty="0">
                <a:solidFill>
                  <a:srgbClr val="20262E"/>
                </a:solidFill>
                <a:latin typeface="Pretendard"/>
                <a:ea typeface="Pretendard"/>
                <a:cs typeface="Pretendard"/>
              </a:rPr>
              <a:t>전이 방식</a:t>
            </a:r>
            <a:r>
              <a:rPr lang="en-US" altLang="ko-KR" sz="2100" b="0" dirty="0">
                <a:solidFill>
                  <a:srgbClr val="20262E"/>
                </a:solidFill>
                <a:latin typeface="Pretendard"/>
                <a:ea typeface="Pretendard"/>
                <a:cs typeface="Pretendard"/>
              </a:rPr>
              <a:t>:</a:t>
            </a:r>
            <a:r>
              <a:rPr lang="ko-KR" sz="2100" b="0" dirty="0">
                <a:solidFill>
                  <a:srgbClr val="20262E"/>
                </a:solidFill>
                <a:latin typeface="Pretendard"/>
                <a:ea typeface="Pretendard"/>
                <a:cs typeface="Pretendard"/>
              </a:rPr>
              <a:t>  ICL / 가중치 FT / 텍스트 생성 /</a:t>
            </a:r>
            <a:r>
              <a:rPr lang="en-US" altLang="ko-KR" sz="2100" b="0" dirty="0">
                <a:solidFill>
                  <a:srgbClr val="20262E"/>
                </a:solidFill>
                <a:latin typeface="Pretendard"/>
                <a:ea typeface="Pretendard"/>
                <a:cs typeface="Pretendard"/>
              </a:rPr>
              <a:t> </a:t>
            </a:r>
            <a:r>
              <a:rPr lang="ko-KR" sz="2100" b="0" dirty="0">
                <a:solidFill>
                  <a:srgbClr val="20262E"/>
                </a:solidFill>
                <a:latin typeface="Pretendard"/>
                <a:ea typeface="Pretendard"/>
                <a:cs typeface="Pretendard"/>
              </a:rPr>
              <a:t>작은 모델의 가중치 생성</a:t>
            </a:r>
          </a:p>
        </p:txBody>
      </p:sp>
      <p:sp>
        <p:nvSpPr>
          <p:cNvPr id="8" name="TextBox 7"/>
          <p:cNvSpPr txBox="1"/>
          <p:nvPr/>
        </p:nvSpPr>
        <p:spPr>
          <a:xfrm>
            <a:off x="4709160" y="2944368"/>
            <a:ext cx="6766560" cy="346710"/>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100" b="1">
                <a:solidFill>
                  <a:srgbClr val="00306C"/>
                </a:solidFill>
                <a:latin typeface="Pretendard"/>
                <a:ea typeface="Pretendard"/>
                <a:cs typeface="Pretendard"/>
              </a:rPr>
              <a:t>TabPFN · 라벨 사례를 입력으로 받는 Transformer</a:t>
            </a:r>
          </a:p>
        </p:txBody>
      </p:sp>
      <p:sp>
        <p:nvSpPr>
          <p:cNvPr id="9" name="Rectangle 8"/>
          <p:cNvSpPr/>
          <p:nvPr/>
        </p:nvSpPr>
        <p:spPr>
          <a:xfrm>
            <a:off x="4709160" y="3474720"/>
            <a:ext cx="2057400" cy="107899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709160" y="3474720"/>
            <a:ext cx="20574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4800600" y="3543300"/>
            <a:ext cx="1874519"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Context + query</a:t>
            </a:r>
          </a:p>
        </p:txBody>
      </p:sp>
      <p:sp>
        <p:nvSpPr>
          <p:cNvPr id="12" name="TextBox 11"/>
          <p:cNvSpPr txBox="1"/>
          <p:nvPr/>
        </p:nvSpPr>
        <p:spPr>
          <a:xfrm>
            <a:off x="4818888" y="4050791"/>
            <a:ext cx="1837943"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0">
                <a:solidFill>
                  <a:srgbClr val="20262E"/>
                </a:solidFill>
                <a:latin typeface="Pretendard"/>
                <a:ea typeface="Pretendard"/>
                <a:cs typeface="Pretendard"/>
              </a:rPr>
              <a:t>사례 (x, y) + 새 x</a:t>
            </a:r>
          </a:p>
        </p:txBody>
      </p:sp>
      <p:sp>
        <p:nvSpPr>
          <p:cNvPr id="13" name="Right Arrow 12"/>
          <p:cNvSpPr/>
          <p:nvPr/>
        </p:nvSpPr>
        <p:spPr>
          <a:xfrm>
            <a:off x="6903720" y="3895344"/>
            <a:ext cx="36576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7406640" y="3474720"/>
            <a:ext cx="2029968" cy="107899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a:xfrm>
            <a:off x="7406640" y="3474720"/>
            <a:ext cx="2029968"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7498079" y="3543300"/>
            <a:ext cx="1847088"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사전학습 모델</a:t>
            </a:r>
          </a:p>
        </p:txBody>
      </p:sp>
      <p:sp>
        <p:nvSpPr>
          <p:cNvPr id="17" name="TextBox 16"/>
          <p:cNvSpPr txBox="1"/>
          <p:nvPr/>
        </p:nvSpPr>
        <p:spPr>
          <a:xfrm>
            <a:off x="7516367" y="4050791"/>
            <a:ext cx="1810512"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0">
                <a:solidFill>
                  <a:srgbClr val="20262E"/>
                </a:solidFill>
                <a:latin typeface="Pretendard"/>
                <a:ea typeface="Pretendard"/>
                <a:cs typeface="Pretendard"/>
              </a:rPr>
              <a:t>가중치 θ 고정</a:t>
            </a:r>
          </a:p>
        </p:txBody>
      </p:sp>
      <p:sp>
        <p:nvSpPr>
          <p:cNvPr id="18" name="Right Arrow 17"/>
          <p:cNvSpPr/>
          <p:nvPr/>
        </p:nvSpPr>
        <p:spPr>
          <a:xfrm>
            <a:off x="9573768" y="3895344"/>
            <a:ext cx="36576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Rectangle 18"/>
          <p:cNvSpPr/>
          <p:nvPr/>
        </p:nvSpPr>
        <p:spPr>
          <a:xfrm>
            <a:off x="10076688" y="3474720"/>
            <a:ext cx="1490472" cy="107899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Rectangle 19"/>
          <p:cNvSpPr/>
          <p:nvPr/>
        </p:nvSpPr>
        <p:spPr>
          <a:xfrm>
            <a:off x="10076688" y="3474720"/>
            <a:ext cx="149047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10168128" y="3543300"/>
            <a:ext cx="1307592"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예측</a:t>
            </a:r>
          </a:p>
        </p:txBody>
      </p:sp>
      <p:sp>
        <p:nvSpPr>
          <p:cNvPr id="22" name="TextBox 21"/>
          <p:cNvSpPr txBox="1"/>
          <p:nvPr/>
        </p:nvSpPr>
        <p:spPr>
          <a:xfrm>
            <a:off x="10186415" y="4050791"/>
            <a:ext cx="1271016"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0">
                <a:solidFill>
                  <a:srgbClr val="20262E"/>
                </a:solidFill>
                <a:latin typeface="Pretendard"/>
                <a:ea typeface="Pretendard"/>
                <a:cs typeface="Pretendard"/>
              </a:rPr>
              <a:t>클래스 확률</a:t>
            </a:r>
          </a:p>
        </p:txBody>
      </p:sp>
      <p:sp>
        <p:nvSpPr>
          <p:cNvPr id="23" name="TextBox 22"/>
          <p:cNvSpPr txBox="1"/>
          <p:nvPr/>
        </p:nvSpPr>
        <p:spPr>
          <a:xfrm>
            <a:off x="4709160" y="4828032"/>
            <a:ext cx="6766560" cy="66141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100" b="0" dirty="0" err="1">
                <a:solidFill>
                  <a:srgbClr val="20262E"/>
                </a:solidFill>
                <a:latin typeface="Pretendard"/>
                <a:ea typeface="Pretendard"/>
                <a:cs typeface="Pretendard"/>
              </a:rPr>
              <a:t>In-context</a:t>
            </a:r>
            <a:r>
              <a:rPr lang="ko-KR" sz="2100" b="0" dirty="0">
                <a:solidFill>
                  <a:srgbClr val="20262E"/>
                </a:solidFill>
                <a:latin typeface="Pretendard"/>
                <a:ea typeface="Pretendard"/>
                <a:cs typeface="Pretendard"/>
              </a:rPr>
              <a:t> </a:t>
            </a:r>
            <a:r>
              <a:rPr lang="ko-KR" sz="2100" b="0" dirty="0" err="1">
                <a:solidFill>
                  <a:srgbClr val="20262E"/>
                </a:solidFill>
                <a:latin typeface="Pretendard"/>
                <a:ea typeface="Pretendard"/>
                <a:cs typeface="Pretendard"/>
              </a:rPr>
              <a:t>learning</a:t>
            </a:r>
            <a:r>
              <a:rPr lang="ko-KR" sz="2100" b="0" dirty="0">
                <a:solidFill>
                  <a:srgbClr val="20262E"/>
                </a:solidFill>
                <a:latin typeface="Pretendard"/>
                <a:ea typeface="Pretendard"/>
                <a:cs typeface="Pretendard"/>
              </a:rPr>
              <a:t> (ICL)</a:t>
            </a:r>
          </a:p>
          <a:p>
            <a:pPr algn="l">
              <a:lnSpc>
                <a:spcPct val="118000"/>
              </a:lnSpc>
              <a:spcBef>
                <a:spcPts val="0"/>
              </a:spcBef>
              <a:spcAft>
                <a:spcPts val="0"/>
              </a:spcAft>
            </a:pPr>
            <a:r>
              <a:rPr lang="ko-KR" sz="2100" b="0" dirty="0">
                <a:solidFill>
                  <a:srgbClr val="20262E"/>
                </a:solidFill>
                <a:latin typeface="Pretendard"/>
                <a:ea typeface="Pretendard"/>
                <a:cs typeface="Pretendard"/>
              </a:rPr>
              <a:t>입력 사례를 참고하는 예측 · 가중치 학습과 구별</a:t>
            </a:r>
          </a:p>
        </p:txBody>
      </p:sp>
      <p:sp>
        <p:nvSpPr>
          <p:cNvPr id="24" name="Rectangle 23"/>
          <p:cNvSpPr/>
          <p:nvPr/>
        </p:nvSpPr>
        <p:spPr>
          <a:xfrm>
            <a:off x="4709160" y="5632704"/>
            <a:ext cx="6848856" cy="50292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4855464" y="5751576"/>
            <a:ext cx="6492240" cy="301751"/>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800" b="0">
                <a:solidFill>
                  <a:srgbClr val="20262E"/>
                </a:solidFill>
                <a:latin typeface="Pretendard"/>
                <a:ea typeface="Pretendard"/>
                <a:cs typeface="Pretendard"/>
                <a:hlinkClick r:id="rId5"/>
              </a:rPr>
              <a:t>v3.5의 변화  수치 표현·용량 확장 · 현재 실험은 v3</a:t>
            </a:r>
          </a:p>
        </p:txBody>
      </p:sp>
      <p:sp>
        <p:nvSpPr>
          <p:cNvPr id="26" name="Rectangle 25"/>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548640" y="6537960"/>
            <a:ext cx="87325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FFFFFF"/>
                </a:solidFill>
                <a:latin typeface="Pretendard"/>
                <a:ea typeface="Pretendard"/>
                <a:cs typeface="Pretendard"/>
              </a:rPr>
              <a:t>ICL에서는 사전학습 가중치와 현재 문제의 라벨 사례가 서로 다른 역할</a:t>
            </a:r>
          </a:p>
        </p:txBody>
      </p:sp>
      <p:sp>
        <p:nvSpPr>
          <p:cNvPr id="28" name="TextBox 27"/>
          <p:cNvSpPr txBox="1"/>
          <p:nvPr/>
        </p:nvSpPr>
        <p:spPr>
          <a:xfrm>
            <a:off x="9281160" y="6547104"/>
            <a:ext cx="1965960" cy="211836"/>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200" b="0">
                <a:solidFill>
                  <a:srgbClr val="C9D8EB"/>
                </a:solidFill>
                <a:latin typeface="Pretendard"/>
                <a:ea typeface="Pretendard"/>
                <a:cs typeface="Pretendard"/>
              </a:rPr>
              <a:t>01 모델과 앙상블</a:t>
            </a:r>
          </a:p>
        </p:txBody>
      </p:sp>
      <p:sp>
        <p:nvSpPr>
          <p:cNvPr id="29" name="TextBox 28"/>
          <p:cNvSpPr txBox="1"/>
          <p:nvPr/>
        </p:nvSpPr>
        <p:spPr>
          <a:xfrm>
            <a:off x="11411712" y="6533388"/>
            <a:ext cx="256032" cy="241808"/>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400" b="0">
                <a:solidFill>
                  <a:srgbClr val="FFFFFF"/>
                </a:solidFill>
                <a:latin typeface="Pretendard"/>
                <a:ea typeface="Pretendard"/>
                <a:cs typeface="Pretendard"/>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995E80-40F9-4D9B-9333-0A86539569CD}"/>
              </a:ext>
            </a:extLst>
          </p:cNvPr>
          <p:cNvSpPr txBox="1"/>
          <p:nvPr/>
        </p:nvSpPr>
        <p:spPr>
          <a:xfrm>
            <a:off x="1694793" y="1773621"/>
            <a:ext cx="7463069" cy="2308324"/>
          </a:xfrm>
          <a:prstGeom prst="rect">
            <a:avLst/>
          </a:prstGeom>
          <a:noFill/>
        </p:spPr>
        <p:txBody>
          <a:bodyPr wrap="none" rtlCol="0">
            <a:spAutoFit/>
          </a:bodyPr>
          <a:lstStyle/>
          <a:p>
            <a:r>
              <a:rPr lang="en-US" altLang="ko-KR" dirty="0"/>
              <a:t>&lt;</a:t>
            </a:r>
            <a:r>
              <a:rPr lang="ko-KR" altLang="en-US" dirty="0"/>
              <a:t>목차</a:t>
            </a:r>
            <a:r>
              <a:rPr lang="en-US" altLang="ko-KR" dirty="0"/>
              <a:t>&gt; </a:t>
            </a:r>
            <a:r>
              <a:rPr lang="ko-KR" altLang="en-US" dirty="0"/>
              <a:t>현재 기준으로 </a:t>
            </a:r>
            <a:r>
              <a:rPr lang="en-US" altLang="ko-KR" dirty="0"/>
              <a:t>8</a:t>
            </a:r>
            <a:r>
              <a:rPr lang="ko-KR" altLang="en-US" dirty="0" err="1"/>
              <a:t>장까지만</a:t>
            </a:r>
            <a:r>
              <a:rPr lang="ko-KR" altLang="en-US" dirty="0"/>
              <a:t> 있어도 될 듯</a:t>
            </a:r>
            <a:endParaRPr lang="en-US" altLang="ko-KR" dirty="0"/>
          </a:p>
          <a:p>
            <a:pPr marL="342900" indent="-342900">
              <a:buAutoNum type="arabicPeriod"/>
            </a:pPr>
            <a:r>
              <a:rPr lang="en-US" altLang="ko-KR" dirty="0"/>
              <a:t>IDS </a:t>
            </a:r>
            <a:r>
              <a:rPr lang="ko-KR" altLang="en-US" dirty="0"/>
              <a:t>평가시나리오 관련</a:t>
            </a:r>
            <a:endParaRPr lang="en-US" altLang="ko-KR" dirty="0"/>
          </a:p>
          <a:p>
            <a:pPr marL="285750" indent="-285750">
              <a:buFontTx/>
              <a:buChar char="-"/>
            </a:pPr>
            <a:r>
              <a:rPr lang="en-US" altLang="ko-KR" dirty="0" err="1"/>
              <a:t>lotbonc</a:t>
            </a:r>
            <a:r>
              <a:rPr lang="en-US" altLang="ko-KR" dirty="0"/>
              <a:t>: label </a:t>
            </a:r>
            <a:r>
              <a:rPr lang="ko-KR" altLang="en-US" dirty="0"/>
              <a:t>없이 </a:t>
            </a:r>
            <a:r>
              <a:rPr lang="en-US" altLang="ko-KR" dirty="0"/>
              <a:t>novel</a:t>
            </a:r>
            <a:r>
              <a:rPr lang="ko-KR" altLang="en-US" dirty="0"/>
              <a:t>이 등장하고 </a:t>
            </a:r>
            <a:r>
              <a:rPr lang="en-US" altLang="ko-KR" dirty="0"/>
              <a:t>LT</a:t>
            </a:r>
            <a:r>
              <a:rPr lang="ko-KR" altLang="en-US" dirty="0"/>
              <a:t>인 상황에 대응하는 학습방식</a:t>
            </a:r>
            <a:endParaRPr lang="en-US" altLang="ko-KR" dirty="0"/>
          </a:p>
          <a:p>
            <a:pPr marL="285750" indent="-285750">
              <a:buFontTx/>
              <a:buChar char="-"/>
            </a:pPr>
            <a:r>
              <a:rPr lang="en-US" altLang="ko-KR" dirty="0">
                <a:sym typeface="Wingdings" panose="05000000000000000000" pitchFamily="2" charset="2"/>
              </a:rPr>
              <a:t> stream</a:t>
            </a:r>
            <a:r>
              <a:rPr lang="ko-KR" altLang="en-US" dirty="0">
                <a:sym typeface="Wingdings" panose="05000000000000000000" pitchFamily="2" charset="2"/>
              </a:rPr>
              <a:t> 개념은 없는데 </a:t>
            </a:r>
            <a:r>
              <a:rPr lang="en-US" altLang="ko-KR" dirty="0">
                <a:sym typeface="Wingdings" panose="05000000000000000000" pitchFamily="2" charset="2"/>
              </a:rPr>
              <a:t>label</a:t>
            </a:r>
            <a:r>
              <a:rPr lang="ko-KR" altLang="en-US" dirty="0">
                <a:sym typeface="Wingdings" panose="05000000000000000000" pitchFamily="2" charset="2"/>
              </a:rPr>
              <a:t>없는 </a:t>
            </a:r>
            <a:r>
              <a:rPr lang="en-US" altLang="ko-KR" dirty="0">
                <a:sym typeface="Wingdings" panose="05000000000000000000" pitchFamily="2" charset="2"/>
              </a:rPr>
              <a:t>novel </a:t>
            </a:r>
            <a:r>
              <a:rPr lang="ko-KR" altLang="en-US" dirty="0">
                <a:sym typeface="Wingdings" panose="05000000000000000000" pitchFamily="2" charset="2"/>
              </a:rPr>
              <a:t>등장에 대해 평가하는 건 있다</a:t>
            </a:r>
            <a:endParaRPr lang="en-US" altLang="ko-KR" dirty="0"/>
          </a:p>
          <a:p>
            <a:pPr marL="285750" indent="-285750">
              <a:buFontTx/>
              <a:buChar char="-"/>
            </a:pPr>
            <a:r>
              <a:rPr lang="en-US" altLang="ko-KR" dirty="0"/>
              <a:t>Rethinking: </a:t>
            </a:r>
          </a:p>
          <a:p>
            <a:pPr marL="285750" indent="-285750">
              <a:buFontTx/>
              <a:buChar char="-"/>
            </a:pPr>
            <a:r>
              <a:rPr lang="en-US" altLang="ko-KR" dirty="0"/>
              <a:t>In-context:</a:t>
            </a:r>
          </a:p>
          <a:p>
            <a:r>
              <a:rPr lang="en-US" altLang="ko-KR" dirty="0"/>
              <a:t>2. SOTA</a:t>
            </a:r>
          </a:p>
          <a:p>
            <a:endParaRPr lang="ko-KR" altLang="en-US" dirty="0"/>
          </a:p>
        </p:txBody>
      </p:sp>
    </p:spTree>
    <p:extLst>
      <p:ext uri="{BB962C8B-B14F-4D97-AF65-F5344CB8AC3E}">
        <p14:creationId xmlns:p14="http://schemas.microsoft.com/office/powerpoint/2010/main" val="278727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11045952" cy="48158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3000" b="1">
                <a:solidFill>
                  <a:srgbClr val="00306C"/>
                </a:solidFill>
                <a:latin typeface="Pretendard"/>
                <a:ea typeface="Pretendard"/>
                <a:cs typeface="Pretendard"/>
              </a:rPr>
              <a:t>LotBoNC · 원본 트래픽에서 평가 조건을 만드는 과정</a:t>
            </a:r>
          </a:p>
        </p:txBody>
      </p:sp>
      <p:sp>
        <p:nvSpPr>
          <p:cNvPr id="3" name="TextBox 2"/>
          <p:cNvSpPr txBox="1"/>
          <p:nvPr/>
        </p:nvSpPr>
        <p:spPr>
          <a:xfrm>
            <a:off x="566928" y="960120"/>
            <a:ext cx="11018520" cy="256794"/>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500" b="0">
                <a:solidFill>
                  <a:srgbClr val="617080"/>
                </a:solidFill>
                <a:latin typeface="Pretendard"/>
                <a:ea typeface="Pretendard"/>
                <a:cs typeface="Pretendard"/>
                <a:hlinkClick r:id="rId3"/>
              </a:rPr>
              <a:t>LotBoNC: Novel Botnet Traffic Classification under Long-tailed Distributions · ASIA CCS 2026</a:t>
            </a:r>
          </a:p>
        </p:txBody>
      </p:sp>
      <p:sp>
        <p:nvSpPr>
          <p:cNvPr id="4" name="TextBox 3"/>
          <p:cNvSpPr txBox="1"/>
          <p:nvPr/>
        </p:nvSpPr>
        <p:spPr>
          <a:xfrm>
            <a:off x="722376" y="1307592"/>
            <a:ext cx="10698480" cy="271779"/>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600" b="1">
                <a:solidFill>
                  <a:srgbClr val="227B71"/>
                </a:solidFill>
                <a:latin typeface="Pretendard"/>
                <a:ea typeface="Pretendard"/>
                <a:cs typeface="Pretendard"/>
              </a:rPr>
              <a:t>각 벤치마크에서 독립 적용</a:t>
            </a:r>
          </a:p>
        </p:txBody>
      </p:sp>
      <p:sp>
        <p:nvSpPr>
          <p:cNvPr id="5" name="Rectangle 4"/>
          <p:cNvSpPr/>
          <p:nvPr/>
        </p:nvSpPr>
        <p:spPr>
          <a:xfrm>
            <a:off x="640080" y="1627632"/>
            <a:ext cx="2834640" cy="10515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640080" y="1627632"/>
            <a:ext cx="283464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TextBox 6"/>
          <p:cNvSpPr txBox="1"/>
          <p:nvPr/>
        </p:nvSpPr>
        <p:spPr>
          <a:xfrm>
            <a:off x="731519" y="1696212"/>
            <a:ext cx="2651760"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실제 트래픽</a:t>
            </a:r>
          </a:p>
        </p:txBody>
      </p:sp>
      <p:sp>
        <p:nvSpPr>
          <p:cNvPr id="8" name="TextBox 7"/>
          <p:cNvSpPr txBox="1"/>
          <p:nvPr/>
        </p:nvSpPr>
        <p:spPr>
          <a:xfrm>
            <a:off x="749808" y="2203704"/>
            <a:ext cx="2615184" cy="279273"/>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650" b="0">
                <a:solidFill>
                  <a:srgbClr val="20262E"/>
                </a:solidFill>
                <a:latin typeface="Pretendard"/>
                <a:ea typeface="Pretendard"/>
                <a:cs typeface="Pretendard"/>
              </a:rPr>
              <a:t>IoT-23 / ISCX-Bot / CTU-13</a:t>
            </a:r>
          </a:p>
        </p:txBody>
      </p:sp>
      <p:sp>
        <p:nvSpPr>
          <p:cNvPr id="9" name="Right Arrow 8"/>
          <p:cNvSpPr/>
          <p:nvPr/>
        </p:nvSpPr>
        <p:spPr>
          <a:xfrm>
            <a:off x="3666744" y="2011680"/>
            <a:ext cx="36576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224528" y="1627632"/>
            <a:ext cx="3154680" cy="10515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224528" y="1627632"/>
            <a:ext cx="315468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4315968" y="1696212"/>
            <a:ext cx="2971800"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입력 전처리</a:t>
            </a:r>
          </a:p>
        </p:txBody>
      </p:sp>
      <p:sp>
        <p:nvSpPr>
          <p:cNvPr id="13" name="TextBox 12"/>
          <p:cNvSpPr txBox="1"/>
          <p:nvPr/>
        </p:nvSpPr>
        <p:spPr>
          <a:xfrm>
            <a:off x="4334256" y="2203704"/>
            <a:ext cx="2935224"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0">
                <a:solidFill>
                  <a:srgbClr val="20262E"/>
                </a:solidFill>
                <a:latin typeface="Pretendard"/>
                <a:ea typeface="Pretendard"/>
                <a:cs typeface="Pretendard"/>
              </a:rPr>
              <a:t>PCAP → flow → burst / token</a:t>
            </a:r>
          </a:p>
        </p:txBody>
      </p:sp>
      <p:sp>
        <p:nvSpPr>
          <p:cNvPr id="14" name="Right Arrow 13"/>
          <p:cNvSpPr/>
          <p:nvPr/>
        </p:nvSpPr>
        <p:spPr>
          <a:xfrm>
            <a:off x="7589520" y="2011680"/>
            <a:ext cx="36576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Rectangle 14"/>
          <p:cNvSpPr/>
          <p:nvPr/>
        </p:nvSpPr>
        <p:spPr>
          <a:xfrm>
            <a:off x="8156448" y="1627632"/>
            <a:ext cx="3364992" cy="105156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Rectangle 15"/>
          <p:cNvSpPr/>
          <p:nvPr/>
        </p:nvSpPr>
        <p:spPr>
          <a:xfrm>
            <a:off x="8156448" y="1627632"/>
            <a:ext cx="336499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8247888" y="1696212"/>
            <a:ext cx="3182112"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평가 집합 구성</a:t>
            </a:r>
          </a:p>
        </p:txBody>
      </p:sp>
      <p:sp>
        <p:nvSpPr>
          <p:cNvPr id="18" name="TextBox 17"/>
          <p:cNvSpPr txBox="1"/>
          <p:nvPr/>
        </p:nvSpPr>
        <p:spPr>
          <a:xfrm>
            <a:off x="8266175" y="2203704"/>
            <a:ext cx="3145536"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0">
                <a:solidFill>
                  <a:srgbClr val="20262E"/>
                </a:solidFill>
                <a:latin typeface="Pretendard"/>
                <a:ea typeface="Pretendard"/>
                <a:cs typeface="Pretendard"/>
              </a:rPr>
              <a:t>같은 출처 안에서 사례·라벨 분리</a:t>
            </a:r>
          </a:p>
        </p:txBody>
      </p:sp>
      <p:sp>
        <p:nvSpPr>
          <p:cNvPr id="19" name="TextBox 18"/>
          <p:cNvSpPr txBox="1"/>
          <p:nvPr/>
        </p:nvSpPr>
        <p:spPr>
          <a:xfrm>
            <a:off x="722376" y="2953512"/>
            <a:ext cx="10881360"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실험자가 조절한 부분  라벨 공개 대상과 클래스별 표본 수</a:t>
            </a:r>
          </a:p>
        </p:txBody>
      </p:sp>
      <p:sp>
        <p:nvSpPr>
          <p:cNvPr id="20" name="Rectangle 19"/>
          <p:cNvSpPr/>
          <p:nvPr/>
        </p:nvSpPr>
        <p:spPr>
          <a:xfrm>
            <a:off x="713232" y="3547872"/>
            <a:ext cx="5239512" cy="162763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Rectangle 20"/>
          <p:cNvSpPr/>
          <p:nvPr/>
        </p:nvSpPr>
        <p:spPr>
          <a:xfrm>
            <a:off x="713232" y="3547872"/>
            <a:ext cx="5239512" cy="40233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804672" y="3616452"/>
            <a:ext cx="5056632"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라벨 집합 L</a:t>
            </a:r>
          </a:p>
        </p:txBody>
      </p:sp>
      <p:sp>
        <p:nvSpPr>
          <p:cNvPr id="23" name="TextBox 22"/>
          <p:cNvSpPr txBox="1"/>
          <p:nvPr/>
        </p:nvSpPr>
        <p:spPr>
          <a:xfrm>
            <a:off x="822960" y="4123944"/>
            <a:ext cx="5020056" cy="601472"/>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0">
                <a:solidFill>
                  <a:srgbClr val="20262E"/>
                </a:solidFill>
                <a:latin typeface="Pretendard"/>
                <a:ea typeface="Pretendard"/>
                <a:cs typeface="Pretendard"/>
              </a:rPr>
              <a:t>알려진 공격만 포함</a:t>
            </a:r>
          </a:p>
          <a:p>
            <a:pPr algn="ctr">
              <a:lnSpc>
                <a:spcPct val="118000"/>
              </a:lnSpc>
              <a:spcBef>
                <a:spcPts val="0"/>
              </a:spcBef>
              <a:spcAft>
                <a:spcPts val="0"/>
              </a:spcAft>
            </a:pPr>
            <a:r>
              <a:rPr lang="ko-KR" sz="1900" b="0">
                <a:solidFill>
                  <a:srgbClr val="20262E"/>
                </a:solidFill>
                <a:latin typeface="Pretendard"/>
                <a:ea typeface="Pretendard"/>
                <a:cs typeface="Pretendard"/>
              </a:rPr>
              <a:t>클래스별 같은 수의 사례</a:t>
            </a:r>
          </a:p>
        </p:txBody>
      </p:sp>
      <p:sp>
        <p:nvSpPr>
          <p:cNvPr id="24" name="Rectangle 23"/>
          <p:cNvSpPr/>
          <p:nvPr/>
        </p:nvSpPr>
        <p:spPr>
          <a:xfrm>
            <a:off x="6245352" y="3547872"/>
            <a:ext cx="5239512" cy="162763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Rectangle 24"/>
          <p:cNvSpPr/>
          <p:nvPr/>
        </p:nvSpPr>
        <p:spPr>
          <a:xfrm>
            <a:off x="6245352" y="3547872"/>
            <a:ext cx="5239512" cy="402336"/>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336792" y="3616452"/>
            <a:ext cx="5056632"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비라벨 집합 U</a:t>
            </a:r>
          </a:p>
        </p:txBody>
      </p:sp>
      <p:sp>
        <p:nvSpPr>
          <p:cNvPr id="27" name="TextBox 26"/>
          <p:cNvSpPr txBox="1"/>
          <p:nvPr/>
        </p:nvSpPr>
        <p:spPr>
          <a:xfrm>
            <a:off x="6355080" y="4123944"/>
            <a:ext cx="5020056" cy="601472"/>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0">
                <a:solidFill>
                  <a:srgbClr val="20262E"/>
                </a:solidFill>
                <a:latin typeface="Pretendard"/>
                <a:ea typeface="Pretendard"/>
                <a:cs typeface="Pretendard"/>
              </a:rPr>
              <a:t>알려진 공격 + 새로운 공격</a:t>
            </a:r>
          </a:p>
          <a:p>
            <a:pPr algn="ctr">
              <a:lnSpc>
                <a:spcPct val="118000"/>
              </a:lnSpc>
              <a:spcBef>
                <a:spcPts val="0"/>
              </a:spcBef>
              <a:spcAft>
                <a:spcPts val="0"/>
              </a:spcAft>
            </a:pPr>
            <a:r>
              <a:rPr lang="ko-KR" sz="1900" b="0">
                <a:solidFill>
                  <a:srgbClr val="20262E"/>
                </a:solidFill>
                <a:latin typeface="Pretendard"/>
                <a:ea typeface="Pretendard"/>
                <a:cs typeface="Pretendard"/>
              </a:rPr>
              <a:t>불균형 구성 · 정답은 학습에서 비공개</a:t>
            </a:r>
          </a:p>
        </p:txBody>
      </p:sp>
      <p:sp>
        <p:nvSpPr>
          <p:cNvPr id="28" name="Rectangle 27"/>
          <p:cNvSpPr/>
          <p:nvPr/>
        </p:nvSpPr>
        <p:spPr>
          <a:xfrm>
            <a:off x="1115568" y="5358384"/>
            <a:ext cx="566928"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Rectangle 28"/>
          <p:cNvSpPr/>
          <p:nvPr/>
        </p:nvSpPr>
        <p:spPr>
          <a:xfrm>
            <a:off x="1801368" y="5358384"/>
            <a:ext cx="566928"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Rectangle 29"/>
          <p:cNvSpPr/>
          <p:nvPr/>
        </p:nvSpPr>
        <p:spPr>
          <a:xfrm>
            <a:off x="2487168" y="5358384"/>
            <a:ext cx="566928"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Rectangle 30"/>
          <p:cNvSpPr/>
          <p:nvPr/>
        </p:nvSpPr>
        <p:spPr>
          <a:xfrm>
            <a:off x="3172968" y="5358384"/>
            <a:ext cx="566928" cy="228600"/>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Rectangle 31"/>
          <p:cNvSpPr/>
          <p:nvPr/>
        </p:nvSpPr>
        <p:spPr>
          <a:xfrm>
            <a:off x="3858768" y="5358384"/>
            <a:ext cx="566928" cy="228600"/>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Rectangle 32"/>
          <p:cNvSpPr/>
          <p:nvPr/>
        </p:nvSpPr>
        <p:spPr>
          <a:xfrm>
            <a:off x="4544568" y="5358384"/>
            <a:ext cx="566928" cy="228600"/>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Rectangle 33"/>
          <p:cNvSpPr/>
          <p:nvPr/>
        </p:nvSpPr>
        <p:spPr>
          <a:xfrm>
            <a:off x="6748272" y="5358384"/>
            <a:ext cx="438912"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Rectangle 34"/>
          <p:cNvSpPr/>
          <p:nvPr/>
        </p:nvSpPr>
        <p:spPr>
          <a:xfrm>
            <a:off x="7306056" y="5358384"/>
            <a:ext cx="438912"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Rectangle 35"/>
          <p:cNvSpPr/>
          <p:nvPr/>
        </p:nvSpPr>
        <p:spPr>
          <a:xfrm>
            <a:off x="7863840" y="5358384"/>
            <a:ext cx="438912"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Rectangle 36"/>
          <p:cNvSpPr/>
          <p:nvPr/>
        </p:nvSpPr>
        <p:spPr>
          <a:xfrm>
            <a:off x="8421624" y="5358384"/>
            <a:ext cx="438912" cy="22860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Rectangle 37"/>
          <p:cNvSpPr/>
          <p:nvPr/>
        </p:nvSpPr>
        <p:spPr>
          <a:xfrm>
            <a:off x="8979408" y="5358384"/>
            <a:ext cx="438912" cy="228600"/>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Rectangle 38"/>
          <p:cNvSpPr/>
          <p:nvPr/>
        </p:nvSpPr>
        <p:spPr>
          <a:xfrm>
            <a:off x="9537192" y="5358384"/>
            <a:ext cx="438912" cy="228600"/>
          </a:xfrm>
          <a:prstGeom prst="rect">
            <a:avLst/>
          </a:prstGeom>
          <a:solidFill>
            <a:srgbClr val="9F6B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859536" y="5733288"/>
            <a:ext cx="4965192"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rPr>
              <a:t>구성 예시 · 파랑·청록 = known / 주황 = novel</a:t>
            </a:r>
          </a:p>
        </p:txBody>
      </p:sp>
      <p:sp>
        <p:nvSpPr>
          <p:cNvPr id="41" name="TextBox 40"/>
          <p:cNvSpPr txBox="1"/>
          <p:nvPr/>
        </p:nvSpPr>
        <p:spPr>
          <a:xfrm>
            <a:off x="6382512" y="5696712"/>
            <a:ext cx="4974336" cy="301751"/>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800" b="1">
                <a:solidFill>
                  <a:srgbClr val="00306C"/>
                </a:solidFill>
                <a:latin typeface="Pretendard"/>
                <a:ea typeface="Pretendard"/>
                <a:cs typeface="Pretendard"/>
              </a:rPr>
              <a:t>Known / novel 총량 비 γ = 1, 5, 10</a:t>
            </a:r>
          </a:p>
        </p:txBody>
      </p:sp>
      <p:sp>
        <p:nvSpPr>
          <p:cNvPr id="42" name="TextBox 41"/>
          <p:cNvSpPr txBox="1"/>
          <p:nvPr/>
        </p:nvSpPr>
        <p:spPr>
          <a:xfrm>
            <a:off x="859536" y="6080760"/>
            <a:ext cx="1051560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rPr>
              <a:t>블록 수는 설명용 예시 · 실제 표본 수와 별개</a:t>
            </a:r>
          </a:p>
        </p:txBody>
      </p:sp>
      <p:sp>
        <p:nvSpPr>
          <p:cNvPr id="43" name="Rectangle 42"/>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48640" y="6537960"/>
            <a:ext cx="87325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FFFFFF"/>
                </a:solidFill>
                <a:latin typeface="Pretendard"/>
                <a:ea typeface="Pretendard"/>
                <a:cs typeface="Pretendard"/>
              </a:rPr>
              <a:t>실제 트래픽의 라벨 가용성과 불균형을 조절해 새로운 botnet 군집 발견 평가</a:t>
            </a:r>
          </a:p>
        </p:txBody>
      </p:sp>
      <p:sp>
        <p:nvSpPr>
          <p:cNvPr id="45" name="TextBox 44"/>
          <p:cNvSpPr txBox="1"/>
          <p:nvPr/>
        </p:nvSpPr>
        <p:spPr>
          <a:xfrm>
            <a:off x="9281160" y="6547104"/>
            <a:ext cx="1965960" cy="211836"/>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200" b="0">
                <a:solidFill>
                  <a:srgbClr val="C9D8EB"/>
                </a:solidFill>
                <a:latin typeface="Pretendard"/>
                <a:ea typeface="Pretendard"/>
                <a:cs typeface="Pretendard"/>
              </a:rPr>
              <a:t>03 평가 시나리오</a:t>
            </a:r>
          </a:p>
        </p:txBody>
      </p:sp>
      <p:sp>
        <p:nvSpPr>
          <p:cNvPr id="46" name="TextBox 45"/>
          <p:cNvSpPr txBox="1"/>
          <p:nvPr/>
        </p:nvSpPr>
        <p:spPr>
          <a:xfrm>
            <a:off x="11411712" y="6533388"/>
            <a:ext cx="256032" cy="241808"/>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400" b="0">
                <a:solidFill>
                  <a:srgbClr val="FFFFFF"/>
                </a:solidFill>
                <a:latin typeface="Pretendard"/>
                <a:ea typeface="Pretendard"/>
                <a:cs typeface="Pretendard"/>
              </a:rPr>
              <a:t>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11045952" cy="48158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3000" b="1">
                <a:solidFill>
                  <a:srgbClr val="00306C"/>
                </a:solidFill>
                <a:latin typeface="Pretendard"/>
                <a:ea typeface="Pretendard"/>
                <a:cs typeface="Pretendard"/>
              </a:rPr>
              <a:t>LotBoNC · 임시 정답과 클래스 표현의 반복 갱신</a:t>
            </a:r>
          </a:p>
        </p:txBody>
      </p:sp>
      <p:pic>
        <p:nvPicPr>
          <p:cNvPr id="3" name="Picture 2" descr="lotbonc.png"/>
          <p:cNvPicPr>
            <a:picLocks noChangeAspect="1"/>
          </p:cNvPicPr>
          <p:nvPr/>
        </p:nvPicPr>
        <p:blipFill>
          <a:blip r:embed="rId3"/>
          <a:stretch>
            <a:fillRect/>
          </a:stretch>
        </p:blipFill>
        <p:spPr>
          <a:xfrm>
            <a:off x="979065" y="1234440"/>
            <a:ext cx="4716989" cy="2788920"/>
          </a:xfrm>
          <a:prstGeom prst="rect">
            <a:avLst/>
          </a:prstGeom>
          <a:effectLst/>
        </p:spPr>
      </p:pic>
      <p:sp>
        <p:nvSpPr>
          <p:cNvPr id="4" name="TextBox 3"/>
          <p:cNvSpPr txBox="1"/>
          <p:nvPr/>
        </p:nvSpPr>
        <p:spPr>
          <a:xfrm>
            <a:off x="822960" y="4096512"/>
            <a:ext cx="5056632"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rPr>
              <a:t>원문 Figure 4 · 임시 정답 배정과 표현 학습의 반복</a:t>
            </a:r>
          </a:p>
        </p:txBody>
      </p:sp>
      <p:sp>
        <p:nvSpPr>
          <p:cNvPr id="5" name="Rectangle 4"/>
          <p:cNvSpPr/>
          <p:nvPr/>
        </p:nvSpPr>
        <p:spPr>
          <a:xfrm>
            <a:off x="731520" y="4663440"/>
            <a:ext cx="5193792" cy="126187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896112" y="4800600"/>
            <a:ext cx="4846320" cy="346710"/>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100" b="1">
                <a:solidFill>
                  <a:srgbClr val="00306C"/>
                </a:solidFill>
                <a:latin typeface="Pretendard"/>
                <a:ea typeface="Pretendard"/>
                <a:cs typeface="Pretendard"/>
              </a:rPr>
              <a:t>E-step의 배정 기준</a:t>
            </a:r>
          </a:p>
        </p:txBody>
      </p:sp>
      <p:sp>
        <p:nvSpPr>
          <p:cNvPr id="7" name="TextBox 6"/>
          <p:cNvSpPr txBox="1"/>
          <p:nvPr/>
        </p:nvSpPr>
        <p:spPr>
          <a:xfrm>
            <a:off x="896112" y="5257800"/>
            <a:ext cx="4846320" cy="571500"/>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800" b="0">
                <a:solidFill>
                  <a:srgbClr val="20262E"/>
                </a:solidFill>
                <a:latin typeface="Pretendard"/>
                <a:ea typeface="Pretendard"/>
                <a:cs typeface="Pretendard"/>
              </a:rPr>
              <a:t>예측과 맞는 배정 + 추정 클래스 비율 유지</a:t>
            </a:r>
          </a:p>
          <a:p>
            <a:pPr algn="l">
              <a:lnSpc>
                <a:spcPct val="118000"/>
              </a:lnSpc>
              <a:spcBef>
                <a:spcPts val="0"/>
              </a:spcBef>
              <a:spcAft>
                <a:spcPts val="0"/>
              </a:spcAft>
            </a:pPr>
            <a:r>
              <a:rPr lang="ko-KR" sz="1800" b="0">
                <a:solidFill>
                  <a:srgbClr val="20262E"/>
                </a:solidFill>
                <a:latin typeface="Pretendard"/>
                <a:ea typeface="Pretendard"/>
                <a:cs typeface="Pretendard"/>
              </a:rPr>
              <a:t>예시  10개 사례 · prior 0.6 : 0.3 : 0.1</a:t>
            </a:r>
          </a:p>
        </p:txBody>
      </p:sp>
      <p:sp>
        <p:nvSpPr>
          <p:cNvPr id="8" name="Rectangle 7"/>
          <p:cNvSpPr/>
          <p:nvPr/>
        </p:nvSpPr>
        <p:spPr>
          <a:xfrm>
            <a:off x="6446520" y="1325880"/>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6446520" y="1367028"/>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1</a:t>
            </a:r>
          </a:p>
        </p:txBody>
      </p:sp>
      <p:sp>
        <p:nvSpPr>
          <p:cNvPr id="10" name="TextBox 9"/>
          <p:cNvSpPr txBox="1"/>
          <p:nvPr/>
        </p:nvSpPr>
        <p:spPr>
          <a:xfrm>
            <a:off x="6958583" y="1316736"/>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E-step · batch 전체의 임시 정답</a:t>
            </a:r>
          </a:p>
        </p:txBody>
      </p:sp>
      <p:sp>
        <p:nvSpPr>
          <p:cNvPr id="11" name="TextBox 10"/>
          <p:cNvSpPr txBox="1"/>
          <p:nvPr/>
        </p:nvSpPr>
        <p:spPr>
          <a:xfrm>
            <a:off x="6958583" y="1764792"/>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dirty="0">
                <a:solidFill>
                  <a:srgbClr val="20262E"/>
                </a:solidFill>
                <a:latin typeface="Pretendard"/>
                <a:ea typeface="Pretendard"/>
                <a:cs typeface="Pretendard"/>
              </a:rPr>
              <a:t>높은 예측 확률을 우선하되</a:t>
            </a:r>
          </a:p>
          <a:p>
            <a:pPr algn="l">
              <a:lnSpc>
                <a:spcPct val="118000"/>
              </a:lnSpc>
              <a:spcBef>
                <a:spcPts val="0"/>
              </a:spcBef>
              <a:spcAft>
                <a:spcPts val="0"/>
              </a:spcAft>
            </a:pPr>
            <a:r>
              <a:rPr lang="ko-KR" sz="2000" b="0" dirty="0">
                <a:solidFill>
                  <a:srgbClr val="20262E"/>
                </a:solidFill>
                <a:latin typeface="Pretendard"/>
                <a:ea typeface="Pretendard"/>
                <a:cs typeface="Pretendard"/>
              </a:rPr>
              <a:t>클래스별 총량을 추정 </a:t>
            </a:r>
            <a:r>
              <a:rPr lang="ko-KR" sz="2000" b="0" dirty="0" err="1">
                <a:solidFill>
                  <a:srgbClr val="20262E"/>
                </a:solidFill>
                <a:latin typeface="Pretendard"/>
                <a:ea typeface="Pretendard"/>
                <a:cs typeface="Pretendard"/>
              </a:rPr>
              <a:t>prior에</a:t>
            </a:r>
            <a:r>
              <a:rPr lang="ko-KR" sz="2000" b="0" dirty="0">
                <a:solidFill>
                  <a:srgbClr val="20262E"/>
                </a:solidFill>
                <a:latin typeface="Pretendard"/>
                <a:ea typeface="Pretendard"/>
                <a:cs typeface="Pretendard"/>
              </a:rPr>
              <a:t> 맞춤</a:t>
            </a:r>
          </a:p>
        </p:txBody>
      </p:sp>
      <p:sp>
        <p:nvSpPr>
          <p:cNvPr id="12" name="Rectangle 11"/>
          <p:cNvSpPr/>
          <p:nvPr/>
        </p:nvSpPr>
        <p:spPr>
          <a:xfrm>
            <a:off x="6446520" y="2834640"/>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6446520" y="2875788"/>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2</a:t>
            </a:r>
          </a:p>
        </p:txBody>
      </p:sp>
      <p:sp>
        <p:nvSpPr>
          <p:cNvPr id="14" name="TextBox 13"/>
          <p:cNvSpPr txBox="1"/>
          <p:nvPr/>
        </p:nvSpPr>
        <p:spPr>
          <a:xfrm>
            <a:off x="6958583" y="2825496"/>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M-step · 클래스 대표 표현 갱신</a:t>
            </a:r>
          </a:p>
        </p:txBody>
      </p:sp>
      <p:sp>
        <p:nvSpPr>
          <p:cNvPr id="15" name="TextBox 14"/>
          <p:cNvSpPr txBox="1"/>
          <p:nvPr/>
        </p:nvSpPr>
        <p:spPr>
          <a:xfrm>
            <a:off x="6958583" y="3273552"/>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dirty="0">
                <a:solidFill>
                  <a:srgbClr val="20262E"/>
                </a:solidFill>
                <a:latin typeface="Pretendard"/>
                <a:ea typeface="Pretendard"/>
                <a:cs typeface="Pretendard"/>
              </a:rPr>
              <a:t>배정된 사례로 </a:t>
            </a:r>
            <a:r>
              <a:rPr lang="ko-KR" sz="2000" b="0" dirty="0" err="1">
                <a:solidFill>
                  <a:srgbClr val="20262E"/>
                </a:solidFill>
                <a:latin typeface="Pretendard"/>
                <a:ea typeface="Pretendard"/>
                <a:cs typeface="Pretendard"/>
              </a:rPr>
              <a:t>prototype</a:t>
            </a:r>
            <a:r>
              <a:rPr lang="en-US" altLang="ko-KR" sz="2000" b="0" dirty="0">
                <a:solidFill>
                  <a:srgbClr val="20262E"/>
                </a:solidFill>
                <a:latin typeface="Pretendard"/>
                <a:ea typeface="Pretendard"/>
                <a:cs typeface="Pretendard"/>
              </a:rPr>
              <a:t>(</a:t>
            </a:r>
            <a:r>
              <a:rPr lang="ko-KR" altLang="en-US" sz="2000" b="0" dirty="0">
                <a:solidFill>
                  <a:srgbClr val="20262E"/>
                </a:solidFill>
                <a:latin typeface="Pretendard"/>
                <a:ea typeface="Pretendard"/>
                <a:cs typeface="Pretendard"/>
              </a:rPr>
              <a:t>중심</a:t>
            </a:r>
            <a:r>
              <a:rPr lang="en-US" altLang="ko-KR" sz="2000" b="0" dirty="0">
                <a:solidFill>
                  <a:srgbClr val="20262E"/>
                </a:solidFill>
                <a:latin typeface="Pretendard"/>
                <a:ea typeface="Pretendard"/>
                <a:cs typeface="Pretendard"/>
              </a:rPr>
              <a:t>)</a:t>
            </a:r>
            <a:r>
              <a:rPr lang="ko-KR" sz="2000" b="0" dirty="0">
                <a:solidFill>
                  <a:srgbClr val="20262E"/>
                </a:solidFill>
                <a:latin typeface="Pretendard"/>
                <a:ea typeface="Pretendard"/>
                <a:cs typeface="Pretendard"/>
              </a:rPr>
              <a:t>과 </a:t>
            </a:r>
            <a:r>
              <a:rPr lang="ko-KR" sz="2000" b="0" dirty="0" err="1">
                <a:solidFill>
                  <a:srgbClr val="20262E"/>
                </a:solidFill>
                <a:latin typeface="Pretendard"/>
                <a:ea typeface="Pretendard"/>
                <a:cs typeface="Pretendard"/>
              </a:rPr>
              <a:t>prior</a:t>
            </a:r>
            <a:r>
              <a:rPr lang="en-US" altLang="ko-KR" sz="2000" b="0" dirty="0">
                <a:solidFill>
                  <a:srgbClr val="20262E"/>
                </a:solidFill>
                <a:latin typeface="Pretendard"/>
                <a:ea typeface="Pretendard"/>
                <a:cs typeface="Pretendard"/>
              </a:rPr>
              <a:t>(</a:t>
            </a:r>
            <a:r>
              <a:rPr lang="ko-KR" altLang="en-US" sz="2000" dirty="0">
                <a:solidFill>
                  <a:srgbClr val="20262E"/>
                </a:solidFill>
                <a:latin typeface="Pretendard"/>
                <a:ea typeface="Pretendard"/>
                <a:cs typeface="Pretendard"/>
              </a:rPr>
              <a:t>빈도</a:t>
            </a:r>
            <a:r>
              <a:rPr lang="en-US" altLang="ko-KR" sz="2000" dirty="0">
                <a:solidFill>
                  <a:srgbClr val="20262E"/>
                </a:solidFill>
                <a:latin typeface="Pretendard"/>
                <a:ea typeface="Pretendard"/>
                <a:cs typeface="Pretendard"/>
              </a:rPr>
              <a:t>)</a:t>
            </a:r>
            <a:r>
              <a:rPr lang="ko-KR" sz="2000" b="0" dirty="0">
                <a:solidFill>
                  <a:srgbClr val="20262E"/>
                </a:solidFill>
                <a:latin typeface="Pretendard"/>
                <a:ea typeface="Pretendard"/>
                <a:cs typeface="Pretendard"/>
              </a:rPr>
              <a:t> </a:t>
            </a:r>
            <a:r>
              <a:rPr lang="ko-KR" altLang="en-US" sz="2000" b="0" dirty="0">
                <a:solidFill>
                  <a:srgbClr val="20262E"/>
                </a:solidFill>
                <a:latin typeface="Pretendard"/>
                <a:ea typeface="Pretendard"/>
                <a:cs typeface="Pretendard"/>
              </a:rPr>
              <a:t>갱신</a:t>
            </a:r>
            <a:endParaRPr lang="ko-KR" sz="2000" b="0" dirty="0">
              <a:solidFill>
                <a:srgbClr val="20262E"/>
              </a:solidFill>
              <a:latin typeface="Pretendard"/>
              <a:ea typeface="Pretendard"/>
              <a:cs typeface="Pretendard"/>
            </a:endParaRPr>
          </a:p>
          <a:p>
            <a:pPr algn="l">
              <a:lnSpc>
                <a:spcPct val="118000"/>
              </a:lnSpc>
              <a:spcBef>
                <a:spcPts val="0"/>
              </a:spcBef>
              <a:spcAft>
                <a:spcPts val="0"/>
              </a:spcAft>
            </a:pPr>
            <a:r>
              <a:rPr lang="ko-KR" sz="2000" b="0" dirty="0">
                <a:solidFill>
                  <a:srgbClr val="20262E"/>
                </a:solidFill>
                <a:latin typeface="Pretendard"/>
                <a:ea typeface="Pretendard"/>
                <a:cs typeface="Pretendard"/>
              </a:rPr>
              <a:t>이전 값과 새 값을 이동평균으로 결합</a:t>
            </a:r>
          </a:p>
        </p:txBody>
      </p:sp>
      <p:sp>
        <p:nvSpPr>
          <p:cNvPr id="16" name="Rectangle 15"/>
          <p:cNvSpPr/>
          <p:nvPr/>
        </p:nvSpPr>
        <p:spPr>
          <a:xfrm>
            <a:off x="6446520" y="4343400"/>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6446520" y="4384548"/>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3</a:t>
            </a:r>
          </a:p>
        </p:txBody>
      </p:sp>
      <p:sp>
        <p:nvSpPr>
          <p:cNvPr id="18" name="TextBox 17"/>
          <p:cNvSpPr txBox="1"/>
          <p:nvPr/>
        </p:nvSpPr>
        <p:spPr>
          <a:xfrm>
            <a:off x="6958583" y="4334256"/>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표현이 좋아지도록 가중치 학습</a:t>
            </a:r>
          </a:p>
        </p:txBody>
      </p:sp>
      <p:sp>
        <p:nvSpPr>
          <p:cNvPr id="19" name="TextBox 18"/>
          <p:cNvSpPr txBox="1"/>
          <p:nvPr/>
        </p:nvSpPr>
        <p:spPr>
          <a:xfrm>
            <a:off x="6958583" y="4782312"/>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대조 손실 + prototype 손실</a:t>
            </a:r>
          </a:p>
          <a:p>
            <a:pPr algn="l">
              <a:lnSpc>
                <a:spcPct val="118000"/>
              </a:lnSpc>
              <a:spcBef>
                <a:spcPts val="0"/>
              </a:spcBef>
              <a:spcAft>
                <a:spcPts val="0"/>
              </a:spcAft>
            </a:pPr>
            <a:r>
              <a:rPr lang="ko-KR" sz="2000" b="0">
                <a:solidFill>
                  <a:srgbClr val="20262E"/>
                </a:solidFill>
                <a:latin typeface="Pretendard"/>
                <a:ea typeface="Pretendard"/>
                <a:cs typeface="Pretendard"/>
              </a:rPr>
              <a:t>Encoder 가중치 θ 갱신 후 반복</a:t>
            </a:r>
          </a:p>
        </p:txBody>
      </p:sp>
      <p:sp>
        <p:nvSpPr>
          <p:cNvPr id="20" name="Rectangle 19"/>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548640" y="6537960"/>
            <a:ext cx="8732520" cy="241808"/>
          </a:xfrm>
          <a:prstGeom prst="rect">
            <a:avLst/>
          </a:prstGeom>
          <a:noFill/>
          <a:effectLst/>
        </p:spPr>
        <p:txBody>
          <a:bodyPr wrap="none" lIns="0" tIns="0" rIns="0" bIns="0" anchor="t">
            <a:noAutofit/>
          </a:bodyPr>
          <a:lstStyle/>
          <a:p>
            <a:pPr algn="l">
              <a:lnSpc>
                <a:spcPct val="100000"/>
              </a:lnSpc>
              <a:spcBef>
                <a:spcPts val="0"/>
              </a:spcBef>
              <a:spcAft>
                <a:spcPts val="0"/>
              </a:spcAft>
            </a:pPr>
            <a:r>
              <a:rPr lang="en-US" altLang="ko-KR" sz="1400" b="0" dirty="0">
                <a:solidFill>
                  <a:srgbClr val="FFFFFF"/>
                </a:solidFill>
                <a:latin typeface="Pretendard"/>
                <a:ea typeface="Pretendard"/>
                <a:cs typeface="Pretendard"/>
              </a:rPr>
              <a:t>Known</a:t>
            </a:r>
            <a:r>
              <a:rPr lang="ko-KR" altLang="en-US" sz="1400" b="0" dirty="0">
                <a:solidFill>
                  <a:srgbClr val="FFFFFF"/>
                </a:solidFill>
                <a:latin typeface="Pretendard"/>
                <a:ea typeface="Pretendard"/>
                <a:cs typeface="Pretendard"/>
              </a:rPr>
              <a:t>과 </a:t>
            </a:r>
            <a:r>
              <a:rPr lang="en-US" altLang="ko-KR" sz="1400" b="0" dirty="0">
                <a:solidFill>
                  <a:srgbClr val="FFFFFF"/>
                </a:solidFill>
                <a:latin typeface="Pretendard"/>
                <a:ea typeface="Pretendard"/>
                <a:cs typeface="Pretendard"/>
              </a:rPr>
              <a:t>novel</a:t>
            </a:r>
            <a:r>
              <a:rPr lang="ko-KR" altLang="en-US" sz="1400" b="0" dirty="0">
                <a:solidFill>
                  <a:srgbClr val="FFFFFF"/>
                </a:solidFill>
                <a:latin typeface="Pretendard"/>
                <a:ea typeface="Pretendard"/>
                <a:cs typeface="Pretendard"/>
              </a:rPr>
              <a:t>이 뒤섞인 라벨 없는 데이터에서</a:t>
            </a:r>
            <a:r>
              <a:rPr lang="en-US" altLang="ko-KR" sz="1400" b="0" dirty="0">
                <a:solidFill>
                  <a:srgbClr val="FFFFFF"/>
                </a:solidFill>
                <a:latin typeface="Pretendard"/>
                <a:ea typeface="Pretendard"/>
                <a:cs typeface="Pretendard"/>
              </a:rPr>
              <a:t>, </a:t>
            </a:r>
            <a:r>
              <a:rPr lang="ko-KR" altLang="en-US" sz="1400" b="0" dirty="0">
                <a:solidFill>
                  <a:srgbClr val="FFFFFF"/>
                </a:solidFill>
                <a:latin typeface="Pretendard"/>
                <a:ea typeface="Pretendard"/>
                <a:cs typeface="Pretendard"/>
              </a:rPr>
              <a:t>희귀한 </a:t>
            </a:r>
            <a:r>
              <a:rPr lang="en-US" altLang="ko-KR" sz="1400" b="0" dirty="0">
                <a:solidFill>
                  <a:srgbClr val="FFFFFF"/>
                </a:solidFill>
                <a:latin typeface="Pretendard"/>
                <a:ea typeface="Pretendard"/>
                <a:cs typeface="Pretendard"/>
              </a:rPr>
              <a:t>novel</a:t>
            </a:r>
            <a:r>
              <a:rPr lang="ko-KR" altLang="en-US" sz="1400" b="0" dirty="0">
                <a:solidFill>
                  <a:srgbClr val="FFFFFF"/>
                </a:solidFill>
                <a:latin typeface="Pretendard"/>
                <a:ea typeface="Pretendard"/>
                <a:cs typeface="Pretendard"/>
              </a:rPr>
              <a:t>이 묻히지 않도록 </a:t>
            </a:r>
            <a:r>
              <a:rPr lang="ko-KR" sz="1400" b="0" dirty="0">
                <a:solidFill>
                  <a:srgbClr val="FFFFFF"/>
                </a:solidFill>
                <a:latin typeface="Pretendard"/>
                <a:ea typeface="Pretendard"/>
                <a:cs typeface="Pretendard"/>
              </a:rPr>
              <a:t>· 고정 </a:t>
            </a:r>
            <a:r>
              <a:rPr lang="ko-KR" sz="1400" b="0" dirty="0" err="1">
                <a:solidFill>
                  <a:srgbClr val="FFFFFF"/>
                </a:solidFill>
                <a:latin typeface="Pretendard"/>
                <a:ea typeface="Pretendard"/>
                <a:cs typeface="Pretendard"/>
              </a:rPr>
              <a:t>TabPFN의</a:t>
            </a:r>
            <a:r>
              <a:rPr lang="ko-KR" sz="1400" b="0" dirty="0">
                <a:solidFill>
                  <a:srgbClr val="FFFFFF"/>
                </a:solidFill>
                <a:latin typeface="Pretendard"/>
                <a:ea typeface="Pretendard"/>
                <a:cs typeface="Pretendard"/>
              </a:rPr>
              <a:t> </a:t>
            </a:r>
            <a:r>
              <a:rPr lang="ko-KR" sz="1400" b="0" dirty="0" err="1">
                <a:solidFill>
                  <a:srgbClr val="FFFFFF"/>
                </a:solidFill>
                <a:latin typeface="Pretendard"/>
                <a:ea typeface="Pretendard"/>
                <a:cs typeface="Pretendard"/>
              </a:rPr>
              <a:t>context</a:t>
            </a:r>
            <a:r>
              <a:rPr lang="ko-KR" sz="1400" b="0" dirty="0">
                <a:solidFill>
                  <a:srgbClr val="FFFFFF"/>
                </a:solidFill>
                <a:latin typeface="Pretendard"/>
                <a:ea typeface="Pretendard"/>
                <a:cs typeface="Pretendard"/>
              </a:rPr>
              <a:t> 교체와는 다른 학습</a:t>
            </a:r>
          </a:p>
        </p:txBody>
      </p:sp>
      <p:sp>
        <p:nvSpPr>
          <p:cNvPr id="22" name="TextBox 21"/>
          <p:cNvSpPr txBox="1"/>
          <p:nvPr/>
        </p:nvSpPr>
        <p:spPr>
          <a:xfrm>
            <a:off x="9281160" y="6547104"/>
            <a:ext cx="1965960" cy="211836"/>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200" b="0">
                <a:solidFill>
                  <a:srgbClr val="C9D8EB"/>
                </a:solidFill>
                <a:latin typeface="Pretendard"/>
                <a:ea typeface="Pretendard"/>
                <a:cs typeface="Pretendard"/>
              </a:rPr>
              <a:t>03 평가 시나리오</a:t>
            </a:r>
          </a:p>
        </p:txBody>
      </p:sp>
      <p:sp>
        <p:nvSpPr>
          <p:cNvPr id="23" name="TextBox 22"/>
          <p:cNvSpPr txBox="1"/>
          <p:nvPr/>
        </p:nvSpPr>
        <p:spPr>
          <a:xfrm>
            <a:off x="11411712" y="6533388"/>
            <a:ext cx="256032" cy="241808"/>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400" b="0">
                <a:solidFill>
                  <a:srgbClr val="FFFFFF"/>
                </a:solidFill>
                <a:latin typeface="Pretendard"/>
                <a:ea typeface="Pretendard"/>
                <a:cs typeface="Pretendard"/>
              </a:rPr>
              <a:t>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11045952" cy="48158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3000" b="1">
                <a:solidFill>
                  <a:srgbClr val="00306C"/>
                </a:solidFill>
                <a:latin typeface="Pretendard"/>
                <a:ea typeface="Pretendard"/>
                <a:cs typeface="Pretendard"/>
              </a:rPr>
              <a:t>데이터 스트림 · 예측 순서와 context 비용의 분리</a:t>
            </a:r>
          </a:p>
        </p:txBody>
      </p:sp>
      <p:sp>
        <p:nvSpPr>
          <p:cNvPr id="3" name="TextBox 2"/>
          <p:cNvSpPr txBox="1"/>
          <p:nvPr/>
        </p:nvSpPr>
        <p:spPr>
          <a:xfrm>
            <a:off x="566928" y="960120"/>
            <a:ext cx="11018520" cy="256794"/>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500" b="0" dirty="0" err="1">
                <a:solidFill>
                  <a:srgbClr val="617080"/>
                </a:solidFill>
                <a:latin typeface="Pretendard"/>
                <a:ea typeface="Pretendard"/>
                <a:cs typeface="Pretendard"/>
                <a:hlinkClick r:id="rId3"/>
              </a:rPr>
              <a:t>Rethinking</a:t>
            </a:r>
            <a:r>
              <a:rPr lang="ko-KR" sz="1500" b="0" dirty="0">
                <a:solidFill>
                  <a:srgbClr val="617080"/>
                </a:solidFill>
                <a:latin typeface="Pretendard"/>
                <a:ea typeface="Pretendard"/>
                <a:cs typeface="Pretendard"/>
                <a:hlinkClick r:id="rId3"/>
              </a:rPr>
              <a:t> </a:t>
            </a:r>
            <a:r>
              <a:rPr lang="ko-KR" sz="1500" b="0" dirty="0" err="1">
                <a:solidFill>
                  <a:srgbClr val="617080"/>
                </a:solidFill>
                <a:latin typeface="Pretendard"/>
                <a:ea typeface="Pretendard"/>
                <a:cs typeface="Pretendard"/>
                <a:hlinkClick r:id="rId3"/>
              </a:rPr>
              <a:t>Tabular</a:t>
            </a:r>
            <a:r>
              <a:rPr lang="ko-KR" sz="1500" b="0" dirty="0">
                <a:solidFill>
                  <a:srgbClr val="617080"/>
                </a:solidFill>
                <a:latin typeface="Pretendard"/>
                <a:ea typeface="Pretendard"/>
                <a:cs typeface="Pretendard"/>
                <a:hlinkClick r:id="rId3"/>
              </a:rPr>
              <a:t> </a:t>
            </a:r>
            <a:r>
              <a:rPr lang="ko-KR" sz="1500" b="0" dirty="0" err="1">
                <a:solidFill>
                  <a:srgbClr val="617080"/>
                </a:solidFill>
                <a:latin typeface="Pretendard"/>
                <a:ea typeface="Pretendard"/>
                <a:cs typeface="Pretendard"/>
                <a:hlinkClick r:id="rId3"/>
              </a:rPr>
              <a:t>Foundation</a:t>
            </a:r>
            <a:r>
              <a:rPr lang="ko-KR" sz="1500" b="0" dirty="0">
                <a:solidFill>
                  <a:srgbClr val="617080"/>
                </a:solidFill>
                <a:latin typeface="Pretendard"/>
                <a:ea typeface="Pretendard"/>
                <a:cs typeface="Pretendard"/>
                <a:hlinkClick r:id="rId3"/>
              </a:rPr>
              <a:t> </a:t>
            </a:r>
            <a:r>
              <a:rPr lang="ko-KR" sz="1500" b="0" dirty="0" err="1">
                <a:solidFill>
                  <a:srgbClr val="617080"/>
                </a:solidFill>
                <a:latin typeface="Pretendard"/>
                <a:ea typeface="Pretendard"/>
                <a:cs typeface="Pretendard"/>
                <a:hlinkClick r:id="rId3"/>
              </a:rPr>
              <a:t>Models</a:t>
            </a:r>
            <a:r>
              <a:rPr lang="ko-KR" sz="1500" b="0" dirty="0">
                <a:solidFill>
                  <a:srgbClr val="617080"/>
                </a:solidFill>
                <a:latin typeface="Pretendard"/>
                <a:ea typeface="Pretendard"/>
                <a:cs typeface="Pretendard"/>
                <a:hlinkClick r:id="rId3"/>
              </a:rPr>
              <a:t> </a:t>
            </a:r>
            <a:r>
              <a:rPr lang="ko-KR" sz="1500" b="0" dirty="0" err="1">
                <a:solidFill>
                  <a:srgbClr val="617080"/>
                </a:solidFill>
                <a:latin typeface="Pretendard"/>
                <a:ea typeface="Pretendard"/>
                <a:cs typeface="Pretendard"/>
                <a:hlinkClick r:id="rId3"/>
              </a:rPr>
              <a:t>On</a:t>
            </a:r>
            <a:r>
              <a:rPr lang="ko-KR" sz="1500" b="0" dirty="0">
                <a:solidFill>
                  <a:srgbClr val="617080"/>
                </a:solidFill>
                <a:latin typeface="Pretendard"/>
                <a:ea typeface="Pretendard"/>
                <a:cs typeface="Pretendard"/>
                <a:hlinkClick r:id="rId3"/>
              </a:rPr>
              <a:t> Data </a:t>
            </a:r>
            <a:r>
              <a:rPr lang="ko-KR" sz="1500" b="0" dirty="0" err="1">
                <a:solidFill>
                  <a:srgbClr val="617080"/>
                </a:solidFill>
                <a:latin typeface="Pretendard"/>
                <a:ea typeface="Pretendard"/>
                <a:cs typeface="Pretendard"/>
                <a:hlinkClick r:id="rId3"/>
              </a:rPr>
              <a:t>Streams</a:t>
            </a:r>
            <a:r>
              <a:rPr lang="ko-KR" sz="1500" b="0" dirty="0">
                <a:solidFill>
                  <a:srgbClr val="617080"/>
                </a:solidFill>
                <a:latin typeface="Pretendard"/>
                <a:ea typeface="Pretendard"/>
                <a:cs typeface="Pretendard"/>
                <a:hlinkClick r:id="rId3"/>
              </a:rPr>
              <a:t> · </a:t>
            </a:r>
            <a:r>
              <a:rPr lang="ko-KR" sz="1500" b="0" dirty="0" err="1">
                <a:solidFill>
                  <a:srgbClr val="617080"/>
                </a:solidFill>
                <a:latin typeface="Pretendard"/>
                <a:ea typeface="Pretendard"/>
                <a:cs typeface="Pretendard"/>
                <a:hlinkClick r:id="rId3"/>
              </a:rPr>
              <a:t>arXiv</a:t>
            </a:r>
            <a:r>
              <a:rPr lang="ko-KR" sz="1500" b="0" dirty="0">
                <a:solidFill>
                  <a:srgbClr val="617080"/>
                </a:solidFill>
                <a:latin typeface="Pretendard"/>
                <a:ea typeface="Pretendard"/>
                <a:cs typeface="Pretendard"/>
                <a:hlinkClick r:id="rId3"/>
              </a:rPr>
              <a:t> 2026</a:t>
            </a:r>
          </a:p>
        </p:txBody>
      </p:sp>
      <p:sp>
        <p:nvSpPr>
          <p:cNvPr id="4" name="Rectangle 3"/>
          <p:cNvSpPr/>
          <p:nvPr/>
        </p:nvSpPr>
        <p:spPr>
          <a:xfrm>
            <a:off x="676656" y="1490472"/>
            <a:ext cx="2350008" cy="96012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676656" y="1490472"/>
            <a:ext cx="2350008"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768096" y="1559051"/>
            <a:ext cx="2167127"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새 사례 도착</a:t>
            </a:r>
          </a:p>
        </p:txBody>
      </p:sp>
      <p:sp>
        <p:nvSpPr>
          <p:cNvPr id="7" name="TextBox 6"/>
          <p:cNvSpPr txBox="1"/>
          <p:nvPr/>
        </p:nvSpPr>
        <p:spPr>
          <a:xfrm>
            <a:off x="786384" y="2066543"/>
            <a:ext cx="2130552"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0">
                <a:solidFill>
                  <a:srgbClr val="20262E"/>
                </a:solidFill>
                <a:latin typeface="Pretendard"/>
                <a:ea typeface="Pretendard"/>
                <a:cs typeface="Pretendard"/>
              </a:rPr>
              <a:t>x_t</a:t>
            </a:r>
          </a:p>
        </p:txBody>
      </p:sp>
      <p:sp>
        <p:nvSpPr>
          <p:cNvPr id="8" name="Rectangle 7"/>
          <p:cNvSpPr/>
          <p:nvPr/>
        </p:nvSpPr>
        <p:spPr>
          <a:xfrm>
            <a:off x="3502152" y="1490472"/>
            <a:ext cx="2350008" cy="96012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1490472"/>
            <a:ext cx="2350008"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593592" y="1559051"/>
            <a:ext cx="2167127"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먼저 예측</a:t>
            </a:r>
          </a:p>
        </p:txBody>
      </p:sp>
      <p:sp>
        <p:nvSpPr>
          <p:cNvPr id="11" name="TextBox 10"/>
          <p:cNvSpPr txBox="1"/>
          <p:nvPr/>
        </p:nvSpPr>
        <p:spPr>
          <a:xfrm>
            <a:off x="3611880" y="2066543"/>
            <a:ext cx="2130552"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0">
                <a:solidFill>
                  <a:srgbClr val="20262E"/>
                </a:solidFill>
                <a:latin typeface="Pretendard"/>
                <a:ea typeface="Pretendard"/>
                <a:cs typeface="Pretendard"/>
              </a:rPr>
              <a:t>현재 memory 사용</a:t>
            </a:r>
          </a:p>
        </p:txBody>
      </p:sp>
      <p:sp>
        <p:nvSpPr>
          <p:cNvPr id="12" name="Rectangle 11"/>
          <p:cNvSpPr/>
          <p:nvPr/>
        </p:nvSpPr>
        <p:spPr>
          <a:xfrm>
            <a:off x="6327648" y="1490472"/>
            <a:ext cx="2350008" cy="96012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6327648" y="1490472"/>
            <a:ext cx="2350008"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6419088" y="1559051"/>
            <a:ext cx="2167127"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정답 도착</a:t>
            </a:r>
          </a:p>
        </p:txBody>
      </p:sp>
      <p:sp>
        <p:nvSpPr>
          <p:cNvPr id="15" name="TextBox 14"/>
          <p:cNvSpPr txBox="1"/>
          <p:nvPr/>
        </p:nvSpPr>
        <p:spPr>
          <a:xfrm>
            <a:off x="6437376" y="2066543"/>
            <a:ext cx="2130552"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0">
                <a:solidFill>
                  <a:srgbClr val="20262E"/>
                </a:solidFill>
                <a:latin typeface="Pretendard"/>
                <a:ea typeface="Pretendard"/>
                <a:cs typeface="Pretendard"/>
              </a:rPr>
              <a:t>d개 사례 뒤</a:t>
            </a:r>
          </a:p>
        </p:txBody>
      </p:sp>
      <p:sp>
        <p:nvSpPr>
          <p:cNvPr id="16" name="Rectangle 15"/>
          <p:cNvSpPr/>
          <p:nvPr/>
        </p:nvSpPr>
        <p:spPr>
          <a:xfrm>
            <a:off x="9153144" y="1490472"/>
            <a:ext cx="2350008" cy="960120"/>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9153144" y="1490472"/>
            <a:ext cx="2350008"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9244584" y="1559051"/>
            <a:ext cx="2167127"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1">
                <a:solidFill>
                  <a:srgbClr val="FFFFFF"/>
                </a:solidFill>
                <a:latin typeface="Pretendard"/>
                <a:ea typeface="Pretendard"/>
                <a:cs typeface="Pretendard"/>
              </a:rPr>
              <a:t>그다음 갱신</a:t>
            </a:r>
          </a:p>
        </p:txBody>
      </p:sp>
      <p:sp>
        <p:nvSpPr>
          <p:cNvPr id="19" name="TextBox 18"/>
          <p:cNvSpPr txBox="1"/>
          <p:nvPr/>
        </p:nvSpPr>
        <p:spPr>
          <a:xfrm>
            <a:off x="9262872" y="2066543"/>
            <a:ext cx="2130552" cy="316738"/>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900" b="0">
                <a:solidFill>
                  <a:srgbClr val="20262E"/>
                </a:solidFill>
                <a:latin typeface="Pretendard"/>
                <a:ea typeface="Pretendard"/>
                <a:cs typeface="Pretendard"/>
              </a:rPr>
              <a:t>Memory M 변경</a:t>
            </a:r>
          </a:p>
        </p:txBody>
      </p:sp>
      <p:sp>
        <p:nvSpPr>
          <p:cNvPr id="20" name="Right Arrow 19"/>
          <p:cNvSpPr/>
          <p:nvPr/>
        </p:nvSpPr>
        <p:spPr>
          <a:xfrm>
            <a:off x="3108960" y="1856231"/>
            <a:ext cx="283464"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Right Arrow 20"/>
          <p:cNvSpPr/>
          <p:nvPr/>
        </p:nvSpPr>
        <p:spPr>
          <a:xfrm>
            <a:off x="5934456" y="1856231"/>
            <a:ext cx="283464"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Right Arrow 21"/>
          <p:cNvSpPr/>
          <p:nvPr/>
        </p:nvSpPr>
        <p:spPr>
          <a:xfrm>
            <a:off x="8759952" y="1856231"/>
            <a:ext cx="283464"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23" name="Picture 22" descr="streams_cache.png"/>
          <p:cNvPicPr>
            <a:picLocks noChangeAspect="1"/>
          </p:cNvPicPr>
          <p:nvPr/>
        </p:nvPicPr>
        <p:blipFill>
          <a:blip r:embed="rId4"/>
          <a:stretch>
            <a:fillRect/>
          </a:stretch>
        </p:blipFill>
        <p:spPr>
          <a:xfrm>
            <a:off x="685800" y="3096356"/>
            <a:ext cx="5358384" cy="1241358"/>
          </a:xfrm>
          <a:prstGeom prst="rect">
            <a:avLst/>
          </a:prstGeom>
          <a:effectLst/>
        </p:spPr>
      </p:pic>
      <p:sp>
        <p:nvSpPr>
          <p:cNvPr id="24" name="TextBox 23"/>
          <p:cNvSpPr txBox="1"/>
          <p:nvPr/>
        </p:nvSpPr>
        <p:spPr>
          <a:xfrm>
            <a:off x="768096" y="4590288"/>
            <a:ext cx="5129784"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rPr>
              <a:t>매번 context 재계산 / 저장된 표현 재사용</a:t>
            </a:r>
          </a:p>
        </p:txBody>
      </p:sp>
      <p:sp>
        <p:nvSpPr>
          <p:cNvPr id="25" name="TextBox 24"/>
          <p:cNvSpPr txBox="1"/>
          <p:nvPr/>
        </p:nvSpPr>
        <p:spPr>
          <a:xfrm>
            <a:off x="777240" y="5193792"/>
            <a:ext cx="5129784" cy="601472"/>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900" b="0">
                <a:solidFill>
                  <a:srgbClr val="20262E"/>
                </a:solidFill>
                <a:latin typeface="Pretendard"/>
                <a:ea typeface="Pretendard"/>
                <a:cs typeface="Pretendard"/>
              </a:rPr>
              <a:t>기본 조건  메모리 1,000행 · 즉시 라벨</a:t>
            </a:r>
          </a:p>
          <a:p>
            <a:pPr algn="l">
              <a:lnSpc>
                <a:spcPct val="118000"/>
              </a:lnSpc>
              <a:spcBef>
                <a:spcPts val="0"/>
              </a:spcBef>
              <a:spcAft>
                <a:spcPts val="0"/>
              </a:spcAft>
            </a:pPr>
            <a:r>
              <a:rPr lang="ko-KR" sz="1900" b="0">
                <a:solidFill>
                  <a:srgbClr val="20262E"/>
                </a:solidFill>
                <a:latin typeface="Pretendard"/>
                <a:ea typeface="Pretendard"/>
                <a:cs typeface="Pretendard"/>
              </a:rPr>
              <a:t>실제 stream 5개 + 합성 drift stream 4개</a:t>
            </a:r>
          </a:p>
        </p:txBody>
      </p:sp>
      <p:sp>
        <p:nvSpPr>
          <p:cNvPr id="26" name="Rectangle 25"/>
          <p:cNvSpPr/>
          <p:nvPr/>
        </p:nvSpPr>
        <p:spPr>
          <a:xfrm>
            <a:off x="6446520" y="2962656"/>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6446520" y="3003804"/>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1</a:t>
            </a:r>
          </a:p>
        </p:txBody>
      </p:sp>
      <p:sp>
        <p:nvSpPr>
          <p:cNvPr id="28" name="TextBox 27"/>
          <p:cNvSpPr txBox="1"/>
          <p:nvPr/>
        </p:nvSpPr>
        <p:spPr>
          <a:xfrm>
            <a:off x="6958583" y="2953512"/>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메모리 정책과 backbone을 분리</a:t>
            </a:r>
          </a:p>
        </p:txBody>
      </p:sp>
      <p:sp>
        <p:nvSpPr>
          <p:cNvPr id="29" name="TextBox 28"/>
          <p:cNvSpPr txBox="1"/>
          <p:nvPr/>
        </p:nvSpPr>
        <p:spPr>
          <a:xfrm>
            <a:off x="6958583" y="3401568"/>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같은 모델에서 FIFO와 선택 정책 비교</a:t>
            </a:r>
          </a:p>
          <a:p>
            <a:pPr algn="l">
              <a:lnSpc>
                <a:spcPct val="118000"/>
              </a:lnSpc>
              <a:spcBef>
                <a:spcPts val="0"/>
              </a:spcBef>
              <a:spcAft>
                <a:spcPts val="0"/>
              </a:spcAft>
            </a:pPr>
            <a:r>
              <a:rPr lang="ko-KR" sz="2000" b="0">
                <a:solidFill>
                  <a:srgbClr val="20262E"/>
                </a:solidFill>
                <a:latin typeface="Pretendard"/>
                <a:ea typeface="Pretendard"/>
                <a:cs typeface="Pretendard"/>
              </a:rPr>
              <a:t>단순 FIFO도 강한 기준선</a:t>
            </a:r>
          </a:p>
        </p:txBody>
      </p:sp>
      <p:sp>
        <p:nvSpPr>
          <p:cNvPr id="30" name="Rectangle 29"/>
          <p:cNvSpPr/>
          <p:nvPr/>
        </p:nvSpPr>
        <p:spPr>
          <a:xfrm>
            <a:off x="6446520" y="4434840"/>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6446520" y="4475988"/>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2</a:t>
            </a:r>
          </a:p>
        </p:txBody>
      </p:sp>
      <p:sp>
        <p:nvSpPr>
          <p:cNvPr id="32" name="TextBox 31"/>
          <p:cNvSpPr txBox="1"/>
          <p:nvPr/>
        </p:nvSpPr>
        <p:spPr>
          <a:xfrm>
            <a:off x="6958583" y="4425696"/>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행 교체와 context encoding 구분</a:t>
            </a:r>
          </a:p>
        </p:txBody>
      </p:sp>
      <p:sp>
        <p:nvSpPr>
          <p:cNvPr id="33" name="TextBox 32"/>
          <p:cNvSpPr txBox="1"/>
          <p:nvPr/>
        </p:nvSpPr>
        <p:spPr>
          <a:xfrm>
            <a:off x="6958583" y="4873752"/>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갱신 빈도를 줄여도 예측마다 재계산하면</a:t>
            </a:r>
          </a:p>
          <a:p>
            <a:pPr algn="l">
              <a:lnSpc>
                <a:spcPct val="118000"/>
              </a:lnSpc>
              <a:spcBef>
                <a:spcPts val="0"/>
              </a:spcBef>
              <a:spcAft>
                <a:spcPts val="0"/>
              </a:spcAft>
            </a:pPr>
            <a:r>
              <a:rPr lang="ko-KR" sz="2000" b="0">
                <a:solidFill>
                  <a:srgbClr val="20262E"/>
                </a:solidFill>
                <a:latin typeface="Pretendard"/>
                <a:ea typeface="Pretendard"/>
                <a:cs typeface="Pretendard"/>
              </a:rPr>
              <a:t>큰 비용은 계속 발생</a:t>
            </a:r>
          </a:p>
        </p:txBody>
      </p:sp>
      <p:sp>
        <p:nvSpPr>
          <p:cNvPr id="34" name="Rectangle 33"/>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48640" y="6537960"/>
            <a:ext cx="87325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FFFFFF"/>
                </a:solidFill>
                <a:latin typeface="Pretendard"/>
                <a:ea typeface="Pretendard"/>
                <a:cs typeface="Pretendard"/>
              </a:rPr>
              <a:t>가중치 갱신이 없어도 context 처리 비용 발생 · cache 재사용 여부의 실측 필요</a:t>
            </a:r>
          </a:p>
        </p:txBody>
      </p:sp>
      <p:sp>
        <p:nvSpPr>
          <p:cNvPr id="36" name="TextBox 35"/>
          <p:cNvSpPr txBox="1"/>
          <p:nvPr/>
        </p:nvSpPr>
        <p:spPr>
          <a:xfrm>
            <a:off x="9281160" y="6547104"/>
            <a:ext cx="1965960" cy="211836"/>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200" b="0">
                <a:solidFill>
                  <a:srgbClr val="C9D8EB"/>
                </a:solidFill>
                <a:latin typeface="Pretendard"/>
                <a:ea typeface="Pretendard"/>
                <a:cs typeface="Pretendard"/>
              </a:rPr>
              <a:t>03 평가 시나리오</a:t>
            </a:r>
          </a:p>
        </p:txBody>
      </p:sp>
      <p:sp>
        <p:nvSpPr>
          <p:cNvPr id="37" name="TextBox 36"/>
          <p:cNvSpPr txBox="1"/>
          <p:nvPr/>
        </p:nvSpPr>
        <p:spPr>
          <a:xfrm>
            <a:off x="11411712" y="6533388"/>
            <a:ext cx="256032" cy="241808"/>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400" b="0">
                <a:solidFill>
                  <a:srgbClr val="FFFFFF"/>
                </a:solidFill>
                <a:latin typeface="Pretendard"/>
                <a:ea typeface="Pretendard"/>
                <a:cs typeface="Pretendard"/>
              </a:rPr>
              <a:t>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11045952" cy="48158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3000" b="1">
                <a:solidFill>
                  <a:srgbClr val="00306C"/>
                </a:solidFill>
                <a:latin typeface="Pretendard"/>
                <a:ea typeface="Pretendard"/>
                <a:cs typeface="Pretendard"/>
              </a:rPr>
              <a:t>ICD · 모델 대신 context의 특징값 학습</a:t>
            </a:r>
          </a:p>
        </p:txBody>
      </p:sp>
      <p:sp>
        <p:nvSpPr>
          <p:cNvPr id="3" name="TextBox 2"/>
          <p:cNvSpPr txBox="1"/>
          <p:nvPr/>
        </p:nvSpPr>
        <p:spPr>
          <a:xfrm>
            <a:off x="566928" y="960120"/>
            <a:ext cx="11018520" cy="256794"/>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500" b="0">
                <a:solidFill>
                  <a:srgbClr val="617080"/>
                </a:solidFill>
                <a:latin typeface="Pretendard"/>
                <a:ea typeface="Pretendard"/>
                <a:cs typeface="Pretendard"/>
                <a:hlinkClick r:id="rId3"/>
              </a:rPr>
              <a:t>In-Context Data Distillation with TabPFN · ICLR ME-FoMo Workshop 2024</a:t>
            </a:r>
          </a:p>
        </p:txBody>
      </p:sp>
      <p:pic>
        <p:nvPicPr>
          <p:cNvPr id="4" name="Picture 3" descr="icd.png"/>
          <p:cNvPicPr>
            <a:picLocks noChangeAspect="1"/>
          </p:cNvPicPr>
          <p:nvPr/>
        </p:nvPicPr>
        <p:blipFill>
          <a:blip r:embed="rId4"/>
          <a:stretch>
            <a:fillRect/>
          </a:stretch>
        </p:blipFill>
        <p:spPr>
          <a:xfrm>
            <a:off x="640080" y="1699869"/>
            <a:ext cx="5340096" cy="1602028"/>
          </a:xfrm>
          <a:prstGeom prst="rect">
            <a:avLst/>
          </a:prstGeom>
          <a:effectLst/>
        </p:spPr>
      </p:pic>
      <p:sp>
        <p:nvSpPr>
          <p:cNvPr id="5" name="TextBox 4"/>
          <p:cNvSpPr txBox="1"/>
          <p:nvPr/>
        </p:nvSpPr>
        <p:spPr>
          <a:xfrm>
            <a:off x="768096" y="3602736"/>
            <a:ext cx="5084064"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rPr>
              <a:t>왼쪽  모델 학습을 포함한 증류 / 오른쪽  context 직접 최적화</a:t>
            </a:r>
          </a:p>
        </p:txBody>
      </p:sp>
      <p:sp>
        <p:nvSpPr>
          <p:cNvPr id="6" name="Rectangle 5"/>
          <p:cNvSpPr/>
          <p:nvPr/>
        </p:nvSpPr>
        <p:spPr>
          <a:xfrm>
            <a:off x="749808" y="4160520"/>
            <a:ext cx="5184648" cy="176479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TextBox 6"/>
          <p:cNvSpPr txBox="1"/>
          <p:nvPr/>
        </p:nvSpPr>
        <p:spPr>
          <a:xfrm>
            <a:off x="932688" y="4352544"/>
            <a:ext cx="4818888" cy="31673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900" b="1">
                <a:solidFill>
                  <a:srgbClr val="00306C"/>
                </a:solidFill>
                <a:latin typeface="Pretendard"/>
                <a:ea typeface="Pretendard"/>
                <a:cs typeface="Pretendard"/>
              </a:rPr>
              <a:t>고정하는 것  모델 가중치 θ, context 라벨 y</a:t>
            </a:r>
          </a:p>
        </p:txBody>
      </p:sp>
      <p:sp>
        <p:nvSpPr>
          <p:cNvPr id="8" name="TextBox 7"/>
          <p:cNvSpPr txBox="1"/>
          <p:nvPr/>
        </p:nvSpPr>
        <p:spPr>
          <a:xfrm>
            <a:off x="932688" y="4855464"/>
            <a:ext cx="4818888"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7BC6"/>
                </a:solidFill>
                <a:latin typeface="Pretendard"/>
                <a:ea typeface="Pretendard"/>
                <a:cs typeface="Pretendard"/>
              </a:rPr>
              <a:t>바꾸는 것  context의 특징값 X</a:t>
            </a:r>
          </a:p>
        </p:txBody>
      </p:sp>
      <p:sp>
        <p:nvSpPr>
          <p:cNvPr id="9" name="TextBox 8"/>
          <p:cNvSpPr txBox="1"/>
          <p:nvPr/>
        </p:nvSpPr>
        <p:spPr>
          <a:xfrm>
            <a:off x="932688" y="5404104"/>
            <a:ext cx="4818888" cy="39166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400" b="1">
                <a:solidFill>
                  <a:srgbClr val="00306C"/>
                </a:solidFill>
                <a:latin typeface="Pretendard"/>
                <a:ea typeface="Pretendard"/>
                <a:cs typeface="Pretendard"/>
              </a:rPr>
              <a:t>X ← X − α · ∂Loss/∂X</a:t>
            </a:r>
          </a:p>
        </p:txBody>
      </p:sp>
      <p:sp>
        <p:nvSpPr>
          <p:cNvPr id="10" name="Rectangle 9"/>
          <p:cNvSpPr/>
          <p:nvPr/>
        </p:nvSpPr>
        <p:spPr>
          <a:xfrm>
            <a:off x="6446520" y="1545336"/>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6446520" y="1586484"/>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1</a:t>
            </a:r>
          </a:p>
        </p:txBody>
      </p:sp>
      <p:sp>
        <p:nvSpPr>
          <p:cNvPr id="12" name="TextBox 11"/>
          <p:cNvSpPr txBox="1"/>
          <p:nvPr/>
        </p:nvSpPr>
        <p:spPr>
          <a:xfrm>
            <a:off x="6958583" y="1536192"/>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작은 합성 context 준비</a:t>
            </a:r>
          </a:p>
        </p:txBody>
      </p:sp>
      <p:sp>
        <p:nvSpPr>
          <p:cNvPr id="13" name="TextBox 12"/>
          <p:cNvSpPr txBox="1"/>
          <p:nvPr/>
        </p:nvSpPr>
        <p:spPr>
          <a:xfrm>
            <a:off x="6958583" y="1984248"/>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클래스별 같은 수의 라벨 고정</a:t>
            </a:r>
          </a:p>
          <a:p>
            <a:pPr algn="l">
              <a:lnSpc>
                <a:spcPct val="118000"/>
              </a:lnSpc>
              <a:spcBef>
                <a:spcPts val="0"/>
              </a:spcBef>
              <a:spcAft>
                <a:spcPts val="0"/>
              </a:spcAft>
            </a:pPr>
            <a:r>
              <a:rPr lang="ko-KR" sz="2000" b="0">
                <a:solidFill>
                  <a:srgbClr val="20262E"/>
                </a:solidFill>
                <a:latin typeface="Pretendard"/>
                <a:ea typeface="Pretendard"/>
                <a:cs typeface="Pretendard"/>
              </a:rPr>
              <a:t>특징값은 최적화 가능한 변수</a:t>
            </a:r>
          </a:p>
        </p:txBody>
      </p:sp>
      <p:sp>
        <p:nvSpPr>
          <p:cNvPr id="14" name="Rectangle 13"/>
          <p:cNvSpPr/>
          <p:nvPr/>
        </p:nvSpPr>
        <p:spPr>
          <a:xfrm>
            <a:off x="6446520" y="2935224"/>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6446520" y="2976372"/>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2</a:t>
            </a:r>
          </a:p>
        </p:txBody>
      </p:sp>
      <p:sp>
        <p:nvSpPr>
          <p:cNvPr id="16" name="TextBox 15"/>
          <p:cNvSpPr txBox="1"/>
          <p:nvPr/>
        </p:nvSpPr>
        <p:spPr>
          <a:xfrm>
            <a:off x="6958583" y="2926080"/>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실제 train 사례를 query로 예측</a:t>
            </a:r>
          </a:p>
        </p:txBody>
      </p:sp>
      <p:sp>
        <p:nvSpPr>
          <p:cNvPr id="17" name="TextBox 16"/>
          <p:cNvSpPr txBox="1"/>
          <p:nvPr/>
        </p:nvSpPr>
        <p:spPr>
          <a:xfrm>
            <a:off x="6958583" y="3374136"/>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현재 합성 context + 고정 TabPFN</a:t>
            </a:r>
          </a:p>
          <a:p>
            <a:pPr algn="l">
              <a:lnSpc>
                <a:spcPct val="118000"/>
              </a:lnSpc>
              <a:spcBef>
                <a:spcPts val="0"/>
              </a:spcBef>
              <a:spcAft>
                <a:spcPts val="0"/>
              </a:spcAft>
            </a:pPr>
            <a:r>
              <a:rPr lang="ko-KR" sz="2000" b="0">
                <a:solidFill>
                  <a:srgbClr val="20262E"/>
                </a:solidFill>
                <a:latin typeface="Pretendard"/>
                <a:ea typeface="Pretendard"/>
                <a:cs typeface="Pretendard"/>
              </a:rPr>
              <a:t>실제 정답과의 오차 계산</a:t>
            </a:r>
          </a:p>
        </p:txBody>
      </p:sp>
      <p:sp>
        <p:nvSpPr>
          <p:cNvPr id="18" name="Rectangle 17"/>
          <p:cNvSpPr/>
          <p:nvPr/>
        </p:nvSpPr>
        <p:spPr>
          <a:xfrm>
            <a:off x="6446520" y="4325112"/>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6446520" y="4366260"/>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3</a:t>
            </a:r>
          </a:p>
        </p:txBody>
      </p:sp>
      <p:sp>
        <p:nvSpPr>
          <p:cNvPr id="20" name="TextBox 19"/>
          <p:cNvSpPr txBox="1"/>
          <p:nvPr/>
        </p:nvSpPr>
        <p:spPr>
          <a:xfrm>
            <a:off x="6958583" y="4315968"/>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오차로 context 특징값 수정</a:t>
            </a:r>
          </a:p>
        </p:txBody>
      </p:sp>
      <p:sp>
        <p:nvSpPr>
          <p:cNvPr id="21" name="TextBox 20"/>
          <p:cNvSpPr txBox="1"/>
          <p:nvPr/>
        </p:nvSpPr>
        <p:spPr>
          <a:xfrm>
            <a:off x="6958583" y="4764024"/>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Gradient를 입력 X까지 전달</a:t>
            </a:r>
          </a:p>
          <a:p>
            <a:pPr algn="l">
              <a:lnSpc>
                <a:spcPct val="118000"/>
              </a:lnSpc>
              <a:spcBef>
                <a:spcPts val="0"/>
              </a:spcBef>
              <a:spcAft>
                <a:spcPts val="0"/>
              </a:spcAft>
            </a:pPr>
            <a:r>
              <a:rPr lang="ko-KR" sz="2000" b="0">
                <a:solidFill>
                  <a:srgbClr val="20262E"/>
                </a:solidFill>
                <a:latin typeface="Pretendard"/>
                <a:ea typeface="Pretendard"/>
                <a:cs typeface="Pretendard"/>
              </a:rPr>
              <a:t>가중치 θ를 바꾸지 않고 반복</a:t>
            </a:r>
          </a:p>
        </p:txBody>
      </p:sp>
      <p:sp>
        <p:nvSpPr>
          <p:cNvPr id="22" name="Rectangle 21"/>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548640" y="6537960"/>
            <a:ext cx="87325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FFFFFF"/>
                </a:solidFill>
                <a:latin typeface="Pretendard"/>
                <a:ea typeface="Pretendard"/>
                <a:cs typeface="Pretendard"/>
              </a:rPr>
              <a:t>ICD의 학습 대상은 합성 context의 특징값 · 모델 가중치와 라벨은 고정</a:t>
            </a:r>
          </a:p>
        </p:txBody>
      </p:sp>
      <p:sp>
        <p:nvSpPr>
          <p:cNvPr id="24" name="TextBox 23"/>
          <p:cNvSpPr txBox="1"/>
          <p:nvPr/>
        </p:nvSpPr>
        <p:spPr>
          <a:xfrm>
            <a:off x="9281160" y="6547104"/>
            <a:ext cx="1965960" cy="211836"/>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200" b="0">
                <a:solidFill>
                  <a:srgbClr val="C9D8EB"/>
                </a:solidFill>
                <a:latin typeface="Pretendard"/>
                <a:ea typeface="Pretendard"/>
                <a:cs typeface="Pretendard"/>
              </a:rPr>
              <a:t>04 Context 최적화</a:t>
            </a:r>
          </a:p>
        </p:txBody>
      </p:sp>
      <p:sp>
        <p:nvSpPr>
          <p:cNvPr id="25" name="TextBox 24"/>
          <p:cNvSpPr txBox="1"/>
          <p:nvPr/>
        </p:nvSpPr>
        <p:spPr>
          <a:xfrm>
            <a:off x="11411712" y="6533388"/>
            <a:ext cx="256032" cy="241808"/>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400" b="0">
                <a:solidFill>
                  <a:srgbClr val="FFFFFF"/>
                </a:solidFill>
                <a:latin typeface="Pretendard"/>
                <a:ea typeface="Pretendard"/>
                <a:cs typeface="Pretendard"/>
              </a:rPr>
              <a:t>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11045952" cy="48158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3000" b="1">
                <a:solidFill>
                  <a:srgbClr val="00306C"/>
                </a:solidFill>
                <a:latin typeface="Pretendard"/>
                <a:ea typeface="Pretendard"/>
                <a:cs typeface="Pretendard"/>
              </a:rPr>
              <a:t>Context 적응 · 지역 검색과 오류 기반 선택</a:t>
            </a:r>
          </a:p>
        </p:txBody>
      </p:sp>
      <p:sp>
        <p:nvSpPr>
          <p:cNvPr id="3" name="TextBox 2"/>
          <p:cNvSpPr txBox="1"/>
          <p:nvPr/>
        </p:nvSpPr>
        <p:spPr>
          <a:xfrm>
            <a:off x="594360" y="960120"/>
            <a:ext cx="5257800" cy="376682"/>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300" b="1">
                <a:solidFill>
                  <a:srgbClr val="00306C"/>
                </a:solidFill>
                <a:latin typeface="Pretendard"/>
                <a:ea typeface="Pretendard"/>
                <a:cs typeface="Pretendard"/>
                <a:hlinkClick r:id="rId3"/>
              </a:rPr>
              <a:t>LoCalPFN · NeurIPS 2024</a:t>
            </a:r>
          </a:p>
        </p:txBody>
      </p:sp>
      <p:sp>
        <p:nvSpPr>
          <p:cNvPr id="4" name="TextBox 3"/>
          <p:cNvSpPr txBox="1"/>
          <p:nvPr/>
        </p:nvSpPr>
        <p:spPr>
          <a:xfrm>
            <a:off x="6400800" y="960120"/>
            <a:ext cx="5212080" cy="376682"/>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300" b="1">
                <a:solidFill>
                  <a:srgbClr val="00306C"/>
                </a:solidFill>
                <a:latin typeface="Pretendard"/>
                <a:ea typeface="Pretendard"/>
                <a:cs typeface="Pretendard"/>
                <a:hlinkClick r:id="rId4"/>
              </a:rPr>
              <a:t>BoostPFN · AISTATS 2025</a:t>
            </a:r>
          </a:p>
        </p:txBody>
      </p:sp>
      <p:pic>
        <p:nvPicPr>
          <p:cNvPr id="5" name="Picture 4" descr="local.png"/>
          <p:cNvPicPr>
            <a:picLocks noChangeAspect="1"/>
          </p:cNvPicPr>
          <p:nvPr/>
        </p:nvPicPr>
        <p:blipFill>
          <a:blip r:embed="rId5"/>
          <a:stretch>
            <a:fillRect/>
          </a:stretch>
        </p:blipFill>
        <p:spPr>
          <a:xfrm>
            <a:off x="943347" y="1499616"/>
            <a:ext cx="4504961" cy="1920240"/>
          </a:xfrm>
          <a:prstGeom prst="rect">
            <a:avLst/>
          </a:prstGeom>
          <a:effectLst/>
        </p:spPr>
      </p:pic>
      <p:pic>
        <p:nvPicPr>
          <p:cNvPr id="6" name="Picture 5" descr="boost.png"/>
          <p:cNvPicPr>
            <a:picLocks noChangeAspect="1"/>
          </p:cNvPicPr>
          <p:nvPr/>
        </p:nvPicPr>
        <p:blipFill>
          <a:blip r:embed="rId6"/>
          <a:stretch>
            <a:fillRect/>
          </a:stretch>
        </p:blipFill>
        <p:spPr>
          <a:xfrm>
            <a:off x="6781093" y="1499616"/>
            <a:ext cx="4360052" cy="1920240"/>
          </a:xfrm>
          <a:prstGeom prst="rect">
            <a:avLst/>
          </a:prstGeom>
          <a:effectLst/>
        </p:spPr>
      </p:pic>
      <p:sp>
        <p:nvSpPr>
          <p:cNvPr id="7" name="TextBox 6"/>
          <p:cNvSpPr txBox="1"/>
          <p:nvPr/>
        </p:nvSpPr>
        <p:spPr>
          <a:xfrm>
            <a:off x="658368" y="3538728"/>
            <a:ext cx="50749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hlinkClick r:id="rId3"/>
              </a:rPr>
              <a:t>Query별 이웃 검색과 지역 context를 이용한 FT</a:t>
            </a:r>
          </a:p>
        </p:txBody>
      </p:sp>
      <p:sp>
        <p:nvSpPr>
          <p:cNvPr id="8" name="TextBox 7"/>
          <p:cNvSpPr txBox="1"/>
          <p:nvPr/>
        </p:nvSpPr>
        <p:spPr>
          <a:xfrm>
            <a:off x="6492240" y="3538728"/>
            <a:ext cx="493776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hlinkClick r:id="rId4"/>
              </a:rPr>
              <a:t>오류를 반영한 context 선택과 예측 결합</a:t>
            </a:r>
          </a:p>
        </p:txBody>
      </p:sp>
      <p:sp>
        <p:nvSpPr>
          <p:cNvPr id="9" name="Rectangle 8"/>
          <p:cNvSpPr/>
          <p:nvPr/>
        </p:nvSpPr>
        <p:spPr>
          <a:xfrm>
            <a:off x="6089904" y="1005840"/>
            <a:ext cx="13716" cy="4983480"/>
          </a:xfrm>
          <a:prstGeom prst="rect">
            <a:avLst/>
          </a:prstGeom>
          <a:solidFill>
            <a:srgbClr val="DCE5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13232" y="4023360"/>
            <a:ext cx="5074920" cy="976121"/>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100" b="0">
                <a:solidFill>
                  <a:srgbClr val="20262E"/>
                </a:solidFill>
                <a:latin typeface="Pretendard"/>
                <a:ea typeface="Pretendard"/>
                <a:cs typeface="Pretendard"/>
              </a:rPr>
              <a:t>① Query와 가까운 사례 검색</a:t>
            </a:r>
          </a:p>
          <a:p>
            <a:pPr algn="l">
              <a:lnSpc>
                <a:spcPct val="118000"/>
              </a:lnSpc>
              <a:spcBef>
                <a:spcPts val="0"/>
              </a:spcBef>
              <a:spcAft>
                <a:spcPts val="0"/>
              </a:spcAft>
            </a:pPr>
            <a:r>
              <a:rPr lang="ko-KR" sz="2100" b="0">
                <a:solidFill>
                  <a:srgbClr val="20262E"/>
                </a:solidFill>
                <a:latin typeface="Pretendard"/>
                <a:ea typeface="Pretendard"/>
                <a:cs typeface="Pretendard"/>
              </a:rPr>
              <a:t>② 지역 context로 TabPFN 예측</a:t>
            </a:r>
          </a:p>
          <a:p>
            <a:pPr algn="l">
              <a:lnSpc>
                <a:spcPct val="118000"/>
              </a:lnSpc>
              <a:spcBef>
                <a:spcPts val="0"/>
              </a:spcBef>
              <a:spcAft>
                <a:spcPts val="0"/>
              </a:spcAft>
            </a:pPr>
            <a:r>
              <a:rPr lang="ko-KR" sz="2100" b="0">
                <a:solidFill>
                  <a:srgbClr val="20262E"/>
                </a:solidFill>
                <a:latin typeface="Pretendard"/>
                <a:ea typeface="Pretendard"/>
                <a:cs typeface="Pretendard"/>
              </a:rPr>
              <a:t>③ 지역 배치로 가중치 FT 추가</a:t>
            </a:r>
          </a:p>
        </p:txBody>
      </p:sp>
      <p:sp>
        <p:nvSpPr>
          <p:cNvPr id="11" name="TextBox 10"/>
          <p:cNvSpPr txBox="1"/>
          <p:nvPr/>
        </p:nvSpPr>
        <p:spPr>
          <a:xfrm>
            <a:off x="6528816" y="4023360"/>
            <a:ext cx="4983480" cy="976121"/>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100" b="0">
                <a:solidFill>
                  <a:srgbClr val="20262E"/>
                </a:solidFill>
                <a:latin typeface="Pretendard"/>
                <a:ea typeface="Pretendard"/>
                <a:cs typeface="Pretendard"/>
              </a:rPr>
              <a:t>① 일부 사례로 PFN 약한 예측기 구성</a:t>
            </a:r>
          </a:p>
          <a:p>
            <a:pPr algn="l">
              <a:lnSpc>
                <a:spcPct val="118000"/>
              </a:lnSpc>
              <a:spcBef>
                <a:spcPts val="0"/>
              </a:spcBef>
              <a:spcAft>
                <a:spcPts val="0"/>
              </a:spcAft>
            </a:pPr>
            <a:r>
              <a:rPr lang="ko-KR" sz="2100" b="0">
                <a:solidFill>
                  <a:srgbClr val="20262E"/>
                </a:solidFill>
                <a:latin typeface="Pretendard"/>
                <a:ea typeface="Pretendard"/>
                <a:cs typeface="Pretendard"/>
              </a:rPr>
              <a:t>② 이전 오류에 따라 표본 가중치 변경</a:t>
            </a:r>
          </a:p>
          <a:p>
            <a:pPr algn="l">
              <a:lnSpc>
                <a:spcPct val="118000"/>
              </a:lnSpc>
              <a:spcBef>
                <a:spcPts val="0"/>
              </a:spcBef>
              <a:spcAft>
                <a:spcPts val="0"/>
              </a:spcAft>
            </a:pPr>
            <a:r>
              <a:rPr lang="ko-KR" sz="2100" b="0">
                <a:solidFill>
                  <a:srgbClr val="20262E"/>
                </a:solidFill>
                <a:latin typeface="Pretendard"/>
                <a:ea typeface="Pretendard"/>
                <a:cs typeface="Pretendard"/>
              </a:rPr>
              <a:t>③ 여러 예측기의 출력을 결합</a:t>
            </a:r>
          </a:p>
        </p:txBody>
      </p:sp>
      <p:sp>
        <p:nvSpPr>
          <p:cNvPr id="12" name="TextBox 11"/>
          <p:cNvSpPr txBox="1"/>
          <p:nvPr/>
        </p:nvSpPr>
        <p:spPr>
          <a:xfrm>
            <a:off x="713232" y="5522976"/>
            <a:ext cx="4937760" cy="31673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900" b="1">
                <a:solidFill>
                  <a:srgbClr val="227B71"/>
                </a:solidFill>
                <a:latin typeface="Pretendard"/>
                <a:ea typeface="Pretendard"/>
                <a:cs typeface="Pretendard"/>
              </a:rPr>
              <a:t>참고점  검색 효과와 FT 효과의 분리</a:t>
            </a:r>
          </a:p>
        </p:txBody>
      </p:sp>
      <p:sp>
        <p:nvSpPr>
          <p:cNvPr id="13" name="TextBox 12"/>
          <p:cNvSpPr txBox="1"/>
          <p:nvPr/>
        </p:nvSpPr>
        <p:spPr>
          <a:xfrm>
            <a:off x="6528816" y="5522976"/>
            <a:ext cx="4983480" cy="31673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900" b="1">
                <a:solidFill>
                  <a:srgbClr val="227B71"/>
                </a:solidFill>
                <a:latin typeface="Pretendard"/>
                <a:ea typeface="Pretendard"/>
                <a:cs typeface="Pretendard"/>
              </a:rPr>
              <a:t>참고점  실패 사례를 반영한 expert 구성</a:t>
            </a:r>
          </a:p>
        </p:txBody>
      </p:sp>
      <p:sp>
        <p:nvSpPr>
          <p:cNvPr id="14" name="Rectangle 13"/>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548640" y="6537960"/>
            <a:ext cx="87325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FFFFFF"/>
                </a:solidFill>
                <a:latin typeface="Pretendard"/>
                <a:ea typeface="Pretendard"/>
                <a:cs typeface="Pretendard"/>
              </a:rPr>
              <a:t>LoCalPFN은 검색과 가중치 FT · BoostPFN은 고정 PFN의 context 앙상블</a:t>
            </a:r>
          </a:p>
        </p:txBody>
      </p:sp>
      <p:sp>
        <p:nvSpPr>
          <p:cNvPr id="16" name="TextBox 15"/>
          <p:cNvSpPr txBox="1"/>
          <p:nvPr/>
        </p:nvSpPr>
        <p:spPr>
          <a:xfrm>
            <a:off x="9281160" y="6547104"/>
            <a:ext cx="1965960" cy="211836"/>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200" b="0">
                <a:solidFill>
                  <a:srgbClr val="C9D8EB"/>
                </a:solidFill>
                <a:latin typeface="Pretendard"/>
                <a:ea typeface="Pretendard"/>
                <a:cs typeface="Pretendard"/>
              </a:rPr>
              <a:t>01 모델과 앙상블</a:t>
            </a:r>
          </a:p>
        </p:txBody>
      </p:sp>
      <p:sp>
        <p:nvSpPr>
          <p:cNvPr id="17" name="TextBox 16"/>
          <p:cNvSpPr txBox="1"/>
          <p:nvPr/>
        </p:nvSpPr>
        <p:spPr>
          <a:xfrm>
            <a:off x="11411712" y="6533388"/>
            <a:ext cx="256032" cy="241808"/>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400" b="0">
                <a:solidFill>
                  <a:srgbClr val="FFFFFF"/>
                </a:solidFill>
                <a:latin typeface="Pretendard"/>
                <a:ea typeface="Pretendard"/>
                <a:cs typeface="Pretendard"/>
              </a:rPr>
              <a:t>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11045952" cy="48158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3000" b="1">
                <a:solidFill>
                  <a:srgbClr val="00306C"/>
                </a:solidFill>
                <a:latin typeface="Pretendard"/>
                <a:ea typeface="Pretendard"/>
                <a:cs typeface="Pretendard"/>
              </a:rPr>
              <a:t>불균형 적응 · 확률 보정과 판정 기준 조절</a:t>
            </a:r>
          </a:p>
        </p:txBody>
      </p:sp>
      <p:sp>
        <p:nvSpPr>
          <p:cNvPr id="3" name="TextBox 2"/>
          <p:cNvSpPr txBox="1"/>
          <p:nvPr/>
        </p:nvSpPr>
        <p:spPr>
          <a:xfrm>
            <a:off x="621792" y="1005840"/>
            <a:ext cx="5349240"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hlinkClick r:id="rId3"/>
              </a:rPr>
              <a:t>DistPFN · ICML 2026</a:t>
            </a:r>
          </a:p>
        </p:txBody>
      </p:sp>
      <p:pic>
        <p:nvPicPr>
          <p:cNvPr id="4" name="Picture 3" descr="dist.png"/>
          <p:cNvPicPr>
            <a:picLocks noChangeAspect="1"/>
          </p:cNvPicPr>
          <p:nvPr/>
        </p:nvPicPr>
        <p:blipFill>
          <a:blip r:embed="rId4"/>
          <a:stretch>
            <a:fillRect/>
          </a:stretch>
        </p:blipFill>
        <p:spPr>
          <a:xfrm>
            <a:off x="640079" y="1582483"/>
            <a:ext cx="5303520" cy="1160145"/>
          </a:xfrm>
          <a:prstGeom prst="rect">
            <a:avLst/>
          </a:prstGeom>
          <a:effectLst/>
        </p:spPr>
      </p:pic>
      <p:sp>
        <p:nvSpPr>
          <p:cNvPr id="5" name="TextBox 4"/>
          <p:cNvSpPr txBox="1"/>
          <p:nvPr/>
        </p:nvSpPr>
        <p:spPr>
          <a:xfrm>
            <a:off x="749808" y="2871216"/>
            <a:ext cx="5047488" cy="66141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100" b="0">
                <a:solidFill>
                  <a:srgbClr val="20262E"/>
                </a:solidFill>
                <a:latin typeface="Pretendard"/>
                <a:ea typeface="Pretendard"/>
                <a:cs typeface="Pretendard"/>
              </a:rPr>
              <a:t>Context 클래스 비율과</a:t>
            </a:r>
          </a:p>
          <a:p>
            <a:pPr algn="l">
              <a:lnSpc>
                <a:spcPct val="118000"/>
              </a:lnSpc>
              <a:spcBef>
                <a:spcPts val="0"/>
              </a:spcBef>
              <a:spcAft>
                <a:spcPts val="0"/>
              </a:spcAft>
            </a:pPr>
            <a:r>
              <a:rPr lang="ko-KR" sz="2100" b="0">
                <a:solidFill>
                  <a:srgbClr val="20262E"/>
                </a:solidFill>
                <a:latin typeface="Pretendard"/>
                <a:ea typeface="Pretendard"/>
                <a:cs typeface="Pretendard"/>
              </a:rPr>
              <a:t>예측 분포의 비로 출력 확률 보정</a:t>
            </a:r>
          </a:p>
        </p:txBody>
      </p:sp>
      <p:sp>
        <p:nvSpPr>
          <p:cNvPr id="6" name="TextBox 5"/>
          <p:cNvSpPr txBox="1"/>
          <p:nvPr/>
        </p:nvSpPr>
        <p:spPr>
          <a:xfrm>
            <a:off x="749808" y="3767328"/>
            <a:ext cx="5047488"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1" dirty="0">
                <a:solidFill>
                  <a:srgbClr val="227B71"/>
                </a:solidFill>
                <a:latin typeface="Pretendard"/>
                <a:ea typeface="Pretendard"/>
                <a:cs typeface="Pretendard"/>
              </a:rPr>
              <a:t>추가 가중치 FT 없음</a:t>
            </a:r>
          </a:p>
          <a:p>
            <a:pPr algn="l">
              <a:lnSpc>
                <a:spcPct val="118000"/>
              </a:lnSpc>
              <a:spcBef>
                <a:spcPts val="0"/>
              </a:spcBef>
              <a:spcAft>
                <a:spcPts val="0"/>
              </a:spcAft>
            </a:pPr>
            <a:r>
              <a:rPr lang="ko-KR" sz="2000" b="1" dirty="0">
                <a:solidFill>
                  <a:srgbClr val="227B71"/>
                </a:solidFill>
                <a:latin typeface="Pretendard"/>
                <a:ea typeface="Pretendard"/>
                <a:cs typeface="Pretendard"/>
              </a:rPr>
              <a:t>원문 기본값은 </a:t>
            </a:r>
            <a:r>
              <a:rPr lang="ko-KR" sz="2000" b="1" dirty="0" err="1">
                <a:solidFill>
                  <a:srgbClr val="227B71"/>
                </a:solidFill>
                <a:latin typeface="Pretendard"/>
                <a:ea typeface="Pretendard"/>
                <a:cs typeface="Pretendard"/>
              </a:rPr>
              <a:t>query</a:t>
            </a:r>
            <a:r>
              <a:rPr lang="ko-KR" sz="2000" b="1" dirty="0">
                <a:solidFill>
                  <a:srgbClr val="227B71"/>
                </a:solidFill>
                <a:latin typeface="Pretendard"/>
                <a:ea typeface="Pretendard"/>
                <a:cs typeface="Pretendard"/>
              </a:rPr>
              <a:t> 배치 평균 분포</a:t>
            </a:r>
          </a:p>
        </p:txBody>
      </p:sp>
      <p:sp>
        <p:nvSpPr>
          <p:cNvPr id="7" name="Rectangle 6"/>
          <p:cNvSpPr/>
          <p:nvPr/>
        </p:nvSpPr>
        <p:spPr>
          <a:xfrm>
            <a:off x="6117336" y="1005840"/>
            <a:ext cx="13716" cy="4983480"/>
          </a:xfrm>
          <a:prstGeom prst="rect">
            <a:avLst/>
          </a:prstGeom>
          <a:solidFill>
            <a:srgbClr val="DCE5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428232" y="1005840"/>
            <a:ext cx="5166360" cy="346710"/>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100" b="1" dirty="0">
                <a:solidFill>
                  <a:srgbClr val="00306C"/>
                </a:solidFill>
                <a:latin typeface="Pretendard"/>
                <a:ea typeface="Pretendard"/>
                <a:cs typeface="Pretendard"/>
                <a:hlinkClick r:id="rId5"/>
              </a:rPr>
              <a:t>클래스 불균형 보정 · ITW 표기 2026</a:t>
            </a:r>
          </a:p>
        </p:txBody>
      </p:sp>
      <p:pic>
        <p:nvPicPr>
          <p:cNvPr id="9" name="Picture 8" descr="imbalance.png"/>
          <p:cNvPicPr>
            <a:picLocks noChangeAspect="1"/>
          </p:cNvPicPr>
          <p:nvPr/>
        </p:nvPicPr>
        <p:blipFill>
          <a:blip r:embed="rId6"/>
          <a:stretch>
            <a:fillRect/>
          </a:stretch>
        </p:blipFill>
        <p:spPr>
          <a:xfrm>
            <a:off x="7744125" y="1572768"/>
            <a:ext cx="2571148" cy="2752344"/>
          </a:xfrm>
          <a:prstGeom prst="rect">
            <a:avLst/>
          </a:prstGeom>
          <a:effectLst/>
        </p:spPr>
      </p:pic>
      <p:sp>
        <p:nvSpPr>
          <p:cNvPr id="10" name="TextBox 9"/>
          <p:cNvSpPr txBox="1"/>
          <p:nvPr/>
        </p:nvSpPr>
        <p:spPr>
          <a:xfrm>
            <a:off x="6510528" y="4471416"/>
            <a:ext cx="498348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hlinkClick r:id="rId5"/>
              </a:rPr>
              <a:t>임계값에 따른 다수·소수 클래스 정확도 변화</a:t>
            </a:r>
          </a:p>
        </p:txBody>
      </p:sp>
      <p:sp>
        <p:nvSpPr>
          <p:cNvPr id="11" name="TextBox 10"/>
          <p:cNvSpPr txBox="1"/>
          <p:nvPr/>
        </p:nvSpPr>
        <p:spPr>
          <a:xfrm>
            <a:off x="749808" y="4892040"/>
            <a:ext cx="5047488"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1" dirty="0">
                <a:solidFill>
                  <a:srgbClr val="00306C"/>
                </a:solidFill>
                <a:latin typeface="Pretendard"/>
                <a:ea typeface="Pretendard"/>
                <a:cs typeface="Pretendard"/>
              </a:rPr>
              <a:t>확인 대상</a:t>
            </a:r>
          </a:p>
          <a:p>
            <a:pPr algn="l">
              <a:lnSpc>
                <a:spcPct val="118000"/>
              </a:lnSpc>
              <a:spcBef>
                <a:spcPts val="0"/>
              </a:spcBef>
              <a:spcAft>
                <a:spcPts val="0"/>
              </a:spcAft>
            </a:pPr>
            <a:r>
              <a:rPr lang="ko-KR" sz="2000" b="1" dirty="0" err="1">
                <a:solidFill>
                  <a:srgbClr val="00306C"/>
                </a:solidFill>
                <a:latin typeface="Pretendard"/>
                <a:ea typeface="Pretendard"/>
                <a:cs typeface="Pretendard"/>
              </a:rPr>
              <a:t>Context와</a:t>
            </a:r>
            <a:r>
              <a:rPr lang="ko-KR" sz="2000" b="1" dirty="0">
                <a:solidFill>
                  <a:srgbClr val="00306C"/>
                </a:solidFill>
                <a:latin typeface="Pretendard"/>
                <a:ea typeface="Pretendard"/>
                <a:cs typeface="Pretendard"/>
              </a:rPr>
              <a:t> </a:t>
            </a:r>
            <a:r>
              <a:rPr lang="ko-KR" sz="2000" b="1" dirty="0" err="1">
                <a:solidFill>
                  <a:srgbClr val="00306C"/>
                </a:solidFill>
                <a:latin typeface="Pretendard"/>
                <a:ea typeface="Pretendard"/>
                <a:cs typeface="Pretendard"/>
              </a:rPr>
              <a:t>test의</a:t>
            </a:r>
            <a:r>
              <a:rPr lang="ko-KR" sz="2000" b="1" dirty="0">
                <a:solidFill>
                  <a:srgbClr val="00306C"/>
                </a:solidFill>
                <a:latin typeface="Pretendard"/>
                <a:ea typeface="Pretendard"/>
                <a:cs typeface="Pretendard"/>
              </a:rPr>
              <a:t> 클래스 비율 차이</a:t>
            </a:r>
          </a:p>
        </p:txBody>
      </p:sp>
      <p:sp>
        <p:nvSpPr>
          <p:cNvPr id="12" name="TextBox 11"/>
          <p:cNvSpPr txBox="1"/>
          <p:nvPr/>
        </p:nvSpPr>
        <p:spPr>
          <a:xfrm>
            <a:off x="6547104" y="4892040"/>
            <a:ext cx="4956048"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1">
                <a:solidFill>
                  <a:srgbClr val="00306C"/>
                </a:solidFill>
                <a:latin typeface="Pretendard"/>
                <a:ea typeface="Pretendard"/>
                <a:cs typeface="Pretendard"/>
              </a:rPr>
              <a:t>비교 대상</a:t>
            </a:r>
          </a:p>
          <a:p>
            <a:pPr algn="l">
              <a:lnSpc>
                <a:spcPct val="118000"/>
              </a:lnSpc>
              <a:spcBef>
                <a:spcPts val="0"/>
              </a:spcBef>
              <a:spcAft>
                <a:spcPts val="0"/>
              </a:spcAft>
            </a:pPr>
            <a:r>
              <a:rPr lang="ko-KR" sz="2000" b="1">
                <a:solidFill>
                  <a:srgbClr val="00306C"/>
                </a:solidFill>
                <a:latin typeface="Pretendard"/>
                <a:ea typeface="Pretendard"/>
                <a:cs typeface="Pretendard"/>
              </a:rPr>
              <a:t>임계값 조절 / 다수 클래스 축소</a:t>
            </a:r>
          </a:p>
        </p:txBody>
      </p:sp>
      <p:sp>
        <p:nvSpPr>
          <p:cNvPr id="13" name="TextBox 12"/>
          <p:cNvSpPr txBox="1"/>
          <p:nvPr/>
        </p:nvSpPr>
        <p:spPr>
          <a:xfrm>
            <a:off x="749808" y="5815584"/>
            <a:ext cx="10789920" cy="331724"/>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1">
                <a:solidFill>
                  <a:srgbClr val="227B71"/>
                </a:solidFill>
                <a:latin typeface="Pretendard"/>
                <a:ea typeface="Pretendard"/>
                <a:cs typeface="Pretendard"/>
              </a:rPr>
              <a:t>우리 연구  prior 편향과 특징 구분 실패를 분리한 대조 실험</a:t>
            </a:r>
          </a:p>
        </p:txBody>
      </p:sp>
      <p:sp>
        <p:nvSpPr>
          <p:cNvPr id="14" name="Rectangle 13"/>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548640" y="6537960"/>
            <a:ext cx="87325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FFFFFF"/>
                </a:solidFill>
                <a:latin typeface="Pretendard"/>
                <a:ea typeface="Pretendard"/>
                <a:cs typeface="Pretendard"/>
              </a:rPr>
              <a:t>분포 보정의 이득은 클래스별 precision·recall과 정상 오탐으로 확인</a:t>
            </a:r>
          </a:p>
        </p:txBody>
      </p:sp>
      <p:sp>
        <p:nvSpPr>
          <p:cNvPr id="16" name="TextBox 15"/>
          <p:cNvSpPr txBox="1"/>
          <p:nvPr/>
        </p:nvSpPr>
        <p:spPr>
          <a:xfrm>
            <a:off x="9281160" y="6547104"/>
            <a:ext cx="1965960" cy="211836"/>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200" b="0">
                <a:solidFill>
                  <a:srgbClr val="C9D8EB"/>
                </a:solidFill>
                <a:latin typeface="Pretendard"/>
                <a:ea typeface="Pretendard"/>
                <a:cs typeface="Pretendard"/>
              </a:rPr>
              <a:t>01 모델과 앙상블</a:t>
            </a:r>
          </a:p>
        </p:txBody>
      </p:sp>
      <p:sp>
        <p:nvSpPr>
          <p:cNvPr id="17" name="TextBox 16"/>
          <p:cNvSpPr txBox="1"/>
          <p:nvPr/>
        </p:nvSpPr>
        <p:spPr>
          <a:xfrm>
            <a:off x="11411712" y="6533388"/>
            <a:ext cx="256032" cy="241808"/>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400" b="0">
                <a:solidFill>
                  <a:srgbClr val="FFFFFF"/>
                </a:solidFill>
                <a:latin typeface="Pretendard"/>
                <a:ea typeface="Pretendard"/>
                <a:cs typeface="Pretendard"/>
              </a:rPr>
              <a:t>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11045952" cy="48158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3000" b="1">
                <a:solidFill>
                  <a:srgbClr val="00306C"/>
                </a:solidFill>
                <a:latin typeface="Pretendard"/>
                <a:ea typeface="Pretendard"/>
                <a:cs typeface="Pretendard"/>
              </a:rPr>
              <a:t>TabFM+ · 같은 모델의 여러 입력 view 결합</a:t>
            </a:r>
          </a:p>
        </p:txBody>
      </p:sp>
      <p:sp>
        <p:nvSpPr>
          <p:cNvPr id="3" name="TextBox 2"/>
          <p:cNvSpPr txBox="1"/>
          <p:nvPr/>
        </p:nvSpPr>
        <p:spPr>
          <a:xfrm>
            <a:off x="566928" y="960120"/>
            <a:ext cx="11018520" cy="256794"/>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500" b="0">
                <a:solidFill>
                  <a:srgbClr val="617080"/>
                </a:solidFill>
                <a:latin typeface="Pretendard"/>
                <a:ea typeface="Pretendard"/>
                <a:cs typeface="Pretendard"/>
                <a:hlinkClick r:id="rId3"/>
              </a:rPr>
              <a:t>TabFM: A Zero-Shot Foundation Model for Tabular Data · arXiv 2026</a:t>
            </a:r>
          </a:p>
        </p:txBody>
      </p:sp>
      <p:pic>
        <p:nvPicPr>
          <p:cNvPr id="4" name="Picture 3" descr="tabfm.png"/>
          <p:cNvPicPr>
            <a:picLocks noChangeAspect="1"/>
          </p:cNvPicPr>
          <p:nvPr/>
        </p:nvPicPr>
        <p:blipFill>
          <a:blip r:embed="rId4"/>
          <a:stretch>
            <a:fillRect/>
          </a:stretch>
        </p:blipFill>
        <p:spPr>
          <a:xfrm>
            <a:off x="612648" y="1475773"/>
            <a:ext cx="5239512" cy="3257229"/>
          </a:xfrm>
          <a:prstGeom prst="rect">
            <a:avLst/>
          </a:prstGeom>
          <a:effectLst/>
        </p:spPr>
      </p:pic>
      <p:sp>
        <p:nvSpPr>
          <p:cNvPr id="5" name="TextBox 4"/>
          <p:cNvSpPr txBox="1"/>
          <p:nvPr/>
        </p:nvSpPr>
        <p:spPr>
          <a:xfrm>
            <a:off x="676656" y="4846320"/>
            <a:ext cx="512064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hlinkClick r:id="rId3"/>
              </a:rPr>
              <a:t>셀 표현 → 행 표현 → context 기반 예측</a:t>
            </a:r>
          </a:p>
        </p:txBody>
      </p:sp>
      <p:sp>
        <p:nvSpPr>
          <p:cNvPr id="6" name="Rectangle 5"/>
          <p:cNvSpPr/>
          <p:nvPr/>
        </p:nvSpPr>
        <p:spPr>
          <a:xfrm>
            <a:off x="6446520" y="1508760"/>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TextBox 6"/>
          <p:cNvSpPr txBox="1"/>
          <p:nvPr/>
        </p:nvSpPr>
        <p:spPr>
          <a:xfrm>
            <a:off x="6446520" y="1549907"/>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1</a:t>
            </a:r>
          </a:p>
        </p:txBody>
      </p:sp>
      <p:sp>
        <p:nvSpPr>
          <p:cNvPr id="8" name="TextBox 7"/>
          <p:cNvSpPr txBox="1"/>
          <p:nvPr/>
        </p:nvSpPr>
        <p:spPr>
          <a:xfrm>
            <a:off x="6958583" y="1499616"/>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같은 모델에 다른 입력 view 제공</a:t>
            </a:r>
          </a:p>
        </p:txBody>
      </p:sp>
      <p:sp>
        <p:nvSpPr>
          <p:cNvPr id="9" name="TextBox 8"/>
          <p:cNvSpPr txBox="1"/>
          <p:nvPr/>
        </p:nvSpPr>
        <p:spPr>
          <a:xfrm>
            <a:off x="6958583" y="1947672"/>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특징 변환·순열·교차 특징 등</a:t>
            </a:r>
          </a:p>
          <a:p>
            <a:pPr algn="l">
              <a:lnSpc>
                <a:spcPct val="118000"/>
              </a:lnSpc>
              <a:spcBef>
                <a:spcPts val="0"/>
              </a:spcBef>
              <a:spcAft>
                <a:spcPts val="0"/>
              </a:spcAft>
            </a:pPr>
            <a:r>
              <a:rPr lang="ko-KR" sz="2000" b="0">
                <a:solidFill>
                  <a:srgbClr val="20262E"/>
                </a:solidFill>
                <a:latin typeface="Pretendard"/>
                <a:ea typeface="Pretendard"/>
                <a:cs typeface="Pretendard"/>
              </a:rPr>
              <a:t>32개 view에서 반복 예측</a:t>
            </a:r>
          </a:p>
        </p:txBody>
      </p:sp>
      <p:sp>
        <p:nvSpPr>
          <p:cNvPr id="10" name="Rectangle 9"/>
          <p:cNvSpPr/>
          <p:nvPr/>
        </p:nvSpPr>
        <p:spPr>
          <a:xfrm>
            <a:off x="6446520" y="2889504"/>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6446520" y="2930652"/>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2</a:t>
            </a:r>
          </a:p>
        </p:txBody>
      </p:sp>
      <p:sp>
        <p:nvSpPr>
          <p:cNvPr id="12" name="TextBox 11"/>
          <p:cNvSpPr txBox="1"/>
          <p:nvPr/>
        </p:nvSpPr>
        <p:spPr>
          <a:xfrm>
            <a:off x="6958583" y="2880360"/>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Validation으로 결합 가중치 학습</a:t>
            </a:r>
          </a:p>
        </p:txBody>
      </p:sp>
      <p:sp>
        <p:nvSpPr>
          <p:cNvPr id="13" name="TextBox 12"/>
          <p:cNvSpPr txBox="1"/>
          <p:nvPr/>
        </p:nvSpPr>
        <p:spPr>
          <a:xfrm>
            <a:off x="6958583" y="3328416"/>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비음수 최소제곱으로 가중치 선택</a:t>
            </a:r>
          </a:p>
          <a:p>
            <a:pPr algn="l">
              <a:lnSpc>
                <a:spcPct val="118000"/>
              </a:lnSpc>
              <a:spcBef>
                <a:spcPts val="0"/>
              </a:spcBef>
              <a:spcAft>
                <a:spcPts val="0"/>
              </a:spcAft>
            </a:pPr>
            <a:r>
              <a:rPr lang="ko-KR" sz="2000" b="0">
                <a:solidFill>
                  <a:srgbClr val="20262E"/>
                </a:solidFill>
                <a:latin typeface="Pretendard"/>
                <a:ea typeface="Pretendard"/>
                <a:cs typeface="Pretendard"/>
              </a:rPr>
              <a:t>학습 가중치 75% + 균등 가중치 25%</a:t>
            </a:r>
          </a:p>
        </p:txBody>
      </p:sp>
      <p:sp>
        <p:nvSpPr>
          <p:cNvPr id="14" name="Rectangle 13"/>
          <p:cNvSpPr/>
          <p:nvPr/>
        </p:nvSpPr>
        <p:spPr>
          <a:xfrm>
            <a:off x="6446520" y="4270248"/>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6446520" y="4311396"/>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3</a:t>
            </a:r>
          </a:p>
        </p:txBody>
      </p:sp>
      <p:sp>
        <p:nvSpPr>
          <p:cNvPr id="16" name="TextBox 15"/>
          <p:cNvSpPr txBox="1"/>
          <p:nvPr/>
        </p:nvSpPr>
        <p:spPr>
          <a:xfrm>
            <a:off x="6958583" y="4261104"/>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결합 확률의 사후 보정</a:t>
            </a:r>
          </a:p>
        </p:txBody>
      </p:sp>
      <p:sp>
        <p:nvSpPr>
          <p:cNvPr id="17" name="TextBox 16"/>
          <p:cNvSpPr txBox="1"/>
          <p:nvPr/>
        </p:nvSpPr>
        <p:spPr>
          <a:xfrm>
            <a:off x="6958583" y="4709160"/>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본체 가중치는 고정</a:t>
            </a:r>
          </a:p>
          <a:p>
            <a:pPr algn="l">
              <a:lnSpc>
                <a:spcPct val="118000"/>
              </a:lnSpc>
              <a:spcBef>
                <a:spcPts val="0"/>
              </a:spcBef>
              <a:spcAft>
                <a:spcPts val="0"/>
              </a:spcAft>
            </a:pPr>
            <a:r>
              <a:rPr lang="ko-KR" sz="2000" b="0">
                <a:solidFill>
                  <a:srgbClr val="20262E"/>
                </a:solidFill>
                <a:latin typeface="Pretendard"/>
                <a:ea typeface="Pretendard"/>
                <a:cs typeface="Pretendard"/>
              </a:rPr>
              <a:t>결합·보정에는 validation 라벨 사용</a:t>
            </a:r>
          </a:p>
        </p:txBody>
      </p:sp>
      <p:sp>
        <p:nvSpPr>
          <p:cNvPr id="18" name="Rectangle 17"/>
          <p:cNvSpPr/>
          <p:nvPr/>
        </p:nvSpPr>
        <p:spPr>
          <a:xfrm>
            <a:off x="685800" y="5422392"/>
            <a:ext cx="5166360" cy="42062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758952" y="5500116"/>
            <a:ext cx="5020056" cy="301751"/>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800" b="1">
                <a:solidFill>
                  <a:srgbClr val="00306C"/>
                </a:solidFill>
                <a:latin typeface="Pretendard"/>
                <a:ea typeface="Pretendard"/>
                <a:cs typeface="Pretendard"/>
              </a:rPr>
              <a:t>TabFM+ = 고정 TabFM + 입력 view 앙상블</a:t>
            </a:r>
          </a:p>
        </p:txBody>
      </p:sp>
      <p:sp>
        <p:nvSpPr>
          <p:cNvPr id="20" name="Rectangle 19"/>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548640" y="6537960"/>
            <a:ext cx="87325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FFFFFF"/>
                </a:solidFill>
                <a:latin typeface="Pretendard"/>
                <a:ea typeface="Pretendard"/>
                <a:cs typeface="Pretendard"/>
              </a:rPr>
              <a:t>여러 예측을 얻는 비용과 결합기를 학습할 validation 라벨까지 비교에 포함</a:t>
            </a:r>
          </a:p>
        </p:txBody>
      </p:sp>
      <p:sp>
        <p:nvSpPr>
          <p:cNvPr id="22" name="TextBox 21"/>
          <p:cNvSpPr txBox="1"/>
          <p:nvPr/>
        </p:nvSpPr>
        <p:spPr>
          <a:xfrm>
            <a:off x="9281160" y="6547104"/>
            <a:ext cx="1965960" cy="211836"/>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200" b="0">
                <a:solidFill>
                  <a:srgbClr val="C9D8EB"/>
                </a:solidFill>
                <a:latin typeface="Pretendard"/>
                <a:ea typeface="Pretendard"/>
                <a:cs typeface="Pretendard"/>
              </a:rPr>
              <a:t>01 모델과 앙상블</a:t>
            </a:r>
          </a:p>
        </p:txBody>
      </p:sp>
      <p:sp>
        <p:nvSpPr>
          <p:cNvPr id="23" name="TextBox 22"/>
          <p:cNvSpPr txBox="1"/>
          <p:nvPr/>
        </p:nvSpPr>
        <p:spPr>
          <a:xfrm>
            <a:off x="11411712" y="6533388"/>
            <a:ext cx="256032" cy="241808"/>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400" b="0">
                <a:solidFill>
                  <a:srgbClr val="FFFFFF"/>
                </a:solidFill>
                <a:latin typeface="Pretendard"/>
                <a:ea typeface="Pretendard"/>
                <a:cs typeface="Pretendard"/>
              </a:rPr>
              <a:t>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11045952" cy="48158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3000" b="1">
                <a:solidFill>
                  <a:srgbClr val="00306C"/>
                </a:solidFill>
                <a:latin typeface="Pretendard"/>
                <a:ea typeface="Pretendard"/>
                <a:cs typeface="Pretendard"/>
              </a:rPr>
              <a:t>앙상블 설계 · 모델 수보다 오류의 상호 보완</a:t>
            </a:r>
          </a:p>
        </p:txBody>
      </p:sp>
      <p:sp>
        <p:nvSpPr>
          <p:cNvPr id="3" name="TextBox 2"/>
          <p:cNvSpPr txBox="1"/>
          <p:nvPr/>
        </p:nvSpPr>
        <p:spPr>
          <a:xfrm>
            <a:off x="566928" y="960120"/>
            <a:ext cx="11018520" cy="256794"/>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500" b="0">
                <a:solidFill>
                  <a:srgbClr val="617080"/>
                </a:solidFill>
                <a:latin typeface="Pretendard"/>
                <a:ea typeface="Pretendard"/>
                <a:cs typeface="Pretendard"/>
                <a:hlinkClick r:id="rId3"/>
              </a:rPr>
              <a:t>Ensembling Tabular Foundation Models · arXiv 2026</a:t>
            </a:r>
          </a:p>
        </p:txBody>
      </p:sp>
      <p:pic>
        <p:nvPicPr>
          <p:cNvPr id="4" name="Picture 3" descr="ensemble.png"/>
          <p:cNvPicPr>
            <a:picLocks noChangeAspect="1"/>
          </p:cNvPicPr>
          <p:nvPr/>
        </p:nvPicPr>
        <p:blipFill>
          <a:blip r:embed="rId4"/>
          <a:stretch>
            <a:fillRect/>
          </a:stretch>
        </p:blipFill>
        <p:spPr>
          <a:xfrm>
            <a:off x="807919" y="1453896"/>
            <a:ext cx="4867256" cy="3108959"/>
          </a:xfrm>
          <a:prstGeom prst="rect">
            <a:avLst/>
          </a:prstGeom>
          <a:effectLst/>
        </p:spPr>
      </p:pic>
      <p:sp>
        <p:nvSpPr>
          <p:cNvPr id="5" name="TextBox 4"/>
          <p:cNvSpPr txBox="1"/>
          <p:nvPr/>
        </p:nvSpPr>
        <p:spPr>
          <a:xfrm>
            <a:off x="704088" y="4700016"/>
            <a:ext cx="50749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hlinkClick r:id="rId3"/>
              </a:rPr>
              <a:t>153개 분류 과제 · 평균 정확도와 준비 비용</a:t>
            </a:r>
          </a:p>
        </p:txBody>
      </p:sp>
      <p:sp>
        <p:nvSpPr>
          <p:cNvPr id="6" name="Rectangle 5"/>
          <p:cNvSpPr/>
          <p:nvPr/>
        </p:nvSpPr>
        <p:spPr>
          <a:xfrm>
            <a:off x="6446520" y="1508760"/>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TextBox 6"/>
          <p:cNvSpPr txBox="1"/>
          <p:nvPr/>
        </p:nvSpPr>
        <p:spPr>
          <a:xfrm>
            <a:off x="6446520" y="1549907"/>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1</a:t>
            </a:r>
          </a:p>
        </p:txBody>
      </p:sp>
      <p:sp>
        <p:nvSpPr>
          <p:cNvPr id="8" name="TextBox 7"/>
          <p:cNvSpPr txBox="1"/>
          <p:nvPr/>
        </p:nvSpPr>
        <p:spPr>
          <a:xfrm>
            <a:off x="6958583" y="1499616"/>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같은 오분류의 반복 여부 확인</a:t>
            </a:r>
          </a:p>
        </p:txBody>
      </p:sp>
      <p:sp>
        <p:nvSpPr>
          <p:cNvPr id="9" name="TextBox 8"/>
          <p:cNvSpPr txBox="1"/>
          <p:nvPr/>
        </p:nvSpPr>
        <p:spPr>
          <a:xfrm>
            <a:off x="6958583" y="1947672"/>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Expert를 늘려도 같은 사례를 틀리면</a:t>
            </a:r>
          </a:p>
          <a:p>
            <a:pPr algn="l">
              <a:lnSpc>
                <a:spcPct val="118000"/>
              </a:lnSpc>
              <a:spcBef>
                <a:spcPts val="0"/>
              </a:spcBef>
              <a:spcAft>
                <a:spcPts val="0"/>
              </a:spcAft>
            </a:pPr>
            <a:r>
              <a:rPr lang="ko-KR" sz="2000" b="0">
                <a:solidFill>
                  <a:srgbClr val="20262E"/>
                </a:solidFill>
                <a:latin typeface="Pretendard"/>
                <a:ea typeface="Pretendard"/>
                <a:cs typeface="Pretendard"/>
              </a:rPr>
              <a:t>복구 가능한 오류의 증가 제한</a:t>
            </a:r>
          </a:p>
        </p:txBody>
      </p:sp>
      <p:sp>
        <p:nvSpPr>
          <p:cNvPr id="10" name="Rectangle 9"/>
          <p:cNvSpPr/>
          <p:nvPr/>
        </p:nvSpPr>
        <p:spPr>
          <a:xfrm>
            <a:off x="6446520" y="2898648"/>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6446520" y="2939796"/>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2</a:t>
            </a:r>
          </a:p>
        </p:txBody>
      </p:sp>
      <p:sp>
        <p:nvSpPr>
          <p:cNvPr id="12" name="TextBox 11"/>
          <p:cNvSpPr txBox="1"/>
          <p:nvPr/>
        </p:nvSpPr>
        <p:spPr>
          <a:xfrm>
            <a:off x="6958583" y="2889504"/>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결합기보다 oracle 여지부터 확인</a:t>
            </a:r>
          </a:p>
        </p:txBody>
      </p:sp>
      <p:sp>
        <p:nvSpPr>
          <p:cNvPr id="13" name="TextBox 12"/>
          <p:cNvSpPr txBox="1"/>
          <p:nvPr/>
        </p:nvSpPr>
        <p:spPr>
          <a:xfrm>
            <a:off x="6958583" y="3337560"/>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어느 expert라도 맞힌 사례의 상한과</a:t>
            </a:r>
          </a:p>
          <a:p>
            <a:pPr algn="l">
              <a:lnSpc>
                <a:spcPct val="118000"/>
              </a:lnSpc>
              <a:spcBef>
                <a:spcPts val="0"/>
              </a:spcBef>
              <a:spcAft>
                <a:spcPts val="0"/>
              </a:spcAft>
            </a:pPr>
            <a:r>
              <a:rPr lang="ko-KR" sz="2000" b="0">
                <a:solidFill>
                  <a:srgbClr val="20262E"/>
                </a:solidFill>
                <a:latin typeface="Pretendard"/>
                <a:ea typeface="Pretendard"/>
                <a:cs typeface="Pretendard"/>
              </a:rPr>
              <a:t>단일 모델의 차이 비교</a:t>
            </a:r>
          </a:p>
        </p:txBody>
      </p:sp>
      <p:sp>
        <p:nvSpPr>
          <p:cNvPr id="14" name="Rectangle 13"/>
          <p:cNvSpPr/>
          <p:nvPr/>
        </p:nvSpPr>
        <p:spPr>
          <a:xfrm>
            <a:off x="6446520" y="4288536"/>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6446520" y="4329684"/>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3</a:t>
            </a:r>
          </a:p>
        </p:txBody>
      </p:sp>
      <p:sp>
        <p:nvSpPr>
          <p:cNvPr id="16" name="TextBox 15"/>
          <p:cNvSpPr txBox="1"/>
          <p:nvPr/>
        </p:nvSpPr>
        <p:spPr>
          <a:xfrm>
            <a:off x="6958583" y="4279392"/>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이득이 있을 때 선택·보정 개선</a:t>
            </a:r>
          </a:p>
        </p:txBody>
      </p:sp>
      <p:sp>
        <p:nvSpPr>
          <p:cNvPr id="17" name="TextBox 16"/>
          <p:cNvSpPr txBox="1"/>
          <p:nvPr/>
        </p:nvSpPr>
        <p:spPr>
          <a:xfrm>
            <a:off x="6958583" y="4727448"/>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정답으로 고친 사례와 새 오분류 분리</a:t>
            </a:r>
          </a:p>
          <a:p>
            <a:pPr algn="l">
              <a:lnSpc>
                <a:spcPct val="118000"/>
              </a:lnSpc>
              <a:spcBef>
                <a:spcPts val="0"/>
              </a:spcBef>
              <a:spcAft>
                <a:spcPts val="0"/>
              </a:spcAft>
            </a:pPr>
            <a:r>
              <a:rPr lang="ko-KR" sz="2000" b="0">
                <a:solidFill>
                  <a:srgbClr val="20262E"/>
                </a:solidFill>
                <a:latin typeface="Pretendard"/>
                <a:ea typeface="Pretendard"/>
                <a:cs typeface="Pretendard"/>
              </a:rPr>
              <a:t>같은 라벨·보존량·추론 예산으로 비교</a:t>
            </a:r>
          </a:p>
        </p:txBody>
      </p:sp>
      <p:sp>
        <p:nvSpPr>
          <p:cNvPr id="18" name="Rectangle 17"/>
          <p:cNvSpPr/>
          <p:nvPr/>
        </p:nvSpPr>
        <p:spPr>
          <a:xfrm>
            <a:off x="667512" y="5276088"/>
            <a:ext cx="5230368" cy="84124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822960" y="5394960"/>
            <a:ext cx="4901184" cy="54152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700" b="0">
                <a:solidFill>
                  <a:srgbClr val="00306C"/>
                </a:solidFill>
                <a:latin typeface="Pretendard"/>
                <a:ea typeface="Pretendard"/>
                <a:cs typeface="Pretendard"/>
                <a:hlinkClick r:id="rId5"/>
              </a:rPr>
              <a:t>IoT 포렌식 응용  PFN 선별 → 트리 앙상블</a:t>
            </a:r>
          </a:p>
          <a:p>
            <a:pPr algn="l">
              <a:lnSpc>
                <a:spcPct val="118000"/>
              </a:lnSpc>
              <a:spcBef>
                <a:spcPts val="0"/>
              </a:spcBef>
              <a:spcAft>
                <a:spcPts val="0"/>
              </a:spcAft>
            </a:pPr>
            <a:r>
              <a:rPr lang="ko-KR" sz="1700" b="0">
                <a:solidFill>
                  <a:srgbClr val="00306C"/>
                </a:solidFill>
                <a:latin typeface="Pretendard"/>
                <a:ea typeface="Pretendard"/>
                <a:cs typeface="Pretendard"/>
                <a:hlinkClick r:id="rId5"/>
              </a:rPr>
              <a:t>개별 모델 점수와 전체 pipeline 효과의 구분</a:t>
            </a:r>
          </a:p>
        </p:txBody>
      </p:sp>
      <p:sp>
        <p:nvSpPr>
          <p:cNvPr id="20" name="Rectangle 19"/>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548640" y="6537960"/>
            <a:ext cx="87325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FFFFFF"/>
                </a:solidFill>
                <a:latin typeface="Pretendard"/>
                <a:ea typeface="Pretendard"/>
                <a:cs typeface="Pretendard"/>
              </a:rPr>
              <a:t>단일 expert의 구분 능력과 결합 정책의 효과를 분리한 검증 필요</a:t>
            </a:r>
          </a:p>
        </p:txBody>
      </p:sp>
      <p:sp>
        <p:nvSpPr>
          <p:cNvPr id="22" name="TextBox 21"/>
          <p:cNvSpPr txBox="1"/>
          <p:nvPr/>
        </p:nvSpPr>
        <p:spPr>
          <a:xfrm>
            <a:off x="9281160" y="6547104"/>
            <a:ext cx="1965960" cy="211836"/>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200" b="0">
                <a:solidFill>
                  <a:srgbClr val="C9D8EB"/>
                </a:solidFill>
                <a:latin typeface="Pretendard"/>
                <a:ea typeface="Pretendard"/>
                <a:cs typeface="Pretendard"/>
              </a:rPr>
              <a:t>01 모델과 앙상블</a:t>
            </a:r>
          </a:p>
        </p:txBody>
      </p:sp>
      <p:sp>
        <p:nvSpPr>
          <p:cNvPr id="23" name="TextBox 22"/>
          <p:cNvSpPr txBox="1"/>
          <p:nvPr/>
        </p:nvSpPr>
        <p:spPr>
          <a:xfrm>
            <a:off x="11411712" y="6533388"/>
            <a:ext cx="256032" cy="241808"/>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400" b="0">
                <a:solidFill>
                  <a:srgbClr val="FFFFFF"/>
                </a:solidFill>
                <a:latin typeface="Pretendard"/>
                <a:ea typeface="Pretendard"/>
                <a:cs typeface="Pretendard"/>
              </a:rPr>
              <a:t>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11045952" cy="48158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3000" b="1">
                <a:solidFill>
                  <a:srgbClr val="00306C"/>
                </a:solidFill>
                <a:latin typeface="Pretendard"/>
                <a:ea typeface="Pretendard"/>
                <a:cs typeface="Pretendard"/>
              </a:rPr>
              <a:t>ICD의 적용 조건 · 확보 라벨과 보존 예산</a:t>
            </a:r>
          </a:p>
        </p:txBody>
      </p:sp>
      <p:sp>
        <p:nvSpPr>
          <p:cNvPr id="3" name="TextBox 2"/>
          <p:cNvSpPr txBox="1"/>
          <p:nvPr/>
        </p:nvSpPr>
        <p:spPr>
          <a:xfrm>
            <a:off x="685800" y="1033271"/>
            <a:ext cx="524865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원문 실험  큰 라벨 집합 → 1,000개 context</a:t>
            </a:r>
          </a:p>
        </p:txBody>
      </p:sp>
      <p:sp>
        <p:nvSpPr>
          <p:cNvPr id="4" name="TextBox 3"/>
          <p:cNvSpPr txBox="1"/>
          <p:nvPr/>
        </p:nvSpPr>
        <p:spPr>
          <a:xfrm>
            <a:off x="713232" y="1545336"/>
            <a:ext cx="5193792" cy="571500"/>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800" b="0" dirty="0">
                <a:solidFill>
                  <a:srgbClr val="20262E"/>
                </a:solidFill>
                <a:latin typeface="Pretendard"/>
                <a:ea typeface="Pretendard"/>
                <a:cs typeface="Pretendard"/>
              </a:rPr>
              <a:t>48개 표 분류 과제 · 전체 2,000∼200,000행</a:t>
            </a:r>
          </a:p>
          <a:p>
            <a:pPr algn="l">
              <a:lnSpc>
                <a:spcPct val="118000"/>
              </a:lnSpc>
              <a:spcBef>
                <a:spcPts val="0"/>
              </a:spcBef>
              <a:spcAft>
                <a:spcPts val="0"/>
              </a:spcAft>
            </a:pPr>
            <a:r>
              <a:rPr lang="ko-KR" sz="1800" b="0" dirty="0" err="1">
                <a:solidFill>
                  <a:srgbClr val="20262E"/>
                </a:solidFill>
                <a:latin typeface="Pretendard"/>
                <a:ea typeface="Pretendard"/>
                <a:cs typeface="Pretendard"/>
              </a:rPr>
              <a:t>Train</a:t>
            </a:r>
            <a:r>
              <a:rPr lang="ko-KR" sz="1800" b="0" dirty="0">
                <a:solidFill>
                  <a:srgbClr val="20262E"/>
                </a:solidFill>
                <a:latin typeface="Pretendard"/>
                <a:ea typeface="Pretendard"/>
                <a:cs typeface="Pretendard"/>
              </a:rPr>
              <a:t> / </a:t>
            </a:r>
            <a:r>
              <a:rPr lang="ko-KR" sz="1800" b="0" dirty="0" err="1">
                <a:solidFill>
                  <a:srgbClr val="20262E"/>
                </a:solidFill>
                <a:latin typeface="Pretendard"/>
                <a:ea typeface="Pretendard"/>
                <a:cs typeface="Pretendard"/>
              </a:rPr>
              <a:t>validation</a:t>
            </a:r>
            <a:r>
              <a:rPr lang="ko-KR" sz="1800" b="0" dirty="0">
                <a:solidFill>
                  <a:srgbClr val="20262E"/>
                </a:solidFill>
                <a:latin typeface="Pretendard"/>
                <a:ea typeface="Pretendard"/>
                <a:cs typeface="Pretendard"/>
              </a:rPr>
              <a:t> / </a:t>
            </a:r>
            <a:r>
              <a:rPr lang="ko-KR" sz="1800" b="0" dirty="0" err="1">
                <a:solidFill>
                  <a:srgbClr val="20262E"/>
                </a:solidFill>
                <a:latin typeface="Pretendard"/>
                <a:ea typeface="Pretendard"/>
                <a:cs typeface="Pretendard"/>
              </a:rPr>
              <a:t>test</a:t>
            </a:r>
            <a:r>
              <a:rPr lang="ko-KR" sz="1800" b="0" dirty="0">
                <a:solidFill>
                  <a:srgbClr val="20262E"/>
                </a:solidFill>
                <a:latin typeface="Pretendard"/>
                <a:ea typeface="Pretendard"/>
                <a:cs typeface="Pretendard"/>
              </a:rPr>
              <a:t> = 80 / 10 / 10</a:t>
            </a:r>
          </a:p>
        </p:txBody>
      </p:sp>
      <p:sp>
        <p:nvSpPr>
          <p:cNvPr id="5" name="TextBox 4"/>
          <p:cNvSpPr txBox="1"/>
          <p:nvPr/>
        </p:nvSpPr>
        <p:spPr>
          <a:xfrm>
            <a:off x="722376" y="2295144"/>
            <a:ext cx="5120640" cy="301751"/>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800" b="1">
                <a:solidFill>
                  <a:srgbClr val="00306C"/>
                </a:solidFill>
                <a:latin typeface="Pretendard"/>
                <a:ea typeface="Pretendard"/>
                <a:cs typeface="Pretendard"/>
              </a:rPr>
              <a:t>F1 중앙값 (%)</a:t>
            </a:r>
          </a:p>
        </p:txBody>
      </p:sp>
      <p:sp>
        <p:nvSpPr>
          <p:cNvPr id="6" name="TextBox 5"/>
          <p:cNvSpPr txBox="1"/>
          <p:nvPr/>
        </p:nvSpPr>
        <p:spPr>
          <a:xfrm>
            <a:off x="731520" y="2862072"/>
            <a:ext cx="1773936" cy="286765"/>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700" b="0">
                <a:solidFill>
                  <a:srgbClr val="20262E"/>
                </a:solidFill>
                <a:latin typeface="Pretendard"/>
                <a:ea typeface="Pretendard"/>
                <a:cs typeface="Pretendard"/>
              </a:rPr>
              <a:t>튜닝 XGB</a:t>
            </a:r>
          </a:p>
        </p:txBody>
      </p:sp>
      <p:sp>
        <p:nvSpPr>
          <p:cNvPr id="7" name="Rectangle 6"/>
          <p:cNvSpPr/>
          <p:nvPr/>
        </p:nvSpPr>
        <p:spPr>
          <a:xfrm>
            <a:off x="2587752" y="2843784"/>
            <a:ext cx="2290681" cy="320040"/>
          </a:xfrm>
          <a:prstGeom prst="rect">
            <a:avLst/>
          </a:prstGeom>
          <a:solidFill>
            <a:srgbClr val="2026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5184648" y="2852927"/>
            <a:ext cx="640080" cy="301751"/>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800" b="1">
                <a:solidFill>
                  <a:srgbClr val="20262E"/>
                </a:solidFill>
                <a:latin typeface="Pretendard"/>
                <a:ea typeface="Pretendard"/>
                <a:cs typeface="Pretendard"/>
              </a:rPr>
              <a:t>92.1</a:t>
            </a:r>
          </a:p>
        </p:txBody>
      </p:sp>
      <p:sp>
        <p:nvSpPr>
          <p:cNvPr id="9" name="TextBox 8"/>
          <p:cNvSpPr txBox="1"/>
          <p:nvPr/>
        </p:nvSpPr>
        <p:spPr>
          <a:xfrm>
            <a:off x="731520" y="3438144"/>
            <a:ext cx="1773936" cy="286765"/>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700" b="1">
                <a:solidFill>
                  <a:srgbClr val="20262E"/>
                </a:solidFill>
                <a:latin typeface="Pretendard"/>
                <a:ea typeface="Pretendard"/>
                <a:cs typeface="Pretendard"/>
              </a:rPr>
              <a:t>TabPFN + ICD</a:t>
            </a:r>
          </a:p>
        </p:txBody>
      </p:sp>
      <p:sp>
        <p:nvSpPr>
          <p:cNvPr id="10" name="Rectangle 9"/>
          <p:cNvSpPr/>
          <p:nvPr/>
        </p:nvSpPr>
        <p:spPr>
          <a:xfrm>
            <a:off x="2587752" y="3419856"/>
            <a:ext cx="2235964" cy="320040"/>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184648" y="3428999"/>
            <a:ext cx="640080" cy="301751"/>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800" b="1">
                <a:solidFill>
                  <a:srgbClr val="20262E"/>
                </a:solidFill>
                <a:latin typeface="Pretendard"/>
                <a:ea typeface="Pretendard"/>
                <a:cs typeface="Pretendard"/>
              </a:rPr>
              <a:t>89.9</a:t>
            </a:r>
          </a:p>
        </p:txBody>
      </p:sp>
      <p:sp>
        <p:nvSpPr>
          <p:cNvPr id="12" name="TextBox 11"/>
          <p:cNvSpPr txBox="1"/>
          <p:nvPr/>
        </p:nvSpPr>
        <p:spPr>
          <a:xfrm>
            <a:off x="731520" y="4014215"/>
            <a:ext cx="1773936" cy="286765"/>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700" b="0">
                <a:solidFill>
                  <a:srgbClr val="20262E"/>
                </a:solidFill>
                <a:latin typeface="Pretendard"/>
                <a:ea typeface="Pretendard"/>
                <a:cs typeface="Pretendard"/>
              </a:rPr>
              <a:t>기본 XGB</a:t>
            </a:r>
          </a:p>
        </p:txBody>
      </p:sp>
      <p:sp>
        <p:nvSpPr>
          <p:cNvPr id="13" name="Rectangle 12"/>
          <p:cNvSpPr/>
          <p:nvPr/>
        </p:nvSpPr>
        <p:spPr>
          <a:xfrm>
            <a:off x="2587752" y="3995928"/>
            <a:ext cx="2221041" cy="320040"/>
          </a:xfrm>
          <a:prstGeom prst="rect">
            <a:avLst/>
          </a:prstGeom>
          <a:solidFill>
            <a:srgbClr val="6170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5184648" y="4005072"/>
            <a:ext cx="640080" cy="301751"/>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800" b="1">
                <a:solidFill>
                  <a:srgbClr val="20262E"/>
                </a:solidFill>
                <a:latin typeface="Pretendard"/>
                <a:ea typeface="Pretendard"/>
                <a:cs typeface="Pretendard"/>
              </a:rPr>
              <a:t>89.3</a:t>
            </a:r>
          </a:p>
        </p:txBody>
      </p:sp>
      <p:sp>
        <p:nvSpPr>
          <p:cNvPr id="15" name="TextBox 14"/>
          <p:cNvSpPr txBox="1"/>
          <p:nvPr/>
        </p:nvSpPr>
        <p:spPr>
          <a:xfrm>
            <a:off x="731520" y="4590288"/>
            <a:ext cx="1773936" cy="286765"/>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700" b="0">
                <a:solidFill>
                  <a:srgbClr val="20262E"/>
                </a:solidFill>
                <a:latin typeface="Pretendard"/>
                <a:ea typeface="Pretendard"/>
                <a:cs typeface="Pretendard"/>
              </a:rPr>
              <a:t>무작위 TabPFN</a:t>
            </a:r>
          </a:p>
        </p:txBody>
      </p:sp>
      <p:sp>
        <p:nvSpPr>
          <p:cNvPr id="16" name="Rectangle 15"/>
          <p:cNvSpPr/>
          <p:nvPr/>
        </p:nvSpPr>
        <p:spPr>
          <a:xfrm>
            <a:off x="2587752" y="4572000"/>
            <a:ext cx="2099169" cy="320040"/>
          </a:xfrm>
          <a:prstGeom prst="rect">
            <a:avLst/>
          </a:prstGeom>
          <a:solidFill>
            <a:srgbClr val="A9C7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5184648" y="4581144"/>
            <a:ext cx="640080" cy="301751"/>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800" b="1">
                <a:solidFill>
                  <a:srgbClr val="20262E"/>
                </a:solidFill>
                <a:latin typeface="Pretendard"/>
                <a:ea typeface="Pretendard"/>
                <a:cs typeface="Pretendard"/>
              </a:rPr>
              <a:t>84.4</a:t>
            </a:r>
          </a:p>
        </p:txBody>
      </p:sp>
      <p:sp>
        <p:nvSpPr>
          <p:cNvPr id="18" name="Rectangle 17"/>
          <p:cNvSpPr/>
          <p:nvPr/>
        </p:nvSpPr>
        <p:spPr>
          <a:xfrm>
            <a:off x="2587752" y="5093208"/>
            <a:ext cx="2487168" cy="10972"/>
          </a:xfrm>
          <a:prstGeom prst="rect">
            <a:avLst/>
          </a:prstGeom>
          <a:solidFill>
            <a:srgbClr val="CCD6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2542032" y="5166360"/>
            <a:ext cx="274320" cy="196850"/>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100" b="0">
                <a:solidFill>
                  <a:srgbClr val="617080"/>
                </a:solidFill>
                <a:latin typeface="Pretendard"/>
                <a:ea typeface="Pretendard"/>
                <a:cs typeface="Pretendard"/>
              </a:rPr>
              <a:t>0</a:t>
            </a:r>
          </a:p>
        </p:txBody>
      </p:sp>
      <p:sp>
        <p:nvSpPr>
          <p:cNvPr id="20" name="TextBox 19"/>
          <p:cNvSpPr txBox="1"/>
          <p:nvPr/>
        </p:nvSpPr>
        <p:spPr>
          <a:xfrm>
            <a:off x="4754880" y="5166360"/>
            <a:ext cx="320040" cy="196850"/>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100" b="0">
                <a:solidFill>
                  <a:srgbClr val="617080"/>
                </a:solidFill>
                <a:latin typeface="Pretendard"/>
                <a:ea typeface="Pretendard"/>
                <a:cs typeface="Pretendard"/>
              </a:rPr>
              <a:t>100</a:t>
            </a:r>
          </a:p>
        </p:txBody>
      </p:sp>
      <p:sp>
        <p:nvSpPr>
          <p:cNvPr id="21" name="TextBox 20"/>
          <p:cNvSpPr txBox="1"/>
          <p:nvPr/>
        </p:nvSpPr>
        <p:spPr>
          <a:xfrm>
            <a:off x="758952" y="5541264"/>
            <a:ext cx="502920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617080"/>
                </a:solidFill>
                <a:latin typeface="Pretendard"/>
                <a:ea typeface="Pretendard"/>
                <a:cs typeface="Pretendard"/>
                <a:hlinkClick r:id="rId3"/>
              </a:rPr>
              <a:t>같은 48개 자료의 중앙값 · IDS Macro-F1과 별개</a:t>
            </a:r>
          </a:p>
        </p:txBody>
      </p:sp>
      <p:sp>
        <p:nvSpPr>
          <p:cNvPr id="22" name="Rectangle 21"/>
          <p:cNvSpPr/>
          <p:nvPr/>
        </p:nvSpPr>
        <p:spPr>
          <a:xfrm>
            <a:off x="6446520" y="1316736"/>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6446520" y="1357884"/>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1</a:t>
            </a:r>
          </a:p>
        </p:txBody>
      </p:sp>
      <p:sp>
        <p:nvSpPr>
          <p:cNvPr id="24" name="TextBox 23"/>
          <p:cNvSpPr txBox="1"/>
          <p:nvPr/>
        </p:nvSpPr>
        <p:spPr>
          <a:xfrm>
            <a:off x="6958583" y="1307592"/>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압축에 쓴 라벨 수와 보관량 구분</a:t>
            </a:r>
          </a:p>
        </p:txBody>
      </p:sp>
      <p:sp>
        <p:nvSpPr>
          <p:cNvPr id="25" name="TextBox 24"/>
          <p:cNvSpPr txBox="1"/>
          <p:nvPr/>
        </p:nvSpPr>
        <p:spPr>
          <a:xfrm>
            <a:off x="6958583" y="1755648"/>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dirty="0">
                <a:solidFill>
                  <a:srgbClr val="20262E"/>
                </a:solidFill>
                <a:latin typeface="Pretendard"/>
                <a:ea typeface="Pretendard"/>
                <a:cs typeface="Pretendard"/>
              </a:rPr>
              <a:t>큰 </a:t>
            </a:r>
            <a:r>
              <a:rPr lang="ko-KR" sz="2000" b="0" dirty="0" err="1">
                <a:solidFill>
                  <a:srgbClr val="20262E"/>
                </a:solidFill>
                <a:latin typeface="Pretendard"/>
                <a:ea typeface="Pretendard"/>
                <a:cs typeface="Pretendard"/>
              </a:rPr>
              <a:t>train</a:t>
            </a:r>
            <a:r>
              <a:rPr lang="ko-KR" sz="2000" b="0" dirty="0">
                <a:solidFill>
                  <a:srgbClr val="20262E"/>
                </a:solidFill>
                <a:latin typeface="Pretendard"/>
                <a:ea typeface="Pretendard"/>
                <a:cs typeface="Pretendard"/>
              </a:rPr>
              <a:t> 전체로 </a:t>
            </a:r>
            <a:r>
              <a:rPr lang="ko-KR" sz="2000" b="0" dirty="0" err="1">
                <a:solidFill>
                  <a:srgbClr val="20262E"/>
                </a:solidFill>
                <a:latin typeface="Pretendard"/>
                <a:ea typeface="Pretendard"/>
                <a:cs typeface="Pretendard"/>
              </a:rPr>
              <a:t>context를</a:t>
            </a:r>
            <a:r>
              <a:rPr lang="ko-KR" sz="2000" b="0" dirty="0">
                <a:solidFill>
                  <a:srgbClr val="20262E"/>
                </a:solidFill>
                <a:latin typeface="Pretendard"/>
                <a:ea typeface="Pretendard"/>
                <a:cs typeface="Pretendard"/>
              </a:rPr>
              <a:t> 최적화</a:t>
            </a:r>
          </a:p>
          <a:p>
            <a:pPr algn="l">
              <a:lnSpc>
                <a:spcPct val="118000"/>
              </a:lnSpc>
              <a:spcBef>
                <a:spcPts val="0"/>
              </a:spcBef>
              <a:spcAft>
                <a:spcPts val="0"/>
              </a:spcAft>
            </a:pPr>
            <a:r>
              <a:rPr lang="ko-KR" sz="2000" b="0" dirty="0" err="1">
                <a:solidFill>
                  <a:srgbClr val="20262E"/>
                </a:solidFill>
                <a:latin typeface="Pretendard"/>
                <a:ea typeface="Pretendard"/>
                <a:cs typeface="Pretendard"/>
              </a:rPr>
              <a:t>Context</a:t>
            </a:r>
            <a:r>
              <a:rPr lang="ko-KR" sz="2000" b="0" dirty="0">
                <a:solidFill>
                  <a:srgbClr val="20262E"/>
                </a:solidFill>
                <a:latin typeface="Pretendard"/>
                <a:ea typeface="Pretendard"/>
                <a:cs typeface="Pretendard"/>
              </a:rPr>
              <a:t> 1,000개 ≠ 확보 라벨 1,000개</a:t>
            </a:r>
          </a:p>
        </p:txBody>
      </p:sp>
      <p:sp>
        <p:nvSpPr>
          <p:cNvPr id="26" name="Rectangle 25"/>
          <p:cNvSpPr/>
          <p:nvPr/>
        </p:nvSpPr>
        <p:spPr>
          <a:xfrm>
            <a:off x="6446520" y="2816352"/>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6446520" y="2857500"/>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2</a:t>
            </a:r>
          </a:p>
        </p:txBody>
      </p:sp>
      <p:sp>
        <p:nvSpPr>
          <p:cNvPr id="28" name="TextBox 27"/>
          <p:cNvSpPr txBox="1"/>
          <p:nvPr/>
        </p:nvSpPr>
        <p:spPr>
          <a:xfrm>
            <a:off x="6958583" y="2807208"/>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반복 최적화 비용까지 포함</a:t>
            </a:r>
          </a:p>
        </p:txBody>
      </p:sp>
      <p:sp>
        <p:nvSpPr>
          <p:cNvPr id="29" name="TextBox 28"/>
          <p:cNvSpPr txBox="1"/>
          <p:nvPr/>
        </p:nvSpPr>
        <p:spPr>
          <a:xfrm>
            <a:off x="6958583" y="3255264"/>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Context 증류 + validation 선택</a:t>
            </a:r>
          </a:p>
          <a:p>
            <a:pPr algn="l">
              <a:lnSpc>
                <a:spcPct val="118000"/>
              </a:lnSpc>
              <a:spcBef>
                <a:spcPts val="0"/>
              </a:spcBef>
              <a:spcAft>
                <a:spcPts val="0"/>
              </a:spcAft>
            </a:pPr>
            <a:r>
              <a:rPr lang="ko-KR" sz="2000" b="0">
                <a:solidFill>
                  <a:srgbClr val="20262E"/>
                </a:solidFill>
                <a:latin typeface="Pretendard"/>
                <a:ea typeface="Pretendard"/>
                <a:cs typeface="Pretendard"/>
              </a:rPr>
              <a:t>최종 cache 준비 + query 추론</a:t>
            </a:r>
          </a:p>
        </p:txBody>
      </p:sp>
      <p:sp>
        <p:nvSpPr>
          <p:cNvPr id="30" name="Rectangle 29"/>
          <p:cNvSpPr/>
          <p:nvPr/>
        </p:nvSpPr>
        <p:spPr>
          <a:xfrm>
            <a:off x="6446520" y="4315968"/>
            <a:ext cx="356616" cy="35661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6446520" y="4357116"/>
            <a:ext cx="356616" cy="286765"/>
          </a:xfrm>
          <a:prstGeom prst="rect">
            <a:avLst/>
          </a:prstGeom>
          <a:noFill/>
          <a:effectLst/>
        </p:spPr>
        <p:txBody>
          <a:bodyPr wrap="none" lIns="0" tIns="0" rIns="0" bIns="0" anchor="t">
            <a:noAutofit/>
          </a:bodyPr>
          <a:lstStyle/>
          <a:p>
            <a:pPr algn="ctr">
              <a:lnSpc>
                <a:spcPct val="118000"/>
              </a:lnSpc>
              <a:spcBef>
                <a:spcPts val="0"/>
              </a:spcBef>
              <a:spcAft>
                <a:spcPts val="0"/>
              </a:spcAft>
            </a:pPr>
            <a:r>
              <a:rPr lang="ko-KR" sz="1700" b="1">
                <a:solidFill>
                  <a:srgbClr val="FFFFFF"/>
                </a:solidFill>
                <a:latin typeface="Pretendard"/>
                <a:ea typeface="Pretendard"/>
                <a:cs typeface="Pretendard"/>
              </a:rPr>
              <a:t>3</a:t>
            </a:r>
          </a:p>
        </p:txBody>
      </p:sp>
      <p:sp>
        <p:nvSpPr>
          <p:cNvPr id="32" name="TextBox 31"/>
          <p:cNvSpPr txBox="1"/>
          <p:nvPr/>
        </p:nvSpPr>
        <p:spPr>
          <a:xfrm>
            <a:off x="6958583" y="4306824"/>
            <a:ext cx="4654296" cy="361696"/>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200" b="1">
                <a:solidFill>
                  <a:srgbClr val="00306C"/>
                </a:solidFill>
                <a:latin typeface="Pretendard"/>
                <a:ea typeface="Pretendard"/>
                <a:cs typeface="Pretendard"/>
              </a:rPr>
              <a:t>우리 연구의 적용 순서</a:t>
            </a:r>
          </a:p>
        </p:txBody>
      </p:sp>
      <p:sp>
        <p:nvSpPr>
          <p:cNvPr id="33" name="TextBox 32"/>
          <p:cNvSpPr txBox="1"/>
          <p:nvPr/>
        </p:nvSpPr>
        <p:spPr>
          <a:xfrm>
            <a:off x="6958583" y="4754879"/>
            <a:ext cx="4654296" cy="631443"/>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2000" b="0">
                <a:solidFill>
                  <a:srgbClr val="20262E"/>
                </a:solidFill>
                <a:latin typeface="Pretendard"/>
                <a:ea typeface="Pretendard"/>
                <a:cs typeface="Pretendard"/>
              </a:rPr>
              <a:t>극소수 신규 라벨의 단계 평가부터</a:t>
            </a:r>
          </a:p>
          <a:p>
            <a:pPr algn="l">
              <a:lnSpc>
                <a:spcPct val="118000"/>
              </a:lnSpc>
              <a:spcBef>
                <a:spcPts val="0"/>
              </a:spcBef>
              <a:spcAft>
                <a:spcPts val="0"/>
              </a:spcAft>
            </a:pPr>
            <a:r>
              <a:rPr lang="ko-KR" sz="2000" b="0">
                <a:solidFill>
                  <a:srgbClr val="20262E"/>
                </a:solidFill>
                <a:latin typeface="Pretendard"/>
                <a:ea typeface="Pretendard"/>
                <a:cs typeface="Pretendard"/>
              </a:rPr>
              <a:t>라벨 이력 증가 시 압축 방법 비교</a:t>
            </a:r>
          </a:p>
        </p:txBody>
      </p:sp>
      <p:sp>
        <p:nvSpPr>
          <p:cNvPr id="34" name="Rectangle 33"/>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48640" y="6537960"/>
            <a:ext cx="8732520" cy="241808"/>
          </a:xfrm>
          <a:prstGeom prst="rect">
            <a:avLst/>
          </a:prstGeom>
          <a:noFill/>
          <a:effectLst/>
        </p:spPr>
        <p:txBody>
          <a:bodyPr wrap="none" lIns="0" tIns="0" rIns="0" bIns="0" anchor="t">
            <a:noAutofit/>
          </a:bodyPr>
          <a:lstStyle/>
          <a:p>
            <a:pPr algn="l">
              <a:lnSpc>
                <a:spcPct val="118000"/>
              </a:lnSpc>
              <a:spcBef>
                <a:spcPts val="0"/>
              </a:spcBef>
              <a:spcAft>
                <a:spcPts val="0"/>
              </a:spcAft>
            </a:pPr>
            <a:r>
              <a:rPr lang="ko-KR" sz="1400" b="0">
                <a:solidFill>
                  <a:srgbClr val="FFFFFF"/>
                </a:solidFill>
                <a:latin typeface="Pretendard"/>
                <a:ea typeface="Pretendard"/>
                <a:cs typeface="Pretendard"/>
              </a:rPr>
              <a:t>현재는 소수 라벨의 활용부터 검증 · 큰 라벨 이력의 압축은 다음 연구 질문</a:t>
            </a:r>
          </a:p>
        </p:txBody>
      </p:sp>
      <p:sp>
        <p:nvSpPr>
          <p:cNvPr id="36" name="TextBox 35"/>
          <p:cNvSpPr txBox="1"/>
          <p:nvPr/>
        </p:nvSpPr>
        <p:spPr>
          <a:xfrm>
            <a:off x="9281160" y="6547104"/>
            <a:ext cx="1965960" cy="211836"/>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200" b="0">
                <a:solidFill>
                  <a:srgbClr val="C9D8EB"/>
                </a:solidFill>
                <a:latin typeface="Pretendard"/>
                <a:ea typeface="Pretendard"/>
                <a:cs typeface="Pretendard"/>
              </a:rPr>
              <a:t>04 Context 최적화</a:t>
            </a:r>
          </a:p>
        </p:txBody>
      </p:sp>
      <p:sp>
        <p:nvSpPr>
          <p:cNvPr id="37" name="TextBox 36"/>
          <p:cNvSpPr txBox="1"/>
          <p:nvPr/>
        </p:nvSpPr>
        <p:spPr>
          <a:xfrm>
            <a:off x="11411712" y="6533388"/>
            <a:ext cx="256032" cy="241808"/>
          </a:xfrm>
          <a:prstGeom prst="rect">
            <a:avLst/>
          </a:prstGeom>
          <a:noFill/>
          <a:effectLst/>
        </p:spPr>
        <p:txBody>
          <a:bodyPr wrap="none" lIns="0" tIns="0" rIns="0" bIns="0" anchor="t">
            <a:noAutofit/>
          </a:bodyPr>
          <a:lstStyle/>
          <a:p>
            <a:pPr algn="r">
              <a:lnSpc>
                <a:spcPct val="118000"/>
              </a:lnSpc>
              <a:spcBef>
                <a:spcPts val="0"/>
              </a:spcBef>
              <a:spcAft>
                <a:spcPts val="0"/>
              </a:spcAft>
            </a:pPr>
            <a:r>
              <a:rPr lang="ko-KR" sz="1400" b="0">
                <a:solidFill>
                  <a:srgbClr val="FFFFFF"/>
                </a:solidFill>
                <a:latin typeface="Pretendard"/>
                <a:ea typeface="Pretendard"/>
                <a:cs typeface="Pretendard"/>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3114</Words>
  <Application>Microsoft Office PowerPoint</Application>
  <PresentationFormat>와이드스크린</PresentationFormat>
  <Paragraphs>315</Paragraphs>
  <Slides>11</Slides>
  <Notes>10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11</vt:i4>
      </vt:variant>
    </vt:vector>
  </HeadingPairs>
  <TitlesOfParts>
    <vt:vector size="16" baseType="lpstr">
      <vt:lpstr>Pretendard</vt:lpstr>
      <vt:lpstr>Arial</vt:lpstr>
      <vt:lpstr>Calibri</vt:lpstr>
      <vt:lpstr>Wingdings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TabPFN 관련 연구 · 평가 시나리오 · Context 최적화</dc:title>
  <dc:subject>20261021_references 보고서 1·3·4절 설명</dc:subject>
  <dc:creator/>
  <cp:keywords/>
  <dc:description>generated using python-pptx</dc:description>
  <cp:lastModifiedBy>박민서</cp:lastModifiedBy>
  <cp:revision>2</cp:revision>
  <dcterms:created xsi:type="dcterms:W3CDTF">2013-01-27T09:14:16Z</dcterms:created>
  <dcterms:modified xsi:type="dcterms:W3CDTF">2026-10-23T02:32:52Z</dcterms:modified>
  <cp:category/>
</cp:coreProperties>
</file>