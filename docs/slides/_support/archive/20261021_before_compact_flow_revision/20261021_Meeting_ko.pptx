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운영을 시작할 때 없었던 공격의 라벨 사례가 나중에 소량 확보되는 상황을 다룹니다. 기존 정상과 공격을 계속 구분하면서 새 사례를 반영해야 합니다. 자료 부족과 입력 변화를 이 갱신 상황에서 살펴보겠습니다.</a:t>
            </a:r>
          </a:p>
          <a:p/>
          <a:p>
            <a:r>
              <a:t>근거와 해석 범위</a:t>
            </a:r>
          </a:p>
          <a:p>
            <a:r>
              <a:t>IDS를 먼저 정의한다. 선행연구는 주로 anomaly-based IDS의 운영상 어려움을 논의했으며 XGB나 TabPFN의 직접 비교가 아니다. 새 공격 라벨 확보 이후의 갱신을 본 연구 문제로 구체화한다. 신규 공격을 라벨 확보 전에 탐지했다는 주장은 하지 않는다. https://www.icir.org/robin/papers/oakland10-ml.pdf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CIC는 시험망에서 날짜별로 서로 다른 공격을 실행해 수집했습니다. 우리는 이 공격 유형을 초기와 후속 단계로 나누고, 같은 train에서 초기 천 개와 신규 유형당 n개를 선택합니다. 이 사례를 두 모델에 똑같이 제공하고 별도로 둔 test로 평가합니다. ToN에도 자체 자료 안에서 같은 절차를 적용합니다.</a:t>
            </a:r>
          </a:p>
          <a:p/>
          <a:p>
            <a:r>
              <a:t>근거와 해석 범위</a:t>
            </a:r>
          </a:p>
          <a:p>
            <a:r>
              <a:t>CIC의 수집 일정에서 나타난 공격 유형을 초기/후속 라벨 공급 단계로 사용한다. 날짜별 모든 행을 재생하는 것이 아니라 같은 정제 train에서 초기1000개와 후속유형당n개를 선택한다. ToN도 자체train에서독립적으로진행한다. 수집기록을어떻게사용하는지긍정적으로설명한다. 두벤치마크는시험망수집자료이고새로운특징행을합성하지않는다.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TabPFN은 개별 IDS에 맞춰 가중치를 다시 학습하지 않고도 라벨 사례를 입력으로 받아 예측할 수 있다는 점 때문에 검토합니다. 사전학습한 것은 특정 공격 이름이 아니라 표 데이터의 예측 규칙입니다. Context가 현재 IDS의 특징과 정답 관계를 제공합니다. 소량 라벨에서도 품질을 유지하고 갱신 비용을 줄일 수 있는지는 다음 실험에서 확인합니다.</a:t>
            </a:r>
          </a:p>
          <a:p/>
          <a:p>
            <a:r>
              <a:t>근거와 해석 범위</a:t>
            </a:r>
          </a:p>
          <a:p>
            <a:r>
              <a:t>표 예측 규칙을 사전학습한 모델이므로 개별 IDS 문제에서 가중치를 다시 최적화하지 않고context와query로예측할수있다는것이채택이유다. 소량데이터품질과낮은갱신비용은확인할가설이다. Context는가중치외부의입력이고새공격라벨의의미를제공한다. 기존클래스사례도필요하다. 캐시준비비용을측정하며추론비용이낮다는주장은하지않는다. https://arxiv.org/abs/2605.13986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모델과 사례 보유 방식을 분리해서 비교합니다. 누적뿐 아니라 FIFO, 무작위, 유사도 버퍼도 XGB와 PFN에 정확히 같은 행을 제공합니다. 이 대조군이 있어야 버퍼 자체의 효과를 PFN의 효과로 오해하지 않습니다. 최종 품질과 기존 성능 유지, 후속 갱신 비용을 확인합니다.</a:t>
            </a:r>
          </a:p>
          <a:p/>
          <a:p>
            <a:r>
              <a:t>근거와 해석 범위</a:t>
            </a:r>
          </a:p>
          <a:p>
            <a:r>
              <a:t>누적은XGB/PFN같은사례를사용한다. 버퍼역시FIFO,무작위,유사도각각두모델에정확히같은행ID와순서를제공한다. 따라서모델효과와사례선택효과를구분할수있다. 신규라벨수와보유량은별개조건이다. 최종성능뿐아니라후속갱신시간합계를측정하므로XGB는매단계재학습한다.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CIC와 ToN은 각각 독립적으로 평가합니다. 정제 train에서 초기와 새 공격 사례를 선택합니다. 현재 데이터셋이라는 표현은 다른 출처의 자료가 아니라 단계별로 제공된 라벨 사례 집합을 뜻합니다. 일부만 선택하는 이유는 조사로 새 공격 라벨을 조금씩 확보하는 상황을 통제하기 위해서입니다.</a:t>
            </a:r>
          </a:p>
          <a:p/>
          <a:p>
            <a:r>
              <a:t>근거와 해석 범위</a:t>
            </a:r>
          </a:p>
          <a:p>
            <a:r>
              <a:t>청중이 말한 원본 A는 각 출처 벤치마크이고 현재 B는 그 train에서 해당 단계까지 제공한 사례 집합이다. 별도의 출처 B를 생성하거나 A의 공격을 다른 데이터셋에 붙이지 않는다. CIC에서 CIC train/test를, ToN에서 ToN train/test를 각각 사용한다. 두 벤치마크는 시험망 수집 자료다. 행 ID는 분리되어 있으나 동일 특징 벡터가 남을 수 있으므로 완전한 특징 중복 제거를 주장하지 않는다. 기존 중복 특징 제외 진단은 별도 결과에 저장되어 있다. https://www.unb.ca/cic/datasets/ids-2018.html https://research.unsw.edu.au/projects/toniot-datasets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초기는 정상 750개, 공격 두 종류 각 125개입니다. 이후 새 클래스당 다섯 개부터 백 개까지 여섯 라벨 수를 비교했습니다. 누적 보유량은 계속 증가하고 버퍼는 천 개로 유지됩니다. 두 방식 모두 XGB와 PFN에 적용하며 세 seed를 사용했습니다.</a:t>
            </a:r>
          </a:p>
          <a:p/>
          <a:p>
            <a:r>
              <a:t>근거와 해석 범위</a:t>
            </a:r>
          </a:p>
          <a:p>
            <a:r>
              <a:t>초기 benign 750, 공격 2종 각125는 통제 조건이며 운영 분포나 최적값이라고 주장하지 않는다. 단계는 원본의 공격 등장 순서를 참고한 라벨 공개 순서이고 raw timestamp replay가 아니다. n=100은 6개 조건 중 상한이며 대표 최적값이 아니다. 각 단계에서 누적 보유량과 버퍼 실제 크기를 별도 열로 표시한다. 클래스별 표본 동일 조건에서도 단계별 새 클래스 수에 따라 신규 총량이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그림 위쪽은 라벨 확보 순서입니다. CIC 세 번째 단계에서 초기 천 개에 DDoS 백 개와 Web 백 개가 들어옵니다. 누적은 천이백 개를 쓰고 버퍼는 기존 행을 삭제해 천 개를 유지합니다. 선택한 같은 사례가 오른쪽 두 모델에 들어갑니다. 점선 안에서 XGB는 모델을 다시 학습하고 PFN은 context와 캐시를 준비합니다. 오른쪽의 같은 test는 학습에 쓰이지 않고 예측 평가에 사용됩니다.</a:t>
            </a:r>
          </a:p>
          <a:p/>
          <a:p>
            <a:r>
              <a:t>근거와 해석 범위</a:t>
            </a:r>
          </a:p>
          <a:p>
            <a:r>
              <a:t>블록은CIC의초기정상750,초기공격250,DDoS100,Web100을나타내며길이는실제행수에비례한다. 현재버퍼예시는seed43무작위정책의실제3단계구성이다. 누적과버퍼중선택한동일사례를XGB와PFN모두에게제공한다. XGB는각단계새트리모델을학습하고PFN은context와캐시를갱신하며가중치를고정한다. 고정test는학습에입력되지않고모델구성후예측평가에사용한다. 최종품질만필요하면XGB마지막학습한번으로가능하지만갱신시간합계와유지를위해매단계학습한다. 전체test는마지막에만평가하며각단계는고정패널진단이다.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버퍼 크기만 같은 것이 충분하지는 않습니다. ToN의 예시를 보면 삭제 정책에 따라 정상과 초기 공격이 남는 비율도 달라집니다. 이 그림은 seed 43의 실제 행 수이며 결과 평균과 구분한 예시입니다. 그래서 같은 정책에서는 XGB와 PFN에 동일한 행을 줘야 모델 차이를 판단할 수 있습니다.</a:t>
            </a:r>
          </a:p>
          <a:p/>
          <a:p>
            <a:r>
              <a:t>근거와 해석 범위</a:t>
            </a:r>
          </a:p>
          <a:p>
            <a:r>
              <a:t>성능추정치는3seed평균을사용하지만이페이지는실제행구성을이해하기위한seed43예시다. 정상/초기두공격/후속일곱공격으로집계했으며새공격개별클래스수가모두같다는뜻은아니다. ToN FIFO최종은정상224,초기76,신규700;무작위351/112/537;유사도373/148/479. FIFO는오래된네트워크특성을판정하지않고편입순서로삭제한다. 실제운영에서는기존정상공격도계속들어올수있지만본실험은신규공격라벨을추가하는통제조건이다.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먼저 전체 test에서 마지막 모델의 Macro-F1을 확인합니다. XGB가 왼쪽, PFN이 오른쪽이고 같은 데이터셋의 축을 맞췄습니다. 선 색은 보유 정책이며 오차막대는 세 seed의 표준편차입니다. 우측 숫자는 모든 정책의 백 개 조건 평균입니다.</a:t>
            </a:r>
          </a:p>
          <a:p/>
          <a:p>
            <a:r>
              <a:t>근거와 해석 범위</a:t>
            </a:r>
          </a:p>
          <a:p>
            <a:r>
              <a:t>CIC7개와ToN10개클래스를동일비중으로평균한다. 전체test는CIC3042473,ToN2271723이며단계별예측을합치지않는다. XGB와PFN을분리한패널이지만데이터셋별y축은일치한다. 오차막대는고정분할에서3seed표본표준편차이며신뢰구간이나동등성검정이아니다. 우측은모든정책의n100평균이며최적조건으로선택한값이아니다.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같은 최종 예측에서 신규 공격 클래스의 F1만 골라 평균합니다. 정상과 초기 공격은 평균 항목에서 빠지지만 그 행에서 새 공격으로 오분류한 경우는 해당 공격의 F1에 반영됩니다. 단계 점수를 평균한 값이 아닙니다.</a:t>
            </a:r>
          </a:p>
          <a:p/>
          <a:p>
            <a:r>
              <a:t>근거와 해석 범위</a:t>
            </a:r>
          </a:p>
          <a:p>
            <a:r>
              <a:t>같은최종전체test혼동행렬에서초기이후공격F1만평균한다. 단계평균아님. CIC신규는ddos,web_attacks,infiltration,bot이고ToN은ddos,injection,password,xss,backdoor,ransomware,mitm이다. 초기정상공격은평균항목에서제외하지만그행에서신규로오분류한FP는해당F1에포함한다. 신규그룹은test희소클래스그룹과다르다. XGB고정버퍼도같은행을사용한다.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유지는 초기 세 클래스에 해당하는 고정 평가 행에서 최종과 초기 점수의 차이로 확인합니다. 전체 test F1과 다른 진단입니다. 최종 전체 점수만 보면 드러나지 않는 기존 클래스 변화를 살펴봅니다.</a:t>
            </a:r>
          </a:p>
          <a:p/>
          <a:p>
            <a:r>
              <a:t>근거와 해석 범위</a:t>
            </a:r>
          </a:p>
          <a:p>
            <a:r>
              <a:t>초기3개클래스행만의고정패널F1이다. 이후공격에서초기클래스로향하는FP는포함하지않으므로전체testF1과다른모집단이다. 전체현재클래스joint오탐및직전클래스유지진단은원시결과에별도보존했다. 전체testF1상승과이진단하락은동시에가능하다. 미래클래스query특징을포함할수있는고정query구성으로오프라인진단하고정답은학습하지않는다.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초기 준비와 모든 추론을 제외하고, 두 번째 단계부터 사례 선택과 삭제 및 모델 갱신 시간을 합했습니다. XGB 버퍼도 모든 단계에서 재학습했습니다. 기존 PFN과 새 XGB는 같은 장비에서 다른 세션에 측정한 값입니다.</a:t>
            </a:r>
          </a:p>
          <a:p/>
          <a:p>
            <a:r>
              <a:t>근거와 해석 범위</a:t>
            </a:r>
          </a:p>
          <a:p>
            <a:r>
              <a:t>기존EXP84의PFN및누적XGB시간과새EXP85버퍼XGB시간을비교하며실행세션이다르다. 모두같은장비설정및동일시간범위이며GPU동기화로측정했다. PFN은재실행하지않았고XGB는정책별삭제계산을실행해시간을다시측정했다. 초기준비,모든추론,체크포인트와검증은제외한다. 전체test는마지막에만평가한다. 서로다른데이터셋은단계수도다르다. 이그림의비용차이를전체운영비용으로해석하지않는다.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마지막으로 test에서 가장 희소한 공격 두 종류씩을 확인합니다. 같은 버퍼에서도 모델별 오탐과 탐지의 차이가 남습니다. 삭제하지 않은 PFN 누적의 낮은 F1까지 버퍼 탓으로 돌릴 수는 없습니다. 다음 개선은 오탐의 출처와 클래스 구성, 모델의 분리 능력을 구분하는 분석에 연결합니다.</a:t>
            </a:r>
          </a:p>
          <a:p/>
          <a:p>
            <a:r>
              <a:t>근거와 해석 범위</a:t>
            </a:r>
          </a:p>
          <a:p>
            <a:r>
              <a:t>각데이터셋test에서가장희소한공격2종을support내림차순으로제시한다. n100은스윕상한진단예시이며모든n의클래스별결과는보고서에보존한다. XGB/PFN같은버퍼조건으로비교한다. PFN누적에서도낮은tailF1이남으므로버퍼삭제만으로원인을단정하지않는다. 높은재현율과낮은정밀도를구분하여정상에서발생한오탐,클래스비율변화및모델분리능력을분석한다. 가중치적응이나보정효과는아직입증하지않았다.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검증된exp85_per_class_summary.csv의3seed평균F1과support를사용한다. n100은설명용상한조건이며최적값이아니다. 왼쪽네정책은XGB,오른쪽네정책은PFN이다. 표준편차와precision/recall은보고서에보존했다.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검증된exp85_per_class_summary.csv의3seed평균F1과support를사용한다. n100은설명용상한조건이며최적값이아니다. 왼쪽네정책은XGB,오른쪽네정책은PFN이다. 표준편차와precision/recall은보고서에보존했다.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Grinsztajn etal2026 Figure5 원도식. 그림캡션은사용자요청에따라표시하지않는다. 입력연산단계이며IDS가중치학습단계를뜻하지않는다.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원문2.2manyclassdecoder는onehotcontextlabel을value로사용한다. context밖의class에대한지도학습다중클래스확률을만들기위해관련label사례가필요하다. FT는별도가중치최적화. 이번실험에서는weightdigest동일성을확인했고FT시간0. https://arxiv.org/html/2605.13986v1#S2.SS1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hyperlink" Target="https://www.icir.org/robin/papers/oakland10-ml.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www.unb.ca/cic/datasets/ids-2018.html" TargetMode="External"/><Relationship Id="rId4" Type="http://schemas.openxmlformats.org/officeDocument/2006/relationships/hyperlink" Target="https://research.unsw.edu.au/projects/toniot-dataset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s://arxiv.org/abs/2605.13986"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기존 IDS의 한계 · 새 공격과 제한된 라벨</a:t>
            </a:r>
          </a:p>
        </p:txBody>
      </p:sp>
      <p:sp>
        <p:nvSpPr>
          <p:cNvPr id="3" name="TextBox 2"/>
          <p:cNvSpPr txBox="1"/>
          <p:nvPr/>
        </p:nvSpPr>
        <p:spPr>
          <a:xfrm>
            <a:off x="566928" y="1005840"/>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20262E"/>
                </a:solidFill>
                <a:latin typeface="Pretendard"/>
                <a:ea typeface="Pretendard"/>
                <a:cs typeface="Pretendard"/>
              </a:rPr>
              <a:t>침입 탐지 시스템 (IDS) · 통신 기록의 특징으로 정상·공격 유형을 구분하는 시스템</a:t>
            </a:r>
          </a:p>
        </p:txBody>
      </p:sp>
      <p:sp>
        <p:nvSpPr>
          <p:cNvPr id="4" name="TextBox 3"/>
          <p:cNvSpPr txBox="1"/>
          <p:nvPr/>
        </p:nvSpPr>
        <p:spPr>
          <a:xfrm>
            <a:off x="566928" y="1682496"/>
            <a:ext cx="10972800" cy="960120"/>
          </a:xfrm>
          <a:prstGeom prst="rect">
            <a:avLst/>
          </a:prstGeom>
          <a:noFill/>
          <a:effectLst/>
        </p:spPr>
        <p:txBody>
          <a:bodyPr wrap="none" anchor="t" lIns="0" rIns="0" tIns="0" bIns="0">
            <a:noAutofit/>
          </a:bodyPr>
          <a:lstStyle/>
          <a:p>
            <a:pPr algn="l">
              <a:lnSpc>
                <a:spcPct val="116000"/>
              </a:lnSpc>
              <a:spcBef>
                <a:spcPts val="0"/>
              </a:spcBef>
              <a:spcAft>
                <a:spcPts val="0"/>
              </a:spcAft>
            </a:pPr>
            <a:r>
              <a:rPr sz="2900" b="1" lang="ko-KR">
                <a:solidFill>
                  <a:srgbClr val="00306C"/>
                </a:solidFill>
                <a:latin typeface="Pretendard"/>
                <a:ea typeface="Pretendard"/>
                <a:cs typeface="Pretendard"/>
              </a:rPr>
              <a:t>운영 시작 시 확보한 공격 라벨만으로</a:t>
            </a:r>
          </a:p>
          <a:p>
            <a:pPr algn="l">
              <a:lnSpc>
                <a:spcPct val="116000"/>
              </a:lnSpc>
              <a:spcBef>
                <a:spcPts val="0"/>
              </a:spcBef>
              <a:spcAft>
                <a:spcPts val="0"/>
              </a:spcAft>
            </a:pPr>
            <a:r>
              <a:rPr sz="2900" b="1" lang="ko-KR">
                <a:solidFill>
                  <a:srgbClr val="00306C"/>
                </a:solidFill>
                <a:latin typeface="Pretendard"/>
                <a:ea typeface="Pretendard"/>
                <a:cs typeface="Pretendard"/>
              </a:rPr>
              <a:t>이후 등장하는 공격까지 대응하기 어려운 문제</a:t>
            </a:r>
          </a:p>
        </p:txBody>
      </p:sp>
      <p:sp>
        <p:nvSpPr>
          <p:cNvPr id="5" name="Rectangle 4"/>
          <p:cNvSpPr/>
          <p:nvPr/>
        </p:nvSpPr>
        <p:spPr>
          <a:xfrm>
            <a:off x="566928"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566928"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713232"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입력의 변화</a:t>
            </a:r>
          </a:p>
        </p:txBody>
      </p:sp>
      <p:sp>
        <p:nvSpPr>
          <p:cNvPr id="8" name="TextBox 7"/>
          <p:cNvSpPr txBox="1"/>
          <p:nvPr/>
        </p:nvSpPr>
        <p:spPr>
          <a:xfrm>
            <a:off x="713232"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네트워크·서비스·공격의 다양성</a:t>
            </a:r>
          </a:p>
          <a:p>
            <a:pPr algn="l">
              <a:lnSpc>
                <a:spcPct val="116000"/>
              </a:lnSpc>
              <a:spcBef>
                <a:spcPts val="0"/>
              </a:spcBef>
              <a:spcAft>
                <a:spcPts val="0"/>
              </a:spcAft>
            </a:pPr>
            <a:r>
              <a:rPr sz="1800" b="0" lang="ko-KR">
                <a:solidFill>
                  <a:srgbClr val="20262E"/>
                </a:solidFill>
                <a:latin typeface="Pretendard"/>
                <a:ea typeface="Pretendard"/>
                <a:cs typeface="Pretendard"/>
              </a:rPr>
              <a:t>학습 시점과 다른 트래픽의 등장</a:t>
            </a:r>
          </a:p>
        </p:txBody>
      </p:sp>
      <p:sp>
        <p:nvSpPr>
          <p:cNvPr id="9" name="Rectangle 8"/>
          <p:cNvSpPr/>
          <p:nvPr/>
        </p:nvSpPr>
        <p:spPr>
          <a:xfrm>
            <a:off x="4434840"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434840"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581144"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제한된 공격 라벨</a:t>
            </a:r>
          </a:p>
        </p:txBody>
      </p:sp>
      <p:sp>
        <p:nvSpPr>
          <p:cNvPr id="12" name="TextBox 11"/>
          <p:cNvSpPr txBox="1"/>
          <p:nvPr/>
        </p:nvSpPr>
        <p:spPr>
          <a:xfrm>
            <a:off x="4581144"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새 공격 조사 후 확보하는 사례</a:t>
            </a:r>
          </a:p>
          <a:p>
            <a:pPr algn="l">
              <a:lnSpc>
                <a:spcPct val="116000"/>
              </a:lnSpc>
              <a:spcBef>
                <a:spcPts val="0"/>
              </a:spcBef>
              <a:spcAft>
                <a:spcPts val="0"/>
              </a:spcAft>
            </a:pPr>
            <a:r>
              <a:rPr sz="1800" b="0" lang="ko-KR">
                <a:solidFill>
                  <a:srgbClr val="20262E"/>
                </a:solidFill>
                <a:latin typeface="Pretendard"/>
                <a:ea typeface="Pretendard"/>
                <a:cs typeface="Pretendard"/>
              </a:rPr>
              <a:t>충분한 학습 자료 확보의 어려움</a:t>
            </a:r>
          </a:p>
        </p:txBody>
      </p:sp>
      <p:sp>
        <p:nvSpPr>
          <p:cNvPr id="13" name="Rectangle 12"/>
          <p:cNvSpPr/>
          <p:nvPr/>
        </p:nvSpPr>
        <p:spPr>
          <a:xfrm>
            <a:off x="8302752" y="2953512"/>
            <a:ext cx="3328416"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302752" y="2953512"/>
            <a:ext cx="3328416" cy="438912"/>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49056" y="3044952"/>
            <a:ext cx="301752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FFFFFF"/>
                </a:solidFill>
                <a:latin typeface="Pretendard"/>
                <a:ea typeface="Pretendard"/>
                <a:cs typeface="Pretendard"/>
              </a:rPr>
              <a:t>오탐과 갱신 부담</a:t>
            </a:r>
          </a:p>
        </p:txBody>
      </p:sp>
      <p:sp>
        <p:nvSpPr>
          <p:cNvPr id="16" name="TextBox 15"/>
          <p:cNvSpPr txBox="1"/>
          <p:nvPr/>
        </p:nvSpPr>
        <p:spPr>
          <a:xfrm>
            <a:off x="8449056" y="3602736"/>
            <a:ext cx="3017520" cy="685800"/>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정상 트래픽에 대한 잘못된 경보</a:t>
            </a:r>
          </a:p>
          <a:p>
            <a:pPr algn="l">
              <a:lnSpc>
                <a:spcPct val="116000"/>
              </a:lnSpc>
              <a:spcBef>
                <a:spcPts val="0"/>
              </a:spcBef>
              <a:spcAft>
                <a:spcPts val="0"/>
              </a:spcAft>
            </a:pPr>
            <a:r>
              <a:rPr sz="1800" b="0" lang="ko-KR">
                <a:solidFill>
                  <a:srgbClr val="20262E"/>
                </a:solidFill>
                <a:latin typeface="Pretendard"/>
                <a:ea typeface="Pretendard"/>
                <a:cs typeface="Pretendard"/>
              </a:rPr>
              <a:t>새 사례 반영에 필요한 추가 계산</a:t>
            </a:r>
          </a:p>
        </p:txBody>
      </p:sp>
      <p:sp>
        <p:nvSpPr>
          <p:cNvPr id="17" name="TextBox 16"/>
          <p:cNvSpPr txBox="1"/>
          <p:nvPr/>
        </p:nvSpPr>
        <p:spPr>
          <a:xfrm>
            <a:off x="603504" y="480060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고정된 클래스의 한 번의 점수에 더해, 새 라벨을 반영한 뒤의 탐지 품질과 비용 확인</a:t>
            </a:r>
          </a:p>
        </p:txBody>
      </p:sp>
      <p:sp>
        <p:nvSpPr>
          <p:cNvPr id="18" name="TextBox 17"/>
          <p:cNvSpPr txBox="1"/>
          <p:nvPr/>
        </p:nvSpPr>
        <p:spPr>
          <a:xfrm>
            <a:off x="603504" y="550468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Sommer · Paxson, Outside the Closed World: On Using Machine Learning</a:t>
            </a:r>
          </a:p>
        </p:txBody>
      </p:sp>
      <p:sp>
        <p:nvSpPr>
          <p:cNvPr id="19" name="TextBox 18"/>
          <p:cNvSpPr txBox="1"/>
          <p:nvPr/>
        </p:nvSpPr>
        <p:spPr>
          <a:xfrm>
            <a:off x="603504" y="57972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hlinkClick r:id="rId3"/>
              </a:rPr>
              <a:t>for Network Intrusion Detection, IEEE S&amp;P 2010 · 학습 자료 부족·입력 변동성·오류 비용</a:t>
            </a:r>
          </a:p>
        </p:txBody>
      </p:sp>
      <p:sp>
        <p:nvSpPr>
          <p:cNvPr id="20" name="Rectangle 1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연구 문제 · 소수의 신규 공격 사례를 기존 탐지기에 반영하는 방법</a:t>
            </a:r>
          </a:p>
        </p:txBody>
      </p:sp>
      <p:sp>
        <p:nvSpPr>
          <p:cNvPr id="22" name="TextBox 2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23" name="TextBox 2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공격 수집 기록을 단계별 라벨 공급으로 활용</a:t>
            </a:r>
          </a:p>
        </p:txBody>
      </p:sp>
      <p:sp>
        <p:nvSpPr>
          <p:cNvPr id="3" name="TextBox 2"/>
          <p:cNvSpPr txBox="1"/>
          <p:nvPr/>
        </p:nvSpPr>
        <p:spPr>
          <a:xfrm>
            <a:off x="566928" y="1024128"/>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CSE-CIC-IDS2018 · AWS 시험망에서 정상 동작과 계획된 공격을 실행·수집</a:t>
            </a:r>
          </a:p>
        </p:txBody>
      </p:sp>
      <p:sp>
        <p:nvSpPr>
          <p:cNvPr id="4" name="TextBox 3"/>
          <p:cNvSpPr txBox="1"/>
          <p:nvPr/>
        </p:nvSpPr>
        <p:spPr>
          <a:xfrm>
            <a:off x="566928" y="155448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CSE · UNB CIC, CSE-CIC-IDS2018 on AWS, 2018 · 공식 문서의 공격 일정 Table 2</a:t>
            </a:r>
          </a:p>
        </p:txBody>
      </p:sp>
      <p:sp>
        <p:nvSpPr>
          <p:cNvPr id="5" name="Rectangle 4"/>
          <p:cNvSpPr/>
          <p:nvPr/>
        </p:nvSpPr>
        <p:spPr>
          <a:xfrm>
            <a:off x="5669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5836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2/14</a:t>
            </a:r>
          </a:p>
        </p:txBody>
      </p:sp>
      <p:sp>
        <p:nvSpPr>
          <p:cNvPr id="7" name="TextBox 6"/>
          <p:cNvSpPr txBox="1"/>
          <p:nvPr/>
        </p:nvSpPr>
        <p:spPr>
          <a:xfrm>
            <a:off x="65836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Brute force</a:t>
            </a:r>
          </a:p>
        </p:txBody>
      </p:sp>
      <p:sp>
        <p:nvSpPr>
          <p:cNvPr id="8" name="Right Arrow 7"/>
          <p:cNvSpPr/>
          <p:nvPr/>
        </p:nvSpPr>
        <p:spPr>
          <a:xfrm>
            <a:off x="227685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48716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57860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2/15·16</a:t>
            </a:r>
          </a:p>
        </p:txBody>
      </p:sp>
      <p:sp>
        <p:nvSpPr>
          <p:cNvPr id="11" name="TextBox 10"/>
          <p:cNvSpPr txBox="1"/>
          <p:nvPr/>
        </p:nvSpPr>
        <p:spPr>
          <a:xfrm>
            <a:off x="257860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DoS</a:t>
            </a:r>
          </a:p>
        </p:txBody>
      </p:sp>
      <p:sp>
        <p:nvSpPr>
          <p:cNvPr id="12" name="Right Arrow 11"/>
          <p:cNvSpPr/>
          <p:nvPr/>
        </p:nvSpPr>
        <p:spPr>
          <a:xfrm>
            <a:off x="419709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40740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49884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2/20·21</a:t>
            </a:r>
          </a:p>
        </p:txBody>
      </p:sp>
      <p:sp>
        <p:nvSpPr>
          <p:cNvPr id="15" name="TextBox 14"/>
          <p:cNvSpPr txBox="1"/>
          <p:nvPr/>
        </p:nvSpPr>
        <p:spPr>
          <a:xfrm>
            <a:off x="449884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DDoS</a:t>
            </a:r>
          </a:p>
        </p:txBody>
      </p:sp>
      <p:sp>
        <p:nvSpPr>
          <p:cNvPr id="16" name="Right Arrow 15"/>
          <p:cNvSpPr/>
          <p:nvPr/>
        </p:nvSpPr>
        <p:spPr>
          <a:xfrm>
            <a:off x="611733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632764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419088"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2/22·23</a:t>
            </a:r>
          </a:p>
        </p:txBody>
      </p:sp>
      <p:sp>
        <p:nvSpPr>
          <p:cNvPr id="19" name="TextBox 18"/>
          <p:cNvSpPr txBox="1"/>
          <p:nvPr/>
        </p:nvSpPr>
        <p:spPr>
          <a:xfrm>
            <a:off x="6419088"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Web attacks</a:t>
            </a:r>
          </a:p>
        </p:txBody>
      </p:sp>
      <p:sp>
        <p:nvSpPr>
          <p:cNvPr id="20" name="Right Arrow 19"/>
          <p:cNvSpPr/>
          <p:nvPr/>
        </p:nvSpPr>
        <p:spPr>
          <a:xfrm>
            <a:off x="803757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824788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3932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2/28·3/1</a:t>
            </a:r>
          </a:p>
        </p:txBody>
      </p:sp>
      <p:sp>
        <p:nvSpPr>
          <p:cNvPr id="23" name="TextBox 22"/>
          <p:cNvSpPr txBox="1"/>
          <p:nvPr/>
        </p:nvSpPr>
        <p:spPr>
          <a:xfrm>
            <a:off x="833932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Infiltration</a:t>
            </a:r>
          </a:p>
        </p:txBody>
      </p:sp>
      <p:sp>
        <p:nvSpPr>
          <p:cNvPr id="24" name="Right Arrow 23"/>
          <p:cNvSpPr/>
          <p:nvPr/>
        </p:nvSpPr>
        <p:spPr>
          <a:xfrm>
            <a:off x="9957816" y="2532888"/>
            <a:ext cx="155448" cy="18288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10168128" y="2167128"/>
            <a:ext cx="1655064" cy="94183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10259567" y="2304288"/>
            <a:ext cx="1472184" cy="324840"/>
          </a:xfrm>
          <a:prstGeom prst="rect">
            <a:avLst/>
          </a:prstGeom>
          <a:noFill/>
          <a:effectLst/>
        </p:spPr>
        <p:txBody>
          <a:bodyPr wrap="none" anchor="t" lIns="0" rIns="0" tIns="0" bIns="0">
            <a:noAutofit/>
          </a:bodyPr>
          <a:lstStyle/>
          <a:p>
            <a:pPr algn="ctr">
              <a:lnSpc>
                <a:spcPct val="116000"/>
              </a:lnSpc>
              <a:spcBef>
                <a:spcPts val="0"/>
              </a:spcBef>
              <a:spcAft>
                <a:spcPts val="0"/>
              </a:spcAft>
            </a:pPr>
            <a:r>
              <a:rPr sz="2100" b="1" lang="ko-KR">
                <a:solidFill>
                  <a:srgbClr val="007BC6"/>
                </a:solidFill>
                <a:latin typeface="Pretendard"/>
                <a:ea typeface="Pretendard"/>
                <a:cs typeface="Pretendard"/>
              </a:rPr>
              <a:t>3/2</a:t>
            </a:r>
          </a:p>
        </p:txBody>
      </p:sp>
      <p:sp>
        <p:nvSpPr>
          <p:cNvPr id="27" name="TextBox 26"/>
          <p:cNvSpPr txBox="1"/>
          <p:nvPr/>
        </p:nvSpPr>
        <p:spPr>
          <a:xfrm>
            <a:off x="10259567" y="2752344"/>
            <a:ext cx="1472184" cy="246888"/>
          </a:xfrm>
          <a:prstGeom prst="rect">
            <a:avLst/>
          </a:prstGeom>
          <a:noFill/>
          <a:effectLst/>
        </p:spPr>
        <p:txBody>
          <a:bodyPr wrap="none" anchor="t" lIns="0" rIns="0" tIns="0" bIns="0">
            <a:noAutofit/>
          </a:bodyPr>
          <a:lstStyle/>
          <a:p>
            <a:pPr algn="ctr">
              <a:lnSpc>
                <a:spcPct val="116000"/>
              </a:lnSpc>
              <a:spcBef>
                <a:spcPts val="0"/>
              </a:spcBef>
              <a:spcAft>
                <a:spcPts val="0"/>
              </a:spcAft>
            </a:pPr>
            <a:r>
              <a:rPr sz="1550" b="0" lang="ko-KR">
                <a:solidFill>
                  <a:srgbClr val="20262E"/>
                </a:solidFill>
                <a:latin typeface="Pretendard"/>
                <a:ea typeface="Pretendard"/>
                <a:cs typeface="Pretendard"/>
              </a:rPr>
              <a:t>Bot</a:t>
            </a:r>
          </a:p>
        </p:txBody>
      </p:sp>
      <p:sp>
        <p:nvSpPr>
          <p:cNvPr id="28" name="TextBox 27"/>
          <p:cNvSpPr txBox="1"/>
          <p:nvPr/>
        </p:nvSpPr>
        <p:spPr>
          <a:xfrm>
            <a:off x="594360" y="3502152"/>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수집된 공격 유형을 라벨 확보 단계로 구성 · 같은 train에서 단계별 사례 선택</a:t>
            </a:r>
          </a:p>
        </p:txBody>
      </p:sp>
      <p:sp>
        <p:nvSpPr>
          <p:cNvPr id="29" name="Rectangle 28"/>
          <p:cNvSpPr/>
          <p:nvPr/>
        </p:nvSpPr>
        <p:spPr>
          <a:xfrm>
            <a:off x="594360" y="4133087"/>
            <a:ext cx="3246120" cy="12618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31520" y="4270248"/>
            <a:ext cx="297180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초기 사례 1,000개</a:t>
            </a:r>
          </a:p>
        </p:txBody>
      </p:sp>
      <p:sp>
        <p:nvSpPr>
          <p:cNvPr id="31" name="TextBox 30"/>
          <p:cNvSpPr txBox="1"/>
          <p:nvPr/>
        </p:nvSpPr>
        <p:spPr>
          <a:xfrm>
            <a:off x="731520" y="4773168"/>
            <a:ext cx="2971800"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정상 750개</a:t>
            </a:r>
          </a:p>
          <a:p>
            <a:pPr algn="l">
              <a:lnSpc>
                <a:spcPct val="116000"/>
              </a:lnSpc>
              <a:spcBef>
                <a:spcPts val="0"/>
              </a:spcBef>
              <a:spcAft>
                <a:spcPts val="0"/>
              </a:spcAft>
            </a:pPr>
            <a:r>
              <a:rPr sz="1650" b="0" lang="ko-KR">
                <a:solidFill>
                  <a:srgbClr val="20262E"/>
                </a:solidFill>
                <a:latin typeface="Pretendard"/>
                <a:ea typeface="Pretendard"/>
                <a:cs typeface="Pretendard"/>
              </a:rPr>
              <a:t>Brute force·DoS 각 125개</a:t>
            </a:r>
          </a:p>
        </p:txBody>
      </p:sp>
      <p:sp>
        <p:nvSpPr>
          <p:cNvPr id="32" name="Right Arrow 31"/>
          <p:cNvSpPr/>
          <p:nvPr/>
        </p:nvSpPr>
        <p:spPr>
          <a:xfrm>
            <a:off x="4032504" y="4645152"/>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4480560" y="4133087"/>
            <a:ext cx="3246120" cy="12618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617720" y="4270248"/>
            <a:ext cx="297180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신규 공격당 n개</a:t>
            </a:r>
          </a:p>
        </p:txBody>
      </p:sp>
      <p:sp>
        <p:nvSpPr>
          <p:cNvPr id="35" name="TextBox 34"/>
          <p:cNvSpPr txBox="1"/>
          <p:nvPr/>
        </p:nvSpPr>
        <p:spPr>
          <a:xfrm>
            <a:off x="4617720" y="4773168"/>
            <a:ext cx="2971800"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DDoS · Web · Infiltration · Bot</a:t>
            </a:r>
          </a:p>
          <a:p>
            <a:pPr algn="l">
              <a:lnSpc>
                <a:spcPct val="116000"/>
              </a:lnSpc>
              <a:spcBef>
                <a:spcPts val="0"/>
              </a:spcBef>
              <a:spcAft>
                <a:spcPts val="0"/>
              </a:spcAft>
            </a:pPr>
            <a:r>
              <a:rPr sz="1650" b="0" lang="ko-KR">
                <a:solidFill>
                  <a:srgbClr val="20262E"/>
                </a:solidFill>
                <a:latin typeface="Pretendard"/>
                <a:ea typeface="Pretendard"/>
                <a:cs typeface="Pretendard"/>
              </a:rPr>
              <a:t>각 단계의 신규 유형에서 n행 선택</a:t>
            </a:r>
          </a:p>
        </p:txBody>
      </p:sp>
      <p:sp>
        <p:nvSpPr>
          <p:cNvPr id="36" name="Right Arrow 35"/>
          <p:cNvSpPr/>
          <p:nvPr/>
        </p:nvSpPr>
        <p:spPr>
          <a:xfrm>
            <a:off x="7918704" y="4645152"/>
            <a:ext cx="246888"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8366760" y="4133087"/>
            <a:ext cx="3246120" cy="12618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503920" y="4270248"/>
            <a:ext cx="297180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단계별 탐지기 갱신</a:t>
            </a:r>
          </a:p>
        </p:txBody>
      </p:sp>
      <p:sp>
        <p:nvSpPr>
          <p:cNvPr id="39" name="TextBox 38"/>
          <p:cNvSpPr txBox="1"/>
          <p:nvPr/>
        </p:nvSpPr>
        <p:spPr>
          <a:xfrm>
            <a:off x="8503920" y="4773168"/>
            <a:ext cx="2971800"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같은 사례로 XGB/PFN 갱신</a:t>
            </a:r>
          </a:p>
          <a:p>
            <a:pPr algn="l">
              <a:lnSpc>
                <a:spcPct val="116000"/>
              </a:lnSpc>
              <a:spcBef>
                <a:spcPts val="0"/>
              </a:spcBef>
              <a:spcAft>
                <a:spcPts val="0"/>
              </a:spcAft>
            </a:pPr>
            <a:r>
              <a:rPr sz="1650" b="0" lang="ko-KR">
                <a:solidFill>
                  <a:srgbClr val="20262E"/>
                </a:solidFill>
                <a:latin typeface="Pretendard"/>
                <a:ea typeface="Pretendard"/>
                <a:cs typeface="Pretendard"/>
              </a:rPr>
              <a:t>고정 test에서 품질·비용 비교</a:t>
            </a:r>
          </a:p>
        </p:txBody>
      </p:sp>
      <p:sp>
        <p:nvSpPr>
          <p:cNvPr id="40" name="TextBox 39"/>
          <p:cNvSpPr txBox="1"/>
          <p:nvPr/>
        </p:nvSpPr>
        <p:spPr>
          <a:xfrm>
            <a:off x="594360" y="58064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4"/>
              </a:rPr>
              <a:t>ToN-IoT도 자체 train에서 같은 절차로 독립 평가 · UNSW Canberra, The TON_IoT Datasets</a:t>
            </a:r>
          </a:p>
        </p:txBody>
      </p:sp>
      <p:sp>
        <p:nvSpPr>
          <p:cNvPr id="41" name="Rectangle 4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평가 목적 · 새로운 공격 사례를 조금씩 확보할 때의 갱신 품질과 비용</a:t>
            </a:r>
          </a:p>
        </p:txBody>
      </p:sp>
      <p:sp>
        <p:nvSpPr>
          <p:cNvPr id="43" name="TextBox 4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01 문제</a:t>
            </a:r>
          </a:p>
        </p:txBody>
      </p:sp>
      <p:sp>
        <p:nvSpPr>
          <p:cNvPr id="44" name="TextBox 4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TabPFN을 검토하는 이유 · 가중치 재학습 없는 적응</a:t>
            </a:r>
          </a:p>
        </p:txBody>
      </p:sp>
      <p:sp>
        <p:nvSpPr>
          <p:cNvPr id="3" name="TextBox 2"/>
          <p:cNvSpPr txBox="1"/>
          <p:nvPr/>
        </p:nvSpPr>
        <p:spPr>
          <a:xfrm>
            <a:off x="566928" y="987552"/>
            <a:ext cx="109728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새 공격 반영 시 가중치 재학습을 생략할 수 있는 in-context learning 활용</a:t>
            </a:r>
          </a:p>
        </p:txBody>
      </p:sp>
      <p:sp>
        <p:nvSpPr>
          <p:cNvPr id="4" name="TextBox 3"/>
          <p:cNvSpPr txBox="1"/>
          <p:nvPr/>
        </p:nvSpPr>
        <p:spPr>
          <a:xfrm>
            <a:off x="566928" y="1481328"/>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hlinkClick r:id="rId3"/>
              </a:rPr>
              <a:t>Grinsztajn et al., TabPFN-3: Technical Report, arXiv 2026 · 합성 표 과제로 사전학습</a:t>
            </a:r>
          </a:p>
        </p:txBody>
      </p:sp>
      <p:sp>
        <p:nvSpPr>
          <p:cNvPr id="5" name="Rectangle 4"/>
          <p:cNvSpPr/>
          <p:nvPr/>
        </p:nvSpPr>
        <p:spPr>
          <a:xfrm>
            <a:off x="566928" y="2011680"/>
            <a:ext cx="3136392" cy="114300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49808" y="2157984"/>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Context · 라벨 사례</a:t>
            </a:r>
          </a:p>
        </p:txBody>
      </p:sp>
      <p:sp>
        <p:nvSpPr>
          <p:cNvPr id="7" name="TextBox 6"/>
          <p:cNvSpPr txBox="1"/>
          <p:nvPr/>
        </p:nvSpPr>
        <p:spPr>
          <a:xfrm>
            <a:off x="749808" y="2651760"/>
            <a:ext cx="2761488" cy="525932"/>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기존 정상·공격 + 신규 공격</a:t>
            </a:r>
          </a:p>
          <a:p>
            <a:pPr algn="l">
              <a:lnSpc>
                <a:spcPct val="116000"/>
              </a:lnSpc>
              <a:spcBef>
                <a:spcPts val="0"/>
              </a:spcBef>
              <a:spcAft>
                <a:spcPts val="0"/>
              </a:spcAft>
            </a:pPr>
            <a:r>
              <a:rPr sz="1700" b="0" lang="ko-KR">
                <a:solidFill>
                  <a:srgbClr val="20262E"/>
                </a:solidFill>
                <a:latin typeface="Pretendard"/>
                <a:ea typeface="Pretendard"/>
                <a:cs typeface="Pretendard"/>
              </a:rPr>
              <a:t>특징과 정답을 함께 입력</a:t>
            </a:r>
          </a:p>
        </p:txBody>
      </p:sp>
      <p:sp>
        <p:nvSpPr>
          <p:cNvPr id="8" name="Rectangle 7"/>
          <p:cNvSpPr/>
          <p:nvPr/>
        </p:nvSpPr>
        <p:spPr>
          <a:xfrm>
            <a:off x="566928" y="3410712"/>
            <a:ext cx="3136392" cy="8595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3538728"/>
            <a:ext cx="2761488"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Query · 분류할 통신 기록</a:t>
            </a:r>
          </a:p>
        </p:txBody>
      </p:sp>
      <p:sp>
        <p:nvSpPr>
          <p:cNvPr id="10" name="TextBox 9"/>
          <p:cNvSpPr txBox="1"/>
          <p:nvPr/>
        </p:nvSpPr>
        <p:spPr>
          <a:xfrm>
            <a:off x="749808" y="3922776"/>
            <a:ext cx="2761488" cy="255231"/>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특징만 입력 · 정답은 평가에 사용</a:t>
            </a:r>
          </a:p>
        </p:txBody>
      </p:sp>
      <p:sp>
        <p:nvSpPr>
          <p:cNvPr id="11" name="Right Arrow 10"/>
          <p:cNvSpPr/>
          <p:nvPr/>
        </p:nvSpPr>
        <p:spPr>
          <a:xfrm>
            <a:off x="3886200" y="2551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3886200" y="3694176"/>
            <a:ext cx="429768"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517136" y="2414016"/>
            <a:ext cx="3163824" cy="151790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736592" y="2697480"/>
            <a:ext cx="2724912" cy="417652"/>
          </a:xfrm>
          <a:prstGeom prst="rect">
            <a:avLst/>
          </a:prstGeom>
          <a:noFill/>
          <a:effectLst/>
        </p:spPr>
        <p:txBody>
          <a:bodyPr wrap="none" anchor="t" lIns="0" rIns="0" tIns="0" bIns="0">
            <a:noAutofit/>
          </a:bodyPr>
          <a:lstStyle/>
          <a:p>
            <a:pPr algn="l">
              <a:lnSpc>
                <a:spcPct val="116000"/>
              </a:lnSpc>
              <a:spcBef>
                <a:spcPts val="0"/>
              </a:spcBef>
              <a:spcAft>
                <a:spcPts val="0"/>
              </a:spcAft>
            </a:pPr>
            <a:r>
              <a:rPr sz="2700" b="1" lang="ko-KR">
                <a:solidFill>
                  <a:srgbClr val="FFFFFF"/>
                </a:solidFill>
                <a:latin typeface="Pretendard"/>
                <a:ea typeface="Pretendard"/>
                <a:cs typeface="Pretendard"/>
              </a:rPr>
              <a:t>TabPFN v3</a:t>
            </a:r>
          </a:p>
        </p:txBody>
      </p:sp>
      <p:sp>
        <p:nvSpPr>
          <p:cNvPr id="15" name="TextBox 14"/>
          <p:cNvSpPr txBox="1"/>
          <p:nvPr/>
        </p:nvSpPr>
        <p:spPr>
          <a:xfrm>
            <a:off x="4736592" y="3364992"/>
            <a:ext cx="2724912" cy="320040"/>
          </a:xfrm>
          <a:prstGeom prst="rect">
            <a:avLst/>
          </a:prstGeom>
          <a:noFill/>
          <a:effectLst/>
        </p:spPr>
        <p:txBody>
          <a:bodyPr wrap="none" anchor="t" lIns="0" rIns="0" tIns="0" bIns="0">
            <a:noAutofit/>
          </a:bodyPr>
          <a:lstStyle/>
          <a:p>
            <a:pPr algn="l">
              <a:lnSpc>
                <a:spcPct val="116000"/>
              </a:lnSpc>
              <a:spcBef>
                <a:spcPts val="0"/>
              </a:spcBef>
              <a:spcAft>
                <a:spcPts val="0"/>
              </a:spcAft>
            </a:pPr>
            <a:r>
              <a:rPr sz="2000" b="0" lang="ko-KR">
                <a:solidFill>
                  <a:srgbClr val="FFFFFF"/>
                </a:solidFill>
                <a:latin typeface="Pretendard"/>
                <a:ea typeface="Pretendard"/>
                <a:cs typeface="Pretendard"/>
              </a:rPr>
              <a:t>사전학습 가중치 고정</a:t>
            </a:r>
          </a:p>
        </p:txBody>
      </p:sp>
      <p:sp>
        <p:nvSpPr>
          <p:cNvPr id="16" name="Right Arrow 15"/>
          <p:cNvSpPr/>
          <p:nvPr/>
        </p:nvSpPr>
        <p:spPr>
          <a:xfrm>
            <a:off x="7872983" y="3017520"/>
            <a:ext cx="420624" cy="28346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8485632" y="2414016"/>
            <a:ext cx="3136392" cy="1517904"/>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0" y="2715768"/>
            <a:ext cx="2734056"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정상·공격별 확률</a:t>
            </a:r>
          </a:p>
        </p:txBody>
      </p:sp>
      <p:sp>
        <p:nvSpPr>
          <p:cNvPr id="19" name="TextBox 18"/>
          <p:cNvSpPr txBox="1"/>
          <p:nvPr/>
        </p:nvSpPr>
        <p:spPr>
          <a:xfrm>
            <a:off x="8686800" y="3355848"/>
            <a:ext cx="2734056" cy="28346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context를 참조한 추론</a:t>
            </a:r>
          </a:p>
        </p:txBody>
      </p:sp>
      <p:sp>
        <p:nvSpPr>
          <p:cNvPr id="20" name="TextBox 19"/>
          <p:cNvSpPr txBox="1"/>
          <p:nvPr/>
        </p:nvSpPr>
        <p:spPr>
          <a:xfrm>
            <a:off x="594360" y="4636008"/>
            <a:ext cx="201168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채택 이유</a:t>
            </a:r>
          </a:p>
        </p:txBody>
      </p:sp>
      <p:sp>
        <p:nvSpPr>
          <p:cNvPr id="21" name="TextBox 20"/>
          <p:cNvSpPr txBox="1"/>
          <p:nvPr/>
        </p:nvSpPr>
        <p:spPr>
          <a:xfrm>
            <a:off x="2834640" y="4636008"/>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950" b="0" lang="ko-KR">
                <a:solidFill>
                  <a:srgbClr val="20262E"/>
                </a:solidFill>
                <a:latin typeface="Pretendard"/>
                <a:ea typeface="Pretendard"/>
                <a:cs typeface="Pretendard"/>
              </a:rPr>
              <a:t>사전학습된 예측 규칙을 활용 · 라벨 사례 입력으로 현재 IDS 문제에 적응</a:t>
            </a:r>
          </a:p>
        </p:txBody>
      </p:sp>
      <p:sp>
        <p:nvSpPr>
          <p:cNvPr id="22" name="TextBox 21"/>
          <p:cNvSpPr txBox="1"/>
          <p:nvPr/>
        </p:nvSpPr>
        <p:spPr>
          <a:xfrm>
            <a:off x="594360" y="5212080"/>
            <a:ext cx="2011680" cy="324840"/>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7BC6"/>
                </a:solidFill>
                <a:latin typeface="Pretendard"/>
                <a:ea typeface="Pretendard"/>
                <a:cs typeface="Pretendard"/>
              </a:rPr>
              <a:t>검증할 이점</a:t>
            </a:r>
          </a:p>
        </p:txBody>
      </p:sp>
      <p:sp>
        <p:nvSpPr>
          <p:cNvPr id="23" name="TextBox 22"/>
          <p:cNvSpPr txBox="1"/>
          <p:nvPr/>
        </p:nvSpPr>
        <p:spPr>
          <a:xfrm>
            <a:off x="2834640" y="5212080"/>
            <a:ext cx="873252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950" b="0" lang="ko-KR">
                <a:solidFill>
                  <a:srgbClr val="20262E"/>
                </a:solidFill>
                <a:latin typeface="Pretendard"/>
                <a:ea typeface="Pretendard"/>
                <a:cs typeface="Pretendard"/>
              </a:rPr>
              <a:t>소량 라벨·제한된 보유량에서 품질을 유지하며 갱신 비용을 줄일 가능성</a:t>
            </a:r>
          </a:p>
        </p:txBody>
      </p:sp>
      <p:sp>
        <p:nvSpPr>
          <p:cNvPr id="24" name="TextBox 23"/>
          <p:cNvSpPr txBox="1"/>
          <p:nvPr/>
        </p:nvSpPr>
        <p:spPr>
          <a:xfrm>
            <a:off x="594360" y="585216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가중치 fine-tuning은 별도 최적화 절차 · 이번 실험은 미수행 / context 전처리·캐시 준비 시간은 측정</a:t>
            </a:r>
          </a:p>
        </p:txBody>
      </p:sp>
      <p:sp>
        <p:nvSpPr>
          <p:cNvPr id="25" name="Rectangle 24"/>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구조적 특징 · 가중치 고정 / 실험으로 확인할 가설 · 소량 라벨에서의 품질과 갱신 비용</a:t>
            </a:r>
          </a:p>
        </p:txBody>
      </p:sp>
      <p:sp>
        <p:nvSpPr>
          <p:cNvPr id="27" name="TextBox 26"/>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02 접근</a:t>
            </a:r>
          </a:p>
        </p:txBody>
      </p:sp>
      <p:sp>
        <p:nvSpPr>
          <p:cNvPr id="28" name="TextBox 27"/>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목적 · 같은 사례로 비교하는 모델과 보유 방식</a:t>
            </a:r>
          </a:p>
        </p:txBody>
      </p:sp>
      <p:sp>
        <p:nvSpPr>
          <p:cNvPr id="3" name="TextBox 2"/>
          <p:cNvSpPr txBox="1"/>
          <p:nvPr/>
        </p:nvSpPr>
        <p:spPr>
          <a:xfrm>
            <a:off x="594360" y="1042415"/>
            <a:ext cx="10972800" cy="822960"/>
          </a:xfrm>
          <a:prstGeom prst="rect">
            <a:avLst/>
          </a:prstGeom>
          <a:noFill/>
          <a:effectLst/>
        </p:spPr>
        <p:txBody>
          <a:bodyPr wrap="none" anchor="t" lIns="0" rIns="0" tIns="0" bIns="0">
            <a:noAutofit/>
          </a:bodyPr>
          <a:lstStyle/>
          <a:p>
            <a:pPr algn="l">
              <a:lnSpc>
                <a:spcPct val="116000"/>
              </a:lnSpc>
              <a:spcBef>
                <a:spcPts val="0"/>
              </a:spcBef>
              <a:spcAft>
                <a:spcPts val="0"/>
              </a:spcAft>
            </a:pPr>
            <a:r>
              <a:rPr sz="2600" b="1" lang="ko-KR">
                <a:solidFill>
                  <a:srgbClr val="00306C"/>
                </a:solidFill>
                <a:latin typeface="Pretendard"/>
                <a:ea typeface="Pretendard"/>
                <a:cs typeface="Pretendard"/>
              </a:rPr>
              <a:t>새 공격의 라벨 사례가 소량 확보될 때</a:t>
            </a:r>
          </a:p>
          <a:p>
            <a:pPr algn="l">
              <a:lnSpc>
                <a:spcPct val="116000"/>
              </a:lnSpc>
              <a:spcBef>
                <a:spcPts val="0"/>
              </a:spcBef>
              <a:spcAft>
                <a:spcPts val="0"/>
              </a:spcAft>
            </a:pPr>
            <a:r>
              <a:rPr sz="2600" b="1" lang="ko-KR">
                <a:solidFill>
                  <a:srgbClr val="00306C"/>
                </a:solidFill>
                <a:latin typeface="Pretendard"/>
                <a:ea typeface="Pretendard"/>
                <a:cs typeface="Pretendard"/>
              </a:rPr>
              <a:t>누적 재학습과 context 갱신의 탐지 품질·계산 비용 비교</a:t>
            </a:r>
          </a:p>
        </p:txBody>
      </p:sp>
      <p:sp>
        <p:nvSpPr>
          <p:cNvPr id="4" name="Rectangle 3"/>
          <p:cNvSpPr/>
          <p:nvPr/>
        </p:nvSpPr>
        <p:spPr>
          <a:xfrm>
            <a:off x="594360" y="2048256"/>
            <a:ext cx="10991088" cy="49377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68096" y="2148840"/>
            <a:ext cx="10652760"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공통 입력 · 초기 1,000개 + 단계별 신규 공격 라벨 / 모든 방법에 동일 사례 제공</a:t>
            </a:r>
          </a:p>
        </p:txBody>
      </p:sp>
      <p:sp>
        <p:nvSpPr>
          <p:cNvPr id="6" name="Rectangle 5"/>
          <p:cNvSpPr/>
          <p:nvPr/>
        </p:nvSpPr>
        <p:spPr>
          <a:xfrm>
            <a:off x="594360" y="2770632"/>
            <a:ext cx="365760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2862072"/>
            <a:ext cx="347472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FFFFFF"/>
                </a:solidFill>
                <a:latin typeface="Pretendard"/>
                <a:ea typeface="Pretendard"/>
                <a:cs typeface="Pretendard"/>
              </a:rPr>
              <a:t>실제 사용하는 사례</a:t>
            </a:r>
          </a:p>
        </p:txBody>
      </p:sp>
      <p:sp>
        <p:nvSpPr>
          <p:cNvPr id="8" name="Rectangle 7"/>
          <p:cNvSpPr/>
          <p:nvPr/>
        </p:nvSpPr>
        <p:spPr>
          <a:xfrm>
            <a:off x="4251960" y="2770632"/>
            <a:ext cx="365760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343400" y="2862072"/>
            <a:ext cx="347472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FFFFFF"/>
                </a:solidFill>
                <a:latin typeface="Pretendard"/>
                <a:ea typeface="Pretendard"/>
                <a:cs typeface="Pretendard"/>
              </a:rPr>
              <a:t>XGB</a:t>
            </a:r>
          </a:p>
        </p:txBody>
      </p:sp>
      <p:sp>
        <p:nvSpPr>
          <p:cNvPr id="10" name="Rectangle 9"/>
          <p:cNvSpPr/>
          <p:nvPr/>
        </p:nvSpPr>
        <p:spPr>
          <a:xfrm>
            <a:off x="7909560" y="2770632"/>
            <a:ext cx="3675887"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001000" y="2862072"/>
            <a:ext cx="3493007" cy="278434"/>
          </a:xfrm>
          <a:prstGeom prst="rect">
            <a:avLst/>
          </a:prstGeom>
          <a:noFill/>
          <a:effectLst/>
        </p:spPr>
        <p:txBody>
          <a:bodyPr wrap="none" anchor="t" lIns="0" rIns="0" tIns="0" bIns="0">
            <a:noAutofit/>
          </a:bodyPr>
          <a:lstStyle/>
          <a:p>
            <a:pPr algn="r">
              <a:lnSpc>
                <a:spcPct val="116000"/>
              </a:lnSpc>
              <a:spcBef>
                <a:spcPts val="0"/>
              </a:spcBef>
              <a:spcAft>
                <a:spcPts val="0"/>
              </a:spcAft>
            </a:pPr>
            <a:r>
              <a:rPr sz="1800" b="1" lang="ko-KR">
                <a:solidFill>
                  <a:srgbClr val="FFFFFF"/>
                </a:solidFill>
                <a:latin typeface="Pretendard"/>
                <a:ea typeface="Pretendard"/>
                <a:cs typeface="Pretendard"/>
              </a:rPr>
              <a:t>TabPFN</a:t>
            </a:r>
          </a:p>
        </p:txBody>
      </p:sp>
      <p:sp>
        <p:nvSpPr>
          <p:cNvPr id="12" name="Rectangle 11"/>
          <p:cNvSpPr/>
          <p:nvPr/>
        </p:nvSpPr>
        <p:spPr>
          <a:xfrm>
            <a:off x="594360" y="3218687"/>
            <a:ext cx="10991088" cy="5486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5800" y="3300983"/>
            <a:ext cx="3474720"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누적 · 지금까지 제공한 전부</a:t>
            </a:r>
          </a:p>
        </p:txBody>
      </p:sp>
      <p:sp>
        <p:nvSpPr>
          <p:cNvPr id="14" name="TextBox 13"/>
          <p:cNvSpPr txBox="1"/>
          <p:nvPr/>
        </p:nvSpPr>
        <p:spPr>
          <a:xfrm>
            <a:off x="4343400" y="3300983"/>
            <a:ext cx="3474720"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누적 사례로 재학습</a:t>
            </a:r>
          </a:p>
        </p:txBody>
      </p:sp>
      <p:sp>
        <p:nvSpPr>
          <p:cNvPr id="15" name="TextBox 14"/>
          <p:cNvSpPr txBox="1"/>
          <p:nvPr/>
        </p:nvSpPr>
        <p:spPr>
          <a:xfrm>
            <a:off x="8001000" y="3300983"/>
            <a:ext cx="3493007"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800" b="0" lang="ko-KR">
                <a:solidFill>
                  <a:srgbClr val="20262E"/>
                </a:solidFill>
                <a:latin typeface="Pretendard"/>
                <a:ea typeface="Pretendard"/>
                <a:cs typeface="Pretendard"/>
              </a:rPr>
              <a:t>누적 사례로 context 갱신</a:t>
            </a:r>
          </a:p>
        </p:txBody>
      </p:sp>
      <p:sp>
        <p:nvSpPr>
          <p:cNvPr id="16" name="Rectangle 15"/>
          <p:cNvSpPr/>
          <p:nvPr/>
        </p:nvSpPr>
        <p:spPr>
          <a:xfrm>
            <a:off x="594360" y="3767327"/>
            <a:ext cx="10991088" cy="5486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85800" y="3849623"/>
            <a:ext cx="3474720"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1,000개 · FIFO / 무작위 / 유사도</a:t>
            </a:r>
          </a:p>
        </p:txBody>
      </p:sp>
      <p:sp>
        <p:nvSpPr>
          <p:cNvPr id="18" name="TextBox 17"/>
          <p:cNvSpPr txBox="1"/>
          <p:nvPr/>
        </p:nvSpPr>
        <p:spPr>
          <a:xfrm>
            <a:off x="4343400" y="3849623"/>
            <a:ext cx="3474720"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같은 버퍼 행으로 재학습</a:t>
            </a:r>
          </a:p>
        </p:txBody>
      </p:sp>
      <p:sp>
        <p:nvSpPr>
          <p:cNvPr id="19" name="TextBox 18"/>
          <p:cNvSpPr txBox="1"/>
          <p:nvPr/>
        </p:nvSpPr>
        <p:spPr>
          <a:xfrm>
            <a:off x="8001000" y="3849623"/>
            <a:ext cx="3493007"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800" b="0" lang="ko-KR">
                <a:solidFill>
                  <a:srgbClr val="20262E"/>
                </a:solidFill>
                <a:latin typeface="Pretendard"/>
                <a:ea typeface="Pretendard"/>
                <a:cs typeface="Pretendard"/>
              </a:rPr>
              <a:t>같은 버퍼 행으로 context 갱신</a:t>
            </a:r>
          </a:p>
        </p:txBody>
      </p:sp>
      <p:sp>
        <p:nvSpPr>
          <p:cNvPr id="20" name="TextBox 19"/>
          <p:cNvSpPr txBox="1"/>
          <p:nvPr/>
        </p:nvSpPr>
        <p:spPr>
          <a:xfrm>
            <a:off x="594360"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탐지 품질</a:t>
            </a:r>
          </a:p>
        </p:txBody>
      </p:sp>
      <p:sp>
        <p:nvSpPr>
          <p:cNvPr id="21" name="TextBox 20"/>
          <p:cNvSpPr txBox="1"/>
          <p:nvPr/>
        </p:nvSpPr>
        <p:spPr>
          <a:xfrm>
            <a:off x="594360"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전체·신규 공격별 F1</a:t>
            </a:r>
          </a:p>
        </p:txBody>
      </p:sp>
      <p:sp>
        <p:nvSpPr>
          <p:cNvPr id="22" name="TextBox 21"/>
          <p:cNvSpPr txBox="1"/>
          <p:nvPr/>
        </p:nvSpPr>
        <p:spPr>
          <a:xfrm>
            <a:off x="4453128"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기존 클래스 유지</a:t>
            </a:r>
          </a:p>
        </p:txBody>
      </p:sp>
      <p:sp>
        <p:nvSpPr>
          <p:cNvPr id="23" name="TextBox 22"/>
          <p:cNvSpPr txBox="1"/>
          <p:nvPr/>
        </p:nvSpPr>
        <p:spPr>
          <a:xfrm>
            <a:off x="4453128"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동일 평가 사례의 갱신 전후 변화</a:t>
            </a:r>
          </a:p>
        </p:txBody>
      </p:sp>
      <p:sp>
        <p:nvSpPr>
          <p:cNvPr id="24" name="TextBox 23"/>
          <p:cNvSpPr txBox="1"/>
          <p:nvPr/>
        </p:nvSpPr>
        <p:spPr>
          <a:xfrm>
            <a:off x="8311896" y="4681728"/>
            <a:ext cx="3300984"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갱신 비용</a:t>
            </a:r>
          </a:p>
        </p:txBody>
      </p:sp>
      <p:sp>
        <p:nvSpPr>
          <p:cNvPr id="25" name="TextBox 24"/>
          <p:cNvSpPr txBox="1"/>
          <p:nvPr/>
        </p:nvSpPr>
        <p:spPr>
          <a:xfrm>
            <a:off x="8311896" y="5202936"/>
            <a:ext cx="3300984"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초기 준비·추론과 분리한 시간</a:t>
            </a:r>
          </a:p>
        </p:txBody>
      </p:sp>
      <p:sp>
        <p:nvSpPr>
          <p:cNvPr id="26" name="TextBox 25"/>
          <p:cNvSpPr txBox="1"/>
          <p:nvPr/>
        </p:nvSpPr>
        <p:spPr>
          <a:xfrm>
            <a:off x="594360" y="588873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평가 범위 · 신규 공격의 라벨 확보 후 분류 / 라벨 없는 미지 공격 탐지와 네트워크 간 전이는 별도 과제</a:t>
            </a:r>
          </a:p>
        </p:txBody>
      </p:sp>
      <p:sp>
        <p:nvSpPr>
          <p:cNvPr id="27" name="Rectangle 26"/>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정책·같은 seed에서 행 ID까지 일치 · 모델 차이와 사례 구성 효과의 분리</a:t>
            </a:r>
          </a:p>
        </p:txBody>
      </p:sp>
      <p:sp>
        <p:nvSpPr>
          <p:cNvPr id="29" name="TextBox 28"/>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0" name="TextBox 29"/>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데이터 출처와 사례 선택</a:t>
            </a:r>
          </a:p>
        </p:txBody>
      </p:sp>
      <p:sp>
        <p:nvSpPr>
          <p:cNvPr id="3" name="TextBox 2"/>
          <p:cNvSpPr txBox="1"/>
          <p:nvPr/>
        </p:nvSpPr>
        <p:spPr>
          <a:xfrm>
            <a:off x="566928" y="1005840"/>
            <a:ext cx="10972800"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각 벤치마크 안에서 train의 행을 선택 · CIC와 ToN 사이의 행 결합 없음</a:t>
            </a:r>
          </a:p>
        </p:txBody>
      </p:sp>
      <p:sp>
        <p:nvSpPr>
          <p:cNvPr id="4" name="Rectangle 3"/>
          <p:cNvSpPr/>
          <p:nvPr/>
        </p:nvSpPr>
        <p:spPr>
          <a:xfrm>
            <a:off x="566928" y="1764792"/>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2029967"/>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CIC2018</a:t>
            </a:r>
          </a:p>
        </p:txBody>
      </p:sp>
      <p:sp>
        <p:nvSpPr>
          <p:cNvPr id="6" name="TextBox 5"/>
          <p:cNvSpPr txBox="1"/>
          <p:nvPr/>
        </p:nvSpPr>
        <p:spPr>
          <a:xfrm>
            <a:off x="704088" y="2569464"/>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7" name="Right Arrow 6"/>
          <p:cNvSpPr/>
          <p:nvPr/>
        </p:nvSpPr>
        <p:spPr>
          <a:xfrm>
            <a:off x="2221992" y="2286000"/>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2660904" y="1764792"/>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816352" y="1892807"/>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10" name="TextBox 9"/>
          <p:cNvSpPr txBox="1"/>
          <p:nvPr/>
        </p:nvSpPr>
        <p:spPr>
          <a:xfrm>
            <a:off x="2816352" y="2423160"/>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11" name="Right Arrow 10"/>
          <p:cNvSpPr/>
          <p:nvPr/>
        </p:nvSpPr>
        <p:spPr>
          <a:xfrm>
            <a:off x="5788152" y="2066543"/>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ight Arrow 11"/>
          <p:cNvSpPr/>
          <p:nvPr/>
        </p:nvSpPr>
        <p:spPr>
          <a:xfrm>
            <a:off x="5788152" y="2679191"/>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208776" y="1764792"/>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364224" y="1865376"/>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15" name="Rectangle 14"/>
          <p:cNvSpPr/>
          <p:nvPr/>
        </p:nvSpPr>
        <p:spPr>
          <a:xfrm>
            <a:off x="6208776" y="2496312"/>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364224" y="2624328"/>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3,042,473개 · 학습/context에 미사용</a:t>
            </a:r>
          </a:p>
        </p:txBody>
      </p:sp>
      <p:sp>
        <p:nvSpPr>
          <p:cNvPr id="17" name="Rectangle 16"/>
          <p:cNvSpPr/>
          <p:nvPr/>
        </p:nvSpPr>
        <p:spPr>
          <a:xfrm>
            <a:off x="566928" y="3666744"/>
            <a:ext cx="1536192"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04088" y="3931920"/>
            <a:ext cx="1261872"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ToN-IoT</a:t>
            </a:r>
          </a:p>
        </p:txBody>
      </p:sp>
      <p:sp>
        <p:nvSpPr>
          <p:cNvPr id="19" name="TextBox 18"/>
          <p:cNvSpPr txBox="1"/>
          <p:nvPr/>
        </p:nvSpPr>
        <p:spPr>
          <a:xfrm>
            <a:off x="704088" y="4471416"/>
            <a:ext cx="1261872"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20262E"/>
                </a:solidFill>
                <a:latin typeface="Pretendard"/>
                <a:ea typeface="Pretendard"/>
                <a:cs typeface="Pretendard"/>
              </a:rPr>
              <a:t>수집 벤치마크</a:t>
            </a:r>
          </a:p>
        </p:txBody>
      </p:sp>
      <p:sp>
        <p:nvSpPr>
          <p:cNvPr id="20" name="Right Arrow 19"/>
          <p:cNvSpPr/>
          <p:nvPr/>
        </p:nvSpPr>
        <p:spPr>
          <a:xfrm>
            <a:off x="2221992" y="4187952"/>
            <a:ext cx="283464" cy="246888"/>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2660904" y="3666744"/>
            <a:ext cx="2990088" cy="13167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2816352" y="3794759"/>
            <a:ext cx="2670048"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7BC6"/>
                </a:solidFill>
                <a:latin typeface="Pretendard"/>
                <a:ea typeface="Pretendard"/>
                <a:cs typeface="Pretendard"/>
              </a:rPr>
              <a:t>정제 후 train / test 분리</a:t>
            </a:r>
          </a:p>
        </p:txBody>
      </p:sp>
      <p:sp>
        <p:nvSpPr>
          <p:cNvPr id="23" name="TextBox 22"/>
          <p:cNvSpPr txBox="1"/>
          <p:nvPr/>
        </p:nvSpPr>
        <p:spPr>
          <a:xfrm>
            <a:off x="2816352" y="4325112"/>
            <a:ext cx="2670048" cy="510463"/>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20262E"/>
                </a:solidFill>
                <a:latin typeface="Pretendard"/>
                <a:ea typeface="Pretendard"/>
                <a:cs typeface="Pretendard"/>
              </a:rPr>
              <a:t>상충 라벨 제거</a:t>
            </a:r>
          </a:p>
          <a:p>
            <a:pPr algn="l">
              <a:lnSpc>
                <a:spcPct val="116000"/>
              </a:lnSpc>
              <a:spcBef>
                <a:spcPts val="0"/>
              </a:spcBef>
              <a:spcAft>
                <a:spcPts val="0"/>
              </a:spcAft>
            </a:pPr>
            <a:r>
              <a:rPr sz="1650" b="0" lang="ko-KR">
                <a:solidFill>
                  <a:srgbClr val="20262E"/>
                </a:solidFill>
                <a:latin typeface="Pretendard"/>
                <a:ea typeface="Pretendard"/>
                <a:cs typeface="Pretendard"/>
              </a:rPr>
              <a:t>학습·평가 행 분리</a:t>
            </a:r>
          </a:p>
        </p:txBody>
      </p:sp>
      <p:sp>
        <p:nvSpPr>
          <p:cNvPr id="24" name="Right Arrow 23"/>
          <p:cNvSpPr/>
          <p:nvPr/>
        </p:nvSpPr>
        <p:spPr>
          <a:xfrm>
            <a:off x="5788152" y="3968496"/>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ight Arrow 24"/>
          <p:cNvSpPr/>
          <p:nvPr/>
        </p:nvSpPr>
        <p:spPr>
          <a:xfrm>
            <a:off x="5788152" y="4581144"/>
            <a:ext cx="256032" cy="210312"/>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6208776" y="3666744"/>
            <a:ext cx="5413248" cy="61264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364224" y="3767328"/>
            <a:ext cx="5074920" cy="402336"/>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Train → 초기 1,000개 + 신규 공격당 n개 선택</a:t>
            </a:r>
          </a:p>
        </p:txBody>
      </p:sp>
      <p:sp>
        <p:nvSpPr>
          <p:cNvPr id="28" name="Rectangle 27"/>
          <p:cNvSpPr/>
          <p:nvPr/>
        </p:nvSpPr>
        <p:spPr>
          <a:xfrm>
            <a:off x="6208776" y="4398264"/>
            <a:ext cx="5413248" cy="58521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364224" y="4526279"/>
            <a:ext cx="5074920" cy="292608"/>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20262E"/>
                </a:solidFill>
                <a:latin typeface="Pretendard"/>
                <a:ea typeface="Pretendard"/>
                <a:cs typeface="Pretendard"/>
              </a:rPr>
              <a:t>Test → 고정 2,271,723개 · 학습/context에 미사용</a:t>
            </a:r>
          </a:p>
        </p:txBody>
      </p:sp>
      <p:sp>
        <p:nvSpPr>
          <p:cNvPr id="30" name="TextBox 29"/>
          <p:cNvSpPr txBox="1"/>
          <p:nvPr/>
        </p:nvSpPr>
        <p:spPr>
          <a:xfrm>
            <a:off x="603504" y="5321808"/>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00306C"/>
                </a:solidFill>
                <a:latin typeface="Pretendard"/>
                <a:ea typeface="Pretendard"/>
                <a:cs typeface="Pretendard"/>
              </a:rPr>
              <a:t>제공 사례 · 같은 train에서 단계별로 선택한 라벨 사례 / 별도 출처의 데이터셋 생성 없음</a:t>
            </a:r>
          </a:p>
        </p:txBody>
      </p:sp>
      <p:sp>
        <p:nvSpPr>
          <p:cNvPr id="31" name="TextBox 30"/>
          <p:cNvSpPr txBox="1"/>
          <p:nvPr/>
        </p:nvSpPr>
        <p:spPr>
          <a:xfrm>
            <a:off x="603504" y="5833872"/>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1950" b="1" lang="ko-KR">
                <a:solidFill>
                  <a:srgbClr val="2F8C86"/>
                </a:solidFill>
                <a:latin typeface="Pretendard"/>
                <a:ea typeface="Pretendard"/>
                <a:cs typeface="Pretendard"/>
              </a:rPr>
              <a:t>실제 사용 사례 · 누적은 지금까지 제공한 전부 / 버퍼는 삭제 후 남긴 사례와 신규 사례 1,000개</a:t>
            </a:r>
          </a:p>
        </p:txBody>
      </p:sp>
      <p:sp>
        <p:nvSpPr>
          <p:cNvPr id="32" name="Rectangle 31"/>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수집된 특징 행을 선택한 라벨 제공 실험 · 새로운 특징 행의 합성 없음</a:t>
            </a:r>
          </a:p>
        </p:txBody>
      </p:sp>
      <p:sp>
        <p:nvSpPr>
          <p:cNvPr id="34" name="TextBox 33"/>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35" name="TextBox 34"/>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방법 · 단계별 공급량과 실제 보유량</a:t>
            </a:r>
          </a:p>
        </p:txBody>
      </p:sp>
      <p:sp>
        <p:nvSpPr>
          <p:cNvPr id="3" name="TextBox 2"/>
          <p:cNvSpPr txBox="1"/>
          <p:nvPr/>
        </p:nvSpPr>
        <p:spPr>
          <a:xfrm>
            <a:off x="566928" y="996696"/>
            <a:ext cx="10972800" cy="356616"/>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n = 5 · 10 · 20 · 30 · 50 · 100개 / 신규 공격 클래스 · seed 43·44·45</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n은 확보 가능한 라벨 수의 실험 조건 · 하루 공격량이나 최적 표본 수를 뜻하지 않는 값</a:t>
            </a:r>
          </a:p>
        </p:txBody>
      </p:sp>
      <p:sp>
        <p:nvSpPr>
          <p:cNvPr id="5" name="TextBox 4"/>
          <p:cNvSpPr txBox="1"/>
          <p:nvPr/>
        </p:nvSpPr>
        <p:spPr>
          <a:xfrm>
            <a:off x="566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CIC2018</a:t>
            </a:r>
          </a:p>
        </p:txBody>
      </p:sp>
      <p:sp>
        <p:nvSpPr>
          <p:cNvPr id="6" name="TextBox 5"/>
          <p:cNvSpPr txBox="1"/>
          <p:nvPr/>
        </p:nvSpPr>
        <p:spPr>
          <a:xfrm>
            <a:off x="6281928" y="1819656"/>
            <a:ext cx="534924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7BC6"/>
                </a:solidFill>
                <a:latin typeface="Pretendard"/>
                <a:ea typeface="Pretendard"/>
                <a:cs typeface="Pretendard"/>
              </a:rPr>
              <a:t>ToN-IoT</a:t>
            </a:r>
          </a:p>
        </p:txBody>
      </p:sp>
      <p:sp>
        <p:nvSpPr>
          <p:cNvPr id="7" name="Rectangle 6"/>
          <p:cNvSpPr/>
          <p:nvPr/>
        </p:nvSpPr>
        <p:spPr>
          <a:xfrm>
            <a:off x="566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58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9" name="Rectangle 8"/>
          <p:cNvSpPr/>
          <p:nvPr/>
        </p:nvSpPr>
        <p:spPr>
          <a:xfrm>
            <a:off x="1115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1207008"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11" name="Rectangle 10"/>
          <p:cNvSpPr/>
          <p:nvPr/>
        </p:nvSpPr>
        <p:spPr>
          <a:xfrm>
            <a:off x="2834639"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926079"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13" name="Rectangle 12"/>
          <p:cNvSpPr/>
          <p:nvPr/>
        </p:nvSpPr>
        <p:spPr>
          <a:xfrm>
            <a:off x="3657599"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49039"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15" name="Rectangle 14"/>
          <p:cNvSpPr/>
          <p:nvPr/>
        </p:nvSpPr>
        <p:spPr>
          <a:xfrm>
            <a:off x="4956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047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17" name="Rectangle 16"/>
          <p:cNvSpPr/>
          <p:nvPr/>
        </p:nvSpPr>
        <p:spPr>
          <a:xfrm>
            <a:off x="566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8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19" name="TextBox 18"/>
          <p:cNvSpPr txBox="1"/>
          <p:nvPr/>
        </p:nvSpPr>
        <p:spPr>
          <a:xfrm>
            <a:off x="1207008"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Brute force</a:t>
            </a:r>
          </a:p>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20" name="TextBox 19"/>
          <p:cNvSpPr txBox="1"/>
          <p:nvPr/>
        </p:nvSpPr>
        <p:spPr>
          <a:xfrm>
            <a:off x="2926079"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21" name="TextBox 20"/>
          <p:cNvSpPr txBox="1"/>
          <p:nvPr/>
        </p:nvSpPr>
        <p:spPr>
          <a:xfrm>
            <a:off x="3749039"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22" name="TextBox 21"/>
          <p:cNvSpPr txBox="1"/>
          <p:nvPr/>
        </p:nvSpPr>
        <p:spPr>
          <a:xfrm>
            <a:off x="5047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3" name="Rectangle 22"/>
          <p:cNvSpPr/>
          <p:nvPr/>
        </p:nvSpPr>
        <p:spPr>
          <a:xfrm>
            <a:off x="566928" y="3511296"/>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58368" y="3593592"/>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25" name="TextBox 24"/>
          <p:cNvSpPr txBox="1"/>
          <p:nvPr/>
        </p:nvSpPr>
        <p:spPr>
          <a:xfrm>
            <a:off x="1207008" y="3593592"/>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26" name="TextBox 25"/>
          <p:cNvSpPr txBox="1"/>
          <p:nvPr/>
        </p:nvSpPr>
        <p:spPr>
          <a:xfrm>
            <a:off x="2926079" y="3593592"/>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27" name="TextBox 26"/>
          <p:cNvSpPr txBox="1"/>
          <p:nvPr/>
        </p:nvSpPr>
        <p:spPr>
          <a:xfrm>
            <a:off x="3749039" y="3593592"/>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1,000+n</a:t>
            </a:r>
          </a:p>
        </p:txBody>
      </p:sp>
      <p:sp>
        <p:nvSpPr>
          <p:cNvPr id="28" name="TextBox 27"/>
          <p:cNvSpPr txBox="1"/>
          <p:nvPr/>
        </p:nvSpPr>
        <p:spPr>
          <a:xfrm>
            <a:off x="5047488" y="3593592"/>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29" name="Rectangle 28"/>
          <p:cNvSpPr/>
          <p:nvPr/>
        </p:nvSpPr>
        <p:spPr>
          <a:xfrm>
            <a:off x="566928" y="3950208"/>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658368" y="4032504"/>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31" name="TextBox 30"/>
          <p:cNvSpPr txBox="1"/>
          <p:nvPr/>
        </p:nvSpPr>
        <p:spPr>
          <a:xfrm>
            <a:off x="1207008" y="4032504"/>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Web attacks</a:t>
            </a:r>
          </a:p>
        </p:txBody>
      </p:sp>
      <p:sp>
        <p:nvSpPr>
          <p:cNvPr id="32" name="TextBox 31"/>
          <p:cNvSpPr txBox="1"/>
          <p:nvPr/>
        </p:nvSpPr>
        <p:spPr>
          <a:xfrm>
            <a:off x="2926079" y="4032504"/>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3" name="TextBox 32"/>
          <p:cNvSpPr txBox="1"/>
          <p:nvPr/>
        </p:nvSpPr>
        <p:spPr>
          <a:xfrm>
            <a:off x="3749039" y="4032504"/>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34" name="TextBox 33"/>
          <p:cNvSpPr txBox="1"/>
          <p:nvPr/>
        </p:nvSpPr>
        <p:spPr>
          <a:xfrm>
            <a:off x="5047488" y="4032504"/>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35" name="Rectangle 34"/>
          <p:cNvSpPr/>
          <p:nvPr/>
        </p:nvSpPr>
        <p:spPr>
          <a:xfrm>
            <a:off x="566928" y="4389120"/>
            <a:ext cx="5358383" cy="43891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58368" y="4471416"/>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37" name="TextBox 36"/>
          <p:cNvSpPr txBox="1"/>
          <p:nvPr/>
        </p:nvSpPr>
        <p:spPr>
          <a:xfrm>
            <a:off x="1207008" y="4471416"/>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Infiltration</a:t>
            </a:r>
          </a:p>
        </p:txBody>
      </p:sp>
      <p:sp>
        <p:nvSpPr>
          <p:cNvPr id="38" name="TextBox 37"/>
          <p:cNvSpPr txBox="1"/>
          <p:nvPr/>
        </p:nvSpPr>
        <p:spPr>
          <a:xfrm>
            <a:off x="2926079" y="4471416"/>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39" name="TextBox 38"/>
          <p:cNvSpPr txBox="1"/>
          <p:nvPr/>
        </p:nvSpPr>
        <p:spPr>
          <a:xfrm>
            <a:off x="3749039" y="4471416"/>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40" name="TextBox 39"/>
          <p:cNvSpPr txBox="1"/>
          <p:nvPr/>
        </p:nvSpPr>
        <p:spPr>
          <a:xfrm>
            <a:off x="5047488" y="4471416"/>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1" name="Rectangle 40"/>
          <p:cNvSpPr/>
          <p:nvPr/>
        </p:nvSpPr>
        <p:spPr>
          <a:xfrm>
            <a:off x="566928" y="4828032"/>
            <a:ext cx="5358383" cy="43891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58368" y="4910328"/>
            <a:ext cx="365759"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43" name="TextBox 42"/>
          <p:cNvSpPr txBox="1"/>
          <p:nvPr/>
        </p:nvSpPr>
        <p:spPr>
          <a:xfrm>
            <a:off x="1207008" y="4910328"/>
            <a:ext cx="1536192" cy="31089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Bot</a:t>
            </a:r>
          </a:p>
        </p:txBody>
      </p:sp>
      <p:sp>
        <p:nvSpPr>
          <p:cNvPr id="44" name="TextBox 43"/>
          <p:cNvSpPr txBox="1"/>
          <p:nvPr/>
        </p:nvSpPr>
        <p:spPr>
          <a:xfrm>
            <a:off x="2926079" y="4910328"/>
            <a:ext cx="640080"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45" name="TextBox 44"/>
          <p:cNvSpPr txBox="1"/>
          <p:nvPr/>
        </p:nvSpPr>
        <p:spPr>
          <a:xfrm>
            <a:off x="3749039" y="4910328"/>
            <a:ext cx="1115568"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46" name="TextBox 45"/>
          <p:cNvSpPr txBox="1"/>
          <p:nvPr/>
        </p:nvSpPr>
        <p:spPr>
          <a:xfrm>
            <a:off x="5047488" y="4910328"/>
            <a:ext cx="786384" cy="31089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47" name="Rectangle 46"/>
          <p:cNvSpPr/>
          <p:nvPr/>
        </p:nvSpPr>
        <p:spPr>
          <a:xfrm>
            <a:off x="6281928" y="2240280"/>
            <a:ext cx="54864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6373368" y="2331720"/>
            <a:ext cx="365759"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단계</a:t>
            </a:r>
          </a:p>
        </p:txBody>
      </p:sp>
      <p:sp>
        <p:nvSpPr>
          <p:cNvPr id="49" name="Rectangle 48"/>
          <p:cNvSpPr/>
          <p:nvPr/>
        </p:nvSpPr>
        <p:spPr>
          <a:xfrm>
            <a:off x="6830568" y="2240280"/>
            <a:ext cx="1719072"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6922007" y="2331720"/>
            <a:ext cx="1536192"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제공 클래스</a:t>
            </a:r>
          </a:p>
        </p:txBody>
      </p:sp>
      <p:sp>
        <p:nvSpPr>
          <p:cNvPr id="51" name="Rectangle 50"/>
          <p:cNvSpPr/>
          <p:nvPr/>
        </p:nvSpPr>
        <p:spPr>
          <a:xfrm>
            <a:off x="8549640" y="2240280"/>
            <a:ext cx="8229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8641080" y="2331720"/>
            <a:ext cx="640080"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제공 수</a:t>
            </a:r>
          </a:p>
        </p:txBody>
      </p:sp>
      <p:sp>
        <p:nvSpPr>
          <p:cNvPr id="53" name="Rectangle 52"/>
          <p:cNvSpPr/>
          <p:nvPr/>
        </p:nvSpPr>
        <p:spPr>
          <a:xfrm>
            <a:off x="9372600" y="2240280"/>
            <a:ext cx="1298448"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464040" y="2331720"/>
            <a:ext cx="1115568"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 보유</a:t>
            </a:r>
          </a:p>
        </p:txBody>
      </p:sp>
      <p:sp>
        <p:nvSpPr>
          <p:cNvPr id="55" name="Rectangle 54"/>
          <p:cNvSpPr/>
          <p:nvPr/>
        </p:nvSpPr>
        <p:spPr>
          <a:xfrm>
            <a:off x="10671048" y="2240280"/>
            <a:ext cx="969264" cy="448056"/>
          </a:xfrm>
          <a:prstGeom prst="rect">
            <a:avLst/>
          </a:prstGeom>
          <a:solidFill>
            <a:srgbClr val="2F8C8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762488" y="233172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버퍼</a:t>
            </a:r>
          </a:p>
        </p:txBody>
      </p:sp>
      <p:sp>
        <p:nvSpPr>
          <p:cNvPr id="57" name="Rectangle 56"/>
          <p:cNvSpPr/>
          <p:nvPr/>
        </p:nvSpPr>
        <p:spPr>
          <a:xfrm>
            <a:off x="6281928" y="2688336"/>
            <a:ext cx="5358383" cy="8229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6373368" y="2770632"/>
            <a:ext cx="365759"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1</a:t>
            </a:r>
          </a:p>
        </p:txBody>
      </p:sp>
      <p:sp>
        <p:nvSpPr>
          <p:cNvPr id="59" name="TextBox 58"/>
          <p:cNvSpPr txBox="1"/>
          <p:nvPr/>
        </p:nvSpPr>
        <p:spPr>
          <a:xfrm>
            <a:off x="6922007" y="2770632"/>
            <a:ext cx="1536192" cy="6949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a:p>
            <a:pPr algn="l">
              <a:lnSpc>
                <a:spcPct val="116000"/>
              </a:lnSpc>
              <a:spcBef>
                <a:spcPts val="0"/>
              </a:spcBef>
              <a:spcAft>
                <a:spcPts val="0"/>
              </a:spcAft>
            </a:pPr>
            <a:r>
              <a:rPr sz="1400" b="0" lang="ko-KR">
                <a:solidFill>
                  <a:srgbClr val="20262E"/>
                </a:solidFill>
                <a:latin typeface="Pretendard"/>
                <a:ea typeface="Pretendard"/>
                <a:cs typeface="Pretendard"/>
              </a:rPr>
              <a:t>DoS</a:t>
            </a:r>
          </a:p>
          <a:p>
            <a:pPr algn="l">
              <a:lnSpc>
                <a:spcPct val="116000"/>
              </a:lnSpc>
              <a:spcBef>
                <a:spcPts val="0"/>
              </a:spcBef>
              <a:spcAft>
                <a:spcPts val="0"/>
              </a:spcAft>
            </a:pPr>
            <a:r>
              <a:rPr sz="1400" b="0" lang="ko-KR">
                <a:solidFill>
                  <a:srgbClr val="20262E"/>
                </a:solidFill>
                <a:latin typeface="Pretendard"/>
                <a:ea typeface="Pretendard"/>
                <a:cs typeface="Pretendard"/>
              </a:rPr>
              <a:t>Scanning</a:t>
            </a:r>
          </a:p>
        </p:txBody>
      </p:sp>
      <p:sp>
        <p:nvSpPr>
          <p:cNvPr id="60" name="TextBox 59"/>
          <p:cNvSpPr txBox="1"/>
          <p:nvPr/>
        </p:nvSpPr>
        <p:spPr>
          <a:xfrm>
            <a:off x="8641080" y="2770632"/>
            <a:ext cx="640080"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750</a:t>
            </a:r>
          </a:p>
          <a:p>
            <a:pPr algn="r">
              <a:lnSpc>
                <a:spcPct val="116000"/>
              </a:lnSpc>
              <a:spcBef>
                <a:spcPts val="0"/>
              </a:spcBef>
              <a:spcAft>
                <a:spcPts val="0"/>
              </a:spcAft>
            </a:pPr>
            <a:r>
              <a:rPr sz="1400" b="0" lang="ko-KR">
                <a:solidFill>
                  <a:srgbClr val="20262E"/>
                </a:solidFill>
                <a:latin typeface="Pretendard"/>
                <a:ea typeface="Pretendard"/>
                <a:cs typeface="Pretendard"/>
              </a:rPr>
              <a:t>125</a:t>
            </a:r>
          </a:p>
          <a:p>
            <a:pPr algn="r">
              <a:lnSpc>
                <a:spcPct val="116000"/>
              </a:lnSpc>
              <a:spcBef>
                <a:spcPts val="0"/>
              </a:spcBef>
              <a:spcAft>
                <a:spcPts val="0"/>
              </a:spcAft>
            </a:pPr>
            <a:r>
              <a:rPr sz="1400" b="0" lang="ko-KR">
                <a:solidFill>
                  <a:srgbClr val="20262E"/>
                </a:solidFill>
                <a:latin typeface="Pretendard"/>
                <a:ea typeface="Pretendard"/>
                <a:cs typeface="Pretendard"/>
              </a:rPr>
              <a:t>125</a:t>
            </a:r>
          </a:p>
        </p:txBody>
      </p:sp>
      <p:sp>
        <p:nvSpPr>
          <p:cNvPr id="61" name="TextBox 60"/>
          <p:cNvSpPr txBox="1"/>
          <p:nvPr/>
        </p:nvSpPr>
        <p:spPr>
          <a:xfrm>
            <a:off x="9464040" y="2770632"/>
            <a:ext cx="1115568"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a:t>
            </a:r>
          </a:p>
        </p:txBody>
      </p:sp>
      <p:sp>
        <p:nvSpPr>
          <p:cNvPr id="62" name="TextBox 61"/>
          <p:cNvSpPr txBox="1"/>
          <p:nvPr/>
        </p:nvSpPr>
        <p:spPr>
          <a:xfrm>
            <a:off x="10762488" y="2770632"/>
            <a:ext cx="786384" cy="6949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3" name="Rectangle 62"/>
          <p:cNvSpPr/>
          <p:nvPr/>
        </p:nvSpPr>
        <p:spPr>
          <a:xfrm>
            <a:off x="6281928" y="3511296"/>
            <a:ext cx="5358383" cy="54864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6373368" y="3593592"/>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2</a:t>
            </a:r>
          </a:p>
        </p:txBody>
      </p:sp>
      <p:sp>
        <p:nvSpPr>
          <p:cNvPr id="65" name="TextBox 64"/>
          <p:cNvSpPr txBox="1"/>
          <p:nvPr/>
        </p:nvSpPr>
        <p:spPr>
          <a:xfrm>
            <a:off x="6922007" y="3593592"/>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a:p>
            <a:pPr algn="l">
              <a:lnSpc>
                <a:spcPct val="116000"/>
              </a:lnSpc>
              <a:spcBef>
                <a:spcPts val="0"/>
              </a:spcBef>
              <a:spcAft>
                <a:spcPts val="0"/>
              </a:spcAft>
            </a:pPr>
            <a:r>
              <a:rPr sz="1400" b="0" lang="ko-KR">
                <a:solidFill>
                  <a:srgbClr val="20262E"/>
                </a:solidFill>
                <a:latin typeface="Pretendard"/>
                <a:ea typeface="Pretendard"/>
                <a:cs typeface="Pretendard"/>
              </a:rPr>
              <a:t>Injection</a:t>
            </a:r>
          </a:p>
        </p:txBody>
      </p:sp>
      <p:sp>
        <p:nvSpPr>
          <p:cNvPr id="66" name="TextBox 65"/>
          <p:cNvSpPr txBox="1"/>
          <p:nvPr/>
        </p:nvSpPr>
        <p:spPr>
          <a:xfrm>
            <a:off x="8641080" y="3593592"/>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67" name="TextBox 66"/>
          <p:cNvSpPr txBox="1"/>
          <p:nvPr/>
        </p:nvSpPr>
        <p:spPr>
          <a:xfrm>
            <a:off x="9464040" y="3593592"/>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1,000+2n</a:t>
            </a:r>
          </a:p>
        </p:txBody>
      </p:sp>
      <p:sp>
        <p:nvSpPr>
          <p:cNvPr id="68" name="TextBox 67"/>
          <p:cNvSpPr txBox="1"/>
          <p:nvPr/>
        </p:nvSpPr>
        <p:spPr>
          <a:xfrm>
            <a:off x="10762488" y="3593592"/>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69" name="Rectangle 68"/>
          <p:cNvSpPr/>
          <p:nvPr/>
        </p:nvSpPr>
        <p:spPr>
          <a:xfrm>
            <a:off x="6281928" y="4059936"/>
            <a:ext cx="5358383" cy="347472"/>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6373368" y="4142232"/>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3</a:t>
            </a:r>
          </a:p>
        </p:txBody>
      </p:sp>
      <p:sp>
        <p:nvSpPr>
          <p:cNvPr id="71" name="TextBox 70"/>
          <p:cNvSpPr txBox="1"/>
          <p:nvPr/>
        </p:nvSpPr>
        <p:spPr>
          <a:xfrm>
            <a:off x="6922007" y="4142232"/>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Password</a:t>
            </a:r>
          </a:p>
        </p:txBody>
      </p:sp>
      <p:sp>
        <p:nvSpPr>
          <p:cNvPr id="72" name="TextBox 71"/>
          <p:cNvSpPr txBox="1"/>
          <p:nvPr/>
        </p:nvSpPr>
        <p:spPr>
          <a:xfrm>
            <a:off x="8641080" y="4142232"/>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3" name="TextBox 72"/>
          <p:cNvSpPr txBox="1"/>
          <p:nvPr/>
        </p:nvSpPr>
        <p:spPr>
          <a:xfrm>
            <a:off x="9464040" y="4142232"/>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1,000+3n</a:t>
            </a:r>
          </a:p>
        </p:txBody>
      </p:sp>
      <p:sp>
        <p:nvSpPr>
          <p:cNvPr id="74" name="TextBox 73"/>
          <p:cNvSpPr txBox="1"/>
          <p:nvPr/>
        </p:nvSpPr>
        <p:spPr>
          <a:xfrm>
            <a:off x="10762488" y="4142232"/>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75" name="Rectangle 74"/>
          <p:cNvSpPr/>
          <p:nvPr/>
        </p:nvSpPr>
        <p:spPr>
          <a:xfrm>
            <a:off x="6281928" y="4407408"/>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6373368" y="4489704"/>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4</a:t>
            </a:r>
          </a:p>
        </p:txBody>
      </p:sp>
      <p:sp>
        <p:nvSpPr>
          <p:cNvPr id="77" name="TextBox 76"/>
          <p:cNvSpPr txBox="1"/>
          <p:nvPr/>
        </p:nvSpPr>
        <p:spPr>
          <a:xfrm>
            <a:off x="6922007" y="4489704"/>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XSS</a:t>
            </a:r>
          </a:p>
        </p:txBody>
      </p:sp>
      <p:sp>
        <p:nvSpPr>
          <p:cNvPr id="78" name="TextBox 77"/>
          <p:cNvSpPr txBox="1"/>
          <p:nvPr/>
        </p:nvSpPr>
        <p:spPr>
          <a:xfrm>
            <a:off x="8641080" y="4489704"/>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79" name="TextBox 78"/>
          <p:cNvSpPr txBox="1"/>
          <p:nvPr/>
        </p:nvSpPr>
        <p:spPr>
          <a:xfrm>
            <a:off x="9464040" y="4489704"/>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1,000+4n</a:t>
            </a:r>
          </a:p>
        </p:txBody>
      </p:sp>
      <p:sp>
        <p:nvSpPr>
          <p:cNvPr id="80" name="TextBox 79"/>
          <p:cNvSpPr txBox="1"/>
          <p:nvPr/>
        </p:nvSpPr>
        <p:spPr>
          <a:xfrm>
            <a:off x="10762488" y="4489704"/>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1" name="Rectangle 80"/>
          <p:cNvSpPr/>
          <p:nvPr/>
        </p:nvSpPr>
        <p:spPr>
          <a:xfrm>
            <a:off x="6281928" y="4754880"/>
            <a:ext cx="5358383" cy="54864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373368" y="4837176"/>
            <a:ext cx="365759" cy="420623"/>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5</a:t>
            </a:r>
          </a:p>
        </p:txBody>
      </p:sp>
      <p:sp>
        <p:nvSpPr>
          <p:cNvPr id="83" name="TextBox 82"/>
          <p:cNvSpPr txBox="1"/>
          <p:nvPr/>
        </p:nvSpPr>
        <p:spPr>
          <a:xfrm>
            <a:off x="6922007" y="4837176"/>
            <a:ext cx="1536192" cy="43312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Backdoor</a:t>
            </a:r>
          </a:p>
          <a:p>
            <a:pPr algn="l">
              <a:lnSpc>
                <a:spcPct val="116000"/>
              </a:lnSpc>
              <a:spcBef>
                <a:spcPts val="0"/>
              </a:spcBef>
              <a:spcAft>
                <a:spcPts val="0"/>
              </a:spcAft>
            </a:pPr>
            <a:r>
              <a:rPr sz="1400" b="0" lang="ko-KR">
                <a:solidFill>
                  <a:srgbClr val="20262E"/>
                </a:solidFill>
                <a:latin typeface="Pretendard"/>
                <a:ea typeface="Pretendard"/>
                <a:cs typeface="Pretendard"/>
              </a:rPr>
              <a:t>Ransomware</a:t>
            </a:r>
          </a:p>
        </p:txBody>
      </p:sp>
      <p:sp>
        <p:nvSpPr>
          <p:cNvPr id="84" name="TextBox 83"/>
          <p:cNvSpPr txBox="1"/>
          <p:nvPr/>
        </p:nvSpPr>
        <p:spPr>
          <a:xfrm>
            <a:off x="8641080" y="4837176"/>
            <a:ext cx="640080" cy="433120"/>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85" name="TextBox 84"/>
          <p:cNvSpPr txBox="1"/>
          <p:nvPr/>
        </p:nvSpPr>
        <p:spPr>
          <a:xfrm>
            <a:off x="9464040" y="4837176"/>
            <a:ext cx="1115568"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1,000+6n</a:t>
            </a:r>
          </a:p>
        </p:txBody>
      </p:sp>
      <p:sp>
        <p:nvSpPr>
          <p:cNvPr id="86" name="TextBox 85"/>
          <p:cNvSpPr txBox="1"/>
          <p:nvPr/>
        </p:nvSpPr>
        <p:spPr>
          <a:xfrm>
            <a:off x="10762488" y="4837176"/>
            <a:ext cx="786384" cy="420623"/>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87" name="Rectangle 86"/>
          <p:cNvSpPr/>
          <p:nvPr/>
        </p:nvSpPr>
        <p:spPr>
          <a:xfrm>
            <a:off x="6281928" y="5303520"/>
            <a:ext cx="5358383" cy="3474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TextBox 87"/>
          <p:cNvSpPr txBox="1"/>
          <p:nvPr/>
        </p:nvSpPr>
        <p:spPr>
          <a:xfrm>
            <a:off x="6373368" y="5385816"/>
            <a:ext cx="365759"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6</a:t>
            </a:r>
          </a:p>
        </p:txBody>
      </p:sp>
      <p:sp>
        <p:nvSpPr>
          <p:cNvPr id="89" name="TextBox 88"/>
          <p:cNvSpPr txBox="1"/>
          <p:nvPr/>
        </p:nvSpPr>
        <p:spPr>
          <a:xfrm>
            <a:off x="6922007" y="5385816"/>
            <a:ext cx="1536192" cy="21945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MITM</a:t>
            </a:r>
          </a:p>
        </p:txBody>
      </p:sp>
      <p:sp>
        <p:nvSpPr>
          <p:cNvPr id="90" name="TextBox 89"/>
          <p:cNvSpPr txBox="1"/>
          <p:nvPr/>
        </p:nvSpPr>
        <p:spPr>
          <a:xfrm>
            <a:off x="8641080" y="5385816"/>
            <a:ext cx="640080"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n</a:t>
            </a:r>
          </a:p>
        </p:txBody>
      </p:sp>
      <p:sp>
        <p:nvSpPr>
          <p:cNvPr id="91" name="TextBox 90"/>
          <p:cNvSpPr txBox="1"/>
          <p:nvPr/>
        </p:nvSpPr>
        <p:spPr>
          <a:xfrm>
            <a:off x="9464040" y="5385816"/>
            <a:ext cx="1115568"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1,000+7n</a:t>
            </a:r>
          </a:p>
        </p:txBody>
      </p:sp>
      <p:sp>
        <p:nvSpPr>
          <p:cNvPr id="92" name="TextBox 91"/>
          <p:cNvSpPr txBox="1"/>
          <p:nvPr/>
        </p:nvSpPr>
        <p:spPr>
          <a:xfrm>
            <a:off x="10762488" y="5385816"/>
            <a:ext cx="786384" cy="21945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2F8C86"/>
                </a:solidFill>
                <a:latin typeface="Pretendard"/>
                <a:ea typeface="Pretendard"/>
                <a:cs typeface="Pretendard"/>
              </a:rPr>
              <a:t>1,000</a:t>
            </a:r>
          </a:p>
        </p:txBody>
      </p:sp>
      <p:sp>
        <p:nvSpPr>
          <p:cNvPr id="93" name="TextBox 92"/>
          <p:cNvSpPr txBox="1"/>
          <p:nvPr/>
        </p:nvSpPr>
        <p:spPr>
          <a:xfrm>
            <a:off x="594360" y="598017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제공 수는 클래스당 사례 수 · 누적·버퍼 모두 XGB/PFN 공통 · 표의 보유량은 매 단계 실제 사용 행 수</a:t>
            </a:r>
          </a:p>
        </p:txBody>
      </p:sp>
      <p:sp>
        <p:nvSpPr>
          <p:cNvPr id="94" name="Rectangle 9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TextBox 94"/>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신규 사례 전량 반영 · 누적 보유량 증가와 1,000개 버퍼 유지 비교</a:t>
            </a:r>
          </a:p>
        </p:txBody>
      </p:sp>
      <p:sp>
        <p:nvSpPr>
          <p:cNvPr id="96" name="TextBox 9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97" name="TextBox 9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평가 흐름 · 사례 보유에서 모델 갱신과 test까지</a:t>
            </a:r>
          </a:p>
        </p:txBody>
      </p:sp>
      <p:sp>
        <p:nvSpPr>
          <p:cNvPr id="3" name="TextBox 2"/>
          <p:cNvSpPr txBox="1"/>
          <p:nvPr/>
        </p:nvSpPr>
        <p:spPr>
          <a:xfrm>
            <a:off x="566928" y="996696"/>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예시 · CIC 3단계, 신규 공격당 100개 · 같은 사례를 서로 다른 방식으로 갱신</a:t>
            </a:r>
          </a:p>
        </p:txBody>
      </p:sp>
      <p:sp>
        <p:nvSpPr>
          <p:cNvPr id="4" name="TextBox 3"/>
          <p:cNvSpPr txBox="1"/>
          <p:nvPr/>
        </p:nvSpPr>
        <p:spPr>
          <a:xfrm>
            <a:off x="594360" y="1581912"/>
            <a:ext cx="150876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617080"/>
                </a:solidFill>
                <a:latin typeface="Pretendard"/>
                <a:ea typeface="Pretendard"/>
                <a:cs typeface="Pretendard"/>
              </a:rPr>
              <a:t>라벨 확보 순서</a:t>
            </a:r>
          </a:p>
        </p:txBody>
      </p:sp>
      <p:sp>
        <p:nvSpPr>
          <p:cNvPr id="5" name="TextBox 4"/>
          <p:cNvSpPr txBox="1"/>
          <p:nvPr/>
        </p:nvSpPr>
        <p:spPr>
          <a:xfrm>
            <a:off x="2148840" y="1508760"/>
            <a:ext cx="47548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1" lang="ko-KR">
                <a:solidFill>
                  <a:srgbClr val="00306C"/>
                </a:solidFill>
                <a:latin typeface="Pretendard"/>
                <a:ea typeface="Pretendard"/>
                <a:cs typeface="Pretendard"/>
              </a:rPr>
              <a:t>초기 정상 750개 · 공격 250개</a:t>
            </a:r>
          </a:p>
        </p:txBody>
      </p:sp>
      <p:sp>
        <p:nvSpPr>
          <p:cNvPr id="6" name="TextBox 5"/>
          <p:cNvSpPr txBox="1"/>
          <p:nvPr/>
        </p:nvSpPr>
        <p:spPr>
          <a:xfrm>
            <a:off x="7909560" y="1508760"/>
            <a:ext cx="658368"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E69F00"/>
                </a:solidFill>
                <a:latin typeface="Pretendard"/>
                <a:ea typeface="Pretendard"/>
                <a:cs typeface="Pretendard"/>
              </a:rPr>
              <a:t>DDoS</a:t>
            </a:r>
          </a:p>
        </p:txBody>
      </p:sp>
      <p:sp>
        <p:nvSpPr>
          <p:cNvPr id="7" name="TextBox 6"/>
          <p:cNvSpPr txBox="1"/>
          <p:nvPr/>
        </p:nvSpPr>
        <p:spPr>
          <a:xfrm>
            <a:off x="8558784" y="1508760"/>
            <a:ext cx="566928" cy="274320"/>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B45A9B"/>
                </a:solidFill>
                <a:latin typeface="Pretendard"/>
                <a:ea typeface="Pretendard"/>
                <a:cs typeface="Pretendard"/>
              </a:rPr>
              <a:t>Web</a:t>
            </a:r>
          </a:p>
        </p:txBody>
      </p:sp>
      <p:sp>
        <p:nvSpPr>
          <p:cNvPr id="8" name="Rectangle 7"/>
          <p:cNvSpPr/>
          <p:nvPr/>
        </p:nvSpPr>
        <p:spPr>
          <a:xfrm>
            <a:off x="2148840" y="1938528"/>
            <a:ext cx="4354830"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171700" y="2025396"/>
            <a:ext cx="4309110"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750</a:t>
            </a:r>
          </a:p>
        </p:txBody>
      </p:sp>
      <p:sp>
        <p:nvSpPr>
          <p:cNvPr id="10" name="Rectangle 9"/>
          <p:cNvSpPr/>
          <p:nvPr/>
        </p:nvSpPr>
        <p:spPr>
          <a:xfrm>
            <a:off x="6503670" y="1938528"/>
            <a:ext cx="1451610"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26530" y="2025396"/>
            <a:ext cx="1405889"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250</a:t>
            </a:r>
          </a:p>
        </p:txBody>
      </p:sp>
      <p:sp>
        <p:nvSpPr>
          <p:cNvPr id="12" name="Rectangle 11"/>
          <p:cNvSpPr/>
          <p:nvPr/>
        </p:nvSpPr>
        <p:spPr>
          <a:xfrm>
            <a:off x="7955280" y="1938528"/>
            <a:ext cx="580644"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978140" y="2025396"/>
            <a:ext cx="53492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100</a:t>
            </a:r>
          </a:p>
        </p:txBody>
      </p:sp>
      <p:sp>
        <p:nvSpPr>
          <p:cNvPr id="14" name="Rectangle 13"/>
          <p:cNvSpPr/>
          <p:nvPr/>
        </p:nvSpPr>
        <p:spPr>
          <a:xfrm>
            <a:off x="8535924" y="1938528"/>
            <a:ext cx="580644" cy="393192"/>
          </a:xfrm>
          <a:prstGeom prst="rect">
            <a:avLst/>
          </a:prstGeom>
          <a:solidFill>
            <a:srgbClr val="B45A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558784" y="2025396"/>
            <a:ext cx="53492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100</a:t>
            </a:r>
          </a:p>
        </p:txBody>
      </p:sp>
      <p:sp>
        <p:nvSpPr>
          <p:cNvPr id="16" name="Down Arrow 15"/>
          <p:cNvSpPr/>
          <p:nvPr/>
        </p:nvSpPr>
        <p:spPr>
          <a:xfrm>
            <a:off x="3895344" y="2468880"/>
            <a:ext cx="320040" cy="256032"/>
          </a:xfrm>
          <a:prstGeom prst="down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594360" y="2807208"/>
            <a:ext cx="4389120" cy="2688336"/>
          </a:xfrm>
          <a:prstGeom prst="rect">
            <a:avLst/>
          </a:prstGeom>
          <a:solidFill>
            <a:srgbClr val="FFFFFF"/>
          </a:solidFill>
          <a:ln w="16510">
            <a:solidFill>
              <a:srgbClr val="9AA7B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77240" y="2953512"/>
            <a:ext cx="4023360"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1" lang="ko-KR">
                <a:solidFill>
                  <a:srgbClr val="00306C"/>
                </a:solidFill>
                <a:latin typeface="Pretendard"/>
                <a:ea typeface="Pretendard"/>
                <a:cs typeface="Pretendard"/>
              </a:rPr>
              <a:t>보유 방식 선택 · XGB/PFN 공통</a:t>
            </a:r>
          </a:p>
        </p:txBody>
      </p:sp>
      <p:sp>
        <p:nvSpPr>
          <p:cNvPr id="19" name="TextBox 18"/>
          <p:cNvSpPr txBox="1"/>
          <p:nvPr/>
        </p:nvSpPr>
        <p:spPr>
          <a:xfrm>
            <a:off x="777240" y="3511296"/>
            <a:ext cx="96012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007BC6"/>
                </a:solidFill>
                <a:latin typeface="Pretendard"/>
                <a:ea typeface="Pretendard"/>
                <a:cs typeface="Pretendard"/>
              </a:rPr>
              <a:t>누적</a:t>
            </a:r>
          </a:p>
        </p:txBody>
      </p:sp>
      <p:sp>
        <p:nvSpPr>
          <p:cNvPr id="20" name="Rectangle 19"/>
          <p:cNvSpPr/>
          <p:nvPr/>
        </p:nvSpPr>
        <p:spPr>
          <a:xfrm>
            <a:off x="1865376" y="3493008"/>
            <a:ext cx="1805940" cy="384048"/>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3671316" y="3493008"/>
            <a:ext cx="601980" cy="384048"/>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4273296" y="3493008"/>
            <a:ext cx="240792" cy="384048"/>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4514088" y="3493008"/>
            <a:ext cx="240792" cy="384048"/>
          </a:xfrm>
          <a:prstGeom prst="rect">
            <a:avLst/>
          </a:prstGeom>
          <a:solidFill>
            <a:srgbClr val="B45A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865376" y="3950208"/>
            <a:ext cx="2889504"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1,200개 · 기존 사례 모두 보유</a:t>
            </a:r>
          </a:p>
        </p:txBody>
      </p:sp>
      <p:sp>
        <p:nvSpPr>
          <p:cNvPr id="25" name="TextBox 24"/>
          <p:cNvSpPr txBox="1"/>
          <p:nvPr/>
        </p:nvSpPr>
        <p:spPr>
          <a:xfrm>
            <a:off x="777240" y="4498848"/>
            <a:ext cx="96012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1" lang="ko-KR">
                <a:solidFill>
                  <a:srgbClr val="2F8C86"/>
                </a:solidFill>
                <a:latin typeface="Pretendard"/>
                <a:ea typeface="Pretendard"/>
                <a:cs typeface="Pretendard"/>
              </a:rPr>
              <a:t>버퍼</a:t>
            </a:r>
          </a:p>
        </p:txBody>
      </p:sp>
      <p:sp>
        <p:nvSpPr>
          <p:cNvPr id="26" name="Rectangle 25"/>
          <p:cNvSpPr/>
          <p:nvPr/>
        </p:nvSpPr>
        <p:spPr>
          <a:xfrm>
            <a:off x="1865376" y="4480560"/>
            <a:ext cx="1468831" cy="384048"/>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3334207" y="4480560"/>
            <a:ext cx="483991" cy="384048"/>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3818199" y="4480560"/>
            <a:ext cx="214304" cy="384048"/>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4032504" y="4480560"/>
            <a:ext cx="240792" cy="384048"/>
          </a:xfrm>
          <a:prstGeom prst="rect">
            <a:avLst/>
          </a:prstGeom>
          <a:solidFill>
            <a:srgbClr val="B45A9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865376" y="4937760"/>
            <a:ext cx="2889504"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1,000개 · 기존 삭제 + 신규 전량</a:t>
            </a:r>
          </a:p>
        </p:txBody>
      </p:sp>
      <p:sp>
        <p:nvSpPr>
          <p:cNvPr id="31" name="TextBox 30"/>
          <p:cNvSpPr txBox="1"/>
          <p:nvPr/>
        </p:nvSpPr>
        <p:spPr>
          <a:xfrm>
            <a:off x="777240" y="5660136"/>
            <a:ext cx="4114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50" b="0" lang="ko-KR">
                <a:solidFill>
                  <a:srgbClr val="617080"/>
                </a:solidFill>
                <a:latin typeface="Pretendard"/>
                <a:ea typeface="Pretendard"/>
                <a:cs typeface="Pretendard"/>
              </a:rPr>
              <a:t>버퍼 예시: 무작위, seed 43 · 막대 길이 = 행 수</a:t>
            </a:r>
          </a:p>
        </p:txBody>
      </p:sp>
      <p:sp>
        <p:nvSpPr>
          <p:cNvPr id="32" name="Rectangle 31"/>
          <p:cNvSpPr/>
          <p:nvPr/>
        </p:nvSpPr>
        <p:spPr>
          <a:xfrm>
            <a:off x="4983480" y="4133087"/>
            <a:ext cx="228600" cy="1097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5202936" y="3474720"/>
            <a:ext cx="16459" cy="1591056"/>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ight Arrow 33"/>
          <p:cNvSpPr/>
          <p:nvPr/>
        </p:nvSpPr>
        <p:spPr>
          <a:xfrm>
            <a:off x="5202936" y="3355848"/>
            <a:ext cx="365760" cy="23774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ight Arrow 34"/>
          <p:cNvSpPr/>
          <p:nvPr/>
        </p:nvSpPr>
        <p:spPr>
          <a:xfrm>
            <a:off x="5202936" y="4928616"/>
            <a:ext cx="365760" cy="237744"/>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641848" y="2560320"/>
            <a:ext cx="3767328"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XGB · 매 단계 모델 재학습</a:t>
            </a:r>
          </a:p>
        </p:txBody>
      </p:sp>
      <p:sp>
        <p:nvSpPr>
          <p:cNvPr id="37" name="Rectangle 36"/>
          <p:cNvSpPr/>
          <p:nvPr/>
        </p:nvSpPr>
        <p:spPr>
          <a:xfrm>
            <a:off x="5632704" y="2971800"/>
            <a:ext cx="3794760" cy="960120"/>
          </a:xfrm>
          <a:prstGeom prst="rect">
            <a:avLst/>
          </a:prstGeom>
          <a:solidFill>
            <a:srgbClr val="FFFFFF"/>
          </a:solidFill>
          <a:ln w="16510">
            <a:solidFill>
              <a:srgbClr val="111111"/>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5824728" y="3145536"/>
            <a:ext cx="3419856"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111111"/>
                </a:solidFill>
                <a:latin typeface="Pretendard"/>
                <a:ea typeface="Pretendard"/>
                <a:cs typeface="Pretendard"/>
              </a:rPr>
              <a:t>트리 구조·리프 출력 학습</a:t>
            </a:r>
          </a:p>
        </p:txBody>
      </p:sp>
      <p:sp>
        <p:nvSpPr>
          <p:cNvPr id="39" name="TextBox 38"/>
          <p:cNvSpPr txBox="1"/>
          <p:nvPr/>
        </p:nvSpPr>
        <p:spPr>
          <a:xfrm>
            <a:off x="5824728" y="3611880"/>
            <a:ext cx="3419856" cy="247497"/>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20262E"/>
                </a:solidFill>
                <a:latin typeface="Pretendard"/>
                <a:ea typeface="Pretendard"/>
                <a:cs typeface="Pretendard"/>
              </a:rPr>
              <a:t>해당 단계의 보유 사례로 새 모델 구성</a:t>
            </a:r>
          </a:p>
        </p:txBody>
      </p:sp>
      <p:sp>
        <p:nvSpPr>
          <p:cNvPr id="40" name="TextBox 39"/>
          <p:cNvSpPr txBox="1"/>
          <p:nvPr/>
        </p:nvSpPr>
        <p:spPr>
          <a:xfrm>
            <a:off x="5641848" y="4187952"/>
            <a:ext cx="3767328" cy="293903"/>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617080"/>
                </a:solidFill>
                <a:latin typeface="Pretendard"/>
                <a:ea typeface="Pretendard"/>
                <a:cs typeface="Pretendard"/>
              </a:rPr>
              <a:t>PFN · 사전학습 가중치 유지</a:t>
            </a:r>
          </a:p>
        </p:txBody>
      </p:sp>
      <p:sp>
        <p:nvSpPr>
          <p:cNvPr id="41" name="Rectangle 40"/>
          <p:cNvSpPr/>
          <p:nvPr/>
        </p:nvSpPr>
        <p:spPr>
          <a:xfrm>
            <a:off x="5632704" y="4608576"/>
            <a:ext cx="1572768" cy="960120"/>
          </a:xfrm>
          <a:prstGeom prst="rect">
            <a:avLst/>
          </a:prstGeom>
          <a:solidFill>
            <a:srgbClr val="FFFFFF"/>
          </a:solidFill>
          <a:ln w="16510">
            <a:solidFill>
              <a:srgbClr val="2F8C86"/>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751576" y="4754880"/>
            <a:ext cx="1335024" cy="566928"/>
          </a:xfrm>
          <a:prstGeom prst="rect">
            <a:avLst/>
          </a:prstGeom>
          <a:noFill/>
          <a:effectLst/>
        </p:spPr>
        <p:txBody>
          <a:bodyPr wrap="none" anchor="t" lIns="0" rIns="0" tIns="0" bIns="0">
            <a:noAutofit/>
          </a:bodyPr>
          <a:lstStyle/>
          <a:p>
            <a:pPr algn="ctr">
              <a:lnSpc>
                <a:spcPct val="116000"/>
              </a:lnSpc>
              <a:spcBef>
                <a:spcPts val="0"/>
              </a:spcBef>
              <a:spcAft>
                <a:spcPts val="0"/>
              </a:spcAft>
            </a:pPr>
            <a:r>
              <a:rPr sz="1800" b="1" lang="ko-KR">
                <a:solidFill>
                  <a:srgbClr val="2F8C86"/>
                </a:solidFill>
                <a:latin typeface="Pretendard"/>
                <a:ea typeface="Pretendard"/>
                <a:cs typeface="Pretendard"/>
              </a:rPr>
              <a:t>context</a:t>
            </a:r>
          </a:p>
          <a:p>
            <a:pPr algn="ctr">
              <a:lnSpc>
                <a:spcPct val="116000"/>
              </a:lnSpc>
              <a:spcBef>
                <a:spcPts val="0"/>
              </a:spcBef>
              <a:spcAft>
                <a:spcPts val="0"/>
              </a:spcAft>
            </a:pPr>
            <a:r>
              <a:rPr sz="1800" b="1" lang="ko-KR">
                <a:solidFill>
                  <a:srgbClr val="2F8C86"/>
                </a:solidFill>
                <a:latin typeface="Pretendard"/>
                <a:ea typeface="Pretendard"/>
                <a:cs typeface="Pretendard"/>
              </a:rPr>
              <a:t>캐시 갱신</a:t>
            </a:r>
          </a:p>
        </p:txBody>
      </p:sp>
      <p:sp>
        <p:nvSpPr>
          <p:cNvPr id="43" name="Right Arrow 42"/>
          <p:cNvSpPr/>
          <p:nvPr/>
        </p:nvSpPr>
        <p:spPr>
          <a:xfrm>
            <a:off x="7315200" y="4974336"/>
            <a:ext cx="256032"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7699248" y="4608576"/>
            <a:ext cx="1728216" cy="96012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818120" y="4754880"/>
            <a:ext cx="1490472" cy="566928"/>
          </a:xfrm>
          <a:prstGeom prst="rect">
            <a:avLst/>
          </a:prstGeom>
          <a:noFill/>
          <a:effectLst/>
        </p:spPr>
        <p:txBody>
          <a:bodyPr wrap="none" anchor="t" lIns="0" rIns="0" tIns="0" bIns="0">
            <a:noAutofit/>
          </a:bodyPr>
          <a:lstStyle/>
          <a:p>
            <a:pPr algn="ctr">
              <a:lnSpc>
                <a:spcPct val="116000"/>
              </a:lnSpc>
              <a:spcBef>
                <a:spcPts val="0"/>
              </a:spcBef>
              <a:spcAft>
                <a:spcPts val="0"/>
              </a:spcAft>
            </a:pPr>
            <a:r>
              <a:rPr sz="1800" b="1" lang="ko-KR">
                <a:solidFill>
                  <a:srgbClr val="FFFFFF"/>
                </a:solidFill>
                <a:latin typeface="Pretendard"/>
                <a:ea typeface="Pretendard"/>
                <a:cs typeface="Pretendard"/>
              </a:rPr>
              <a:t>TabPFN</a:t>
            </a:r>
          </a:p>
          <a:p>
            <a:pPr algn="ctr">
              <a:lnSpc>
                <a:spcPct val="116000"/>
              </a:lnSpc>
              <a:spcBef>
                <a:spcPts val="0"/>
              </a:spcBef>
              <a:spcAft>
                <a:spcPts val="0"/>
              </a:spcAft>
            </a:pPr>
            <a:r>
              <a:rPr sz="1800" b="1" lang="ko-KR">
                <a:solidFill>
                  <a:srgbClr val="FFFFFF"/>
                </a:solidFill>
                <a:latin typeface="Pretendard"/>
                <a:ea typeface="Pretendard"/>
                <a:cs typeface="Pretendard"/>
              </a:rPr>
              <a:t>가중치 고정</a:t>
            </a:r>
          </a:p>
        </p:txBody>
      </p:sp>
      <p:sp>
        <p:nvSpPr>
          <p:cNvPr id="46" name="Right Arrow 45"/>
          <p:cNvSpPr/>
          <p:nvPr/>
        </p:nvSpPr>
        <p:spPr>
          <a:xfrm>
            <a:off x="9528048" y="3355848"/>
            <a:ext cx="274320"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ight Arrow 46"/>
          <p:cNvSpPr/>
          <p:nvPr/>
        </p:nvSpPr>
        <p:spPr>
          <a:xfrm>
            <a:off x="9528048" y="4965192"/>
            <a:ext cx="274320" cy="219456"/>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9912096" y="3154680"/>
            <a:ext cx="1508760" cy="6309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10021824" y="3319272"/>
            <a:ext cx="1289304" cy="278434"/>
          </a:xfrm>
          <a:prstGeom prst="rect">
            <a:avLst/>
          </a:prstGeom>
          <a:noFill/>
          <a:effectLst/>
        </p:spPr>
        <p:txBody>
          <a:bodyPr wrap="none" anchor="t" lIns="0" rIns="0" tIns="0" bIns="0">
            <a:noAutofit/>
          </a:bodyPr>
          <a:lstStyle/>
          <a:p>
            <a:pPr algn="ctr">
              <a:lnSpc>
                <a:spcPct val="116000"/>
              </a:lnSpc>
              <a:spcBef>
                <a:spcPts val="0"/>
              </a:spcBef>
              <a:spcAft>
                <a:spcPts val="0"/>
              </a:spcAft>
            </a:pPr>
            <a:r>
              <a:rPr sz="1800" b="1" lang="ko-KR">
                <a:solidFill>
                  <a:srgbClr val="007BC6"/>
                </a:solidFill>
                <a:latin typeface="Pretendard"/>
                <a:ea typeface="Pretendard"/>
                <a:cs typeface="Pretendard"/>
              </a:rPr>
              <a:t>예측·평가</a:t>
            </a:r>
          </a:p>
        </p:txBody>
      </p:sp>
      <p:sp>
        <p:nvSpPr>
          <p:cNvPr id="50" name="Rectangle 49"/>
          <p:cNvSpPr/>
          <p:nvPr/>
        </p:nvSpPr>
        <p:spPr>
          <a:xfrm>
            <a:off x="9912096" y="4764024"/>
            <a:ext cx="1508760" cy="630936"/>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10021824" y="4928616"/>
            <a:ext cx="1289304" cy="278434"/>
          </a:xfrm>
          <a:prstGeom prst="rect">
            <a:avLst/>
          </a:prstGeom>
          <a:noFill/>
          <a:effectLst/>
        </p:spPr>
        <p:txBody>
          <a:bodyPr wrap="none" anchor="t" lIns="0" rIns="0" tIns="0" bIns="0">
            <a:noAutofit/>
          </a:bodyPr>
          <a:lstStyle/>
          <a:p>
            <a:pPr algn="ctr">
              <a:lnSpc>
                <a:spcPct val="116000"/>
              </a:lnSpc>
              <a:spcBef>
                <a:spcPts val="0"/>
              </a:spcBef>
              <a:spcAft>
                <a:spcPts val="0"/>
              </a:spcAft>
            </a:pPr>
            <a:r>
              <a:rPr sz="1800" b="1" lang="ko-KR">
                <a:solidFill>
                  <a:srgbClr val="007BC6"/>
                </a:solidFill>
                <a:latin typeface="Pretendard"/>
                <a:ea typeface="Pretendard"/>
                <a:cs typeface="Pretendard"/>
              </a:rPr>
              <a:t>예측·평가</a:t>
            </a:r>
          </a:p>
        </p:txBody>
      </p:sp>
      <p:sp>
        <p:nvSpPr>
          <p:cNvPr id="52" name="Rectangle 51"/>
          <p:cNvSpPr/>
          <p:nvPr/>
        </p:nvSpPr>
        <p:spPr>
          <a:xfrm>
            <a:off x="9912096" y="1764792"/>
            <a:ext cx="1700784" cy="758952"/>
          </a:xfrm>
          <a:prstGeom prst="rect">
            <a:avLst/>
          </a:prstGeom>
          <a:solidFill>
            <a:srgbClr val="FFFFFF"/>
          </a:solidFill>
          <a:ln w="16510">
            <a:solidFill>
              <a:srgbClr val="007BC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10030968" y="1920240"/>
            <a:ext cx="1463040" cy="411480"/>
          </a:xfrm>
          <a:prstGeom prst="rect">
            <a:avLst/>
          </a:prstGeom>
          <a:noFill/>
          <a:effectLst/>
        </p:spPr>
        <p:txBody>
          <a:bodyPr wrap="none" anchor="t" lIns="0" rIns="0" tIns="0" bIns="0">
            <a:noAutofit/>
          </a:bodyPr>
          <a:lstStyle/>
          <a:p>
            <a:pPr algn="ctr">
              <a:lnSpc>
                <a:spcPct val="116000"/>
              </a:lnSpc>
              <a:spcBef>
                <a:spcPts val="0"/>
              </a:spcBef>
              <a:spcAft>
                <a:spcPts val="0"/>
              </a:spcAft>
            </a:pPr>
            <a:r>
              <a:rPr sz="1700" b="1" lang="ko-KR">
                <a:solidFill>
                  <a:srgbClr val="007BC6"/>
                </a:solidFill>
                <a:latin typeface="Pretendard"/>
                <a:ea typeface="Pretendard"/>
                <a:cs typeface="Pretendard"/>
              </a:rPr>
              <a:t>같은 고정 test</a:t>
            </a:r>
          </a:p>
        </p:txBody>
      </p:sp>
      <p:sp>
        <p:nvSpPr>
          <p:cNvPr id="54" name="Rectangle 53"/>
          <p:cNvSpPr/>
          <p:nvPr/>
        </p:nvSpPr>
        <p:spPr>
          <a:xfrm>
            <a:off x="11658600" y="2139696"/>
            <a:ext cx="14630" cy="2944368"/>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ectangle 54"/>
          <p:cNvSpPr/>
          <p:nvPr/>
        </p:nvSpPr>
        <p:spPr>
          <a:xfrm>
            <a:off x="11612880" y="2139696"/>
            <a:ext cx="59436" cy="1097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Left Arrow 55"/>
          <p:cNvSpPr/>
          <p:nvPr/>
        </p:nvSpPr>
        <p:spPr>
          <a:xfrm>
            <a:off x="11420856" y="3355848"/>
            <a:ext cx="256032" cy="219456"/>
          </a:xfrm>
          <a:prstGeom prst="lef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Left Arrow 56"/>
          <p:cNvSpPr/>
          <p:nvPr/>
        </p:nvSpPr>
        <p:spPr>
          <a:xfrm>
            <a:off x="11420856" y="4965192"/>
            <a:ext cx="256032" cy="219456"/>
          </a:xfrm>
          <a:prstGeom prst="lef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641848" y="5870448"/>
            <a:ext cx="59436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점선: 매 단계 갱신 영역 · 전체 test는 마지막 모델에만 평가</a:t>
            </a:r>
          </a:p>
        </p:txBody>
      </p:sp>
      <p:sp>
        <p:nvSpPr>
          <p:cNvPr id="59" name="Rectangle 58"/>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각 단계: 갱신 시간·고정 패널 확인 / 마지막 단계: 전체 test 품질 평가</a:t>
            </a:r>
          </a:p>
        </p:txBody>
      </p:sp>
      <p:sp>
        <p:nvSpPr>
          <p:cNvPr id="61" name="TextBox 60"/>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62" name="TextBox 61"/>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버퍼 교체에 따른 클래스 구성 변화</a:t>
            </a:r>
          </a:p>
        </p:txBody>
      </p:sp>
      <p:sp>
        <p:nvSpPr>
          <p:cNvPr id="3" name="TextBox 2"/>
          <p:cNvSpPr txBox="1"/>
          <p:nvPr/>
        </p:nvSpPr>
        <p:spPr>
          <a:xfrm>
            <a:off x="566928" y="1005840"/>
            <a:ext cx="10972800" cy="338328"/>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예시 · ToN 최종 단계, 신규 공격당 100개, seed 43 · 각 막대는 실제 보유 행 수</a:t>
            </a:r>
          </a:p>
        </p:txBody>
      </p:sp>
      <p:sp>
        <p:nvSpPr>
          <p:cNvPr id="4" name="Rectangle 3"/>
          <p:cNvSpPr/>
          <p:nvPr/>
        </p:nvSpPr>
        <p:spPr>
          <a:xfrm>
            <a:off x="2377440" y="1591056"/>
            <a:ext cx="201168" cy="182880"/>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2688336" y="1554480"/>
            <a:ext cx="15544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정상</a:t>
            </a:r>
          </a:p>
        </p:txBody>
      </p:sp>
      <p:sp>
        <p:nvSpPr>
          <p:cNvPr id="6" name="Rectangle 5"/>
          <p:cNvSpPr/>
          <p:nvPr/>
        </p:nvSpPr>
        <p:spPr>
          <a:xfrm>
            <a:off x="4343400" y="1591056"/>
            <a:ext cx="201168" cy="182880"/>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4654296" y="1554480"/>
            <a:ext cx="24688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초기 공격 2종</a:t>
            </a:r>
          </a:p>
        </p:txBody>
      </p:sp>
      <p:sp>
        <p:nvSpPr>
          <p:cNvPr id="8" name="Rectangle 7"/>
          <p:cNvSpPr/>
          <p:nvPr/>
        </p:nvSpPr>
        <p:spPr>
          <a:xfrm>
            <a:off x="7269480" y="1591056"/>
            <a:ext cx="201168" cy="182880"/>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0376" y="1554480"/>
            <a:ext cx="2468880" cy="274320"/>
          </a:xfrm>
          <a:prstGeom prst="rect">
            <a:avLst/>
          </a:prstGeom>
          <a:noFill/>
          <a:effectLst/>
        </p:spPr>
        <p:txBody>
          <a:bodyPr wrap="none" anchor="t" lIns="0" rIns="0" tIns="0" bIns="0">
            <a:noAutofit/>
          </a:bodyPr>
          <a:lstStyle/>
          <a:p>
            <a:pPr algn="l">
              <a:lnSpc>
                <a:spcPct val="116000"/>
              </a:lnSpc>
              <a:spcBef>
                <a:spcPts val="0"/>
              </a:spcBef>
              <a:spcAft>
                <a:spcPts val="0"/>
              </a:spcAft>
            </a:pPr>
            <a:r>
              <a:rPr sz="1700" b="0" lang="ko-KR">
                <a:solidFill>
                  <a:srgbClr val="20262E"/>
                </a:solidFill>
                <a:latin typeface="Pretendard"/>
                <a:ea typeface="Pretendard"/>
                <a:cs typeface="Pretendard"/>
              </a:rPr>
              <a:t>이후 신규 공격 7종</a:t>
            </a:r>
          </a:p>
        </p:txBody>
      </p:sp>
      <p:sp>
        <p:nvSpPr>
          <p:cNvPr id="10" name="TextBox 9"/>
          <p:cNvSpPr txBox="1"/>
          <p:nvPr/>
        </p:nvSpPr>
        <p:spPr>
          <a:xfrm>
            <a:off x="594360" y="213969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초기</a:t>
            </a:r>
          </a:p>
        </p:txBody>
      </p:sp>
      <p:sp>
        <p:nvSpPr>
          <p:cNvPr id="11" name="Rectangle 10"/>
          <p:cNvSpPr/>
          <p:nvPr/>
        </p:nvSpPr>
        <p:spPr>
          <a:xfrm>
            <a:off x="2176272" y="2103120"/>
            <a:ext cx="3227294"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99132" y="2189988"/>
            <a:ext cx="318157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750</a:t>
            </a:r>
          </a:p>
        </p:txBody>
      </p:sp>
      <p:sp>
        <p:nvSpPr>
          <p:cNvPr id="13" name="Rectangle 12"/>
          <p:cNvSpPr/>
          <p:nvPr/>
        </p:nvSpPr>
        <p:spPr>
          <a:xfrm>
            <a:off x="5403566" y="2103120"/>
            <a:ext cx="1075764"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426426" y="2189988"/>
            <a:ext cx="103004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250</a:t>
            </a:r>
          </a:p>
        </p:txBody>
      </p:sp>
      <p:sp>
        <p:nvSpPr>
          <p:cNvPr id="15" name="TextBox 14"/>
          <p:cNvSpPr txBox="1"/>
          <p:nvPr/>
        </p:nvSpPr>
        <p:spPr>
          <a:xfrm>
            <a:off x="9720072" y="213969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16" name="TextBox 15"/>
          <p:cNvSpPr txBox="1"/>
          <p:nvPr/>
        </p:nvSpPr>
        <p:spPr>
          <a:xfrm>
            <a:off x="594360" y="277977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누적</a:t>
            </a:r>
          </a:p>
        </p:txBody>
      </p:sp>
      <p:sp>
        <p:nvSpPr>
          <p:cNvPr id="17" name="Rectangle 16"/>
          <p:cNvSpPr/>
          <p:nvPr/>
        </p:nvSpPr>
        <p:spPr>
          <a:xfrm>
            <a:off x="2176272" y="2743200"/>
            <a:ext cx="3227294"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99132" y="2830068"/>
            <a:ext cx="318157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750</a:t>
            </a:r>
          </a:p>
        </p:txBody>
      </p:sp>
      <p:sp>
        <p:nvSpPr>
          <p:cNvPr id="19" name="Rectangle 18"/>
          <p:cNvSpPr/>
          <p:nvPr/>
        </p:nvSpPr>
        <p:spPr>
          <a:xfrm>
            <a:off x="5403566" y="2743200"/>
            <a:ext cx="1075764"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426426" y="2830068"/>
            <a:ext cx="1030044"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250</a:t>
            </a:r>
          </a:p>
        </p:txBody>
      </p:sp>
      <p:sp>
        <p:nvSpPr>
          <p:cNvPr id="21" name="Rectangle 20"/>
          <p:cNvSpPr/>
          <p:nvPr/>
        </p:nvSpPr>
        <p:spPr>
          <a:xfrm>
            <a:off x="6479330" y="2743200"/>
            <a:ext cx="3012141"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02190" y="2830068"/>
            <a:ext cx="2966421"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700</a:t>
            </a:r>
          </a:p>
        </p:txBody>
      </p:sp>
      <p:sp>
        <p:nvSpPr>
          <p:cNvPr id="23" name="TextBox 22"/>
          <p:cNvSpPr txBox="1"/>
          <p:nvPr/>
        </p:nvSpPr>
        <p:spPr>
          <a:xfrm>
            <a:off x="9720072" y="277977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1,700개</a:t>
            </a:r>
          </a:p>
        </p:txBody>
      </p:sp>
      <p:sp>
        <p:nvSpPr>
          <p:cNvPr id="24" name="TextBox 23"/>
          <p:cNvSpPr txBox="1"/>
          <p:nvPr/>
        </p:nvSpPr>
        <p:spPr>
          <a:xfrm>
            <a:off x="594360" y="341985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FIFO</a:t>
            </a:r>
          </a:p>
        </p:txBody>
      </p:sp>
      <p:sp>
        <p:nvSpPr>
          <p:cNvPr id="25" name="Rectangle 24"/>
          <p:cNvSpPr/>
          <p:nvPr/>
        </p:nvSpPr>
        <p:spPr>
          <a:xfrm>
            <a:off x="2176272" y="3383279"/>
            <a:ext cx="963885"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2199132" y="3470148"/>
            <a:ext cx="918165"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224</a:t>
            </a:r>
          </a:p>
        </p:txBody>
      </p:sp>
      <p:sp>
        <p:nvSpPr>
          <p:cNvPr id="27" name="Rectangle 26"/>
          <p:cNvSpPr/>
          <p:nvPr/>
        </p:nvSpPr>
        <p:spPr>
          <a:xfrm>
            <a:off x="3140157" y="3383279"/>
            <a:ext cx="32703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63017" y="3470148"/>
            <a:ext cx="28131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76</a:t>
            </a:r>
          </a:p>
        </p:txBody>
      </p:sp>
      <p:sp>
        <p:nvSpPr>
          <p:cNvPr id="29" name="Rectangle 28"/>
          <p:cNvSpPr/>
          <p:nvPr/>
        </p:nvSpPr>
        <p:spPr>
          <a:xfrm>
            <a:off x="3467189" y="3383279"/>
            <a:ext cx="3012141"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490049" y="3470148"/>
            <a:ext cx="2966421"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700</a:t>
            </a:r>
          </a:p>
        </p:txBody>
      </p:sp>
      <p:sp>
        <p:nvSpPr>
          <p:cNvPr id="31" name="TextBox 30"/>
          <p:cNvSpPr txBox="1"/>
          <p:nvPr/>
        </p:nvSpPr>
        <p:spPr>
          <a:xfrm>
            <a:off x="9720072" y="341985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32" name="TextBox 31"/>
          <p:cNvSpPr txBox="1"/>
          <p:nvPr/>
        </p:nvSpPr>
        <p:spPr>
          <a:xfrm>
            <a:off x="594360" y="4059935"/>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무작위</a:t>
            </a:r>
          </a:p>
        </p:txBody>
      </p:sp>
      <p:sp>
        <p:nvSpPr>
          <p:cNvPr id="33" name="Rectangle 32"/>
          <p:cNvSpPr/>
          <p:nvPr/>
        </p:nvSpPr>
        <p:spPr>
          <a:xfrm>
            <a:off x="2176272" y="4023359"/>
            <a:ext cx="1510373"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2199132" y="4110227"/>
            <a:ext cx="1464653"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351</a:t>
            </a:r>
          </a:p>
        </p:txBody>
      </p:sp>
      <p:sp>
        <p:nvSpPr>
          <p:cNvPr id="35" name="Rectangle 34"/>
          <p:cNvSpPr/>
          <p:nvPr/>
        </p:nvSpPr>
        <p:spPr>
          <a:xfrm>
            <a:off x="3686645" y="4023359"/>
            <a:ext cx="48194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709505" y="4110227"/>
            <a:ext cx="43622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112</a:t>
            </a:r>
          </a:p>
        </p:txBody>
      </p:sp>
      <p:sp>
        <p:nvSpPr>
          <p:cNvPr id="37" name="Rectangle 36"/>
          <p:cNvSpPr/>
          <p:nvPr/>
        </p:nvSpPr>
        <p:spPr>
          <a:xfrm>
            <a:off x="4168588" y="4023359"/>
            <a:ext cx="2310742"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191448" y="4110227"/>
            <a:ext cx="226502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537</a:t>
            </a:r>
          </a:p>
        </p:txBody>
      </p:sp>
      <p:sp>
        <p:nvSpPr>
          <p:cNvPr id="39" name="TextBox 38"/>
          <p:cNvSpPr txBox="1"/>
          <p:nvPr/>
        </p:nvSpPr>
        <p:spPr>
          <a:xfrm>
            <a:off x="9720072" y="4059935"/>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40" name="TextBox 39"/>
          <p:cNvSpPr txBox="1"/>
          <p:nvPr/>
        </p:nvSpPr>
        <p:spPr>
          <a:xfrm>
            <a:off x="594360" y="4700016"/>
            <a:ext cx="1353312" cy="309372"/>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306C"/>
                </a:solidFill>
                <a:latin typeface="Pretendard"/>
                <a:ea typeface="Pretendard"/>
                <a:cs typeface="Pretendard"/>
              </a:rPr>
              <a:t>유사도</a:t>
            </a:r>
          </a:p>
        </p:txBody>
      </p:sp>
      <p:sp>
        <p:nvSpPr>
          <p:cNvPr id="41" name="Rectangle 40"/>
          <p:cNvSpPr/>
          <p:nvPr/>
        </p:nvSpPr>
        <p:spPr>
          <a:xfrm>
            <a:off x="2176272" y="4663440"/>
            <a:ext cx="1605040" cy="393192"/>
          </a:xfrm>
          <a:prstGeom prst="rect">
            <a:avLst/>
          </a:prstGeom>
          <a:solidFill>
            <a:srgbClr val="9AA7B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2199132" y="4750307"/>
            <a:ext cx="1559320"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373</a:t>
            </a:r>
          </a:p>
        </p:txBody>
      </p:sp>
      <p:sp>
        <p:nvSpPr>
          <p:cNvPr id="43" name="Rectangle 42"/>
          <p:cNvSpPr/>
          <p:nvPr/>
        </p:nvSpPr>
        <p:spPr>
          <a:xfrm>
            <a:off x="3781312" y="4663440"/>
            <a:ext cx="636852" cy="393192"/>
          </a:xfrm>
          <a:prstGeom prst="rect">
            <a:avLst/>
          </a:prstGeom>
          <a:solidFill>
            <a:srgbClr val="0072B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3804172" y="4750307"/>
            <a:ext cx="591132"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148</a:t>
            </a:r>
          </a:p>
        </p:txBody>
      </p:sp>
      <p:sp>
        <p:nvSpPr>
          <p:cNvPr id="45" name="Rectangle 44"/>
          <p:cNvSpPr/>
          <p:nvPr/>
        </p:nvSpPr>
        <p:spPr>
          <a:xfrm>
            <a:off x="4418165" y="4663440"/>
            <a:ext cx="2061165" cy="393192"/>
          </a:xfrm>
          <a:prstGeom prst="rect">
            <a:avLst/>
          </a:prstGeom>
          <a:solidFill>
            <a:srgbClr val="E69F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4441025" y="4750307"/>
            <a:ext cx="2015445" cy="232028"/>
          </a:xfrm>
          <a:prstGeom prst="rect">
            <a:avLst/>
          </a:prstGeom>
          <a:noFill/>
          <a:effectLst/>
        </p:spPr>
        <p:txBody>
          <a:bodyPr wrap="none" anchor="t" lIns="0" rIns="0" tIns="0" bIns="0">
            <a:noAutofit/>
          </a:bodyPr>
          <a:lstStyle/>
          <a:p>
            <a:pPr algn="ctr">
              <a:lnSpc>
                <a:spcPct val="116000"/>
              </a:lnSpc>
              <a:spcBef>
                <a:spcPts val="0"/>
              </a:spcBef>
              <a:spcAft>
                <a:spcPts val="0"/>
              </a:spcAft>
            </a:pPr>
            <a:r>
              <a:rPr sz="1500" b="1" lang="ko-KR">
                <a:solidFill>
                  <a:srgbClr val="FFFFFF"/>
                </a:solidFill>
                <a:latin typeface="Pretendard"/>
                <a:ea typeface="Pretendard"/>
                <a:cs typeface="Pretendard"/>
              </a:rPr>
              <a:t>479</a:t>
            </a:r>
          </a:p>
        </p:txBody>
      </p:sp>
      <p:sp>
        <p:nvSpPr>
          <p:cNvPr id="47" name="TextBox 46"/>
          <p:cNvSpPr txBox="1"/>
          <p:nvPr/>
        </p:nvSpPr>
        <p:spPr>
          <a:xfrm>
            <a:off x="9720072" y="4700016"/>
            <a:ext cx="1874519" cy="293903"/>
          </a:xfrm>
          <a:prstGeom prst="rect">
            <a:avLst/>
          </a:prstGeom>
          <a:noFill/>
          <a:effectLst/>
        </p:spPr>
        <p:txBody>
          <a:bodyPr wrap="none" anchor="t" lIns="0" rIns="0" tIns="0" bIns="0">
            <a:noAutofit/>
          </a:bodyPr>
          <a:lstStyle/>
          <a:p>
            <a:pPr algn="r">
              <a:lnSpc>
                <a:spcPct val="116000"/>
              </a:lnSpc>
              <a:spcBef>
                <a:spcPts val="0"/>
              </a:spcBef>
              <a:spcAft>
                <a:spcPts val="0"/>
              </a:spcAft>
            </a:pPr>
            <a:r>
              <a:rPr sz="1900" b="1" lang="ko-KR">
                <a:solidFill>
                  <a:srgbClr val="00306C"/>
                </a:solidFill>
                <a:latin typeface="Pretendard"/>
                <a:ea typeface="Pretendard"/>
                <a:cs typeface="Pretendard"/>
              </a:rPr>
              <a:t>1,000개</a:t>
            </a:r>
          </a:p>
        </p:txBody>
      </p:sp>
      <p:sp>
        <p:nvSpPr>
          <p:cNvPr id="48" name="TextBox 47"/>
          <p:cNvSpPr txBox="1"/>
          <p:nvPr/>
        </p:nvSpPr>
        <p:spPr>
          <a:xfrm>
            <a:off x="594360" y="5586984"/>
            <a:ext cx="10972800" cy="329184"/>
          </a:xfrm>
          <a:prstGeom prst="rect">
            <a:avLst/>
          </a:prstGeom>
          <a:noFill/>
          <a:effectLst/>
        </p:spPr>
        <p:txBody>
          <a:bodyPr wrap="none" anchor="t" lIns="0" rIns="0" tIns="0" bIns="0">
            <a:noAutofit/>
          </a:bodyPr>
          <a:lstStyle/>
          <a:p>
            <a:pPr algn="l">
              <a:lnSpc>
                <a:spcPct val="116000"/>
              </a:lnSpc>
              <a:spcBef>
                <a:spcPts val="0"/>
              </a:spcBef>
              <a:spcAft>
                <a:spcPts val="0"/>
              </a:spcAft>
            </a:pPr>
            <a:r>
              <a:rPr sz="2000" b="1" lang="ko-KR">
                <a:solidFill>
                  <a:srgbClr val="007BC6"/>
                </a:solidFill>
                <a:latin typeface="Pretendard"/>
                <a:ea typeface="Pretendard"/>
                <a:cs typeface="Pretendard"/>
              </a:rPr>
              <a:t>정상 비율 · 초기 75.0% → 누적 44.1% / FIFO 22.4% / 무작위 35.1% / 유사도 37.3%</a:t>
            </a:r>
          </a:p>
        </p:txBody>
      </p:sp>
      <p:sp>
        <p:nvSpPr>
          <p:cNvPr id="49" name="TextBox 48"/>
          <p:cNvSpPr txBox="1"/>
          <p:nvPr/>
        </p:nvSpPr>
        <p:spPr>
          <a:xfrm>
            <a:off x="594360" y="6025896"/>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50" b="0" lang="ko-KR">
                <a:solidFill>
                  <a:srgbClr val="617080"/>
                </a:solidFill>
                <a:latin typeface="Pretendard"/>
                <a:ea typeface="Pretendard"/>
                <a:cs typeface="Pretendard"/>
              </a:rPr>
              <a:t>삭제 기준 · FIFO: 먼저 확보한 행 / 무작위: 임의의 행 / 유사도: 신규와 가까운 행 · 클래스별 최소 1개 보존</a:t>
            </a:r>
          </a:p>
        </p:txBody>
      </p:sp>
      <p:sp>
        <p:nvSpPr>
          <p:cNvPr id="50" name="Rectangle 4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버퍼는 표본 수와 클래스 비율을 함께 변경 · 같은 구성의 XGB 대조군으로 효과 분리</a:t>
            </a:r>
          </a:p>
        </p:txBody>
      </p:sp>
      <p:sp>
        <p:nvSpPr>
          <p:cNvPr id="52" name="TextBox 5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03 평가</a:t>
            </a:r>
          </a:p>
        </p:txBody>
      </p:sp>
      <p:sp>
        <p:nvSpPr>
          <p:cNvPr id="53" name="TextBox 5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전체 클래스의 최종 분류 성능</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최종 모델 · 전체 고정 test · 모든 클래스 F1의 산술평균</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평균 ± 표준편차 · seed 43·44·45 · 같은 데이터셋의 두 패널은 같은 축 · 우측 숫자: n=100</a:t>
            </a:r>
          </a:p>
        </p:txBody>
      </p:sp>
      <p:pic>
        <p:nvPicPr>
          <p:cNvPr id="5" name="Picture 4" descr="overall.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같은 사례에서 모델 차이 비교 / 같은 모델에서 누적·버퍼 정책 차이 비교</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신규 공격 라벨 수에 따른 탐지 품질</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최종 모델 · 전체 test에서 계산한 신규 공격 클래스별 F1의 산술평균</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CIC 4개 · ToN 7개 신규 공격 · 정상·초기 공격에서 발생한 오탐도 F1에 포함 · 3 seed 평균 ± 표준편차</a:t>
            </a:r>
          </a:p>
        </p:txBody>
      </p:sp>
      <p:pic>
        <p:nvPicPr>
          <p:cNvPr id="5" name="Picture 4" descr="new_attacks.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적은 라벨로 반영되는 정도와 클래스별 실패를 함께 확인</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갱신 이후 초기 클래스 성능 변화</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초기 정상·공격 2종의 같은 평가 표본 · 최종 − 초기 Macro-F1 (%p)</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클래스당 최대 2,000개 고정 test 표본 · 0 아래는 초기보다 성능 하락 · 3 seed 평균 ± 표준편차</a:t>
            </a:r>
          </a:p>
        </p:txBody>
      </p:sp>
      <p:pic>
        <p:nvPicPr>
          <p:cNvPr id="5" name="Picture 4" descr="retention.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신규 클래스 평균과 별도로 확인하는 기존 클래스 유지 · 전체 test와 구분된 진단</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 같은 사례를 반영하는 후속 갱신 비용</a:t>
            </a:r>
          </a:p>
        </p:txBody>
      </p:sp>
      <p:sp>
        <p:nvSpPr>
          <p:cNvPr id="3" name="TextBox 2"/>
          <p:cNvSpPr txBox="1"/>
          <p:nvPr/>
        </p:nvSpPr>
        <p:spPr>
          <a:xfrm>
            <a:off x="566928" y="996696"/>
            <a:ext cx="10972800" cy="355777"/>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306C"/>
                </a:solidFill>
                <a:latin typeface="Pretendard"/>
                <a:ea typeface="Pretendard"/>
                <a:cs typeface="Pretendard"/>
              </a:rPr>
              <a:t>2단계 이후 갱신 시간 합계 · 초기 준비와 모든 추론 제외</a:t>
            </a:r>
          </a:p>
        </p:txBody>
      </p:sp>
      <p:sp>
        <p:nvSpPr>
          <p:cNvPr id="4" name="TextBox 3"/>
          <p:cNvSpPr txBox="1"/>
          <p:nvPr/>
        </p:nvSpPr>
        <p:spPr>
          <a:xfrm>
            <a:off x="566928" y="1463040"/>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00" b="0" lang="ko-KR">
                <a:solidFill>
                  <a:srgbClr val="617080"/>
                </a:solidFill>
                <a:latin typeface="Pretendard"/>
                <a:ea typeface="Pretendard"/>
                <a:cs typeface="Pretendard"/>
              </a:rPr>
              <a:t>사례 선택·삭제 + XGB 재학습 또는 PFN 전처리·캐시 준비 · 같은 장비, 별도 실행 · 3 seed 평균 ± 표준편차</a:t>
            </a:r>
          </a:p>
        </p:txBody>
      </p:sp>
      <p:pic>
        <p:nvPicPr>
          <p:cNvPr id="5" name="Picture 4" descr="cost.png"/>
          <p:cNvPicPr>
            <a:picLocks noChangeAspect="1"/>
          </p:cNvPicPr>
          <p:nvPr/>
        </p:nvPicPr>
        <p:blipFill>
          <a:blip r:embed="rId3"/>
          <a:srcRect/>
          <a:stretch>
            <a:fillRect/>
          </a:stretch>
        </p:blipFill>
        <p:spPr>
          <a:xfrm>
            <a:off x="502920" y="1801368"/>
            <a:ext cx="11192256" cy="4315968"/>
          </a:xfrm>
          <a:prstGeom prst="rect">
            <a:avLst/>
          </a:prstGeom>
          <a:effectLst/>
        </p:spPr>
      </p:pic>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가중치 학습 생략 효과를 실제 준비 시간으로 평가 · 작은 context 범위의 측정값</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결과 해석 · 같은 버퍼에서도 남는 희소 공격 오류</a:t>
            </a:r>
          </a:p>
        </p:txBody>
      </p:sp>
      <p:sp>
        <p:nvSpPr>
          <p:cNvPr id="3" name="TextBox 2"/>
          <p:cNvSpPr txBox="1"/>
          <p:nvPr/>
        </p:nvSpPr>
        <p:spPr>
          <a:xfrm>
            <a:off x="566928" y="996696"/>
            <a:ext cx="10972800" cy="34747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1" lang="ko-KR">
                <a:solidFill>
                  <a:srgbClr val="00306C"/>
                </a:solidFill>
                <a:latin typeface="Pretendard"/>
                <a:ea typeface="Pretendard"/>
                <a:cs typeface="Pretendard"/>
              </a:rPr>
              <a:t>n = 100 · test에서 가장 희소한 공격 2종씩 · 3 seed 평균 ± 표준편차</a:t>
            </a:r>
          </a:p>
        </p:txBody>
      </p:sp>
      <p:pic>
        <p:nvPicPr>
          <p:cNvPr id="4" name="Picture 3" descr="tail.png"/>
          <p:cNvPicPr>
            <a:picLocks noChangeAspect="1"/>
          </p:cNvPicPr>
          <p:nvPr/>
        </p:nvPicPr>
        <p:blipFill>
          <a:blip r:embed="rId3"/>
          <a:srcRect/>
          <a:stretch>
            <a:fillRect/>
          </a:stretch>
        </p:blipFill>
        <p:spPr>
          <a:xfrm>
            <a:off x="502920" y="1508760"/>
            <a:ext cx="11192256" cy="4251960"/>
          </a:xfrm>
          <a:prstGeom prst="rect">
            <a:avLst/>
          </a:prstGeom>
          <a:effectLst/>
        </p:spPr>
      </p:pic>
      <p:sp>
        <p:nvSpPr>
          <p:cNvPr id="5" name="TextBox 4"/>
          <p:cNvSpPr txBox="1"/>
          <p:nvPr/>
        </p:nvSpPr>
        <p:spPr>
          <a:xfrm>
            <a:off x="594360" y="58795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650" b="0" lang="ko-KR">
                <a:solidFill>
                  <a:srgbClr val="617080"/>
                </a:solidFill>
                <a:latin typeface="Pretendard"/>
                <a:ea typeface="Pretendard"/>
                <a:cs typeface="Pretendard"/>
              </a:rPr>
              <a:t>ToN Ransomware · PFN 무작위 평균 재현율 96.7% / 정밀도 2.5% · 다음 분석: 오탐의 출처와 보정 효과</a:t>
            </a:r>
          </a:p>
        </p:txBody>
      </p:sp>
      <p:sp>
        <p:nvSpPr>
          <p:cNvPr id="6" name="Rectangle 5"/>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30352" y="6537960"/>
            <a:ext cx="8778240" cy="216560"/>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FFFFFF"/>
                </a:solidFill>
                <a:latin typeface="Pretendard"/>
                <a:ea typeface="Pretendard"/>
                <a:cs typeface="Pretendard"/>
              </a:rPr>
              <a:t>낮은 F1의 원인 분리 · 사례 삭제 효과와 모델의 오탐 문제를 구분해 개선</a:t>
            </a:r>
          </a:p>
        </p:txBody>
      </p:sp>
      <p:sp>
        <p:nvSpPr>
          <p:cNvPr id="8" name="TextBox 7"/>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04 결과</a:t>
            </a:r>
          </a:p>
        </p:txBody>
      </p:sp>
      <p:sp>
        <p:nvSpPr>
          <p:cNvPr id="9" name="TextBox 8"/>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CIC2018 클래스별 성능</a:t>
            </a:r>
          </a:p>
        </p:txBody>
      </p:sp>
      <p:sp>
        <p:nvSpPr>
          <p:cNvPr id="3" name="TextBox 2"/>
          <p:cNvSpPr txBox="1"/>
          <p:nvPr/>
        </p:nvSpPr>
        <p:spPr>
          <a:xfrm>
            <a:off x="566928" y="1024128"/>
            <a:ext cx="10972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617080"/>
                </a:solidFill>
                <a:latin typeface="Pretendard"/>
                <a:ea typeface="Pretendard"/>
                <a:cs typeface="Pretendard"/>
              </a:rPr>
              <a:t>n = 100 · 마지막 모델 전체 test · F1 (%)의 3 seed 평균 · 평가 표본 수 내림차순</a:t>
            </a:r>
          </a:p>
        </p:txBody>
      </p:sp>
      <p:sp>
        <p:nvSpPr>
          <p:cNvPr id="4" name="TextBox 3"/>
          <p:cNvSpPr txBox="1"/>
          <p:nvPr/>
        </p:nvSpPr>
        <p:spPr>
          <a:xfrm>
            <a:off x="3712463"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111111"/>
                </a:solidFill>
                <a:latin typeface="Pretendard"/>
                <a:ea typeface="Pretendard"/>
                <a:cs typeface="Pretendard"/>
              </a:rPr>
              <a:t>XGB 재학습</a:t>
            </a:r>
          </a:p>
        </p:txBody>
      </p:sp>
      <p:sp>
        <p:nvSpPr>
          <p:cNvPr id="5" name="TextBox 4"/>
          <p:cNvSpPr txBox="1"/>
          <p:nvPr/>
        </p:nvSpPr>
        <p:spPr>
          <a:xfrm>
            <a:off x="7589520"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007BC6"/>
                </a:solidFill>
                <a:latin typeface="Pretendard"/>
                <a:ea typeface="Pretendard"/>
                <a:cs typeface="Pretendard"/>
              </a:rPr>
              <a:t>PFN context 갱신</a:t>
            </a:r>
          </a:p>
        </p:txBody>
      </p:sp>
      <p:sp>
        <p:nvSpPr>
          <p:cNvPr id="6" name="Rectangle 5"/>
          <p:cNvSpPr/>
          <p:nvPr/>
        </p:nvSpPr>
        <p:spPr>
          <a:xfrm>
            <a:off x="566928" y="1965960"/>
            <a:ext cx="1865376"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8368" y="2057400"/>
            <a:ext cx="168249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클래스</a:t>
            </a:r>
          </a:p>
        </p:txBody>
      </p:sp>
      <p:sp>
        <p:nvSpPr>
          <p:cNvPr id="8" name="Rectangle 7"/>
          <p:cNvSpPr/>
          <p:nvPr/>
        </p:nvSpPr>
        <p:spPr>
          <a:xfrm>
            <a:off x="2432304" y="1965960"/>
            <a:ext cx="12801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523744" y="2057400"/>
            <a:ext cx="10972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test 수</a:t>
            </a:r>
          </a:p>
        </p:txBody>
      </p:sp>
      <p:sp>
        <p:nvSpPr>
          <p:cNvPr id="10" name="Rectangle 9"/>
          <p:cNvSpPr/>
          <p:nvPr/>
        </p:nvSpPr>
        <p:spPr>
          <a:xfrm>
            <a:off x="371246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80390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12" name="Rectangle 11"/>
          <p:cNvSpPr/>
          <p:nvPr/>
        </p:nvSpPr>
        <p:spPr>
          <a:xfrm>
            <a:off x="468172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7316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14" name="Rectangle 13"/>
          <p:cNvSpPr/>
          <p:nvPr/>
        </p:nvSpPr>
        <p:spPr>
          <a:xfrm>
            <a:off x="565099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4243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16" name="Rectangle 15"/>
          <p:cNvSpPr/>
          <p:nvPr/>
        </p:nvSpPr>
        <p:spPr>
          <a:xfrm>
            <a:off x="6620256"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11696"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18" name="Rectangle 17"/>
          <p:cNvSpPr/>
          <p:nvPr/>
        </p:nvSpPr>
        <p:spPr>
          <a:xfrm>
            <a:off x="7589520"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0"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20" name="Rectangle 19"/>
          <p:cNvSpPr/>
          <p:nvPr/>
        </p:nvSpPr>
        <p:spPr>
          <a:xfrm>
            <a:off x="855878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5022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22" name="Rectangle 21"/>
          <p:cNvSpPr/>
          <p:nvPr/>
        </p:nvSpPr>
        <p:spPr>
          <a:xfrm>
            <a:off x="952804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1948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24" name="Rectangle 23"/>
          <p:cNvSpPr/>
          <p:nvPr/>
        </p:nvSpPr>
        <p:spPr>
          <a:xfrm>
            <a:off x="1049731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58875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26" name="Rectangle 25"/>
          <p:cNvSpPr/>
          <p:nvPr/>
        </p:nvSpPr>
        <p:spPr>
          <a:xfrm>
            <a:off x="566928" y="241401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49631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p:txBody>
      </p:sp>
      <p:sp>
        <p:nvSpPr>
          <p:cNvPr id="28" name="TextBox 27"/>
          <p:cNvSpPr txBox="1"/>
          <p:nvPr/>
        </p:nvSpPr>
        <p:spPr>
          <a:xfrm>
            <a:off x="2523744" y="249631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2,652,203</a:t>
            </a:r>
          </a:p>
        </p:txBody>
      </p:sp>
      <p:sp>
        <p:nvSpPr>
          <p:cNvPr id="29" name="TextBox 28"/>
          <p:cNvSpPr txBox="1"/>
          <p:nvPr/>
        </p:nvSpPr>
        <p:spPr>
          <a:xfrm>
            <a:off x="380390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98.14</a:t>
            </a:r>
          </a:p>
        </p:txBody>
      </p:sp>
      <p:sp>
        <p:nvSpPr>
          <p:cNvPr id="30" name="TextBox 29"/>
          <p:cNvSpPr txBox="1"/>
          <p:nvPr/>
        </p:nvSpPr>
        <p:spPr>
          <a:xfrm>
            <a:off x="477316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96.74</a:t>
            </a:r>
          </a:p>
        </p:txBody>
      </p:sp>
      <p:sp>
        <p:nvSpPr>
          <p:cNvPr id="31" name="TextBox 30"/>
          <p:cNvSpPr txBox="1"/>
          <p:nvPr/>
        </p:nvSpPr>
        <p:spPr>
          <a:xfrm>
            <a:off x="574243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97.18</a:t>
            </a:r>
          </a:p>
        </p:txBody>
      </p:sp>
      <p:sp>
        <p:nvSpPr>
          <p:cNvPr id="32" name="TextBox 31"/>
          <p:cNvSpPr txBox="1"/>
          <p:nvPr/>
        </p:nvSpPr>
        <p:spPr>
          <a:xfrm>
            <a:off x="6711696"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91.96</a:t>
            </a:r>
          </a:p>
        </p:txBody>
      </p:sp>
      <p:sp>
        <p:nvSpPr>
          <p:cNvPr id="33" name="TextBox 32"/>
          <p:cNvSpPr txBox="1"/>
          <p:nvPr/>
        </p:nvSpPr>
        <p:spPr>
          <a:xfrm>
            <a:off x="7680960"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99.35</a:t>
            </a:r>
          </a:p>
        </p:txBody>
      </p:sp>
      <p:sp>
        <p:nvSpPr>
          <p:cNvPr id="34" name="TextBox 33"/>
          <p:cNvSpPr txBox="1"/>
          <p:nvPr/>
        </p:nvSpPr>
        <p:spPr>
          <a:xfrm>
            <a:off x="865022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98.98</a:t>
            </a:r>
          </a:p>
        </p:txBody>
      </p:sp>
      <p:sp>
        <p:nvSpPr>
          <p:cNvPr id="35" name="TextBox 34"/>
          <p:cNvSpPr txBox="1"/>
          <p:nvPr/>
        </p:nvSpPr>
        <p:spPr>
          <a:xfrm>
            <a:off x="961948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99.08</a:t>
            </a:r>
          </a:p>
        </p:txBody>
      </p:sp>
      <p:sp>
        <p:nvSpPr>
          <p:cNvPr id="36" name="TextBox 35"/>
          <p:cNvSpPr txBox="1"/>
          <p:nvPr/>
        </p:nvSpPr>
        <p:spPr>
          <a:xfrm>
            <a:off x="1058875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92.01</a:t>
            </a:r>
          </a:p>
        </p:txBody>
      </p:sp>
      <p:sp>
        <p:nvSpPr>
          <p:cNvPr id="37" name="Rectangle 36"/>
          <p:cNvSpPr/>
          <p:nvPr/>
        </p:nvSpPr>
        <p:spPr>
          <a:xfrm>
            <a:off x="566928" y="277977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286207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39" name="TextBox 38"/>
          <p:cNvSpPr txBox="1"/>
          <p:nvPr/>
        </p:nvSpPr>
        <p:spPr>
          <a:xfrm>
            <a:off x="2523744" y="286207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262,680</a:t>
            </a:r>
          </a:p>
        </p:txBody>
      </p:sp>
      <p:sp>
        <p:nvSpPr>
          <p:cNvPr id="40" name="TextBox 39"/>
          <p:cNvSpPr txBox="1"/>
          <p:nvPr/>
        </p:nvSpPr>
        <p:spPr>
          <a:xfrm>
            <a:off x="380390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99.44</a:t>
            </a:r>
          </a:p>
        </p:txBody>
      </p:sp>
      <p:sp>
        <p:nvSpPr>
          <p:cNvPr id="41" name="TextBox 40"/>
          <p:cNvSpPr txBox="1"/>
          <p:nvPr/>
        </p:nvSpPr>
        <p:spPr>
          <a:xfrm>
            <a:off x="477316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99.42</a:t>
            </a:r>
          </a:p>
        </p:txBody>
      </p:sp>
      <p:sp>
        <p:nvSpPr>
          <p:cNvPr id="42" name="TextBox 41"/>
          <p:cNvSpPr txBox="1"/>
          <p:nvPr/>
        </p:nvSpPr>
        <p:spPr>
          <a:xfrm>
            <a:off x="574243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99.23</a:t>
            </a:r>
          </a:p>
        </p:txBody>
      </p:sp>
      <p:sp>
        <p:nvSpPr>
          <p:cNvPr id="43" name="TextBox 42"/>
          <p:cNvSpPr txBox="1"/>
          <p:nvPr/>
        </p:nvSpPr>
        <p:spPr>
          <a:xfrm>
            <a:off x="6711696"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79.90</a:t>
            </a:r>
          </a:p>
        </p:txBody>
      </p:sp>
      <p:sp>
        <p:nvSpPr>
          <p:cNvPr id="44" name="TextBox 43"/>
          <p:cNvSpPr txBox="1"/>
          <p:nvPr/>
        </p:nvSpPr>
        <p:spPr>
          <a:xfrm>
            <a:off x="7680960"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99.90</a:t>
            </a:r>
          </a:p>
        </p:txBody>
      </p:sp>
      <p:sp>
        <p:nvSpPr>
          <p:cNvPr id="45" name="TextBox 44"/>
          <p:cNvSpPr txBox="1"/>
          <p:nvPr/>
        </p:nvSpPr>
        <p:spPr>
          <a:xfrm>
            <a:off x="865022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99.89</a:t>
            </a:r>
          </a:p>
        </p:txBody>
      </p:sp>
      <p:sp>
        <p:nvSpPr>
          <p:cNvPr id="46" name="TextBox 45"/>
          <p:cNvSpPr txBox="1"/>
          <p:nvPr/>
        </p:nvSpPr>
        <p:spPr>
          <a:xfrm>
            <a:off x="961948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99.89</a:t>
            </a:r>
          </a:p>
        </p:txBody>
      </p:sp>
      <p:sp>
        <p:nvSpPr>
          <p:cNvPr id="47" name="TextBox 46"/>
          <p:cNvSpPr txBox="1"/>
          <p:nvPr/>
        </p:nvSpPr>
        <p:spPr>
          <a:xfrm>
            <a:off x="1058875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97.68</a:t>
            </a:r>
          </a:p>
        </p:txBody>
      </p:sp>
      <p:sp>
        <p:nvSpPr>
          <p:cNvPr id="48" name="Rectangle 47"/>
          <p:cNvSpPr/>
          <p:nvPr/>
        </p:nvSpPr>
        <p:spPr>
          <a:xfrm>
            <a:off x="566928" y="314553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58368" y="322783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Bot</a:t>
            </a:r>
          </a:p>
        </p:txBody>
      </p:sp>
      <p:sp>
        <p:nvSpPr>
          <p:cNvPr id="50" name="TextBox 49"/>
          <p:cNvSpPr txBox="1"/>
          <p:nvPr/>
        </p:nvSpPr>
        <p:spPr>
          <a:xfrm>
            <a:off x="2523744" y="322783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41,542</a:t>
            </a:r>
          </a:p>
        </p:txBody>
      </p:sp>
      <p:sp>
        <p:nvSpPr>
          <p:cNvPr id="51" name="TextBox 50"/>
          <p:cNvSpPr txBox="1"/>
          <p:nvPr/>
        </p:nvSpPr>
        <p:spPr>
          <a:xfrm>
            <a:off x="380390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97.63</a:t>
            </a:r>
          </a:p>
        </p:txBody>
      </p:sp>
      <p:sp>
        <p:nvSpPr>
          <p:cNvPr id="52" name="TextBox 51"/>
          <p:cNvSpPr txBox="1"/>
          <p:nvPr/>
        </p:nvSpPr>
        <p:spPr>
          <a:xfrm>
            <a:off x="477316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97.58</a:t>
            </a:r>
          </a:p>
        </p:txBody>
      </p:sp>
      <p:sp>
        <p:nvSpPr>
          <p:cNvPr id="53" name="TextBox 52"/>
          <p:cNvSpPr txBox="1"/>
          <p:nvPr/>
        </p:nvSpPr>
        <p:spPr>
          <a:xfrm>
            <a:off x="574243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97.68</a:t>
            </a:r>
          </a:p>
        </p:txBody>
      </p:sp>
      <p:sp>
        <p:nvSpPr>
          <p:cNvPr id="54" name="TextBox 53"/>
          <p:cNvSpPr txBox="1"/>
          <p:nvPr/>
        </p:nvSpPr>
        <p:spPr>
          <a:xfrm>
            <a:off x="6711696"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72.06</a:t>
            </a:r>
          </a:p>
        </p:txBody>
      </p:sp>
      <p:sp>
        <p:nvSpPr>
          <p:cNvPr id="55" name="TextBox 54"/>
          <p:cNvSpPr txBox="1"/>
          <p:nvPr/>
        </p:nvSpPr>
        <p:spPr>
          <a:xfrm>
            <a:off x="7680960"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99.24</a:t>
            </a:r>
          </a:p>
        </p:txBody>
      </p:sp>
      <p:sp>
        <p:nvSpPr>
          <p:cNvPr id="56" name="TextBox 55"/>
          <p:cNvSpPr txBox="1"/>
          <p:nvPr/>
        </p:nvSpPr>
        <p:spPr>
          <a:xfrm>
            <a:off x="865022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99.34</a:t>
            </a:r>
          </a:p>
        </p:txBody>
      </p:sp>
      <p:sp>
        <p:nvSpPr>
          <p:cNvPr id="57" name="TextBox 56"/>
          <p:cNvSpPr txBox="1"/>
          <p:nvPr/>
        </p:nvSpPr>
        <p:spPr>
          <a:xfrm>
            <a:off x="961948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99.19</a:t>
            </a:r>
          </a:p>
        </p:txBody>
      </p:sp>
      <p:sp>
        <p:nvSpPr>
          <p:cNvPr id="58" name="TextBox 57"/>
          <p:cNvSpPr txBox="1"/>
          <p:nvPr/>
        </p:nvSpPr>
        <p:spPr>
          <a:xfrm>
            <a:off x="1058875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95.15</a:t>
            </a:r>
          </a:p>
        </p:txBody>
      </p:sp>
      <p:sp>
        <p:nvSpPr>
          <p:cNvPr id="59" name="Rectangle 58"/>
          <p:cNvSpPr/>
          <p:nvPr/>
        </p:nvSpPr>
        <p:spPr>
          <a:xfrm>
            <a:off x="566928" y="351129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58368" y="359359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61" name="TextBox 60"/>
          <p:cNvSpPr txBox="1"/>
          <p:nvPr/>
        </p:nvSpPr>
        <p:spPr>
          <a:xfrm>
            <a:off x="2523744" y="359359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39,483</a:t>
            </a:r>
          </a:p>
        </p:txBody>
      </p:sp>
      <p:sp>
        <p:nvSpPr>
          <p:cNvPr id="62" name="TextBox 61"/>
          <p:cNvSpPr txBox="1"/>
          <p:nvPr/>
        </p:nvSpPr>
        <p:spPr>
          <a:xfrm>
            <a:off x="380390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98.92</a:t>
            </a:r>
          </a:p>
        </p:txBody>
      </p:sp>
      <p:sp>
        <p:nvSpPr>
          <p:cNvPr id="63" name="TextBox 62"/>
          <p:cNvSpPr txBox="1"/>
          <p:nvPr/>
        </p:nvSpPr>
        <p:spPr>
          <a:xfrm>
            <a:off x="477316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98.84</a:t>
            </a:r>
          </a:p>
        </p:txBody>
      </p:sp>
      <p:sp>
        <p:nvSpPr>
          <p:cNvPr id="64" name="TextBox 63"/>
          <p:cNvSpPr txBox="1"/>
          <p:nvPr/>
        </p:nvSpPr>
        <p:spPr>
          <a:xfrm>
            <a:off x="574243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98.89</a:t>
            </a:r>
          </a:p>
        </p:txBody>
      </p:sp>
      <p:sp>
        <p:nvSpPr>
          <p:cNvPr id="65" name="TextBox 64"/>
          <p:cNvSpPr txBox="1"/>
          <p:nvPr/>
        </p:nvSpPr>
        <p:spPr>
          <a:xfrm>
            <a:off x="6711696"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98.97</a:t>
            </a:r>
          </a:p>
        </p:txBody>
      </p:sp>
      <p:sp>
        <p:nvSpPr>
          <p:cNvPr id="66" name="TextBox 65"/>
          <p:cNvSpPr txBox="1"/>
          <p:nvPr/>
        </p:nvSpPr>
        <p:spPr>
          <a:xfrm>
            <a:off x="7680960"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98.96</a:t>
            </a:r>
          </a:p>
        </p:txBody>
      </p:sp>
      <p:sp>
        <p:nvSpPr>
          <p:cNvPr id="67" name="TextBox 66"/>
          <p:cNvSpPr txBox="1"/>
          <p:nvPr/>
        </p:nvSpPr>
        <p:spPr>
          <a:xfrm>
            <a:off x="865022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98.60</a:t>
            </a:r>
          </a:p>
        </p:txBody>
      </p:sp>
      <p:sp>
        <p:nvSpPr>
          <p:cNvPr id="68" name="TextBox 67"/>
          <p:cNvSpPr txBox="1"/>
          <p:nvPr/>
        </p:nvSpPr>
        <p:spPr>
          <a:xfrm>
            <a:off x="961948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98.40</a:t>
            </a:r>
          </a:p>
        </p:txBody>
      </p:sp>
      <p:sp>
        <p:nvSpPr>
          <p:cNvPr id="69" name="TextBox 68"/>
          <p:cNvSpPr txBox="1"/>
          <p:nvPr/>
        </p:nvSpPr>
        <p:spPr>
          <a:xfrm>
            <a:off x="1058875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97.23</a:t>
            </a:r>
          </a:p>
        </p:txBody>
      </p:sp>
      <p:sp>
        <p:nvSpPr>
          <p:cNvPr id="70" name="Rectangle 69"/>
          <p:cNvSpPr/>
          <p:nvPr/>
        </p:nvSpPr>
        <p:spPr>
          <a:xfrm>
            <a:off x="566928" y="387705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8368" y="395935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Brute force</a:t>
            </a:r>
          </a:p>
        </p:txBody>
      </p:sp>
      <p:sp>
        <p:nvSpPr>
          <p:cNvPr id="72" name="TextBox 71"/>
          <p:cNvSpPr txBox="1"/>
          <p:nvPr/>
        </p:nvSpPr>
        <p:spPr>
          <a:xfrm>
            <a:off x="2523744" y="395935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37,696</a:t>
            </a:r>
          </a:p>
        </p:txBody>
      </p:sp>
      <p:sp>
        <p:nvSpPr>
          <p:cNvPr id="73" name="TextBox 72"/>
          <p:cNvSpPr txBox="1"/>
          <p:nvPr/>
        </p:nvSpPr>
        <p:spPr>
          <a:xfrm>
            <a:off x="380390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99.93</a:t>
            </a:r>
          </a:p>
        </p:txBody>
      </p:sp>
      <p:sp>
        <p:nvSpPr>
          <p:cNvPr id="74" name="TextBox 73"/>
          <p:cNvSpPr txBox="1"/>
          <p:nvPr/>
        </p:nvSpPr>
        <p:spPr>
          <a:xfrm>
            <a:off x="477316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97.53</a:t>
            </a:r>
          </a:p>
        </p:txBody>
      </p:sp>
      <p:sp>
        <p:nvSpPr>
          <p:cNvPr id="75" name="TextBox 74"/>
          <p:cNvSpPr txBox="1"/>
          <p:nvPr/>
        </p:nvSpPr>
        <p:spPr>
          <a:xfrm>
            <a:off x="574243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99.93</a:t>
            </a:r>
          </a:p>
        </p:txBody>
      </p:sp>
      <p:sp>
        <p:nvSpPr>
          <p:cNvPr id="76" name="TextBox 75"/>
          <p:cNvSpPr txBox="1"/>
          <p:nvPr/>
        </p:nvSpPr>
        <p:spPr>
          <a:xfrm>
            <a:off x="6711696"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99.94</a:t>
            </a:r>
          </a:p>
        </p:txBody>
      </p:sp>
      <p:sp>
        <p:nvSpPr>
          <p:cNvPr id="77" name="TextBox 76"/>
          <p:cNvSpPr txBox="1"/>
          <p:nvPr/>
        </p:nvSpPr>
        <p:spPr>
          <a:xfrm>
            <a:off x="7680960"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78" name="TextBox 77"/>
          <p:cNvSpPr txBox="1"/>
          <p:nvPr/>
        </p:nvSpPr>
        <p:spPr>
          <a:xfrm>
            <a:off x="865022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79" name="TextBox 78"/>
          <p:cNvSpPr txBox="1"/>
          <p:nvPr/>
        </p:nvSpPr>
        <p:spPr>
          <a:xfrm>
            <a:off x="961948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80" name="TextBox 79"/>
          <p:cNvSpPr txBox="1"/>
          <p:nvPr/>
        </p:nvSpPr>
        <p:spPr>
          <a:xfrm>
            <a:off x="1058875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99.97</a:t>
            </a:r>
          </a:p>
        </p:txBody>
      </p:sp>
      <p:sp>
        <p:nvSpPr>
          <p:cNvPr id="81" name="Rectangle 80"/>
          <p:cNvSpPr/>
          <p:nvPr/>
        </p:nvSpPr>
        <p:spPr>
          <a:xfrm>
            <a:off x="566928" y="424281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58368" y="432511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Infiltration</a:t>
            </a:r>
          </a:p>
        </p:txBody>
      </p:sp>
      <p:sp>
        <p:nvSpPr>
          <p:cNvPr id="83" name="TextBox 82"/>
          <p:cNvSpPr txBox="1"/>
          <p:nvPr/>
        </p:nvSpPr>
        <p:spPr>
          <a:xfrm>
            <a:off x="2523744" y="432511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8,742</a:t>
            </a:r>
          </a:p>
        </p:txBody>
      </p:sp>
      <p:sp>
        <p:nvSpPr>
          <p:cNvPr id="84" name="TextBox 83"/>
          <p:cNvSpPr txBox="1"/>
          <p:nvPr/>
        </p:nvSpPr>
        <p:spPr>
          <a:xfrm>
            <a:off x="380390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6.14</a:t>
            </a:r>
          </a:p>
        </p:txBody>
      </p:sp>
      <p:sp>
        <p:nvSpPr>
          <p:cNvPr id="85" name="TextBox 84"/>
          <p:cNvSpPr txBox="1"/>
          <p:nvPr/>
        </p:nvSpPr>
        <p:spPr>
          <a:xfrm>
            <a:off x="477316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4.32</a:t>
            </a:r>
          </a:p>
        </p:txBody>
      </p:sp>
      <p:sp>
        <p:nvSpPr>
          <p:cNvPr id="86" name="TextBox 85"/>
          <p:cNvSpPr txBox="1"/>
          <p:nvPr/>
        </p:nvSpPr>
        <p:spPr>
          <a:xfrm>
            <a:off x="574243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4.61</a:t>
            </a:r>
          </a:p>
        </p:txBody>
      </p:sp>
      <p:sp>
        <p:nvSpPr>
          <p:cNvPr id="87" name="TextBox 86"/>
          <p:cNvSpPr txBox="1"/>
          <p:nvPr/>
        </p:nvSpPr>
        <p:spPr>
          <a:xfrm>
            <a:off x="6711696"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2.29</a:t>
            </a:r>
          </a:p>
        </p:txBody>
      </p:sp>
      <p:sp>
        <p:nvSpPr>
          <p:cNvPr id="88" name="TextBox 87"/>
          <p:cNvSpPr txBox="1"/>
          <p:nvPr/>
        </p:nvSpPr>
        <p:spPr>
          <a:xfrm>
            <a:off x="7680960"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11.56</a:t>
            </a:r>
          </a:p>
        </p:txBody>
      </p:sp>
      <p:sp>
        <p:nvSpPr>
          <p:cNvPr id="89" name="TextBox 88"/>
          <p:cNvSpPr txBox="1"/>
          <p:nvPr/>
        </p:nvSpPr>
        <p:spPr>
          <a:xfrm>
            <a:off x="865022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6.41</a:t>
            </a:r>
          </a:p>
        </p:txBody>
      </p:sp>
      <p:sp>
        <p:nvSpPr>
          <p:cNvPr id="90" name="TextBox 89"/>
          <p:cNvSpPr txBox="1"/>
          <p:nvPr/>
        </p:nvSpPr>
        <p:spPr>
          <a:xfrm>
            <a:off x="961948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6.66</a:t>
            </a:r>
          </a:p>
        </p:txBody>
      </p:sp>
      <p:sp>
        <p:nvSpPr>
          <p:cNvPr id="91" name="TextBox 90"/>
          <p:cNvSpPr txBox="1"/>
          <p:nvPr/>
        </p:nvSpPr>
        <p:spPr>
          <a:xfrm>
            <a:off x="1058875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2.50</a:t>
            </a:r>
          </a:p>
        </p:txBody>
      </p:sp>
      <p:sp>
        <p:nvSpPr>
          <p:cNvPr id="92" name="Rectangle 91"/>
          <p:cNvSpPr/>
          <p:nvPr/>
        </p:nvSpPr>
        <p:spPr>
          <a:xfrm>
            <a:off x="566928" y="460857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58368" y="469087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Web attacks</a:t>
            </a:r>
          </a:p>
        </p:txBody>
      </p:sp>
      <p:sp>
        <p:nvSpPr>
          <p:cNvPr id="94" name="TextBox 93"/>
          <p:cNvSpPr txBox="1"/>
          <p:nvPr/>
        </p:nvSpPr>
        <p:spPr>
          <a:xfrm>
            <a:off x="2523744" y="469087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127</a:t>
            </a:r>
          </a:p>
        </p:txBody>
      </p:sp>
      <p:sp>
        <p:nvSpPr>
          <p:cNvPr id="95" name="TextBox 94"/>
          <p:cNvSpPr txBox="1"/>
          <p:nvPr/>
        </p:nvSpPr>
        <p:spPr>
          <a:xfrm>
            <a:off x="380390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3.74</a:t>
            </a:r>
          </a:p>
        </p:txBody>
      </p:sp>
      <p:sp>
        <p:nvSpPr>
          <p:cNvPr id="96" name="TextBox 95"/>
          <p:cNvSpPr txBox="1"/>
          <p:nvPr/>
        </p:nvSpPr>
        <p:spPr>
          <a:xfrm>
            <a:off x="477316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2.20</a:t>
            </a:r>
          </a:p>
        </p:txBody>
      </p:sp>
      <p:sp>
        <p:nvSpPr>
          <p:cNvPr id="97" name="TextBox 96"/>
          <p:cNvSpPr txBox="1"/>
          <p:nvPr/>
        </p:nvSpPr>
        <p:spPr>
          <a:xfrm>
            <a:off x="574243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2.61</a:t>
            </a:r>
          </a:p>
        </p:txBody>
      </p:sp>
      <p:sp>
        <p:nvSpPr>
          <p:cNvPr id="98" name="TextBox 97"/>
          <p:cNvSpPr txBox="1"/>
          <p:nvPr/>
        </p:nvSpPr>
        <p:spPr>
          <a:xfrm>
            <a:off x="6711696"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1.03</a:t>
            </a:r>
          </a:p>
        </p:txBody>
      </p:sp>
      <p:sp>
        <p:nvSpPr>
          <p:cNvPr id="99" name="TextBox 98"/>
          <p:cNvSpPr txBox="1"/>
          <p:nvPr/>
        </p:nvSpPr>
        <p:spPr>
          <a:xfrm>
            <a:off x="7680960"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2.21</a:t>
            </a:r>
          </a:p>
        </p:txBody>
      </p:sp>
      <p:sp>
        <p:nvSpPr>
          <p:cNvPr id="100" name="TextBox 99"/>
          <p:cNvSpPr txBox="1"/>
          <p:nvPr/>
        </p:nvSpPr>
        <p:spPr>
          <a:xfrm>
            <a:off x="865022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2.09</a:t>
            </a:r>
          </a:p>
        </p:txBody>
      </p:sp>
      <p:sp>
        <p:nvSpPr>
          <p:cNvPr id="101" name="TextBox 100"/>
          <p:cNvSpPr txBox="1"/>
          <p:nvPr/>
        </p:nvSpPr>
        <p:spPr>
          <a:xfrm>
            <a:off x="961948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1.88</a:t>
            </a:r>
          </a:p>
        </p:txBody>
      </p:sp>
      <p:sp>
        <p:nvSpPr>
          <p:cNvPr id="102" name="TextBox 101"/>
          <p:cNvSpPr txBox="1"/>
          <p:nvPr/>
        </p:nvSpPr>
        <p:spPr>
          <a:xfrm>
            <a:off x="1058875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1.10</a:t>
            </a:r>
          </a:p>
        </p:txBody>
      </p:sp>
      <p:sp>
        <p:nvSpPr>
          <p:cNvPr id="103" name="TextBox 102"/>
          <p:cNvSpPr txBox="1"/>
          <p:nvPr/>
        </p:nvSpPr>
        <p:spPr>
          <a:xfrm>
            <a:off x="594360" y="61081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같은 정책·같은 seed에서 XGB/PFN의 행 ID 일치 · 전체 n의 수치와 표준편차는 실험 보고서에 수록</a:t>
            </a:r>
          </a:p>
        </p:txBody>
      </p:sp>
      <p:sp>
        <p:nvSpPr>
          <p:cNvPr id="104" name="Rectangle 103"/>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TextBox 104"/>
          <p:cNvSpPr txBox="1"/>
          <p:nvPr/>
        </p:nvSpPr>
        <p:spPr>
          <a:xfrm>
            <a:off x="530352" y="6537960"/>
            <a:ext cx="8778240" cy="201168"/>
          </a:xfrm>
          <a:prstGeom prst="rect">
            <a:avLst/>
          </a:prstGeom>
          <a:noFill/>
          <a:effectLst/>
        </p:spPr>
        <p:txBody>
          <a:bodyPr wrap="none" anchor="t" lIns="0" rIns="0" tIns="0" bIns="0">
            <a:noAutofit/>
          </a:bodyPr>
          <a:lstStyle/>
          <a:p/>
        </p:txBody>
      </p:sp>
      <p:sp>
        <p:nvSpPr>
          <p:cNvPr id="106" name="TextBox 105"/>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07" name="TextBox 106"/>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ToN-IoT 클래스별 성능</a:t>
            </a:r>
          </a:p>
        </p:txBody>
      </p:sp>
      <p:sp>
        <p:nvSpPr>
          <p:cNvPr id="3" name="TextBox 2"/>
          <p:cNvSpPr txBox="1"/>
          <p:nvPr/>
        </p:nvSpPr>
        <p:spPr>
          <a:xfrm>
            <a:off x="566928" y="1024128"/>
            <a:ext cx="10972800" cy="278434"/>
          </a:xfrm>
          <a:prstGeom prst="rect">
            <a:avLst/>
          </a:prstGeom>
          <a:noFill/>
          <a:effectLst/>
        </p:spPr>
        <p:txBody>
          <a:bodyPr wrap="none" anchor="t" lIns="0" rIns="0" tIns="0" bIns="0">
            <a:noAutofit/>
          </a:bodyPr>
          <a:lstStyle/>
          <a:p>
            <a:pPr algn="l">
              <a:lnSpc>
                <a:spcPct val="116000"/>
              </a:lnSpc>
              <a:spcBef>
                <a:spcPts val="0"/>
              </a:spcBef>
              <a:spcAft>
                <a:spcPts val="0"/>
              </a:spcAft>
            </a:pPr>
            <a:r>
              <a:rPr sz="1800" b="0" lang="ko-KR">
                <a:solidFill>
                  <a:srgbClr val="617080"/>
                </a:solidFill>
                <a:latin typeface="Pretendard"/>
                <a:ea typeface="Pretendard"/>
                <a:cs typeface="Pretendard"/>
              </a:rPr>
              <a:t>n = 100 · 마지막 모델 전체 test · F1 (%)의 3 seed 평균 · 평가 표본 수 내림차순</a:t>
            </a:r>
          </a:p>
        </p:txBody>
      </p:sp>
      <p:sp>
        <p:nvSpPr>
          <p:cNvPr id="4" name="TextBox 3"/>
          <p:cNvSpPr txBox="1"/>
          <p:nvPr/>
        </p:nvSpPr>
        <p:spPr>
          <a:xfrm>
            <a:off x="3712463"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111111"/>
                </a:solidFill>
                <a:latin typeface="Pretendard"/>
                <a:ea typeface="Pretendard"/>
                <a:cs typeface="Pretendard"/>
              </a:rPr>
              <a:t>XGB 재학습</a:t>
            </a:r>
          </a:p>
        </p:txBody>
      </p:sp>
      <p:sp>
        <p:nvSpPr>
          <p:cNvPr id="5" name="TextBox 4"/>
          <p:cNvSpPr txBox="1"/>
          <p:nvPr/>
        </p:nvSpPr>
        <p:spPr>
          <a:xfrm>
            <a:off x="7589520" y="1508760"/>
            <a:ext cx="3877056" cy="309372"/>
          </a:xfrm>
          <a:prstGeom prst="rect">
            <a:avLst/>
          </a:prstGeom>
          <a:noFill/>
          <a:effectLst/>
        </p:spPr>
        <p:txBody>
          <a:bodyPr wrap="none" anchor="t" lIns="0" rIns="0" tIns="0" bIns="0">
            <a:noAutofit/>
          </a:bodyPr>
          <a:lstStyle/>
          <a:p>
            <a:pPr algn="ctr">
              <a:lnSpc>
                <a:spcPct val="116000"/>
              </a:lnSpc>
              <a:spcBef>
                <a:spcPts val="0"/>
              </a:spcBef>
              <a:spcAft>
                <a:spcPts val="0"/>
              </a:spcAft>
            </a:pPr>
            <a:r>
              <a:rPr sz="2000" b="1" lang="ko-KR">
                <a:solidFill>
                  <a:srgbClr val="007BC6"/>
                </a:solidFill>
                <a:latin typeface="Pretendard"/>
                <a:ea typeface="Pretendard"/>
                <a:cs typeface="Pretendard"/>
              </a:rPr>
              <a:t>PFN context 갱신</a:t>
            </a:r>
          </a:p>
        </p:txBody>
      </p:sp>
      <p:sp>
        <p:nvSpPr>
          <p:cNvPr id="6" name="Rectangle 5"/>
          <p:cNvSpPr/>
          <p:nvPr/>
        </p:nvSpPr>
        <p:spPr>
          <a:xfrm>
            <a:off x="566928" y="1965960"/>
            <a:ext cx="1865376"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58368" y="2057400"/>
            <a:ext cx="1682496"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클래스</a:t>
            </a:r>
          </a:p>
        </p:txBody>
      </p:sp>
      <p:sp>
        <p:nvSpPr>
          <p:cNvPr id="8" name="Rectangle 7"/>
          <p:cNvSpPr/>
          <p:nvPr/>
        </p:nvSpPr>
        <p:spPr>
          <a:xfrm>
            <a:off x="2432304" y="1965960"/>
            <a:ext cx="1280160"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523744" y="2057400"/>
            <a:ext cx="109728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400" b="1" lang="ko-KR">
                <a:solidFill>
                  <a:srgbClr val="FFFFFF"/>
                </a:solidFill>
                <a:latin typeface="Pretendard"/>
                <a:ea typeface="Pretendard"/>
                <a:cs typeface="Pretendard"/>
              </a:rPr>
              <a:t>test 수</a:t>
            </a:r>
          </a:p>
        </p:txBody>
      </p:sp>
      <p:sp>
        <p:nvSpPr>
          <p:cNvPr id="10" name="Rectangle 9"/>
          <p:cNvSpPr/>
          <p:nvPr/>
        </p:nvSpPr>
        <p:spPr>
          <a:xfrm>
            <a:off x="371246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80390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12" name="Rectangle 11"/>
          <p:cNvSpPr/>
          <p:nvPr/>
        </p:nvSpPr>
        <p:spPr>
          <a:xfrm>
            <a:off x="468172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77316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14" name="Rectangle 13"/>
          <p:cNvSpPr/>
          <p:nvPr/>
        </p:nvSpPr>
        <p:spPr>
          <a:xfrm>
            <a:off x="565099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4243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16" name="Rectangle 15"/>
          <p:cNvSpPr/>
          <p:nvPr/>
        </p:nvSpPr>
        <p:spPr>
          <a:xfrm>
            <a:off x="6620256"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11696"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18" name="Rectangle 17"/>
          <p:cNvSpPr/>
          <p:nvPr/>
        </p:nvSpPr>
        <p:spPr>
          <a:xfrm>
            <a:off x="7589520"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680960"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누적</a:t>
            </a:r>
          </a:p>
        </p:txBody>
      </p:sp>
      <p:sp>
        <p:nvSpPr>
          <p:cNvPr id="20" name="Rectangle 19"/>
          <p:cNvSpPr/>
          <p:nvPr/>
        </p:nvSpPr>
        <p:spPr>
          <a:xfrm>
            <a:off x="8558784"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50224"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FIFO</a:t>
            </a:r>
          </a:p>
        </p:txBody>
      </p:sp>
      <p:sp>
        <p:nvSpPr>
          <p:cNvPr id="22" name="Rectangle 21"/>
          <p:cNvSpPr/>
          <p:nvPr/>
        </p:nvSpPr>
        <p:spPr>
          <a:xfrm>
            <a:off x="9528048"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619488"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무작위</a:t>
            </a:r>
          </a:p>
        </p:txBody>
      </p:sp>
      <p:sp>
        <p:nvSpPr>
          <p:cNvPr id="24" name="Rectangle 23"/>
          <p:cNvSpPr/>
          <p:nvPr/>
        </p:nvSpPr>
        <p:spPr>
          <a:xfrm>
            <a:off x="10497312" y="1965960"/>
            <a:ext cx="969264" cy="44805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588752" y="2057400"/>
            <a:ext cx="786384" cy="265176"/>
          </a:xfrm>
          <a:prstGeom prst="rect">
            <a:avLst/>
          </a:prstGeom>
          <a:noFill/>
          <a:effectLst/>
        </p:spPr>
        <p:txBody>
          <a:bodyPr wrap="none" anchor="t" lIns="0" rIns="0" tIns="0" bIns="0">
            <a:noAutofit/>
          </a:bodyPr>
          <a:lstStyle/>
          <a:p>
            <a:pPr algn="r">
              <a:lnSpc>
                <a:spcPct val="116000"/>
              </a:lnSpc>
              <a:spcBef>
                <a:spcPts val="0"/>
              </a:spcBef>
              <a:spcAft>
                <a:spcPts val="0"/>
              </a:spcAft>
            </a:pPr>
            <a:r>
              <a:rPr sz="1400" b="1" lang="ko-KR">
                <a:solidFill>
                  <a:srgbClr val="FFFFFF"/>
                </a:solidFill>
                <a:latin typeface="Pretendard"/>
                <a:ea typeface="Pretendard"/>
                <a:cs typeface="Pretendard"/>
              </a:rPr>
              <a:t>유사도</a:t>
            </a:r>
          </a:p>
        </p:txBody>
      </p:sp>
      <p:sp>
        <p:nvSpPr>
          <p:cNvPr id="26" name="Rectangle 25"/>
          <p:cNvSpPr/>
          <p:nvPr/>
        </p:nvSpPr>
        <p:spPr>
          <a:xfrm>
            <a:off x="566928" y="241401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8368" y="249631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Benign</a:t>
            </a:r>
          </a:p>
        </p:txBody>
      </p:sp>
      <p:sp>
        <p:nvSpPr>
          <p:cNvPr id="28" name="TextBox 27"/>
          <p:cNvSpPr txBox="1"/>
          <p:nvPr/>
        </p:nvSpPr>
        <p:spPr>
          <a:xfrm>
            <a:off x="2523744" y="249631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1,474,302</a:t>
            </a:r>
          </a:p>
        </p:txBody>
      </p:sp>
      <p:sp>
        <p:nvSpPr>
          <p:cNvPr id="29" name="TextBox 28"/>
          <p:cNvSpPr txBox="1"/>
          <p:nvPr/>
        </p:nvSpPr>
        <p:spPr>
          <a:xfrm>
            <a:off x="380390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91.98</a:t>
            </a:r>
          </a:p>
        </p:txBody>
      </p:sp>
      <p:sp>
        <p:nvSpPr>
          <p:cNvPr id="30" name="TextBox 29"/>
          <p:cNvSpPr txBox="1"/>
          <p:nvPr/>
        </p:nvSpPr>
        <p:spPr>
          <a:xfrm>
            <a:off x="477316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85.87</a:t>
            </a:r>
          </a:p>
        </p:txBody>
      </p:sp>
      <p:sp>
        <p:nvSpPr>
          <p:cNvPr id="31" name="TextBox 30"/>
          <p:cNvSpPr txBox="1"/>
          <p:nvPr/>
        </p:nvSpPr>
        <p:spPr>
          <a:xfrm>
            <a:off x="574243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90.77</a:t>
            </a:r>
          </a:p>
        </p:txBody>
      </p:sp>
      <p:sp>
        <p:nvSpPr>
          <p:cNvPr id="32" name="TextBox 31"/>
          <p:cNvSpPr txBox="1"/>
          <p:nvPr/>
        </p:nvSpPr>
        <p:spPr>
          <a:xfrm>
            <a:off x="6711696"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87.48</a:t>
            </a:r>
          </a:p>
        </p:txBody>
      </p:sp>
      <p:sp>
        <p:nvSpPr>
          <p:cNvPr id="33" name="TextBox 32"/>
          <p:cNvSpPr txBox="1"/>
          <p:nvPr/>
        </p:nvSpPr>
        <p:spPr>
          <a:xfrm>
            <a:off x="7680960"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90.69</a:t>
            </a:r>
          </a:p>
        </p:txBody>
      </p:sp>
      <p:sp>
        <p:nvSpPr>
          <p:cNvPr id="34" name="TextBox 33"/>
          <p:cNvSpPr txBox="1"/>
          <p:nvPr/>
        </p:nvSpPr>
        <p:spPr>
          <a:xfrm>
            <a:off x="8650224"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89.24</a:t>
            </a:r>
          </a:p>
        </p:txBody>
      </p:sp>
      <p:sp>
        <p:nvSpPr>
          <p:cNvPr id="35" name="TextBox 34"/>
          <p:cNvSpPr txBox="1"/>
          <p:nvPr/>
        </p:nvSpPr>
        <p:spPr>
          <a:xfrm>
            <a:off x="9619488"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90.81</a:t>
            </a:r>
          </a:p>
        </p:txBody>
      </p:sp>
      <p:sp>
        <p:nvSpPr>
          <p:cNvPr id="36" name="TextBox 35"/>
          <p:cNvSpPr txBox="1"/>
          <p:nvPr/>
        </p:nvSpPr>
        <p:spPr>
          <a:xfrm>
            <a:off x="10588752" y="249631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70.44</a:t>
            </a:r>
          </a:p>
        </p:txBody>
      </p:sp>
      <p:sp>
        <p:nvSpPr>
          <p:cNvPr id="37" name="Rectangle 36"/>
          <p:cNvSpPr/>
          <p:nvPr/>
        </p:nvSpPr>
        <p:spPr>
          <a:xfrm>
            <a:off x="566928" y="277977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286207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XSS</a:t>
            </a:r>
          </a:p>
        </p:txBody>
      </p:sp>
      <p:sp>
        <p:nvSpPr>
          <p:cNvPr id="39" name="TextBox 38"/>
          <p:cNvSpPr txBox="1"/>
          <p:nvPr/>
        </p:nvSpPr>
        <p:spPr>
          <a:xfrm>
            <a:off x="2523744" y="286207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343,854</a:t>
            </a:r>
          </a:p>
        </p:txBody>
      </p:sp>
      <p:sp>
        <p:nvSpPr>
          <p:cNvPr id="40" name="TextBox 39"/>
          <p:cNvSpPr txBox="1"/>
          <p:nvPr/>
        </p:nvSpPr>
        <p:spPr>
          <a:xfrm>
            <a:off x="380390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83.77</a:t>
            </a:r>
          </a:p>
        </p:txBody>
      </p:sp>
      <p:sp>
        <p:nvSpPr>
          <p:cNvPr id="41" name="TextBox 40"/>
          <p:cNvSpPr txBox="1"/>
          <p:nvPr/>
        </p:nvSpPr>
        <p:spPr>
          <a:xfrm>
            <a:off x="477316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82.88</a:t>
            </a:r>
          </a:p>
        </p:txBody>
      </p:sp>
      <p:sp>
        <p:nvSpPr>
          <p:cNvPr id="42" name="TextBox 41"/>
          <p:cNvSpPr txBox="1"/>
          <p:nvPr/>
        </p:nvSpPr>
        <p:spPr>
          <a:xfrm>
            <a:off x="574243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83.12</a:t>
            </a:r>
          </a:p>
        </p:txBody>
      </p:sp>
      <p:sp>
        <p:nvSpPr>
          <p:cNvPr id="43" name="TextBox 42"/>
          <p:cNvSpPr txBox="1"/>
          <p:nvPr/>
        </p:nvSpPr>
        <p:spPr>
          <a:xfrm>
            <a:off x="6711696"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77.69</a:t>
            </a:r>
          </a:p>
        </p:txBody>
      </p:sp>
      <p:sp>
        <p:nvSpPr>
          <p:cNvPr id="44" name="TextBox 43"/>
          <p:cNvSpPr txBox="1"/>
          <p:nvPr/>
        </p:nvSpPr>
        <p:spPr>
          <a:xfrm>
            <a:off x="7680960"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83.44</a:t>
            </a:r>
          </a:p>
        </p:txBody>
      </p:sp>
      <p:sp>
        <p:nvSpPr>
          <p:cNvPr id="45" name="TextBox 44"/>
          <p:cNvSpPr txBox="1"/>
          <p:nvPr/>
        </p:nvSpPr>
        <p:spPr>
          <a:xfrm>
            <a:off x="8650224"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84.89</a:t>
            </a:r>
          </a:p>
        </p:txBody>
      </p:sp>
      <p:sp>
        <p:nvSpPr>
          <p:cNvPr id="46" name="TextBox 45"/>
          <p:cNvSpPr txBox="1"/>
          <p:nvPr/>
        </p:nvSpPr>
        <p:spPr>
          <a:xfrm>
            <a:off x="9619488"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84.28</a:t>
            </a:r>
          </a:p>
        </p:txBody>
      </p:sp>
      <p:sp>
        <p:nvSpPr>
          <p:cNvPr id="47" name="TextBox 46"/>
          <p:cNvSpPr txBox="1"/>
          <p:nvPr/>
        </p:nvSpPr>
        <p:spPr>
          <a:xfrm>
            <a:off x="10588752" y="286207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76.60</a:t>
            </a:r>
          </a:p>
        </p:txBody>
      </p:sp>
      <p:sp>
        <p:nvSpPr>
          <p:cNvPr id="48" name="Rectangle 47"/>
          <p:cNvSpPr/>
          <p:nvPr/>
        </p:nvSpPr>
        <p:spPr>
          <a:xfrm>
            <a:off x="566928" y="314553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58368" y="322783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Password</a:t>
            </a:r>
          </a:p>
        </p:txBody>
      </p:sp>
      <p:sp>
        <p:nvSpPr>
          <p:cNvPr id="50" name="TextBox 49"/>
          <p:cNvSpPr txBox="1"/>
          <p:nvPr/>
        </p:nvSpPr>
        <p:spPr>
          <a:xfrm>
            <a:off x="2523744" y="322783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210,951</a:t>
            </a:r>
          </a:p>
        </p:txBody>
      </p:sp>
      <p:sp>
        <p:nvSpPr>
          <p:cNvPr id="51" name="TextBox 50"/>
          <p:cNvSpPr txBox="1"/>
          <p:nvPr/>
        </p:nvSpPr>
        <p:spPr>
          <a:xfrm>
            <a:off x="380390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89.59</a:t>
            </a:r>
          </a:p>
        </p:txBody>
      </p:sp>
      <p:sp>
        <p:nvSpPr>
          <p:cNvPr id="52" name="TextBox 51"/>
          <p:cNvSpPr txBox="1"/>
          <p:nvPr/>
        </p:nvSpPr>
        <p:spPr>
          <a:xfrm>
            <a:off x="477316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87.30</a:t>
            </a:r>
          </a:p>
        </p:txBody>
      </p:sp>
      <p:sp>
        <p:nvSpPr>
          <p:cNvPr id="53" name="TextBox 52"/>
          <p:cNvSpPr txBox="1"/>
          <p:nvPr/>
        </p:nvSpPr>
        <p:spPr>
          <a:xfrm>
            <a:off x="574243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89.37</a:t>
            </a:r>
          </a:p>
        </p:txBody>
      </p:sp>
      <p:sp>
        <p:nvSpPr>
          <p:cNvPr id="54" name="TextBox 53"/>
          <p:cNvSpPr txBox="1"/>
          <p:nvPr/>
        </p:nvSpPr>
        <p:spPr>
          <a:xfrm>
            <a:off x="6711696"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80.74</a:t>
            </a:r>
          </a:p>
        </p:txBody>
      </p:sp>
      <p:sp>
        <p:nvSpPr>
          <p:cNvPr id="55" name="TextBox 54"/>
          <p:cNvSpPr txBox="1"/>
          <p:nvPr/>
        </p:nvSpPr>
        <p:spPr>
          <a:xfrm>
            <a:off x="7680960"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89.83</a:t>
            </a:r>
          </a:p>
        </p:txBody>
      </p:sp>
      <p:sp>
        <p:nvSpPr>
          <p:cNvPr id="56" name="TextBox 55"/>
          <p:cNvSpPr txBox="1"/>
          <p:nvPr/>
        </p:nvSpPr>
        <p:spPr>
          <a:xfrm>
            <a:off x="8650224"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90.05</a:t>
            </a:r>
          </a:p>
        </p:txBody>
      </p:sp>
      <p:sp>
        <p:nvSpPr>
          <p:cNvPr id="57" name="TextBox 56"/>
          <p:cNvSpPr txBox="1"/>
          <p:nvPr/>
        </p:nvSpPr>
        <p:spPr>
          <a:xfrm>
            <a:off x="9619488"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90.04</a:t>
            </a:r>
          </a:p>
        </p:txBody>
      </p:sp>
      <p:sp>
        <p:nvSpPr>
          <p:cNvPr id="58" name="TextBox 57"/>
          <p:cNvSpPr txBox="1"/>
          <p:nvPr/>
        </p:nvSpPr>
        <p:spPr>
          <a:xfrm>
            <a:off x="10588752" y="322783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80.09</a:t>
            </a:r>
          </a:p>
        </p:txBody>
      </p:sp>
      <p:sp>
        <p:nvSpPr>
          <p:cNvPr id="59" name="Rectangle 58"/>
          <p:cNvSpPr/>
          <p:nvPr/>
        </p:nvSpPr>
        <p:spPr>
          <a:xfrm>
            <a:off x="566928" y="3511295"/>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658368" y="359359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DDoS</a:t>
            </a:r>
          </a:p>
        </p:txBody>
      </p:sp>
      <p:sp>
        <p:nvSpPr>
          <p:cNvPr id="61" name="TextBox 60"/>
          <p:cNvSpPr txBox="1"/>
          <p:nvPr/>
        </p:nvSpPr>
        <p:spPr>
          <a:xfrm>
            <a:off x="2523744" y="359359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103,338</a:t>
            </a:r>
          </a:p>
        </p:txBody>
      </p:sp>
      <p:sp>
        <p:nvSpPr>
          <p:cNvPr id="62" name="TextBox 61"/>
          <p:cNvSpPr txBox="1"/>
          <p:nvPr/>
        </p:nvSpPr>
        <p:spPr>
          <a:xfrm>
            <a:off x="380390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92.01</a:t>
            </a:r>
          </a:p>
        </p:txBody>
      </p:sp>
      <p:sp>
        <p:nvSpPr>
          <p:cNvPr id="63" name="TextBox 62"/>
          <p:cNvSpPr txBox="1"/>
          <p:nvPr/>
        </p:nvSpPr>
        <p:spPr>
          <a:xfrm>
            <a:off x="477316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91.74</a:t>
            </a:r>
          </a:p>
        </p:txBody>
      </p:sp>
      <p:sp>
        <p:nvSpPr>
          <p:cNvPr id="64" name="TextBox 63"/>
          <p:cNvSpPr txBox="1"/>
          <p:nvPr/>
        </p:nvSpPr>
        <p:spPr>
          <a:xfrm>
            <a:off x="574243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90.86</a:t>
            </a:r>
          </a:p>
        </p:txBody>
      </p:sp>
      <p:sp>
        <p:nvSpPr>
          <p:cNvPr id="65" name="TextBox 64"/>
          <p:cNvSpPr txBox="1"/>
          <p:nvPr/>
        </p:nvSpPr>
        <p:spPr>
          <a:xfrm>
            <a:off x="6711696"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76.92</a:t>
            </a:r>
          </a:p>
        </p:txBody>
      </p:sp>
      <p:sp>
        <p:nvSpPr>
          <p:cNvPr id="66" name="TextBox 65"/>
          <p:cNvSpPr txBox="1"/>
          <p:nvPr/>
        </p:nvSpPr>
        <p:spPr>
          <a:xfrm>
            <a:off x="7680960"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94.34</a:t>
            </a:r>
          </a:p>
        </p:txBody>
      </p:sp>
      <p:sp>
        <p:nvSpPr>
          <p:cNvPr id="67" name="TextBox 66"/>
          <p:cNvSpPr txBox="1"/>
          <p:nvPr/>
        </p:nvSpPr>
        <p:spPr>
          <a:xfrm>
            <a:off x="8650224"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94.69</a:t>
            </a:r>
          </a:p>
        </p:txBody>
      </p:sp>
      <p:sp>
        <p:nvSpPr>
          <p:cNvPr id="68" name="TextBox 67"/>
          <p:cNvSpPr txBox="1"/>
          <p:nvPr/>
        </p:nvSpPr>
        <p:spPr>
          <a:xfrm>
            <a:off x="9619488"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93.18</a:t>
            </a:r>
          </a:p>
        </p:txBody>
      </p:sp>
      <p:sp>
        <p:nvSpPr>
          <p:cNvPr id="69" name="TextBox 68"/>
          <p:cNvSpPr txBox="1"/>
          <p:nvPr/>
        </p:nvSpPr>
        <p:spPr>
          <a:xfrm>
            <a:off x="10588752" y="359359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62.56</a:t>
            </a:r>
          </a:p>
        </p:txBody>
      </p:sp>
      <p:sp>
        <p:nvSpPr>
          <p:cNvPr id="70" name="Rectangle 69"/>
          <p:cNvSpPr/>
          <p:nvPr/>
        </p:nvSpPr>
        <p:spPr>
          <a:xfrm>
            <a:off x="566928" y="3877055"/>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8368" y="3959351"/>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Injection</a:t>
            </a:r>
          </a:p>
        </p:txBody>
      </p:sp>
      <p:sp>
        <p:nvSpPr>
          <p:cNvPr id="72" name="TextBox 71"/>
          <p:cNvSpPr txBox="1"/>
          <p:nvPr/>
        </p:nvSpPr>
        <p:spPr>
          <a:xfrm>
            <a:off x="2523744" y="3959351"/>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68,891</a:t>
            </a:r>
          </a:p>
        </p:txBody>
      </p:sp>
      <p:sp>
        <p:nvSpPr>
          <p:cNvPr id="73" name="TextBox 72"/>
          <p:cNvSpPr txBox="1"/>
          <p:nvPr/>
        </p:nvSpPr>
        <p:spPr>
          <a:xfrm>
            <a:off x="380390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81.94</a:t>
            </a:r>
          </a:p>
        </p:txBody>
      </p:sp>
      <p:sp>
        <p:nvSpPr>
          <p:cNvPr id="74" name="TextBox 73"/>
          <p:cNvSpPr txBox="1"/>
          <p:nvPr/>
        </p:nvSpPr>
        <p:spPr>
          <a:xfrm>
            <a:off x="477316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69.52</a:t>
            </a:r>
          </a:p>
        </p:txBody>
      </p:sp>
      <p:sp>
        <p:nvSpPr>
          <p:cNvPr id="75" name="TextBox 74"/>
          <p:cNvSpPr txBox="1"/>
          <p:nvPr/>
        </p:nvSpPr>
        <p:spPr>
          <a:xfrm>
            <a:off x="574243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74.17</a:t>
            </a:r>
          </a:p>
        </p:txBody>
      </p:sp>
      <p:sp>
        <p:nvSpPr>
          <p:cNvPr id="76" name="TextBox 75"/>
          <p:cNvSpPr txBox="1"/>
          <p:nvPr/>
        </p:nvSpPr>
        <p:spPr>
          <a:xfrm>
            <a:off x="6711696"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69.11</a:t>
            </a:r>
          </a:p>
        </p:txBody>
      </p:sp>
      <p:sp>
        <p:nvSpPr>
          <p:cNvPr id="77" name="TextBox 76"/>
          <p:cNvSpPr txBox="1"/>
          <p:nvPr/>
        </p:nvSpPr>
        <p:spPr>
          <a:xfrm>
            <a:off x="7680960"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83.08</a:t>
            </a:r>
          </a:p>
        </p:txBody>
      </p:sp>
      <p:sp>
        <p:nvSpPr>
          <p:cNvPr id="78" name="TextBox 77"/>
          <p:cNvSpPr txBox="1"/>
          <p:nvPr/>
        </p:nvSpPr>
        <p:spPr>
          <a:xfrm>
            <a:off x="8650224"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80.08</a:t>
            </a:r>
          </a:p>
        </p:txBody>
      </p:sp>
      <p:sp>
        <p:nvSpPr>
          <p:cNvPr id="79" name="TextBox 78"/>
          <p:cNvSpPr txBox="1"/>
          <p:nvPr/>
        </p:nvSpPr>
        <p:spPr>
          <a:xfrm>
            <a:off x="9619488"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79.62</a:t>
            </a:r>
          </a:p>
        </p:txBody>
      </p:sp>
      <p:sp>
        <p:nvSpPr>
          <p:cNvPr id="80" name="TextBox 79"/>
          <p:cNvSpPr txBox="1"/>
          <p:nvPr/>
        </p:nvSpPr>
        <p:spPr>
          <a:xfrm>
            <a:off x="10588752" y="3959351"/>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65.20</a:t>
            </a:r>
          </a:p>
        </p:txBody>
      </p:sp>
      <p:sp>
        <p:nvSpPr>
          <p:cNvPr id="81" name="Rectangle 80"/>
          <p:cNvSpPr/>
          <p:nvPr/>
        </p:nvSpPr>
        <p:spPr>
          <a:xfrm>
            <a:off x="566928" y="424281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TextBox 81"/>
          <p:cNvSpPr txBox="1"/>
          <p:nvPr/>
        </p:nvSpPr>
        <p:spPr>
          <a:xfrm>
            <a:off x="658368" y="432511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Backdoor</a:t>
            </a:r>
          </a:p>
        </p:txBody>
      </p:sp>
      <p:sp>
        <p:nvSpPr>
          <p:cNvPr id="83" name="TextBox 82"/>
          <p:cNvSpPr txBox="1"/>
          <p:nvPr/>
        </p:nvSpPr>
        <p:spPr>
          <a:xfrm>
            <a:off x="2523744" y="432511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40,030</a:t>
            </a:r>
          </a:p>
        </p:txBody>
      </p:sp>
      <p:sp>
        <p:nvSpPr>
          <p:cNvPr id="84" name="TextBox 83"/>
          <p:cNvSpPr txBox="1"/>
          <p:nvPr/>
        </p:nvSpPr>
        <p:spPr>
          <a:xfrm>
            <a:off x="380390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99.16</a:t>
            </a:r>
          </a:p>
        </p:txBody>
      </p:sp>
      <p:sp>
        <p:nvSpPr>
          <p:cNvPr id="85" name="TextBox 84"/>
          <p:cNvSpPr txBox="1"/>
          <p:nvPr/>
        </p:nvSpPr>
        <p:spPr>
          <a:xfrm>
            <a:off x="477316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99.08</a:t>
            </a:r>
          </a:p>
        </p:txBody>
      </p:sp>
      <p:sp>
        <p:nvSpPr>
          <p:cNvPr id="86" name="TextBox 85"/>
          <p:cNvSpPr txBox="1"/>
          <p:nvPr/>
        </p:nvSpPr>
        <p:spPr>
          <a:xfrm>
            <a:off x="574243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96.80</a:t>
            </a:r>
          </a:p>
        </p:txBody>
      </p:sp>
      <p:sp>
        <p:nvSpPr>
          <p:cNvPr id="87" name="TextBox 86"/>
          <p:cNvSpPr txBox="1"/>
          <p:nvPr/>
        </p:nvSpPr>
        <p:spPr>
          <a:xfrm>
            <a:off x="6711696"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97.04</a:t>
            </a:r>
          </a:p>
        </p:txBody>
      </p:sp>
      <p:sp>
        <p:nvSpPr>
          <p:cNvPr id="88" name="TextBox 87"/>
          <p:cNvSpPr txBox="1"/>
          <p:nvPr/>
        </p:nvSpPr>
        <p:spPr>
          <a:xfrm>
            <a:off x="7680960"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99.46</a:t>
            </a:r>
          </a:p>
        </p:txBody>
      </p:sp>
      <p:sp>
        <p:nvSpPr>
          <p:cNvPr id="89" name="TextBox 88"/>
          <p:cNvSpPr txBox="1"/>
          <p:nvPr/>
        </p:nvSpPr>
        <p:spPr>
          <a:xfrm>
            <a:off x="8650224"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99.38</a:t>
            </a:r>
          </a:p>
        </p:txBody>
      </p:sp>
      <p:sp>
        <p:nvSpPr>
          <p:cNvPr id="90" name="TextBox 89"/>
          <p:cNvSpPr txBox="1"/>
          <p:nvPr/>
        </p:nvSpPr>
        <p:spPr>
          <a:xfrm>
            <a:off x="9619488"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99.80</a:t>
            </a:r>
          </a:p>
        </p:txBody>
      </p:sp>
      <p:sp>
        <p:nvSpPr>
          <p:cNvPr id="91" name="TextBox 90"/>
          <p:cNvSpPr txBox="1"/>
          <p:nvPr/>
        </p:nvSpPr>
        <p:spPr>
          <a:xfrm>
            <a:off x="10588752" y="432511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98.10</a:t>
            </a:r>
          </a:p>
        </p:txBody>
      </p:sp>
      <p:sp>
        <p:nvSpPr>
          <p:cNvPr id="92" name="Rectangle 91"/>
          <p:cNvSpPr/>
          <p:nvPr/>
        </p:nvSpPr>
        <p:spPr>
          <a:xfrm>
            <a:off x="566928" y="460857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TextBox 92"/>
          <p:cNvSpPr txBox="1"/>
          <p:nvPr/>
        </p:nvSpPr>
        <p:spPr>
          <a:xfrm>
            <a:off x="658368" y="469087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DoS</a:t>
            </a:r>
          </a:p>
        </p:txBody>
      </p:sp>
      <p:sp>
        <p:nvSpPr>
          <p:cNvPr id="94" name="TextBox 93"/>
          <p:cNvSpPr txBox="1"/>
          <p:nvPr/>
        </p:nvSpPr>
        <p:spPr>
          <a:xfrm>
            <a:off x="2523744" y="469087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22,458</a:t>
            </a:r>
          </a:p>
        </p:txBody>
      </p:sp>
      <p:sp>
        <p:nvSpPr>
          <p:cNvPr id="95" name="TextBox 94"/>
          <p:cNvSpPr txBox="1"/>
          <p:nvPr/>
        </p:nvSpPr>
        <p:spPr>
          <a:xfrm>
            <a:off x="380390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73.80</a:t>
            </a:r>
          </a:p>
        </p:txBody>
      </p:sp>
      <p:sp>
        <p:nvSpPr>
          <p:cNvPr id="96" name="TextBox 95"/>
          <p:cNvSpPr txBox="1"/>
          <p:nvPr/>
        </p:nvSpPr>
        <p:spPr>
          <a:xfrm>
            <a:off x="477316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78.28</a:t>
            </a:r>
          </a:p>
        </p:txBody>
      </p:sp>
      <p:sp>
        <p:nvSpPr>
          <p:cNvPr id="97" name="TextBox 96"/>
          <p:cNvSpPr txBox="1"/>
          <p:nvPr/>
        </p:nvSpPr>
        <p:spPr>
          <a:xfrm>
            <a:off x="574243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82.82</a:t>
            </a:r>
          </a:p>
        </p:txBody>
      </p:sp>
      <p:sp>
        <p:nvSpPr>
          <p:cNvPr id="98" name="TextBox 97"/>
          <p:cNvSpPr txBox="1"/>
          <p:nvPr/>
        </p:nvSpPr>
        <p:spPr>
          <a:xfrm>
            <a:off x="6711696"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89.20</a:t>
            </a:r>
          </a:p>
        </p:txBody>
      </p:sp>
      <p:sp>
        <p:nvSpPr>
          <p:cNvPr id="99" name="TextBox 98"/>
          <p:cNvSpPr txBox="1"/>
          <p:nvPr/>
        </p:nvSpPr>
        <p:spPr>
          <a:xfrm>
            <a:off x="7680960"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78.96</a:t>
            </a:r>
          </a:p>
        </p:txBody>
      </p:sp>
      <p:sp>
        <p:nvSpPr>
          <p:cNvPr id="100" name="TextBox 99"/>
          <p:cNvSpPr txBox="1"/>
          <p:nvPr/>
        </p:nvSpPr>
        <p:spPr>
          <a:xfrm>
            <a:off x="8650224"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91.42</a:t>
            </a:r>
          </a:p>
        </p:txBody>
      </p:sp>
      <p:sp>
        <p:nvSpPr>
          <p:cNvPr id="101" name="TextBox 100"/>
          <p:cNvSpPr txBox="1"/>
          <p:nvPr/>
        </p:nvSpPr>
        <p:spPr>
          <a:xfrm>
            <a:off x="9619488"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84.05</a:t>
            </a:r>
          </a:p>
        </p:txBody>
      </p:sp>
      <p:sp>
        <p:nvSpPr>
          <p:cNvPr id="102" name="TextBox 101"/>
          <p:cNvSpPr txBox="1"/>
          <p:nvPr/>
        </p:nvSpPr>
        <p:spPr>
          <a:xfrm>
            <a:off x="10588752" y="469087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89.95</a:t>
            </a:r>
          </a:p>
        </p:txBody>
      </p:sp>
      <p:sp>
        <p:nvSpPr>
          <p:cNvPr id="103" name="Rectangle 102"/>
          <p:cNvSpPr/>
          <p:nvPr/>
        </p:nvSpPr>
        <p:spPr>
          <a:xfrm>
            <a:off x="566928" y="497433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4" name="TextBox 103"/>
          <p:cNvSpPr txBox="1"/>
          <p:nvPr/>
        </p:nvSpPr>
        <p:spPr>
          <a:xfrm>
            <a:off x="658368" y="505663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Scanning</a:t>
            </a:r>
          </a:p>
        </p:txBody>
      </p:sp>
      <p:sp>
        <p:nvSpPr>
          <p:cNvPr id="105" name="TextBox 104"/>
          <p:cNvSpPr txBox="1"/>
          <p:nvPr/>
        </p:nvSpPr>
        <p:spPr>
          <a:xfrm>
            <a:off x="2523744" y="505663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6,029</a:t>
            </a:r>
          </a:p>
        </p:txBody>
      </p:sp>
      <p:sp>
        <p:nvSpPr>
          <p:cNvPr id="106" name="TextBox 105"/>
          <p:cNvSpPr txBox="1"/>
          <p:nvPr/>
        </p:nvSpPr>
        <p:spPr>
          <a:xfrm>
            <a:off x="3803904"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37.24</a:t>
            </a:r>
          </a:p>
        </p:txBody>
      </p:sp>
      <p:sp>
        <p:nvSpPr>
          <p:cNvPr id="107" name="TextBox 106"/>
          <p:cNvSpPr txBox="1"/>
          <p:nvPr/>
        </p:nvSpPr>
        <p:spPr>
          <a:xfrm>
            <a:off x="4773168"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14.25</a:t>
            </a:r>
          </a:p>
        </p:txBody>
      </p:sp>
      <p:sp>
        <p:nvSpPr>
          <p:cNvPr id="108" name="TextBox 107"/>
          <p:cNvSpPr txBox="1"/>
          <p:nvPr/>
        </p:nvSpPr>
        <p:spPr>
          <a:xfrm>
            <a:off x="5742432"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35.91</a:t>
            </a:r>
          </a:p>
        </p:txBody>
      </p:sp>
      <p:sp>
        <p:nvSpPr>
          <p:cNvPr id="109" name="TextBox 108"/>
          <p:cNvSpPr txBox="1"/>
          <p:nvPr/>
        </p:nvSpPr>
        <p:spPr>
          <a:xfrm>
            <a:off x="6711696"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16.63</a:t>
            </a:r>
          </a:p>
        </p:txBody>
      </p:sp>
      <p:sp>
        <p:nvSpPr>
          <p:cNvPr id="110" name="TextBox 109"/>
          <p:cNvSpPr txBox="1"/>
          <p:nvPr/>
        </p:nvSpPr>
        <p:spPr>
          <a:xfrm>
            <a:off x="7680960"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51.71</a:t>
            </a:r>
          </a:p>
        </p:txBody>
      </p:sp>
      <p:sp>
        <p:nvSpPr>
          <p:cNvPr id="111" name="TextBox 110"/>
          <p:cNvSpPr txBox="1"/>
          <p:nvPr/>
        </p:nvSpPr>
        <p:spPr>
          <a:xfrm>
            <a:off x="8650224"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65.05</a:t>
            </a:r>
          </a:p>
        </p:txBody>
      </p:sp>
      <p:sp>
        <p:nvSpPr>
          <p:cNvPr id="112" name="TextBox 111"/>
          <p:cNvSpPr txBox="1"/>
          <p:nvPr/>
        </p:nvSpPr>
        <p:spPr>
          <a:xfrm>
            <a:off x="9619488"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56.11</a:t>
            </a:r>
          </a:p>
        </p:txBody>
      </p:sp>
      <p:sp>
        <p:nvSpPr>
          <p:cNvPr id="113" name="TextBox 112"/>
          <p:cNvSpPr txBox="1"/>
          <p:nvPr/>
        </p:nvSpPr>
        <p:spPr>
          <a:xfrm>
            <a:off x="10588752" y="505663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39.12</a:t>
            </a:r>
          </a:p>
        </p:txBody>
      </p:sp>
      <p:sp>
        <p:nvSpPr>
          <p:cNvPr id="114" name="Rectangle 113"/>
          <p:cNvSpPr/>
          <p:nvPr/>
        </p:nvSpPr>
        <p:spPr>
          <a:xfrm>
            <a:off x="566928" y="5340096"/>
            <a:ext cx="10899648" cy="365760"/>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5" name="TextBox 114"/>
          <p:cNvSpPr txBox="1"/>
          <p:nvPr/>
        </p:nvSpPr>
        <p:spPr>
          <a:xfrm>
            <a:off x="658368" y="542239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MITM</a:t>
            </a:r>
          </a:p>
        </p:txBody>
      </p:sp>
      <p:sp>
        <p:nvSpPr>
          <p:cNvPr id="116" name="TextBox 115"/>
          <p:cNvSpPr txBox="1"/>
          <p:nvPr/>
        </p:nvSpPr>
        <p:spPr>
          <a:xfrm>
            <a:off x="2523744" y="542239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1,161</a:t>
            </a:r>
          </a:p>
        </p:txBody>
      </p:sp>
      <p:sp>
        <p:nvSpPr>
          <p:cNvPr id="117" name="TextBox 116"/>
          <p:cNvSpPr txBox="1"/>
          <p:nvPr/>
        </p:nvSpPr>
        <p:spPr>
          <a:xfrm>
            <a:off x="3803904"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4.63</a:t>
            </a:r>
          </a:p>
        </p:txBody>
      </p:sp>
      <p:sp>
        <p:nvSpPr>
          <p:cNvPr id="118" name="TextBox 117"/>
          <p:cNvSpPr txBox="1"/>
          <p:nvPr/>
        </p:nvSpPr>
        <p:spPr>
          <a:xfrm>
            <a:off x="4773168"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2.08</a:t>
            </a:r>
          </a:p>
        </p:txBody>
      </p:sp>
      <p:sp>
        <p:nvSpPr>
          <p:cNvPr id="119" name="TextBox 118"/>
          <p:cNvSpPr txBox="1"/>
          <p:nvPr/>
        </p:nvSpPr>
        <p:spPr>
          <a:xfrm>
            <a:off x="5742432"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3.25</a:t>
            </a:r>
          </a:p>
        </p:txBody>
      </p:sp>
      <p:sp>
        <p:nvSpPr>
          <p:cNvPr id="120" name="TextBox 119"/>
          <p:cNvSpPr txBox="1"/>
          <p:nvPr/>
        </p:nvSpPr>
        <p:spPr>
          <a:xfrm>
            <a:off x="6711696"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1.48</a:t>
            </a:r>
          </a:p>
        </p:txBody>
      </p:sp>
      <p:sp>
        <p:nvSpPr>
          <p:cNvPr id="121" name="TextBox 120"/>
          <p:cNvSpPr txBox="1"/>
          <p:nvPr/>
        </p:nvSpPr>
        <p:spPr>
          <a:xfrm>
            <a:off x="7680960"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3.12</a:t>
            </a:r>
          </a:p>
        </p:txBody>
      </p:sp>
      <p:sp>
        <p:nvSpPr>
          <p:cNvPr id="122" name="TextBox 121"/>
          <p:cNvSpPr txBox="1"/>
          <p:nvPr/>
        </p:nvSpPr>
        <p:spPr>
          <a:xfrm>
            <a:off x="8650224"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2.17</a:t>
            </a:r>
          </a:p>
        </p:txBody>
      </p:sp>
      <p:sp>
        <p:nvSpPr>
          <p:cNvPr id="123" name="TextBox 122"/>
          <p:cNvSpPr txBox="1"/>
          <p:nvPr/>
        </p:nvSpPr>
        <p:spPr>
          <a:xfrm>
            <a:off x="9619488"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2.62</a:t>
            </a:r>
          </a:p>
        </p:txBody>
      </p:sp>
      <p:sp>
        <p:nvSpPr>
          <p:cNvPr id="124" name="TextBox 123"/>
          <p:cNvSpPr txBox="1"/>
          <p:nvPr/>
        </p:nvSpPr>
        <p:spPr>
          <a:xfrm>
            <a:off x="10588752" y="542239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0.54</a:t>
            </a:r>
          </a:p>
        </p:txBody>
      </p:sp>
      <p:sp>
        <p:nvSpPr>
          <p:cNvPr id="125" name="Rectangle 124"/>
          <p:cNvSpPr/>
          <p:nvPr/>
        </p:nvSpPr>
        <p:spPr>
          <a:xfrm>
            <a:off x="566928" y="5705856"/>
            <a:ext cx="10899648" cy="36576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6" name="TextBox 125"/>
          <p:cNvSpPr txBox="1"/>
          <p:nvPr/>
        </p:nvSpPr>
        <p:spPr>
          <a:xfrm>
            <a:off x="658368" y="5788152"/>
            <a:ext cx="1682496" cy="237744"/>
          </a:xfrm>
          <a:prstGeom prst="rect">
            <a:avLst/>
          </a:prstGeom>
          <a:noFill/>
          <a:effectLst/>
        </p:spPr>
        <p:txBody>
          <a:bodyPr wrap="none" anchor="t" lIns="0" rIns="0" tIns="0" bIns="0">
            <a:noAutofit/>
          </a:bodyPr>
          <a:lstStyle/>
          <a:p>
            <a:pPr algn="l">
              <a:lnSpc>
                <a:spcPct val="116000"/>
              </a:lnSpc>
              <a:spcBef>
                <a:spcPts val="0"/>
              </a:spcBef>
              <a:spcAft>
                <a:spcPts val="0"/>
              </a:spcAft>
            </a:pPr>
            <a:r>
              <a:rPr sz="1400" b="0" lang="ko-KR">
                <a:solidFill>
                  <a:srgbClr val="20262E"/>
                </a:solidFill>
                <a:latin typeface="Pretendard"/>
                <a:ea typeface="Pretendard"/>
                <a:cs typeface="Pretendard"/>
              </a:rPr>
              <a:t>Ransomware</a:t>
            </a:r>
          </a:p>
        </p:txBody>
      </p:sp>
      <p:sp>
        <p:nvSpPr>
          <p:cNvPr id="127" name="TextBox 126"/>
          <p:cNvSpPr txBox="1"/>
          <p:nvPr/>
        </p:nvSpPr>
        <p:spPr>
          <a:xfrm>
            <a:off x="2523744" y="5788152"/>
            <a:ext cx="1097280"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709</a:t>
            </a:r>
          </a:p>
        </p:txBody>
      </p:sp>
      <p:sp>
        <p:nvSpPr>
          <p:cNvPr id="128" name="TextBox 127"/>
          <p:cNvSpPr txBox="1"/>
          <p:nvPr/>
        </p:nvSpPr>
        <p:spPr>
          <a:xfrm>
            <a:off x="3803904"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17.11</a:t>
            </a:r>
          </a:p>
        </p:txBody>
      </p:sp>
      <p:sp>
        <p:nvSpPr>
          <p:cNvPr id="129" name="TextBox 128"/>
          <p:cNvSpPr txBox="1"/>
          <p:nvPr/>
        </p:nvSpPr>
        <p:spPr>
          <a:xfrm>
            <a:off x="4773168"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5.34</a:t>
            </a:r>
          </a:p>
        </p:txBody>
      </p:sp>
      <p:sp>
        <p:nvSpPr>
          <p:cNvPr id="130" name="TextBox 129"/>
          <p:cNvSpPr txBox="1"/>
          <p:nvPr/>
        </p:nvSpPr>
        <p:spPr>
          <a:xfrm>
            <a:off x="5742432"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5.86</a:t>
            </a:r>
          </a:p>
        </p:txBody>
      </p:sp>
      <p:sp>
        <p:nvSpPr>
          <p:cNvPr id="131" name="TextBox 130"/>
          <p:cNvSpPr txBox="1"/>
          <p:nvPr/>
        </p:nvSpPr>
        <p:spPr>
          <a:xfrm>
            <a:off x="6711696"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7.25</a:t>
            </a:r>
          </a:p>
        </p:txBody>
      </p:sp>
      <p:sp>
        <p:nvSpPr>
          <p:cNvPr id="132" name="TextBox 131"/>
          <p:cNvSpPr txBox="1"/>
          <p:nvPr/>
        </p:nvSpPr>
        <p:spPr>
          <a:xfrm>
            <a:off x="7680960"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6.19</a:t>
            </a:r>
          </a:p>
        </p:txBody>
      </p:sp>
      <p:sp>
        <p:nvSpPr>
          <p:cNvPr id="133" name="TextBox 132"/>
          <p:cNvSpPr txBox="1"/>
          <p:nvPr/>
        </p:nvSpPr>
        <p:spPr>
          <a:xfrm>
            <a:off x="8650224"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4.06</a:t>
            </a:r>
          </a:p>
        </p:txBody>
      </p:sp>
      <p:sp>
        <p:nvSpPr>
          <p:cNvPr id="134" name="TextBox 133"/>
          <p:cNvSpPr txBox="1"/>
          <p:nvPr/>
        </p:nvSpPr>
        <p:spPr>
          <a:xfrm>
            <a:off x="9619488"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4.94</a:t>
            </a:r>
          </a:p>
        </p:txBody>
      </p:sp>
      <p:sp>
        <p:nvSpPr>
          <p:cNvPr id="135" name="TextBox 134"/>
          <p:cNvSpPr txBox="1"/>
          <p:nvPr/>
        </p:nvSpPr>
        <p:spPr>
          <a:xfrm>
            <a:off x="10588752" y="5788152"/>
            <a:ext cx="786384" cy="237744"/>
          </a:xfrm>
          <a:prstGeom prst="rect">
            <a:avLst/>
          </a:prstGeom>
          <a:noFill/>
          <a:effectLst/>
        </p:spPr>
        <p:txBody>
          <a:bodyPr wrap="none" anchor="t" lIns="0" rIns="0" tIns="0" bIns="0">
            <a:noAutofit/>
          </a:bodyPr>
          <a:lstStyle/>
          <a:p>
            <a:pPr algn="r">
              <a:lnSpc>
                <a:spcPct val="116000"/>
              </a:lnSpc>
              <a:spcBef>
                <a:spcPts val="0"/>
              </a:spcBef>
              <a:spcAft>
                <a:spcPts val="0"/>
              </a:spcAft>
            </a:pPr>
            <a:r>
              <a:rPr sz="1400" b="0" lang="ko-KR">
                <a:solidFill>
                  <a:srgbClr val="20262E"/>
                </a:solidFill>
                <a:latin typeface="Pretendard"/>
                <a:ea typeface="Pretendard"/>
                <a:cs typeface="Pretendard"/>
              </a:rPr>
              <a:t>4.02</a:t>
            </a:r>
          </a:p>
        </p:txBody>
      </p:sp>
      <p:sp>
        <p:nvSpPr>
          <p:cNvPr id="136" name="TextBox 135"/>
          <p:cNvSpPr txBox="1"/>
          <p:nvPr/>
        </p:nvSpPr>
        <p:spPr>
          <a:xfrm>
            <a:off x="594360" y="6108192"/>
            <a:ext cx="10972800" cy="265176"/>
          </a:xfrm>
          <a:prstGeom prst="rect">
            <a:avLst/>
          </a:prstGeom>
          <a:noFill/>
          <a:effectLst/>
        </p:spPr>
        <p:txBody>
          <a:bodyPr wrap="none" anchor="t" lIns="0" rIns="0" tIns="0" bIns="0">
            <a:noAutofit/>
          </a:bodyPr>
          <a:lstStyle/>
          <a:p>
            <a:pPr algn="l">
              <a:lnSpc>
                <a:spcPct val="116000"/>
              </a:lnSpc>
              <a:spcBef>
                <a:spcPts val="0"/>
              </a:spcBef>
              <a:spcAft>
                <a:spcPts val="0"/>
              </a:spcAft>
            </a:pPr>
            <a:r>
              <a:rPr sz="1500" b="0" lang="ko-KR">
                <a:solidFill>
                  <a:srgbClr val="617080"/>
                </a:solidFill>
                <a:latin typeface="Pretendard"/>
                <a:ea typeface="Pretendard"/>
                <a:cs typeface="Pretendard"/>
              </a:rPr>
              <a:t>같은 정책·같은 seed에서 XGB/PFN의 행 ID 일치 · 전체 n의 수치와 표준편차는 실험 보고서에 수록</a:t>
            </a:r>
          </a:p>
        </p:txBody>
      </p:sp>
      <p:sp>
        <p:nvSpPr>
          <p:cNvPr id="137" name="Rectangle 136"/>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8" name="TextBox 137"/>
          <p:cNvSpPr txBox="1"/>
          <p:nvPr/>
        </p:nvSpPr>
        <p:spPr>
          <a:xfrm>
            <a:off x="530352" y="6537960"/>
            <a:ext cx="8778240" cy="201168"/>
          </a:xfrm>
          <a:prstGeom prst="rect">
            <a:avLst/>
          </a:prstGeom>
          <a:noFill/>
          <a:effectLst/>
        </p:spPr>
        <p:txBody>
          <a:bodyPr wrap="none" anchor="t" lIns="0" rIns="0" tIns="0" bIns="0">
            <a:noAutofit/>
          </a:bodyPr>
          <a:lstStyle/>
          <a:p/>
        </p:txBody>
      </p:sp>
      <p:sp>
        <p:nvSpPr>
          <p:cNvPr id="139" name="TextBox 138"/>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0" name="TextBox 139"/>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기록 표현</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71016"/>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1  입력값 표현</a:t>
            </a:r>
          </a:p>
        </p:txBody>
      </p:sp>
      <p:sp>
        <p:nvSpPr>
          <p:cNvPr id="5" name="TextBox 4"/>
          <p:cNvSpPr txBox="1"/>
          <p:nvPr/>
        </p:nvSpPr>
        <p:spPr>
          <a:xfrm>
            <a:off x="4800600" y="1883664"/>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통신 기록의 각 값을 벡터로 변환</a:t>
            </a:r>
          </a:p>
          <a:p>
            <a:pPr algn="l">
              <a:lnSpc>
                <a:spcPct val="116000"/>
              </a:lnSpc>
              <a:spcBef>
                <a:spcPts val="0"/>
              </a:spcBef>
              <a:spcAft>
                <a:spcPts val="0"/>
              </a:spcAft>
            </a:pPr>
            <a:r>
              <a:rPr sz="2100" b="0" lang="ko-KR">
                <a:solidFill>
                  <a:srgbClr val="20262E"/>
                </a:solidFill>
                <a:latin typeface="Pretendard"/>
                <a:ea typeface="Pretendard"/>
                <a:cs typeface="Pretendard"/>
              </a:rPr>
              <a:t>결측 표시와 context 라벨 정보 반영</a:t>
            </a:r>
          </a:p>
        </p:txBody>
      </p:sp>
      <p:sp>
        <p:nvSpPr>
          <p:cNvPr id="6" name="TextBox 5"/>
          <p:cNvSpPr txBox="1"/>
          <p:nvPr/>
        </p:nvSpPr>
        <p:spPr>
          <a:xfrm>
            <a:off x="4553712" y="2843784"/>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2  열의 분포 요약</a:t>
            </a:r>
          </a:p>
        </p:txBody>
      </p:sp>
      <p:sp>
        <p:nvSpPr>
          <p:cNvPr id="7" name="TextBox 6"/>
          <p:cNvSpPr txBox="1"/>
          <p:nvPr/>
        </p:nvSpPr>
        <p:spPr>
          <a:xfrm>
            <a:off x="4800600" y="3456432"/>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기록에서 같은 특징을 살펴</a:t>
            </a:r>
          </a:p>
          <a:p>
            <a:pPr algn="l">
              <a:lnSpc>
                <a:spcPct val="116000"/>
              </a:lnSpc>
              <a:spcBef>
                <a:spcPts val="0"/>
              </a:spcBef>
              <a:spcAft>
                <a:spcPts val="0"/>
              </a:spcAft>
            </a:pPr>
            <a:r>
              <a:rPr sz="2100" b="0" lang="ko-KR">
                <a:solidFill>
                  <a:srgbClr val="20262E"/>
                </a:solidFill>
                <a:latin typeface="Pretendard"/>
                <a:ea typeface="Pretendard"/>
                <a:cs typeface="Pretendard"/>
              </a:rPr>
              <a:t>그 특징의 분포를 표현</a:t>
            </a:r>
          </a:p>
        </p:txBody>
      </p:sp>
      <p:sp>
        <p:nvSpPr>
          <p:cNvPr id="8" name="TextBox 7"/>
          <p:cNvSpPr txBox="1"/>
          <p:nvPr/>
        </p:nvSpPr>
        <p:spPr>
          <a:xfrm>
            <a:off x="4553712" y="4416552"/>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3  한 기록의 특징 통합</a:t>
            </a:r>
          </a:p>
        </p:txBody>
      </p:sp>
      <p:sp>
        <p:nvSpPr>
          <p:cNvPr id="9" name="TextBox 8"/>
          <p:cNvSpPr txBox="1"/>
          <p:nvPr/>
        </p:nvSpPr>
        <p:spPr>
          <a:xfrm>
            <a:off x="4800600" y="50292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여러 열을 행 단위 표현으로 압축</a:t>
            </a:r>
          </a:p>
          <a:p>
            <a:pPr algn="l">
              <a:lnSpc>
                <a:spcPct val="116000"/>
              </a:lnSpc>
              <a:spcBef>
                <a:spcPts val="0"/>
              </a:spcBef>
              <a:spcAft>
                <a:spcPts val="0"/>
              </a:spcAft>
            </a:pPr>
            <a:r>
              <a:rPr sz="2100" b="0" lang="ko-KR">
                <a:solidFill>
                  <a:srgbClr val="20262E"/>
                </a:solidFill>
                <a:latin typeface="Pretendard"/>
                <a:ea typeface="Pretendard"/>
                <a:cs typeface="Pretendard"/>
              </a:rPr>
              <a:t>다음 단계에서 사례끼리 비교</a:t>
            </a:r>
          </a:p>
        </p:txBody>
      </p:sp>
      <p:sp>
        <p:nvSpPr>
          <p:cNvPr id="10" name="Rectangle 9"/>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30352" y="6537960"/>
            <a:ext cx="8778240" cy="201168"/>
          </a:xfrm>
          <a:prstGeom prst="rect">
            <a:avLst/>
          </a:prstGeom>
          <a:noFill/>
          <a:effectLst/>
        </p:spPr>
        <p:txBody>
          <a:bodyPr wrap="none" anchor="t" lIns="0" rIns="0" tIns="0" bIns="0">
            <a:noAutofit/>
          </a:bodyPr>
          <a:lstStyle/>
          <a:p/>
        </p:txBody>
      </p:sp>
      <p:sp>
        <p:nvSpPr>
          <p:cNvPr id="12" name="TextBox 11"/>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3" name="TextBox 12"/>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292608"/>
            <a:ext cx="11137392" cy="548640"/>
          </a:xfrm>
          <a:prstGeom prst="rect">
            <a:avLst/>
          </a:prstGeom>
          <a:noFill/>
          <a:effectLst/>
        </p:spPr>
        <p:txBody>
          <a:bodyPr wrap="none" anchor="t" lIns="0" rIns="0" tIns="0" bIns="0">
            <a:noAutofit/>
          </a:bodyPr>
          <a:lstStyle/>
          <a:p>
            <a:pPr algn="l">
              <a:lnSpc>
                <a:spcPct val="116000"/>
              </a:lnSpc>
              <a:spcBef>
                <a:spcPts val="0"/>
              </a:spcBef>
              <a:spcAft>
                <a:spcPts val="0"/>
              </a:spcAft>
            </a:pPr>
            <a:r>
              <a:rPr sz="3000" b="1" lang="ko-KR">
                <a:solidFill>
                  <a:srgbClr val="00306C"/>
                </a:solidFill>
                <a:latin typeface="Pretendard"/>
                <a:ea typeface="Pretendard"/>
                <a:cs typeface="Pretendard"/>
              </a:rPr>
              <a:t>부록 · TabPFN v3의 추론과 fine-tuning</a:t>
            </a:r>
          </a:p>
        </p:txBody>
      </p:sp>
      <p:pic>
        <p:nvPicPr>
          <p:cNvPr id="3" name="Picture 2" descr="v3_architecture_page.png"/>
          <p:cNvPicPr>
            <a:picLocks noChangeAspect="1"/>
          </p:cNvPicPr>
          <p:nvPr/>
        </p:nvPicPr>
        <p:blipFill>
          <a:blip r:embed="rId3"/>
          <a:srcRect l="20000" t="8200" r="19000" b="28500"/>
          <a:stretch>
            <a:fillRect/>
          </a:stretch>
        </p:blipFill>
        <p:spPr>
          <a:xfrm>
            <a:off x="566928" y="996696"/>
            <a:ext cx="3611880" cy="5376672"/>
          </a:xfrm>
          <a:prstGeom prst="rect">
            <a:avLst/>
          </a:prstGeom>
          <a:effectLst/>
        </p:spPr>
      </p:pic>
      <p:sp>
        <p:nvSpPr>
          <p:cNvPr id="4" name="TextBox 3"/>
          <p:cNvSpPr txBox="1"/>
          <p:nvPr/>
        </p:nvSpPr>
        <p:spPr>
          <a:xfrm>
            <a:off x="4553712" y="1280160"/>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4  Context를 참조한 예측</a:t>
            </a:r>
          </a:p>
        </p:txBody>
      </p:sp>
      <p:sp>
        <p:nvSpPr>
          <p:cNvPr id="5" name="TextBox 4"/>
          <p:cNvSpPr txBox="1"/>
          <p:nvPr/>
        </p:nvSpPr>
        <p:spPr>
          <a:xfrm>
            <a:off x="4800600" y="1856231"/>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query가 라벨이 있는 기록을 참조</a:t>
            </a:r>
          </a:p>
          <a:p>
            <a:pPr algn="l">
              <a:lnSpc>
                <a:spcPct val="116000"/>
              </a:lnSpc>
              <a:spcBef>
                <a:spcPts val="0"/>
              </a:spcBef>
              <a:spcAft>
                <a:spcPts val="0"/>
              </a:spcAft>
            </a:pPr>
            <a:r>
              <a:rPr sz="2100" b="0" lang="ko-KR">
                <a:solidFill>
                  <a:srgbClr val="20262E"/>
                </a:solidFill>
                <a:latin typeface="Pretendard"/>
                <a:ea typeface="Pretendard"/>
                <a:cs typeface="Pretendard"/>
              </a:rPr>
              <a:t>attention으로 참고 비중 계산</a:t>
            </a:r>
          </a:p>
        </p:txBody>
      </p:sp>
      <p:sp>
        <p:nvSpPr>
          <p:cNvPr id="6" name="TextBox 5"/>
          <p:cNvSpPr txBox="1"/>
          <p:nvPr/>
        </p:nvSpPr>
        <p:spPr>
          <a:xfrm>
            <a:off x="4553712" y="2852928"/>
            <a:ext cx="7059168" cy="365760"/>
          </a:xfrm>
          <a:prstGeom prst="rect">
            <a:avLst/>
          </a:prstGeom>
          <a:noFill/>
          <a:effectLst/>
        </p:spPr>
        <p:txBody>
          <a:bodyPr wrap="none" anchor="t" lIns="0" rIns="0" tIns="0" bIns="0">
            <a:noAutofit/>
          </a:bodyPr>
          <a:lstStyle/>
          <a:p>
            <a:pPr algn="l">
              <a:lnSpc>
                <a:spcPct val="116000"/>
              </a:lnSpc>
              <a:spcBef>
                <a:spcPts val="0"/>
              </a:spcBef>
              <a:spcAft>
                <a:spcPts val="0"/>
              </a:spcAft>
            </a:pPr>
            <a:r>
              <a:rPr sz="2300" b="1" lang="ko-KR">
                <a:solidFill>
                  <a:srgbClr val="007BC6"/>
                </a:solidFill>
                <a:latin typeface="Pretendard"/>
                <a:ea typeface="Pretendard"/>
                <a:cs typeface="Pretendard"/>
              </a:rPr>
              <a:t>5  라벨을 이용한 확률 출력</a:t>
            </a:r>
          </a:p>
        </p:txBody>
      </p:sp>
      <p:sp>
        <p:nvSpPr>
          <p:cNvPr id="7" name="TextBox 6"/>
          <p:cNvSpPr txBox="1"/>
          <p:nvPr/>
        </p:nvSpPr>
        <p:spPr>
          <a:xfrm>
            <a:off x="4800600" y="3429000"/>
            <a:ext cx="6565392" cy="713232"/>
          </a:xfrm>
          <a:prstGeom prst="rect">
            <a:avLst/>
          </a:prstGeom>
          <a:noFill/>
          <a:effectLst/>
        </p:spPr>
        <p:txBody>
          <a:bodyPr wrap="none" anchor="t" lIns="0" rIns="0" tIns="0" bIns="0">
            <a:noAutofit/>
          </a:bodyPr>
          <a:lstStyle/>
          <a:p>
            <a:pPr algn="l">
              <a:lnSpc>
                <a:spcPct val="116000"/>
              </a:lnSpc>
              <a:spcBef>
                <a:spcPts val="0"/>
              </a:spcBef>
              <a:spcAft>
                <a:spcPts val="0"/>
              </a:spcAft>
            </a:pPr>
            <a:r>
              <a:rPr sz="2100" b="0" lang="ko-KR">
                <a:solidFill>
                  <a:srgbClr val="20262E"/>
                </a:solidFill>
                <a:latin typeface="Pretendard"/>
                <a:ea typeface="Pretendard"/>
                <a:cs typeface="Pretendard"/>
              </a:rPr>
              <a:t>context 라벨을 가중합하는 decoder</a:t>
            </a:r>
          </a:p>
          <a:p>
            <a:pPr algn="l">
              <a:lnSpc>
                <a:spcPct val="116000"/>
              </a:lnSpc>
              <a:spcBef>
                <a:spcPts val="0"/>
              </a:spcBef>
              <a:spcAft>
                <a:spcPts val="0"/>
              </a:spcAft>
            </a:pPr>
            <a:r>
              <a:rPr sz="2100" b="0" lang="ko-KR">
                <a:solidFill>
                  <a:srgbClr val="20262E"/>
                </a:solidFill>
                <a:latin typeface="Pretendard"/>
                <a:ea typeface="Pretendard"/>
                <a:cs typeface="Pretendard"/>
              </a:rPr>
              <a:t>기존·신규 클래스 사례 모두 필요</a:t>
            </a:r>
          </a:p>
        </p:txBody>
      </p:sp>
      <p:sp>
        <p:nvSpPr>
          <p:cNvPr id="8" name="Rectangle 7"/>
          <p:cNvSpPr/>
          <p:nvPr/>
        </p:nvSpPr>
        <p:spPr>
          <a:xfrm>
            <a:off x="4553712" y="4663440"/>
            <a:ext cx="7059168" cy="1435608"/>
          </a:xfrm>
          <a:prstGeom prst="rect">
            <a:avLst/>
          </a:prstGeom>
          <a:solidFill>
            <a:srgbClr val="F1F5F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754880" y="4837176"/>
            <a:ext cx="6629400" cy="340309"/>
          </a:xfrm>
          <a:prstGeom prst="rect">
            <a:avLst/>
          </a:prstGeom>
          <a:noFill/>
          <a:effectLst/>
        </p:spPr>
        <p:txBody>
          <a:bodyPr wrap="none" anchor="t" lIns="0" rIns="0" tIns="0" bIns="0">
            <a:noAutofit/>
          </a:bodyPr>
          <a:lstStyle/>
          <a:p>
            <a:pPr algn="l">
              <a:lnSpc>
                <a:spcPct val="116000"/>
              </a:lnSpc>
              <a:spcBef>
                <a:spcPts val="0"/>
              </a:spcBef>
              <a:spcAft>
                <a:spcPts val="0"/>
              </a:spcAft>
            </a:pPr>
            <a:r>
              <a:rPr sz="2200" b="1" lang="ko-KR">
                <a:solidFill>
                  <a:srgbClr val="00306C"/>
                </a:solidFill>
                <a:latin typeface="Pretendard"/>
                <a:ea typeface="Pretendard"/>
                <a:cs typeface="Pretendard"/>
              </a:rPr>
              <a:t>별도의 가중치 fine-tuning</a:t>
            </a:r>
          </a:p>
        </p:txBody>
      </p:sp>
      <p:sp>
        <p:nvSpPr>
          <p:cNvPr id="10" name="TextBox 9"/>
          <p:cNvSpPr txBox="1"/>
          <p:nvPr/>
        </p:nvSpPr>
        <p:spPr>
          <a:xfrm>
            <a:off x="4754880" y="5358384"/>
            <a:ext cx="6629400" cy="594360"/>
          </a:xfrm>
          <a:prstGeom prst="rect">
            <a:avLst/>
          </a:prstGeom>
          <a:noFill/>
          <a:effectLst/>
        </p:spPr>
        <p:txBody>
          <a:bodyPr wrap="none" anchor="t" lIns="0" rIns="0" tIns="0" bIns="0">
            <a:noAutofit/>
          </a:bodyPr>
          <a:lstStyle/>
          <a:p>
            <a:pPr algn="l">
              <a:lnSpc>
                <a:spcPct val="116000"/>
              </a:lnSpc>
              <a:spcBef>
                <a:spcPts val="0"/>
              </a:spcBef>
              <a:spcAft>
                <a:spcPts val="0"/>
              </a:spcAft>
            </a:pPr>
            <a:r>
              <a:rPr sz="1900" b="0" lang="ko-KR">
                <a:solidFill>
                  <a:srgbClr val="20262E"/>
                </a:solidFill>
                <a:latin typeface="Pretendard"/>
                <a:ea typeface="Pretendard"/>
                <a:cs typeface="Pretendard"/>
              </a:rPr>
              <a:t>라벨 사례를 context와 query로 나눠 query 오차 역전파</a:t>
            </a:r>
          </a:p>
          <a:p>
            <a:pPr algn="l">
              <a:lnSpc>
                <a:spcPct val="116000"/>
              </a:lnSpc>
              <a:spcBef>
                <a:spcPts val="0"/>
              </a:spcBef>
              <a:spcAft>
                <a:spcPts val="0"/>
              </a:spcAft>
            </a:pPr>
            <a:r>
              <a:rPr sz="1900" b="0" lang="ko-KR">
                <a:solidFill>
                  <a:srgbClr val="20262E"/>
                </a:solidFill>
                <a:latin typeface="Pretendard"/>
                <a:ea typeface="Pretendard"/>
                <a:cs typeface="Pretendard"/>
              </a:rPr>
              <a:t>이번 실험은 미수행 · context/cache 갱신만 사용</a:t>
            </a:r>
          </a:p>
        </p:txBody>
      </p:sp>
      <p:sp>
        <p:nvSpPr>
          <p:cNvPr id="11" name="Rectangle 10"/>
          <p:cNvSpPr/>
          <p:nvPr/>
        </p:nvSpPr>
        <p:spPr>
          <a:xfrm>
            <a:off x="0" y="6446520"/>
            <a:ext cx="12191999" cy="411480"/>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30352" y="6537960"/>
            <a:ext cx="8778240" cy="201168"/>
          </a:xfrm>
          <a:prstGeom prst="rect">
            <a:avLst/>
          </a:prstGeom>
          <a:noFill/>
          <a:effectLst/>
        </p:spPr>
        <p:txBody>
          <a:bodyPr wrap="none" anchor="t" lIns="0" rIns="0" tIns="0" bIns="0">
            <a:noAutofit/>
          </a:bodyPr>
          <a:lstStyle/>
          <a:p/>
        </p:txBody>
      </p:sp>
      <p:sp>
        <p:nvSpPr>
          <p:cNvPr id="13" name="TextBox 12"/>
          <p:cNvSpPr txBox="1"/>
          <p:nvPr/>
        </p:nvSpPr>
        <p:spPr>
          <a:xfrm>
            <a:off x="9418320" y="6537960"/>
            <a:ext cx="1691640" cy="201168"/>
          </a:xfrm>
          <a:prstGeom prst="rect">
            <a:avLst/>
          </a:prstGeom>
          <a:noFill/>
          <a:effectLst/>
        </p:spPr>
        <p:txBody>
          <a:bodyPr wrap="none" anchor="t" lIns="0" rIns="0" tIns="0" bIns="0">
            <a:noAutofit/>
          </a:bodyPr>
          <a:lstStyle/>
          <a:p>
            <a:pPr algn="r">
              <a:lnSpc>
                <a:spcPct val="116000"/>
              </a:lnSpc>
              <a:spcBef>
                <a:spcPts val="0"/>
              </a:spcBef>
              <a:spcAft>
                <a:spcPts val="0"/>
              </a:spcAft>
            </a:pPr>
            <a:r>
              <a:rPr sz="1200" b="0" lang="ko-KR">
                <a:solidFill>
                  <a:srgbClr val="C9D8EB"/>
                </a:solidFill>
                <a:latin typeface="Pretendard"/>
                <a:ea typeface="Pretendard"/>
                <a:cs typeface="Pretendard"/>
              </a:rPr>
              <a:t>부록</a:t>
            </a:r>
          </a:p>
        </p:txBody>
      </p:sp>
      <p:sp>
        <p:nvSpPr>
          <p:cNvPr id="14" name="TextBox 13"/>
          <p:cNvSpPr txBox="1"/>
          <p:nvPr/>
        </p:nvSpPr>
        <p:spPr>
          <a:xfrm>
            <a:off x="11292840" y="6528816"/>
            <a:ext cx="365760" cy="210312"/>
          </a:xfrm>
          <a:prstGeom prst="rect">
            <a:avLst/>
          </a:prstGeom>
          <a:noFill/>
          <a:effectLst/>
        </p:spPr>
        <p:txBody>
          <a:bodyPr wrap="none" anchor="t" lIns="0" rIns="0" tIns="0" bIns="0">
            <a:noAutofit/>
          </a:bodyPr>
          <a:lstStyle/>
          <a:p>
            <a:pPr algn="r">
              <a:lnSpc>
                <a:spcPct val="116000"/>
              </a:lnSpc>
              <a:spcBef>
                <a:spcPts val="0"/>
              </a:spcBef>
              <a:spcAft>
                <a:spcPts val="0"/>
              </a:spcAft>
            </a:pPr>
            <a:r>
              <a:rPr sz="1300" b="0" lang="ko-KR">
                <a:solidFill>
                  <a:srgbClr val="FFFFFF"/>
                </a:solidFill>
                <a:latin typeface="Pretendard"/>
                <a:ea typeface="Pretendard"/>
                <a:cs typeface="Pretendard"/>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