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5"/>
    <p:sldId id="260" r:id="rId4"/>
    <p:sldId id="261" r:id="rId3"/>
    <p:sldId id="262"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title. Rephrase the user intent into concise presentation language instead of copying their draft. Adaptation to changing networks motivates the research; current class-arrival tests do not establish network-drift robustness.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https://arxiv.org/pdf/2605.13986 §2.5, PDF page 10: more than 8 trillion tokens, not datasets. Official TabPFN 8.2.0: https://github.com/PriorLabs/TabPFN/blob/main/src/tabpfn/finetuning/finetuned_base.py. EXP77 actually fine-tunes the initial IDS data using AdamW, learning rate 1e-5, 10 fixed epochs, context/query cross-entropy; then freezes weights. The v3 decoder weights context one-hot labels, so old-class examples remain necessary in the inference context. Validation is inside the 1000 revealed-label budget; no test tuning.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Figure 5, https://arxiv.org/pdf/2605.13986#page=6. Native PPTX crop excludes the original caption. Labels and source remain in speaker notes. First three stages: feature grouping/cell embedding; target-aware column distribution embedding; row-level feature aggregation. Plain language deliberately omits implementation dimensions.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Figure 5, https://arxiv.org/pdf/2605.13986#page=6; no visible caption by user request. ICL attends to training/context keys; many-class decoder uses attention-weighted one-hot context labels. This is learned contextual relevance, not merely raw-feature nearest-neighbour distance. Context determines available class labels.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EXP77 uses the same released IDs as EXP76. Initial IDS weight fine-tuning: fixed 10 epochs, AdamW, lr 1e-5; initial internal feature-group validation only. Subsequent context policies freeze the initial checkpoint; repeated FT is a separate control. XGB cumulatively retrains. Proposed model uses five feature-disjoint roles within the SAME total label budget, original pretrained backbone to keep calibration labels outside weight training. Stage order chronological, within-stage sample counts descending. Main score is the FINAL state on ALL held-out rows, not pooled stage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EXP77 final-model full-test results: tabpfn/results/v7/exp77/20261015_230535_initialft10_finalfull_s43_2eb2237d/results.json. Three comparisons: XGB cumulative retraining from scratch at every stage; original pretrained PFN cumulative context; initial-FT PFN cumulative context with frozen weights after stage 1. All plotted metrics independently verified against saved predictions. Slides 6 and 7 use the identical cost definition and linear axis: GPU-synchronized context selection + model construction + fit summed over stages AFTER the initial stage. Initial preparation, initial FT, all inference, serialization, and audit overhead are excluded. Initial FT is disclosed separately. Single seed 43. Other context policies remain in the EXP77 record; classwise and label-budget figures are separate supporting artifacts.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EXP77 released-label budget: CIC2018 1400 / ToN 1700, including all internal validation and calibration. Existing K=4 anchor/residual + S1V0 proposed model uses the original pretrained backbone; global/expert/route/tune/cal split 40/20/20/8/12% by feature groups. This is a same-total-label-budget method comparison. BoostPFN uses the existing project port, 50 learners, 500 rows/learner. EXP78 DistPFN uses original pretrained v3 with NO FT, cumulative context, and current-query-batch posterior adjustment; no query labels. Restored base predictions exactly match EXP77 no-FT PFN. Context preparation costs are shared with that base, not remeasured or taken from the FT branch. DistPFN correction is inference work and is excluded from the context-update graph. Both slides 6 and 7 show only later-stage cumulative update time with the same linear axis; initial preparation and all inference excluded. Detailed inference measurements remain in research records. LoCalPFN excluded. Source: tabpfn/results/v7/exp78/20261016_005435_noft_dist_new100_50_20_10_s43_52588487/dist_results.json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1</a:t>
            </a:r>
          </a:p>
        </p:txBody>
      </p:sp>
      <p:sp>
        <p:nvSpPr>
          <p:cNvPr id="4" name="TextBox 3"/>
          <p:cNvSpPr txBox="1"/>
          <p:nvPr/>
        </p:nvSpPr>
        <p:spPr>
          <a:xfrm>
            <a:off x="850392" y="1600200"/>
            <a:ext cx="10497312" cy="1280160"/>
          </a:xfrm>
          <a:prstGeom prst="rect">
            <a:avLst/>
          </a:prstGeom>
          <a:noFill/>
        </p:spPr>
        <p:txBody>
          <a:bodyPr wrap="square" anchor="ctr" lIns="27432" rIns="27432" tIns="22860" bIns="22860">
            <a:noAutofit/>
          </a:bodyPr>
          <a:lstStyle/>
          <a:p>
            <a:pPr algn="l">
              <a:lnSpc>
                <a:spcPct val="108000"/>
              </a:lnSpc>
              <a:spcAft>
                <a:spcPts val="300"/>
              </a:spcAft>
            </a:pPr>
            <a:r>
              <a:rPr sz="3100" b="0">
                <a:solidFill>
                  <a:srgbClr val="21262E"/>
                </a:solidFill>
                <a:latin typeface="Pretendard"/>
                <a:ea typeface="Pretendard"/>
              </a:rPr>
              <a:t>고정된 환경의 분류 정확도를 넘어</a:t>
            </a:r>
          </a:p>
          <a:p>
            <a:pPr algn="l">
              <a:lnSpc>
                <a:spcPct val="108000"/>
              </a:lnSpc>
              <a:spcAft>
                <a:spcPts val="300"/>
              </a:spcAft>
            </a:pPr>
            <a:r>
              <a:rPr sz="3100" b="0">
                <a:solidFill>
                  <a:srgbClr val="21262E"/>
                </a:solidFill>
                <a:latin typeface="Pretendard"/>
                <a:ea typeface="Pretendard"/>
              </a:rPr>
              <a:t>변화하는 네트워크에서의 적응성 평가</a:t>
            </a:r>
          </a:p>
        </p:txBody>
      </p:sp>
      <p:sp>
        <p:nvSpPr>
          <p:cNvPr id="5" name="TextBox 4"/>
          <p:cNvSpPr txBox="1"/>
          <p:nvPr/>
        </p:nvSpPr>
        <p:spPr>
          <a:xfrm>
            <a:off x="850392" y="3822191"/>
            <a:ext cx="10497312" cy="1280160"/>
          </a:xfrm>
          <a:prstGeom prst="rect">
            <a:avLst/>
          </a:prstGeom>
          <a:noFill/>
        </p:spPr>
        <p:txBody>
          <a:bodyPr wrap="square" anchor="ctr" lIns="27432" rIns="27432" tIns="22860" bIns="22860">
            <a:noAutofit/>
          </a:bodyPr>
          <a:lstStyle/>
          <a:p>
            <a:pPr algn="l">
              <a:lnSpc>
                <a:spcPct val="108000"/>
              </a:lnSpc>
              <a:spcAft>
                <a:spcPts val="300"/>
              </a:spcAft>
            </a:pPr>
            <a:r>
              <a:rPr sz="3100" b="1">
                <a:solidFill>
                  <a:srgbClr val="007BC6"/>
                </a:solidFill>
                <a:latin typeface="Pretendard"/>
                <a:ea typeface="Pretendard"/>
              </a:rPr>
              <a:t>사전학습 TabPFN을 활용한</a:t>
            </a:r>
          </a:p>
          <a:p>
            <a:pPr algn="l">
              <a:lnSpc>
                <a:spcPct val="108000"/>
              </a:lnSpc>
              <a:spcAft>
                <a:spcPts val="300"/>
              </a:spcAft>
            </a:pPr>
            <a:r>
              <a:rPr sz="3100" b="1">
                <a:solidFill>
                  <a:srgbClr val="007BC6"/>
                </a:solidFill>
                <a:latin typeface="Pretendard"/>
                <a:ea typeface="Pretendard"/>
              </a:rPr>
              <a:t>소량 라벨·저비용 탐지 모델 갱신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306C"/>
                </a:solidFill>
                <a:latin typeface="Pretendard"/>
                <a:ea typeface="Pretendard"/>
              </a:rPr>
              <a:t>TabPFN · 표 데이터 예측 규칙을 사전학습한 모델 (v3: arXiv, 2026)</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2</a:t>
            </a:r>
          </a:p>
        </p:txBody>
      </p:sp>
      <p:sp>
        <p:nvSpPr>
          <p:cNvPr id="5" name="TextBox 4"/>
          <p:cNvSpPr txBox="1"/>
          <p:nvPr/>
        </p:nvSpPr>
        <p:spPr>
          <a:xfrm>
            <a:off x="640080" y="1280160"/>
            <a:ext cx="2468880" cy="4572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사전학습</a:t>
            </a:r>
          </a:p>
        </p:txBody>
      </p:sp>
      <p:sp>
        <p:nvSpPr>
          <p:cNvPr id="6" name="TextBox 5"/>
          <p:cNvSpPr txBox="1"/>
          <p:nvPr/>
        </p:nvSpPr>
        <p:spPr>
          <a:xfrm>
            <a:off x="3154680" y="1280160"/>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합성 표 데이터의 8조 개 이상 토큰으로 학습</a:t>
            </a:r>
          </a:p>
          <a:p>
            <a:pPr algn="l">
              <a:lnSpc>
                <a:spcPct val="108000"/>
              </a:lnSpc>
              <a:spcAft>
                <a:spcPts val="300"/>
              </a:spcAft>
            </a:pPr>
            <a:r>
              <a:rPr sz="2100" b="0">
                <a:solidFill>
                  <a:srgbClr val="21262E"/>
                </a:solidFill>
                <a:latin typeface="Pretendard"/>
                <a:ea typeface="Pretendard"/>
              </a:rPr>
              <a:t>일부 행의 정답을 맞히며 표 데이터의 예측 규칙 습득</a:t>
            </a:r>
          </a:p>
        </p:txBody>
      </p:sp>
      <p:sp>
        <p:nvSpPr>
          <p:cNvPr id="7" name="TextBox 6"/>
          <p:cNvSpPr txBox="1"/>
          <p:nvPr/>
        </p:nvSpPr>
        <p:spPr>
          <a:xfrm>
            <a:off x="640080" y="2450592"/>
            <a:ext cx="2468880" cy="9144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In-context learning</a:t>
            </a:r>
          </a:p>
        </p:txBody>
      </p:sp>
      <p:sp>
        <p:nvSpPr>
          <p:cNvPr id="8" name="TextBox 7"/>
          <p:cNvSpPr txBox="1"/>
          <p:nvPr/>
        </p:nvSpPr>
        <p:spPr>
          <a:xfrm>
            <a:off x="3154680" y="2450592"/>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라벨된 사례(context)를 참고해 새 flow(query)의 라벨 예측</a:t>
            </a:r>
          </a:p>
          <a:p>
            <a:pPr algn="l">
              <a:lnSpc>
                <a:spcPct val="108000"/>
              </a:lnSpc>
              <a:spcAft>
                <a:spcPts val="300"/>
              </a:spcAft>
            </a:pPr>
            <a:r>
              <a:rPr sz="2100" b="0">
                <a:solidFill>
                  <a:srgbClr val="21262E"/>
                </a:solidFill>
                <a:latin typeface="Pretendard"/>
                <a:ea typeface="Pretendard"/>
              </a:rPr>
              <a:t>추론 중 모델 가중치는 그대로 유지</a:t>
            </a:r>
          </a:p>
        </p:txBody>
      </p:sp>
      <p:sp>
        <p:nvSpPr>
          <p:cNvPr id="9" name="TextBox 8"/>
          <p:cNvSpPr txBox="1"/>
          <p:nvPr/>
        </p:nvSpPr>
        <p:spPr>
          <a:xfrm>
            <a:off x="640080" y="3621024"/>
            <a:ext cx="2468880" cy="4572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Fine-tuning</a:t>
            </a:r>
          </a:p>
        </p:txBody>
      </p:sp>
      <p:sp>
        <p:nvSpPr>
          <p:cNvPr id="10" name="TextBox 9"/>
          <p:cNvSpPr txBox="1"/>
          <p:nvPr/>
        </p:nvSpPr>
        <p:spPr>
          <a:xfrm>
            <a:off x="3154680" y="3621024"/>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초기 IDS를 context와 query로 나눠 query의 정답 예측</a:t>
            </a:r>
          </a:p>
          <a:p>
            <a:pPr algn="l">
              <a:lnSpc>
                <a:spcPct val="108000"/>
              </a:lnSpc>
              <a:spcAft>
                <a:spcPts val="300"/>
              </a:spcAft>
            </a:pPr>
            <a:r>
              <a:rPr sz="2100" b="0">
                <a:solidFill>
                  <a:srgbClr val="21262E"/>
                </a:solidFill>
                <a:latin typeface="Pretendard"/>
                <a:ea typeface="Pretendard"/>
              </a:rPr>
              <a:t>예측 오류를 역전파해 모델 가중치를 IDS에 맞게 조정</a:t>
            </a:r>
          </a:p>
        </p:txBody>
      </p:sp>
      <p:sp>
        <p:nvSpPr>
          <p:cNvPr id="11" name="Rounded Rectangle 10"/>
          <p:cNvSpPr/>
          <p:nvPr/>
        </p:nvSpPr>
        <p:spPr>
          <a:xfrm>
            <a:off x="640080" y="4983480"/>
            <a:ext cx="10899648" cy="1024128"/>
          </a:xfrm>
          <a:prstGeom prst="roundRect">
            <a:avLst>
              <a:gd name="adj" fmla="val 3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5074920"/>
            <a:ext cx="10515600" cy="329184"/>
          </a:xfrm>
          <a:prstGeom prst="rect">
            <a:avLst/>
          </a:prstGeom>
          <a:noFill/>
        </p:spPr>
        <p:txBody>
          <a:bodyPr wrap="square" anchor="ctr" lIns="27432" rIns="27432" tIns="22860" bIns="22860">
            <a:noAutofit/>
          </a:bodyPr>
          <a:lstStyle/>
          <a:p>
            <a:pPr algn="l">
              <a:lnSpc>
                <a:spcPct val="108000"/>
              </a:lnSpc>
              <a:spcAft>
                <a:spcPts val="300"/>
              </a:spcAft>
            </a:pPr>
            <a:r>
              <a:rPr sz="2000" b="1">
                <a:solidFill>
                  <a:srgbClr val="00306C"/>
                </a:solidFill>
                <a:latin typeface="Pretendard"/>
                <a:ea typeface="Pretendard"/>
              </a:rPr>
              <a:t>초기 IDS로 1회 fine-tuning → 가중치 고정 → 기존 클래스 유지 + 신규 사례 반영</a:t>
            </a:r>
          </a:p>
        </p:txBody>
      </p:sp>
      <p:sp>
        <p:nvSpPr>
          <p:cNvPr id="13" name="TextBox 12"/>
          <p:cNvSpPr txBox="1"/>
          <p:nvPr/>
        </p:nvSpPr>
        <p:spPr>
          <a:xfrm>
            <a:off x="832104" y="5541264"/>
            <a:ext cx="10515600" cy="310896"/>
          </a:xfrm>
          <a:prstGeom prst="rect">
            <a:avLst/>
          </a:prstGeom>
          <a:noFill/>
        </p:spPr>
        <p:txBody>
          <a:bodyPr wrap="square" anchor="ctr" lIns="27432" rIns="27432" tIns="22860" bIns="22860">
            <a:noAutofit/>
          </a:bodyPr>
          <a:lstStyle/>
          <a:p>
            <a:pPr algn="l">
              <a:lnSpc>
                <a:spcPct val="108000"/>
              </a:lnSpc>
              <a:spcAft>
                <a:spcPts val="300"/>
              </a:spcAft>
            </a:pPr>
            <a:r>
              <a:rPr sz="2000" b="0">
                <a:solidFill>
                  <a:srgbClr val="007BC6"/>
                </a:solidFill>
                <a:latin typeface="Pretendard"/>
                <a:ea typeface="Pretendard"/>
              </a:rPr>
              <a:t>기대: 반복 재학습과 비슷한 탐지 품질을 더 적은 데이터·갱신 비용으로 달성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v3 구조</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3</a:t>
            </a:r>
          </a:p>
        </p:txBody>
      </p:sp>
      <p:pic>
        <p:nvPicPr>
          <p:cNvPr id="5" name="Picture 4" descr="v3_architecture_page.png"/>
          <p:cNvPicPr>
            <a:picLocks noChangeAspect="1"/>
          </p:cNvPicPr>
          <p:nvPr/>
        </p:nvPicPr>
        <p:blipFill>
          <a:blip r:embed="rId3"/>
          <a:srcRect l="20000" r="19000" t="8200" b="28500"/>
          <a:stretch>
            <a:fillRect/>
          </a:stretch>
        </p:blipFill>
        <p:spPr>
          <a:xfrm>
            <a:off x="621792" y="987552"/>
            <a:ext cx="3657600" cy="5349240"/>
          </a:xfrm>
          <a:prstGeom prst="rect">
            <a:avLst/>
          </a:prstGeom>
        </p:spPr>
      </p:pic>
      <p:sp>
        <p:nvSpPr>
          <p:cNvPr id="6" name="TextBox 5"/>
          <p:cNvSpPr txBox="1"/>
          <p:nvPr/>
        </p:nvSpPr>
        <p:spPr>
          <a:xfrm>
            <a:off x="4681728" y="1280160"/>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① 입력 변환 · Cell embedding</a:t>
            </a:r>
          </a:p>
        </p:txBody>
      </p:sp>
      <p:sp>
        <p:nvSpPr>
          <p:cNvPr id="7" name="TextBox 6"/>
          <p:cNvSpPr txBox="1"/>
          <p:nvPr/>
        </p:nvSpPr>
        <p:spPr>
          <a:xfrm>
            <a:off x="4700016" y="1819655"/>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패킷 길이·지속시간 등의 값을 숫자 벡터로 변환</a:t>
            </a:r>
          </a:p>
          <a:p>
            <a:pPr algn="l">
              <a:lnSpc>
                <a:spcPct val="108000"/>
              </a:lnSpc>
              <a:spcAft>
                <a:spcPts val="300"/>
              </a:spcAft>
            </a:pPr>
            <a:r>
              <a:rPr sz="2100" b="0">
                <a:solidFill>
                  <a:srgbClr val="21262E"/>
                </a:solidFill>
                <a:latin typeface="Pretendard"/>
                <a:ea typeface="Pretendard"/>
              </a:rPr>
              <a:t>값이 비어 있는 위치도 함께 표시</a:t>
            </a:r>
          </a:p>
        </p:txBody>
      </p:sp>
      <p:sp>
        <p:nvSpPr>
          <p:cNvPr id="8" name="TextBox 7"/>
          <p:cNvSpPr txBox="1"/>
          <p:nvPr/>
        </p:nvSpPr>
        <p:spPr>
          <a:xfrm>
            <a:off x="4681728" y="2907792"/>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② 특징별 분포 파악 · Feature embedding</a:t>
            </a:r>
          </a:p>
        </p:txBody>
      </p:sp>
      <p:sp>
        <p:nvSpPr>
          <p:cNvPr id="9" name="TextBox 8"/>
          <p:cNvSpPr txBox="1"/>
          <p:nvPr/>
        </p:nvSpPr>
        <p:spPr>
          <a:xfrm>
            <a:off x="4700016" y="3447288"/>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여러 flow를 살펴 각 특징의 값 분포를 요약</a:t>
            </a:r>
          </a:p>
          <a:p>
            <a:pPr algn="l">
              <a:lnSpc>
                <a:spcPct val="108000"/>
              </a:lnSpc>
              <a:spcAft>
                <a:spcPts val="300"/>
              </a:spcAft>
            </a:pPr>
            <a:r>
              <a:rPr sz="2100" b="0">
                <a:solidFill>
                  <a:srgbClr val="21262E"/>
                </a:solidFill>
                <a:latin typeface="Pretendard"/>
                <a:ea typeface="Pretendard"/>
              </a:rPr>
              <a:t>Context의 정상·공격 라벨도 함께 반영</a:t>
            </a:r>
          </a:p>
        </p:txBody>
      </p:sp>
      <p:sp>
        <p:nvSpPr>
          <p:cNvPr id="10" name="TextBox 9"/>
          <p:cNvSpPr txBox="1"/>
          <p:nvPr/>
        </p:nvSpPr>
        <p:spPr>
          <a:xfrm>
            <a:off x="4681728" y="4535424"/>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③ Flow별 정보 통합 · Feature aggregation</a:t>
            </a:r>
          </a:p>
        </p:txBody>
      </p:sp>
      <p:sp>
        <p:nvSpPr>
          <p:cNvPr id="11" name="TextBox 10"/>
          <p:cNvSpPr txBox="1"/>
          <p:nvPr/>
        </p:nvSpPr>
        <p:spPr>
          <a:xfrm>
            <a:off x="4700016" y="5074920"/>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한 flow의 여러 특징을 하나의 표현으로 통합</a:t>
            </a:r>
          </a:p>
          <a:p>
            <a:pPr algn="l">
              <a:lnSpc>
                <a:spcPct val="108000"/>
              </a:lnSpc>
              <a:spcAft>
                <a:spcPts val="300"/>
              </a:spcAft>
            </a:pPr>
            <a:r>
              <a:rPr sz="2100" b="0">
                <a:solidFill>
                  <a:srgbClr val="21262E"/>
                </a:solidFill>
                <a:latin typeface="Pretendard"/>
                <a:ea typeface="Pretendard"/>
              </a:rPr>
              <a:t>이 표현을 이용해 flow 사이의 관계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v3 구조</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4</a:t>
            </a:r>
          </a:p>
        </p:txBody>
      </p:sp>
      <p:pic>
        <p:nvPicPr>
          <p:cNvPr id="5" name="Picture 4" descr="v3_architecture_page.png"/>
          <p:cNvPicPr>
            <a:picLocks noChangeAspect="1"/>
          </p:cNvPicPr>
          <p:nvPr/>
        </p:nvPicPr>
        <p:blipFill>
          <a:blip r:embed="rId3"/>
          <a:srcRect l="20000" r="19000" t="8200" b="28500"/>
          <a:stretch>
            <a:fillRect/>
          </a:stretch>
        </p:blipFill>
        <p:spPr>
          <a:xfrm>
            <a:off x="621792" y="987552"/>
            <a:ext cx="3657600" cy="5349240"/>
          </a:xfrm>
          <a:prstGeom prst="rect">
            <a:avLst/>
          </a:prstGeom>
        </p:spPr>
      </p:pic>
      <p:sp>
        <p:nvSpPr>
          <p:cNvPr id="6" name="TextBox 5"/>
          <p:cNvSpPr txBox="1"/>
          <p:nvPr/>
        </p:nvSpPr>
        <p:spPr>
          <a:xfrm>
            <a:off x="4681728" y="1591056"/>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④ 사례 참조 · In-context learning</a:t>
            </a:r>
          </a:p>
        </p:txBody>
      </p:sp>
      <p:sp>
        <p:nvSpPr>
          <p:cNvPr id="7" name="TextBox 6"/>
          <p:cNvSpPr txBox="1"/>
          <p:nvPr/>
        </p:nvSpPr>
        <p:spPr>
          <a:xfrm>
            <a:off x="4700016" y="2130552"/>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새 flow(query)가 라벨된 기존 사례(context)를 참조</a:t>
            </a:r>
          </a:p>
          <a:p>
            <a:pPr algn="l">
              <a:lnSpc>
                <a:spcPct val="108000"/>
              </a:lnSpc>
              <a:spcAft>
                <a:spcPts val="300"/>
              </a:spcAft>
            </a:pPr>
            <a:r>
              <a:rPr sz="2100" b="0">
                <a:solidFill>
                  <a:srgbClr val="21262E"/>
                </a:solidFill>
                <a:latin typeface="Pretendard"/>
                <a:ea typeface="Pretendard"/>
              </a:rPr>
              <a:t>어떤 사례가 예측에 도움이 되는지 attention으로 계산</a:t>
            </a:r>
          </a:p>
        </p:txBody>
      </p:sp>
      <p:sp>
        <p:nvSpPr>
          <p:cNvPr id="8" name="TextBox 7"/>
          <p:cNvSpPr txBox="1"/>
          <p:nvPr/>
        </p:nvSpPr>
        <p:spPr>
          <a:xfrm>
            <a:off x="4681728" y="3794760"/>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⑤ 확률 출력 · Many-class decoder</a:t>
            </a:r>
          </a:p>
        </p:txBody>
      </p:sp>
      <p:sp>
        <p:nvSpPr>
          <p:cNvPr id="9" name="TextBox 8"/>
          <p:cNvSpPr txBox="1"/>
          <p:nvPr/>
        </p:nvSpPr>
        <p:spPr>
          <a:xfrm>
            <a:off x="4700016" y="4334256"/>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관련성이 큰 사례의 라벨에 더 큰 가중치 부여</a:t>
            </a:r>
          </a:p>
          <a:p>
            <a:pPr algn="l">
              <a:lnSpc>
                <a:spcPct val="108000"/>
              </a:lnSpc>
              <a:spcAft>
                <a:spcPts val="300"/>
              </a:spcAft>
            </a:pPr>
            <a:r>
              <a:rPr sz="2100" b="0">
                <a:solidFill>
                  <a:srgbClr val="21262E"/>
                </a:solidFill>
                <a:latin typeface="Pretendard"/>
                <a:ea typeface="Pretendard"/>
              </a:rPr>
              <a:t>참고한 라벨을 모아 정상·공격별 확률 계산</a:t>
            </a:r>
          </a:p>
        </p:txBody>
      </p:sp>
      <p:sp>
        <p:nvSpPr>
          <p:cNvPr id="10" name="TextBox 9"/>
          <p:cNvSpPr txBox="1"/>
          <p:nvPr/>
        </p:nvSpPr>
        <p:spPr>
          <a:xfrm>
            <a:off x="4700016" y="5431536"/>
            <a:ext cx="6839712" cy="585216"/>
          </a:xfrm>
          <a:prstGeom prst="rect">
            <a:avLst/>
          </a:prstGeom>
          <a:noFill/>
        </p:spPr>
        <p:txBody>
          <a:bodyPr wrap="square" anchor="ctr" lIns="27432" rIns="27432" tIns="22860" bIns="22860">
            <a:noAutofit/>
          </a:bodyPr>
          <a:lstStyle/>
          <a:p>
            <a:pPr algn="l">
              <a:lnSpc>
                <a:spcPct val="108000"/>
              </a:lnSpc>
              <a:spcAft>
                <a:spcPts val="300"/>
              </a:spcAft>
            </a:pPr>
            <a:r>
              <a:rPr sz="1900" b="1">
                <a:solidFill>
                  <a:srgbClr val="007BC6"/>
                </a:solidFill>
                <a:latin typeface="Pretendard"/>
                <a:ea typeface="Pretendard"/>
              </a:rPr>
              <a:t>기존 클래스도 분류하려면</a:t>
            </a:r>
          </a:p>
          <a:p>
            <a:pPr algn="l">
              <a:lnSpc>
                <a:spcPct val="108000"/>
              </a:lnSpc>
              <a:spcAft>
                <a:spcPts val="300"/>
              </a:spcAft>
            </a:pPr>
            <a:r>
              <a:rPr sz="1900" b="1">
                <a:solidFill>
                  <a:srgbClr val="007BC6"/>
                </a:solidFill>
                <a:latin typeface="Pretendard"/>
                <a:ea typeface="Pretendard"/>
              </a:rPr>
              <a:t>해당 라벨의 context 유지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평가시나리오</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5</a:t>
            </a:r>
          </a:p>
        </p:txBody>
      </p:sp>
      <p:sp>
        <p:nvSpPr>
          <p:cNvPr id="5" name="TextBox 4"/>
          <p:cNvSpPr txBox="1"/>
          <p:nvPr/>
        </p:nvSpPr>
        <p:spPr>
          <a:xfrm>
            <a:off x="603504" y="932688"/>
            <a:ext cx="10972800" cy="347472"/>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초기 FT 비교군: 1단계 10 epoch FT · 이후 가중치 고정 · 단계순, 단계 내 표본 수 내림차순</a:t>
            </a:r>
          </a:p>
        </p:txBody>
      </p:sp>
      <p:sp>
        <p:nvSpPr>
          <p:cNvPr id="6" name="TextBox 5"/>
          <p:cNvSpPr txBox="1"/>
          <p:nvPr/>
        </p:nvSpPr>
        <p:spPr>
          <a:xfrm>
            <a:off x="603504" y="1371600"/>
            <a:ext cx="5257800" cy="36576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CIC2018</a:t>
            </a:r>
          </a:p>
        </p:txBody>
      </p:sp>
      <p:graphicFrame>
        <p:nvGraphicFramePr>
          <p:cNvPr id="7" name="Table 6"/>
          <p:cNvGraphicFramePr>
            <a:graphicFrameLocks noGrp="1"/>
          </p:cNvGraphicFramePr>
          <p:nvPr/>
        </p:nvGraphicFramePr>
        <p:xfrm>
          <a:off x="603504" y="1837943"/>
          <a:ext cx="5175504" cy="3319272"/>
        </p:xfrm>
        <a:graphic>
          <a:graphicData uri="http://schemas.openxmlformats.org/drawingml/2006/table">
            <a:tbl>
              <a:tblPr firstRow="1" bandRow="1">
                <a:tableStyleId>{5C22544A-7EE6-4342-B048-85BDC9FD1C3A}</a:tableStyleId>
              </a:tblPr>
              <a:tblGrid>
                <a:gridCol w="594360"/>
                <a:gridCol w="2221992"/>
                <a:gridCol w="1115568"/>
                <a:gridCol w="1243584"/>
              </a:tblGrid>
              <a:tr h="393192">
                <a:tc>
                  <a:txBody>
                    <a:bodyPr wrap="square" anchor="ctr" lIns="27432" rIns="27432" tIns="22860" bIns="22860">
                      <a:noAutofit/>
                    </a:bodyPr>
                    <a:lstStyle/>
                    <a:p>
                      <a:pPr algn="ctr">
                        <a:lnSpc>
                          <a:spcPct val="108000"/>
                        </a:lnSpc>
                        <a:spcAft>
                          <a:spcPts val="300"/>
                        </a:spcAft>
                      </a:pPr>
                      <a:r>
                        <a:rPr sz="1400" b="1">
                          <a:solidFill>
                            <a:srgbClr val="FFFFFF"/>
                          </a:solidFill>
                          <a:latin typeface="Pretendard"/>
                          <a:ea typeface="Pretendard"/>
                        </a:rPr>
                        <a:t>단계</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신규 공개 클래스</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클래스별 수</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누적 수</a:t>
                      </a:r>
                    </a:p>
                  </a:txBody>
                  <a:tcPr>
                    <a:solidFill>
                      <a:srgbClr val="00306C"/>
                    </a:solidFill>
                  </a:tcPr>
                </a:tc>
              </a:tr>
              <a:tr h="98755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1</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Benign</a:t>
                      </a:r>
                    </a:p>
                    <a:p>
                      <a:pPr algn="l">
                        <a:lnSpc>
                          <a:spcPct val="108000"/>
                        </a:lnSpc>
                        <a:spcAft>
                          <a:spcPts val="300"/>
                        </a:spcAft>
                      </a:pPr>
                      <a:r>
                        <a:rPr sz="1550" b="0">
                          <a:solidFill>
                            <a:srgbClr val="21262E"/>
                          </a:solidFill>
                          <a:latin typeface="Pretendard"/>
                          <a:ea typeface="Pretendard"/>
                        </a:rPr>
                        <a:t>Brute force</a:t>
                      </a:r>
                    </a:p>
                    <a:p>
                      <a:pPr algn="l">
                        <a:lnSpc>
                          <a:spcPct val="108000"/>
                        </a:lnSpc>
                        <a:spcAft>
                          <a:spcPts val="300"/>
                        </a:spcAft>
                      </a:pPr>
                      <a:r>
                        <a:rPr sz="1550" b="0">
                          <a:solidFill>
                            <a:srgbClr val="21262E"/>
                          </a:solidFill>
                          <a:latin typeface="Pretendard"/>
                          <a:ea typeface="Pretendard"/>
                        </a:rPr>
                        <a:t>DoS</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750</a:t>
                      </a:r>
                    </a:p>
                    <a:p>
                      <a:pPr algn="r">
                        <a:lnSpc>
                          <a:spcPct val="108000"/>
                        </a:lnSpc>
                        <a:spcAft>
                          <a:spcPts val="300"/>
                        </a:spcAft>
                      </a:pPr>
                      <a:r>
                        <a:rPr sz="1550" b="0">
                          <a:solidFill>
                            <a:srgbClr val="21262E"/>
                          </a:solidFill>
                          <a:latin typeface="Pretendard"/>
                          <a:ea typeface="Pretendard"/>
                        </a:rPr>
                        <a:t>125</a:t>
                      </a:r>
                    </a:p>
                    <a:p>
                      <a:pPr algn="r">
                        <a:lnSpc>
                          <a:spcPct val="108000"/>
                        </a:lnSpc>
                        <a:spcAft>
                          <a:spcPts val="300"/>
                        </a:spcAft>
                      </a:pPr>
                      <a:r>
                        <a:rPr sz="1550" b="0">
                          <a:solidFill>
                            <a:srgbClr val="21262E"/>
                          </a:solidFill>
                          <a:latin typeface="Pretendard"/>
                          <a:ea typeface="Pretendard"/>
                        </a:rPr>
                        <a:t>125</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2</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DDoS</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1,100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3</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Web attacks</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1,200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4</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Infiltration</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1,300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5</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Bot</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1,400</a:t>
                      </a:r>
                    </a:p>
                  </a:txBody>
                  <a:tcPr>
                    <a:solidFill>
                      <a:srgbClr val="F0F5FA"/>
                    </a:solidFill>
                  </a:tcPr>
                </a:tc>
              </a:tr>
            </a:tbl>
          </a:graphicData>
        </a:graphic>
      </p:graphicFrame>
      <p:sp>
        <p:nvSpPr>
          <p:cNvPr id="8" name="TextBox 7"/>
          <p:cNvSpPr txBox="1"/>
          <p:nvPr/>
        </p:nvSpPr>
        <p:spPr>
          <a:xfrm>
            <a:off x="6309360" y="1371600"/>
            <a:ext cx="5257800" cy="36576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ToN</a:t>
            </a:r>
          </a:p>
        </p:txBody>
      </p:sp>
      <p:graphicFrame>
        <p:nvGraphicFramePr>
          <p:cNvPr id="9" name="Table 8"/>
          <p:cNvGraphicFramePr>
            <a:graphicFrameLocks noGrp="1"/>
          </p:cNvGraphicFramePr>
          <p:nvPr/>
        </p:nvGraphicFramePr>
        <p:xfrm>
          <a:off x="6309360" y="1837943"/>
          <a:ext cx="5175504" cy="4187952"/>
        </p:xfrm>
        <a:graphic>
          <a:graphicData uri="http://schemas.openxmlformats.org/drawingml/2006/table">
            <a:tbl>
              <a:tblPr firstRow="1" bandRow="1">
                <a:tableStyleId>{5C22544A-7EE6-4342-B048-85BDC9FD1C3A}</a:tableStyleId>
              </a:tblPr>
              <a:tblGrid>
                <a:gridCol w="594360"/>
                <a:gridCol w="2221992"/>
                <a:gridCol w="1115568"/>
                <a:gridCol w="1243584"/>
              </a:tblGrid>
              <a:tr h="393192">
                <a:tc>
                  <a:txBody>
                    <a:bodyPr wrap="square" anchor="ctr" lIns="27432" rIns="27432" tIns="22860" bIns="22860">
                      <a:noAutofit/>
                    </a:bodyPr>
                    <a:lstStyle/>
                    <a:p>
                      <a:pPr algn="ctr">
                        <a:lnSpc>
                          <a:spcPct val="108000"/>
                        </a:lnSpc>
                        <a:spcAft>
                          <a:spcPts val="300"/>
                        </a:spcAft>
                      </a:pPr>
                      <a:r>
                        <a:rPr sz="1400" b="1">
                          <a:solidFill>
                            <a:srgbClr val="FFFFFF"/>
                          </a:solidFill>
                          <a:latin typeface="Pretendard"/>
                          <a:ea typeface="Pretendard"/>
                        </a:rPr>
                        <a:t>단계</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신규 공개 클래스</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클래스별 수</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누적 수</a:t>
                      </a:r>
                    </a:p>
                  </a:txBody>
                  <a:tcPr>
                    <a:solidFill>
                      <a:srgbClr val="00306C"/>
                    </a:solidFill>
                  </a:tcPr>
                </a:tc>
              </a:tr>
              <a:tr h="98755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1</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Benign</a:t>
                      </a:r>
                    </a:p>
                    <a:p>
                      <a:pPr algn="l">
                        <a:lnSpc>
                          <a:spcPct val="108000"/>
                        </a:lnSpc>
                        <a:spcAft>
                          <a:spcPts val="300"/>
                        </a:spcAft>
                      </a:pPr>
                      <a:r>
                        <a:rPr sz="1550" b="0">
                          <a:solidFill>
                            <a:srgbClr val="21262E"/>
                          </a:solidFill>
                          <a:latin typeface="Pretendard"/>
                          <a:ea typeface="Pretendard"/>
                        </a:rPr>
                        <a:t>DoS</a:t>
                      </a:r>
                    </a:p>
                    <a:p>
                      <a:pPr algn="l">
                        <a:lnSpc>
                          <a:spcPct val="108000"/>
                        </a:lnSpc>
                        <a:spcAft>
                          <a:spcPts val="300"/>
                        </a:spcAft>
                      </a:pPr>
                      <a:r>
                        <a:rPr sz="1550" b="0">
                          <a:solidFill>
                            <a:srgbClr val="21262E"/>
                          </a:solidFill>
                          <a:latin typeface="Pretendard"/>
                          <a:ea typeface="Pretendard"/>
                        </a:rPr>
                        <a:t>Scanning</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750</a:t>
                      </a:r>
                    </a:p>
                    <a:p>
                      <a:pPr algn="r">
                        <a:lnSpc>
                          <a:spcPct val="108000"/>
                        </a:lnSpc>
                        <a:spcAft>
                          <a:spcPts val="300"/>
                        </a:spcAft>
                      </a:pPr>
                      <a:r>
                        <a:rPr sz="1550" b="0">
                          <a:solidFill>
                            <a:srgbClr val="21262E"/>
                          </a:solidFill>
                          <a:latin typeface="Pretendard"/>
                          <a:ea typeface="Pretendard"/>
                        </a:rPr>
                        <a:t>125</a:t>
                      </a:r>
                    </a:p>
                    <a:p>
                      <a:pPr algn="r">
                        <a:lnSpc>
                          <a:spcPct val="108000"/>
                        </a:lnSpc>
                        <a:spcAft>
                          <a:spcPts val="300"/>
                        </a:spcAft>
                      </a:pPr>
                      <a:r>
                        <a:rPr sz="1550" b="0">
                          <a:solidFill>
                            <a:srgbClr val="21262E"/>
                          </a:solidFill>
                          <a:latin typeface="Pretendard"/>
                          <a:ea typeface="Pretendard"/>
                        </a:rPr>
                        <a:t>125</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1,000</a:t>
                      </a:r>
                    </a:p>
                  </a:txBody>
                  <a:tcPr>
                    <a:solidFill>
                      <a:srgbClr val="F0F5FA"/>
                    </a:solidFill>
                  </a:tcPr>
                </a:tc>
              </a:tr>
              <a:tr h="676656">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2</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DDoS</a:t>
                      </a:r>
                    </a:p>
                    <a:p>
                      <a:pPr algn="l">
                        <a:lnSpc>
                          <a:spcPct val="108000"/>
                        </a:lnSpc>
                        <a:spcAft>
                          <a:spcPts val="300"/>
                        </a:spcAft>
                      </a:pPr>
                      <a:r>
                        <a:rPr sz="1550" b="0">
                          <a:solidFill>
                            <a:srgbClr val="21262E"/>
                          </a:solidFill>
                          <a:latin typeface="Pretendard"/>
                          <a:ea typeface="Pretendard"/>
                        </a:rPr>
                        <a:t>Injection</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1,200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3</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Password</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1,300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4</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XSS</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1,400</a:t>
                      </a:r>
                    </a:p>
                  </a:txBody>
                  <a:tcPr>
                    <a:solidFill>
                      <a:srgbClr val="FFFFFF"/>
                    </a:solidFill>
                  </a:tcPr>
                </a:tc>
              </a:tr>
              <a:tr h="676656">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5</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Backdoor</a:t>
                      </a:r>
                    </a:p>
                    <a:p>
                      <a:pPr algn="l">
                        <a:lnSpc>
                          <a:spcPct val="108000"/>
                        </a:lnSpc>
                        <a:spcAft>
                          <a:spcPts val="300"/>
                        </a:spcAft>
                      </a:pPr>
                      <a:r>
                        <a:rPr sz="1550" b="0">
                          <a:solidFill>
                            <a:srgbClr val="21262E"/>
                          </a:solidFill>
                          <a:latin typeface="Pretendard"/>
                          <a:ea typeface="Pretendard"/>
                        </a:rPr>
                        <a:t>Ransomware</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1,600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6</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MitM</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1,700</a:t>
                      </a:r>
                    </a:p>
                  </a:txBody>
                  <a:tcPr>
                    <a:solidFill>
                      <a:srgbClr val="FFFFFF"/>
                    </a:solidFill>
                  </a:tcPr>
                </a:tc>
              </a:tr>
            </a:tbl>
          </a:graphicData>
        </a:graphic>
      </p:graphicFrame>
      <p:sp>
        <p:nvSpPr>
          <p:cNvPr id="10" name="TextBox 9"/>
          <p:cNvSpPr txBox="1"/>
          <p:nvPr/>
        </p:nvSpPr>
        <p:spPr>
          <a:xfrm>
            <a:off x="640080" y="6108192"/>
            <a:ext cx="10927080" cy="246888"/>
          </a:xfrm>
          <a:prstGeom prst="rect">
            <a:avLst/>
          </a:prstGeom>
          <a:noFill/>
        </p:spPr>
        <p:txBody>
          <a:bodyPr wrap="square" anchor="ctr" lIns="27432" rIns="27432" tIns="22860" bIns="22860">
            <a:noAutofit/>
          </a:bodyPr>
          <a:lstStyle/>
          <a:p>
            <a:pPr algn="l">
              <a:lnSpc>
                <a:spcPct val="108000"/>
              </a:lnSpc>
              <a:spcAft>
                <a:spcPts val="300"/>
              </a:spcAft>
            </a:pPr>
            <a:r>
              <a:rPr sz="1450" b="0">
                <a:solidFill>
                  <a:srgbClr val="65717D"/>
                </a:solidFill>
                <a:latin typeface="Pretendard"/>
                <a:ea typeface="Pretendard"/>
              </a:rPr>
              <a:t>최종 상태로 전체 test 평가 · CIC2018 3,042,473개 / ToN 2,271,723개 · seed 43 단일 실행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결과</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6</a:t>
            </a:r>
          </a:p>
        </p:txBody>
      </p:sp>
      <p:sp>
        <p:nvSpPr>
          <p:cNvPr id="5" name="TextBox 4"/>
          <p:cNvSpPr txBox="1"/>
          <p:nvPr/>
        </p:nvSpPr>
        <p:spPr>
          <a:xfrm>
            <a:off x="603504" y="950976"/>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50" b="0">
                <a:solidFill>
                  <a:srgbClr val="65717D"/>
                </a:solidFill>
                <a:latin typeface="Pretendard"/>
                <a:ea typeface="Pretendard"/>
              </a:rPr>
              <a:t>최종 상태 전체 test 평가 · XGB: 누적 재학습 · PFN 두 조건: 누적 context 갱신</a:t>
            </a:r>
          </a:p>
        </p:txBody>
      </p:sp>
      <p:pic>
        <p:nvPicPr>
          <p:cNvPr id="6" name="Picture 5" descr="small_context_results.png"/>
          <p:cNvPicPr>
            <a:picLocks noChangeAspect="1"/>
          </p:cNvPicPr>
          <p:nvPr/>
        </p:nvPicPr>
        <p:blipFill>
          <a:blip r:embed="rId3"/>
          <a:stretch>
            <a:fillRect/>
          </a:stretch>
        </p:blipFill>
        <p:spPr>
          <a:xfrm>
            <a:off x="237744" y="1344168"/>
            <a:ext cx="11658600" cy="4663440"/>
          </a:xfrm>
          <a:prstGeom prst="rect">
            <a:avLst/>
          </a:prstGeom>
        </p:spPr>
      </p:pic>
      <p:sp>
        <p:nvSpPr>
          <p:cNvPr id="7" name="TextBox 6"/>
          <p:cNvSpPr txBox="1"/>
          <p:nvPr/>
        </p:nvSpPr>
        <p:spPr>
          <a:xfrm>
            <a:off x="630936" y="6062472"/>
            <a:ext cx="10972800" cy="228600"/>
          </a:xfrm>
          <a:prstGeom prst="rect">
            <a:avLst/>
          </a:prstGeom>
          <a:noFill/>
        </p:spPr>
        <p:txBody>
          <a:bodyPr wrap="square" anchor="ctr" lIns="27432" rIns="27432" tIns="22860" bIns="22860">
            <a:noAutofit/>
          </a:bodyPr>
          <a:lstStyle/>
          <a:p>
            <a:pPr algn="l">
              <a:lnSpc>
                <a:spcPct val="108000"/>
              </a:lnSpc>
              <a:spcAft>
                <a:spcPts val="300"/>
              </a:spcAft>
            </a:pPr>
            <a:r>
              <a:rPr sz="1400" b="0">
                <a:solidFill>
                  <a:srgbClr val="65717D"/>
                </a:solidFill>
                <a:latin typeface="Pretendard"/>
                <a:ea typeface="Pretendard"/>
              </a:rPr>
              <a:t>비용: 2단계 이후 갱신 합계 · 초기 준비·추론 제외 · 초기 FT 별도: CIC2018 2.76초 / ToN 2.01초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제안 모델·SOTA 비교</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7</a:t>
            </a:r>
          </a:p>
        </p:txBody>
      </p:sp>
      <p:sp>
        <p:nvSpPr>
          <p:cNvPr id="5" name="TextBox 4"/>
          <p:cNvSpPr txBox="1"/>
          <p:nvPr/>
        </p:nvSpPr>
        <p:spPr>
          <a:xfrm>
            <a:off x="603504" y="932688"/>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동일 라벨 예산: CIC2018 1,400개 / ToN 1,700개 · 비용: 2단계 이후 갱신 합계</a:t>
            </a:r>
          </a:p>
        </p:txBody>
      </p:sp>
      <p:pic>
        <p:nvPicPr>
          <p:cNvPr id="6" name="Picture 5" descr="small_sota_results.png"/>
          <p:cNvPicPr>
            <a:picLocks noChangeAspect="1"/>
          </p:cNvPicPr>
          <p:nvPr/>
        </p:nvPicPr>
        <p:blipFill>
          <a:blip r:embed="rId3"/>
          <a:stretch>
            <a:fillRect/>
          </a:stretch>
        </p:blipFill>
        <p:spPr>
          <a:xfrm>
            <a:off x="201168" y="1344168"/>
            <a:ext cx="11704320" cy="4617720"/>
          </a:xfrm>
          <a:prstGeom prst="rect">
            <a:avLst/>
          </a:prstGeom>
        </p:spPr>
      </p:pic>
      <p:sp>
        <p:nvSpPr>
          <p:cNvPr id="7" name="TextBox 6"/>
          <p:cNvSpPr txBox="1"/>
          <p:nvPr/>
        </p:nvSpPr>
        <p:spPr>
          <a:xfrm>
            <a:off x="630936" y="6071616"/>
            <a:ext cx="10972800" cy="228600"/>
          </a:xfrm>
          <a:prstGeom prst="rect">
            <a:avLst/>
          </a:prstGeom>
          <a:noFill/>
        </p:spPr>
        <p:txBody>
          <a:bodyPr wrap="square" anchor="ctr" lIns="27432" rIns="27432" tIns="22860" bIns="22860">
            <a:noAutofit/>
          </a:bodyPr>
          <a:lstStyle/>
          <a:p>
            <a:pPr algn="l">
              <a:lnSpc>
                <a:spcPct val="108000"/>
              </a:lnSpc>
              <a:spcAft>
                <a:spcPts val="300"/>
              </a:spcAft>
            </a:pPr>
            <a:r>
              <a:rPr sz="1350" b="0">
                <a:solidFill>
                  <a:srgbClr val="65717D"/>
                </a:solidFill>
                <a:latin typeface="Pretendard"/>
                <a:ea typeface="Pretendard"/>
              </a:rPr>
              <a:t>초기 준비·추론 비용 제외 · DistPFN: FT 없는 PFN에 추론 시 확률 보정 · 제안 모델: 두 데이터 모두 Global 유지</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운영을 위한 TabPFN 활용</dc:title>
  <dc:subject>데이터 검토, anchor와 residual context, expert 및 S/V 결과, SOTA, 후속 context 접근</dc:subject>
  <dc:creator>Seunghyun Yoon</dc:creator>
  <cp:lastModifiedBy>박민서</cp:lastModifiedBy>
  <cp:revision>4</cp:revision>
  <dcterms:created xsi:type="dcterms:W3CDTF">2026-08-09T04:01:58Z</dcterms:created>
  <dcterms:modified xsi:type="dcterms:W3CDTF">2026-09-03T15:12:22Z</dcterms:modified>
  <dc:description>Korean only. Simplified motivation, arrival evidence near the opening, data cleaning, static model performance/cost, system-level follow-up.</dc:description>
</cp:coreProperties>
</file>