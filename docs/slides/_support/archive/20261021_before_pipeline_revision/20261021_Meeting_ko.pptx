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오늘 다루는 문제는 운영을 시작할 때 없었던 공격의 라벨 사례가 나중에 소량 확보되는 상황입니다. 기존 정상과 공격을 계속 구분하면서 그 새 사례를 반영해야 합니다. 선행연구가 지적한 자료 부족과 오탐 문제를 이 갱신 상황에서 살펴보겠습니다.</a:t>
            </a:r>
          </a:p>
          <a:p/>
          <a:p>
            <a:r>
              <a:t>근거와 해석 범위</a:t>
            </a:r>
          </a:p>
          <a:p>
            <a:r>
              <a:t>IDS를 먼저 정의한다. 선행연구는 주로 anomaly-based IDS의 운영상 어려움을 논의했으며 XGB나 TabPFN의 직접 비교가 아니다. 새 공격 라벨 확보 이후의 갱신을 본 연구 문제로 구체화한다. 신규 공격을 라벨 확보 전에 탐지했다는 주장은 하지 않는다. https://www.icir.org/robin/papers/oakland10-ml.pdf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공식 CIC 자료는 서로 다른 날짜에 여러 공격을 실행한 시험망 수집 자료입니다. 이는 공격 종류가 달라지는 구체적인 사례입니다. 우리는 날짜별 전체 트래픽을 재생하는 대신, 공격 라벨을 단계적으로 확보하는 부분을 통제해서 평가합니다.</a:t>
            </a:r>
          </a:p>
          <a:p/>
          <a:p>
            <a:r>
              <a:t>근거와 해석 범위</a:t>
            </a:r>
          </a:p>
          <a:p>
            <a:r>
              <a:t>2018년 날짜이며 모든 이벤트를 나열한 표는 아니다. 공식 문서의 최초 등장 순서를 요약한다. 날짜가 달라졌다는 이유만으로 재학습이 반드시 필요하다고 단정하지 않는다. 두 벤치마크 모두 통제된 시험망에서 생성·수집된 트래픽이며 실제 운영망의 그대로의 관측이라고 표현하지 않는다. 본 연구는 특징 행을 새로 합성하거나 두 벤치마크를 결합하지 않는다. https://www.unb.ca/cic/datasets/ids-2018.html https://research.unsw.edu.au/projects/toniot-datasets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TabPFN이 사전학습한 것은 특정 IDS의 공격 이름이 아니라 라벨 사례를 참고해 표 데이터를 예측하는 방법입니다. 그래서 현재 문제의 정상과 공격 사례를 context로 함께 넣습니다. 이번 실험에서는 가중치를 바꾸는 fine-tuning 없이 context를 바꾸고 그 준비 비용을 측정합니다.</a:t>
            </a:r>
          </a:p>
          <a:p/>
          <a:p>
            <a:r>
              <a:t>근거와 해석 범위</a:t>
            </a:r>
          </a:p>
          <a:p>
            <a:r>
              <a:t>Context는 가중치 안에 재구성하는 데이터가 아니다. 현재 IDS 라벨 의미를 지정하는 외부 입력이다. v3는 context의 라벨을 참조하는 decoder를 사용하므로 기존 클래스 사례도 필요하다. 사전학습은 합성 과제에 관한 것이며 평가용 IDS 행을 합성했다는 뜻이 아니다. 고정 가중치 모델도 전처리와 캐시 준비 비용을 지불한다. https://arxiv.org/abs/2605.13986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세 조건은 같은 초기 사례와 새 공격 사례를 받습니다. XGB는 누적 사례로 재학습하고, PFN 누적은 그 사례를 모두 context로 사용합니다. PFN 버퍼는 기존 사례를 일부 빼고 새 사례를 모두 넣어 항상 천 개를 유지합니다. 이 조건들의 전체와 신규 탐지 품질, 기존 클래스 유지, 갱신 비용을 함께 확인합니다.</a:t>
            </a:r>
          </a:p>
          <a:p/>
          <a:p>
            <a:r>
              <a:t>근거와 해석 범위</a:t>
            </a:r>
          </a:p>
          <a:p>
            <a:r>
              <a:t>라벨 공급량은 같고 사례를 보유하는 방법과 갱신 연산이 다르다. 누적은 XGB 재학습과 PFN context 두 방식이고, 고정 버퍼는 PFN context를 항상1000개로 유지한다. 세 비교 조건을 처음부터 같은 크기로 보여준다. 연구 질문은 전체/신규 분류 품질, 기존 클래스 유지, 후속 갱신 비용이다. 미지 공격 reject 검출은 수행하지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CIC와 ToN은 각각 독립적으로 평가합니다. 각 자료를 정제하고 train과 test로 나눈 뒤, 같은 train에서 초기 사례와 새 공격 사례를 선택합니다. 여기서 현재 데이터셋이라는 표현은 다른 출처의 자료가 아니라 그때까지 모델에 제공한 사례 집합을 뜻합니다. 일부만 제공하는 이유는 새 공격의 라벨을 조금씩 확보하는 상황을 만들기 위해서입니다.</a:t>
            </a:r>
          </a:p>
          <a:p/>
          <a:p>
            <a:r>
              <a:t>근거와 해석 범위</a:t>
            </a:r>
          </a:p>
          <a:p>
            <a:r>
              <a:t>청중이 말한 원본 A는 각 출처 벤치마크이고 현재 B는 그 train에서 해당 단계까지 제공한 사례 집합이다. 별도의 출처 B를 생성하거나 A의 공격을 다른 데이터셋에 붙이지 않는다. CIC에서 CIC train/test를, ToN에서 ToN train/test를 각각 사용한다. 두 벤치마크는 시험망 수집 자료다. 행 ID는 분리되어 있으나 동일 특징 벡터가 남을 수 있으므로 완전한 특징 중복 제거를 주장하지 않는다. 기존 중복 특징 제외 진단은 별도 결과에 저장되어 있다. https://www.unb.ca/cic/datasets/ids-2018.html https://research.unsw.edu.au/projects/toniot-datasets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초기에는 정상 750개와 공격 두 종류를 각각 125개씩 제공합니다. 이후 단계마다 새 공격 클래스당 n개를 제공합니다. 마지막 두 열은 실제 보유하는 사례 수입니다. 누적 방식에서는 계속 늘어나고 PFN 버퍼에서는 매 단계 천 개입니다. n은 하루 공격량이 아니라 실험에서 통제하는 라벨 수이며, 다섯 개부터 백 개까지 여섯 조건을 실행했습니다.</a:t>
            </a:r>
          </a:p>
          <a:p/>
          <a:p>
            <a:r>
              <a:t>근거와 해석 범위</a:t>
            </a:r>
          </a:p>
          <a:p>
            <a:r>
              <a:t>초기 benign 750, 공격 2종 각125는 통제 조건이며 운영 분포나 최적값이라고 주장하지 않는다. 단계는 원본의 공격 등장 순서를 참고한 라벨 공개 순서이고 raw timestamp replay가 아니다. n=100은 6개 조건 중 상한이며 대표 최적값이 아니다. 각 단계에서 누적 보유량과 버퍼 실제 크기를 별도 열로 표시한다. 클래스별 표본 동일 조건에서도 단계별 새 클래스 수에 따라 신규 총량이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예를 들어 CIC에 DDoS 20개를 제공하면 XGB는 누적 1,020개로 다시 학습하고, PFN 누적은 같은 1,020개를 context로 사용합니다. 버퍼 방식은 기존 사례 20개를 빼고 새 20개를 모두 넣어 1,000개를 유지합니다. 이후 결과에서 최종 품질, 기존 클래스 변화, 갱신 시간을 구분해 보겠습니다.</a:t>
            </a:r>
          </a:p>
          <a:p/>
          <a:p>
            <a:r>
              <a:t>근거와 해석 범위</a:t>
            </a:r>
          </a:p>
          <a:p>
            <a:r>
              <a:t>XGB cumulative refit는 이번 비교에서 선택한 baseline이며 모든 XGBoost 사용법이 항상 full retraining을 요구한다고 주장하지 않는다. FIFO는 실제 outdated 판정이 아니라 편입 순서다. Similar는 OLD context로 StandardScaler를 맞춘 뒤 신규 행까지의 최소 Euclidean distance가 작은 기존 행부터 제거한다. 기존 클래스당 최소1개만 보존하며 신규 편입상한이나 새 클래스별 quota는 없다. 유지 패널은 클래스당 최대2000개의 같은 test행과 같은 query 구성을 사용하고, 전체test F1과 다른 평가 모집단이다. 초기준비, 모든추론, 체크포인트저장, 검증은 주 갱신시간에서 제외한다.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먼저 모든 갱신이 끝난 모델을 전체 test에서 평가한 Macro-F1을 봅니다. 정상과 초기 공격, 신규 공격 모두에 같은 클래스 비중을 줍니다. 이 값으로 전체 분류 품질을 확인하고, 다음 장에서 같은 예측 중 신규 공격 클래스의 F1을 따로 보겠습니다.</a:t>
            </a:r>
          </a:p>
          <a:p/>
          <a:p>
            <a:r>
              <a:t>근거와 해석 범위</a:t>
            </a:r>
          </a:p>
          <a:p>
            <a:r>
              <a:t>전체 Macro-F1을 먼저 제시하여 기존 정상/공격까지 포함한 분류 품질을 보여준다. Macro-F1은 각 클래스에 동일 비중을 주며 benign 표본 수가 많아서 전체 점수가 지배된다는 설명은 맞지 않는다. 다음 장의 신규 공격 평균은 같은 최종 모델과 동일 test 혼동행렬에서 초기 이후 도입한 공격만 골라 계산한다. 두 지표는 목적에 따라 해석하는 것이며 신규 평균으로 전체 성능을 대체하지 않는다. 전체 test: CIC3042473개, ToN2271723개. 단계별 예측 합산 없음.</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앞 장과 같은 최종 모델과 전체 test 예측에서 초기 이후 도입된 공격의 클래스별 F1만 골라 같은 비중으로 평균했습니다. 소량의 새 라벨로 신규 공격에 얼마나 적응했는지를 직접 확인하려는 지표입니다. 전체 Macro-F1도 클래스별 동일 비중이므로 정상 사례가 많다는 이유로 이 지표를 대신 내세운 것은 아닙니다. 신규 평균이 비슷하더라도 특정 희소 공격의 성능까지 충분하다는 뜻은 아닙니다.</a:t>
            </a:r>
          </a:p>
          <a:p/>
          <a:p>
            <a:r>
              <a:t>근거와 해석 범위</a:t>
            </a:r>
          </a:p>
          <a:p>
            <a:r>
              <a:t>EXP84 60조건 검증완료. n값끼리 훈련행은 nested이고 모든 방법에 동일한 행을 제공한다. 신규 평균은 각 조건의 마지막 모델 전체test 혼동행렬에서 post-initial 클래스F1을 골라 평균한다. 단계별 예측 합산이나 단계별F1평균이 아니다. 하단 수치는 n=100의 설명용 점이며 최적 조건으로 선택한 것이 아니다. CIC 신규={ddos,web_attacks,infiltration,bot}; ToN 신규={ddos,injection,password,xss,backdoor,ransomware,mitm}. 신규 그룹과 test 희소클래스 그룹은 다르다.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기존 성능은 초기의 정상과 두 공격에 해당하는 같은 평가 표본으로 전후를 비교했습니다. 전체 test 점수와는 다른 진단입니다. 특히 ToN에서 많은 사례를 교체하면 FIFO와 유사도 삭제의 성능 유지가 나빠지는 조건이 관찰됩니다.</a:t>
            </a:r>
          </a:p>
          <a:p/>
          <a:p>
            <a:r>
              <a:t>근거와 해석 범위</a:t>
            </a:r>
          </a:p>
          <a:p>
            <a:r>
              <a:t>전체 test F1과 다른 고정 패널 진단이다. 초기3개 클래스 행만의 F1이므로 이후공격에서초기클래스로향하는FP를 포함하지 않는다. 전체 현재클래스의 joint오탐과 각단계 직전클래스 유지진단은 원시 결과에 별도로 있다. 따라서 전체testF1 상승과 이지표 하락이 동시에 가능하다. 미래클래스 query특징이 패널에 포함될수 있는 오프라인 분석이고 정답은학습에입력하지않는다. 단일seed에서정책우열을확정하지않는다.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초기 준비와 추론을 제외하고 두 번째 단계부터 갱신하는 데 든 시간을 합했습니다. 이번 작은 context에서는 PFN의 갱신이 XGB 누적 재학습보다 빨랐습니다. 다만 버퍼 방식이 PFN 누적보다 추가로 빨라진 것은 아니며, 이 결과를 큰 데이터나 전체 추론 비용에 적용할 수는 없습니다.</a:t>
            </a:r>
          </a:p>
          <a:p/>
          <a:p>
            <a:r>
              <a:t>근거와 해석 범위</a:t>
            </a:r>
          </a:p>
          <a:p>
            <a:r>
              <a:t>GPU 동기화후실측. dataset별단계수가다르므로CIC와ToN시간차를직접model우열로비교하지않는다. PFNcache가free거나incremental하다는주장이아니다. 고정1000buffer가PFN누적보다추가로시간을줄이는효과는이범위에서뚜렷하지않다. 작은context범위의후속갱신시간만XGB보다낮았다. wallclock초기첫모델로드와추론은별도저장되며이그림에합치지않는다.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마지막으로 test에서 가장 희소한 공격을 보면 해결되지 않은 문제가 남습니다. PFN은 공격을 찾아내면서도 정상 트래픽을 해당 공격으로 너무 많이 분류할 수 있습니다. 삭제하지 않는 누적 방식에서도 낮은 F1이 나타나므로, 버퍼만 바꾸는 실험보다 기존 대규모 결과와 함께 모델의 구분 능력과 오탐 원인을 먼저 확인해야 합니다.</a:t>
            </a:r>
          </a:p>
          <a:p/>
          <a:p>
            <a:r>
              <a:t>근거와 해석 범위</a:t>
            </a:r>
          </a:p>
          <a:p>
            <a:r>
              <a:t>Tail은전체test에서희소한공격이며새클래스에제공한n과다른개념. n100은스윕상한의진단예시다. PFNrandomRansomwareTP675,FP51195,FN34;FP중benign50596. 재현율95.20precision1.30F12.57. PFN누적도2.68이므로삭제만의인과로단정하지않는다. 사용자가언급한전체training결과와현재설정의정합확인은후속분석이며이번슬라이드에서새롭게검증한사실로인용하지않는다. 모델자체분리능력과표본구성/확률보정가능성을분리해야한다. FT/보정효과는아직검증하지않았다. 한seed탐색결과로최소필요표본수또는일반적우위를확정하지않는다.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클래스별F1과support는검증된exp84_per_class.csv에서직접생성. n100은설명용상한조건이며최적값아님. 전체n별결과를메인곡선과실험보고서에보존.</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클래스별F1과support는검증된exp84_per_class.csv에서직접생성. n100은설명용상한조건이며최적값아님. 전체n별결과를메인곡선과실험보고서에보존.</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Grinsztajn etal2026 Figure5 원도식. 그림캡션은사용자요청에따라표시하지않는다. 입력연산단계이며IDS가중치학습단계를뜻하지않는다. https://arxiv.org/html/2605.13986v1#S2.SS1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원문2.2manyclassdecoder는onehotcontextlabel을value로사용한다. context밖의class에대한지도학습다중클래스확률을만들기위해관련label사례가필요하다. FT는별도가중치최적화. 이번실험에서는weightdigest동일성을확인했고FT시간0. https://arxiv.org/html/2605.13986v1#S2.SS1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https://www.icir.org/robin/papers/oakland10-ml.pdf"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www.unb.ca/cic/datasets/ids-2018.html" TargetMode="External"/><Relationship Id="rId4" Type="http://schemas.openxmlformats.org/officeDocument/2006/relationships/hyperlink" Target="https://research.unsw.edu.au/projects/toniot-datase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arxiv.org/abs/2605.13986"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기존 IDS의 한계 · 새 공격과 제한된 라벨</a:t>
            </a:r>
          </a:p>
        </p:txBody>
      </p:sp>
      <p:sp>
        <p:nvSpPr>
          <p:cNvPr id="3" name="TextBox 2"/>
          <p:cNvSpPr txBox="1"/>
          <p:nvPr/>
        </p:nvSpPr>
        <p:spPr>
          <a:xfrm>
            <a:off x="566928" y="1005840"/>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0" lang="ko-KR">
                <a:solidFill>
                  <a:srgbClr val="20262E"/>
                </a:solidFill>
                <a:latin typeface="Pretendard"/>
                <a:ea typeface="Pretendard"/>
                <a:cs typeface="Pretendard"/>
              </a:rPr>
              <a:t>침입 탐지 시스템 (IDS) · 통신 기록의 특징으로 정상·공격 유형을 구분하는 시스템</a:t>
            </a:r>
          </a:p>
        </p:txBody>
      </p:sp>
      <p:sp>
        <p:nvSpPr>
          <p:cNvPr id="4" name="TextBox 3"/>
          <p:cNvSpPr txBox="1"/>
          <p:nvPr/>
        </p:nvSpPr>
        <p:spPr>
          <a:xfrm>
            <a:off x="566928" y="1682496"/>
            <a:ext cx="10972800" cy="960120"/>
          </a:xfrm>
          <a:prstGeom prst="rect">
            <a:avLst/>
          </a:prstGeom>
          <a:noFill/>
          <a:effectLst/>
        </p:spPr>
        <p:txBody>
          <a:bodyPr wrap="none" anchor="t" lIns="0" rIns="0" tIns="0" bIns="0">
            <a:noAutofit/>
          </a:bodyPr>
          <a:lstStyle/>
          <a:p>
            <a:pPr algn="l">
              <a:lnSpc>
                <a:spcPct val="116000"/>
              </a:lnSpc>
              <a:spcBef>
                <a:spcPts val="0"/>
              </a:spcBef>
              <a:spcAft>
                <a:spcPts val="0"/>
              </a:spcAft>
            </a:pPr>
            <a:r>
              <a:rPr sz="2900" b="1" lang="ko-KR">
                <a:solidFill>
                  <a:srgbClr val="00306C"/>
                </a:solidFill>
                <a:latin typeface="Pretendard"/>
                <a:ea typeface="Pretendard"/>
                <a:cs typeface="Pretendard"/>
              </a:rPr>
              <a:t>운영 시작 시 확보한 공격 라벨만으로</a:t>
            </a:r>
          </a:p>
          <a:p>
            <a:pPr algn="l">
              <a:lnSpc>
                <a:spcPct val="116000"/>
              </a:lnSpc>
              <a:spcBef>
                <a:spcPts val="0"/>
              </a:spcBef>
              <a:spcAft>
                <a:spcPts val="0"/>
              </a:spcAft>
            </a:pPr>
            <a:r>
              <a:rPr sz="2900" b="1" lang="ko-KR">
                <a:solidFill>
                  <a:srgbClr val="00306C"/>
                </a:solidFill>
                <a:latin typeface="Pretendard"/>
                <a:ea typeface="Pretendard"/>
                <a:cs typeface="Pretendard"/>
              </a:rPr>
              <a:t>이후 등장하는 공격까지 대응하기 어려운 문제</a:t>
            </a:r>
          </a:p>
        </p:txBody>
      </p:sp>
      <p:sp>
        <p:nvSpPr>
          <p:cNvPr id="5" name="Rectangle 4"/>
          <p:cNvSpPr/>
          <p:nvPr/>
        </p:nvSpPr>
        <p:spPr>
          <a:xfrm>
            <a:off x="566928" y="2953512"/>
            <a:ext cx="3328416"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66928" y="2953512"/>
            <a:ext cx="3328416" cy="438912"/>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13232" y="3044952"/>
            <a:ext cx="30175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FFFFFF"/>
                </a:solidFill>
                <a:latin typeface="Pretendard"/>
                <a:ea typeface="Pretendard"/>
                <a:cs typeface="Pretendard"/>
              </a:rPr>
              <a:t>입력의 변화</a:t>
            </a:r>
          </a:p>
        </p:txBody>
      </p:sp>
      <p:sp>
        <p:nvSpPr>
          <p:cNvPr id="8" name="TextBox 7"/>
          <p:cNvSpPr txBox="1"/>
          <p:nvPr/>
        </p:nvSpPr>
        <p:spPr>
          <a:xfrm>
            <a:off x="713232" y="3602736"/>
            <a:ext cx="301752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네트워크·서비스·공격의 다양성</a:t>
            </a:r>
          </a:p>
          <a:p>
            <a:pPr algn="l">
              <a:lnSpc>
                <a:spcPct val="116000"/>
              </a:lnSpc>
              <a:spcBef>
                <a:spcPts val="0"/>
              </a:spcBef>
              <a:spcAft>
                <a:spcPts val="0"/>
              </a:spcAft>
            </a:pPr>
            <a:r>
              <a:rPr sz="1800" b="0" lang="ko-KR">
                <a:solidFill>
                  <a:srgbClr val="20262E"/>
                </a:solidFill>
                <a:latin typeface="Pretendard"/>
                <a:ea typeface="Pretendard"/>
                <a:cs typeface="Pretendard"/>
              </a:rPr>
              <a:t>학습 시점과 다른 트래픽의 등장</a:t>
            </a:r>
          </a:p>
        </p:txBody>
      </p:sp>
      <p:sp>
        <p:nvSpPr>
          <p:cNvPr id="9" name="Rectangle 8"/>
          <p:cNvSpPr/>
          <p:nvPr/>
        </p:nvSpPr>
        <p:spPr>
          <a:xfrm>
            <a:off x="4434840" y="2953512"/>
            <a:ext cx="3328416"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434840" y="2953512"/>
            <a:ext cx="3328416" cy="438912"/>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581144" y="3044952"/>
            <a:ext cx="30175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FFFFFF"/>
                </a:solidFill>
                <a:latin typeface="Pretendard"/>
                <a:ea typeface="Pretendard"/>
                <a:cs typeface="Pretendard"/>
              </a:rPr>
              <a:t>제한된 공격 라벨</a:t>
            </a:r>
          </a:p>
        </p:txBody>
      </p:sp>
      <p:sp>
        <p:nvSpPr>
          <p:cNvPr id="12" name="TextBox 11"/>
          <p:cNvSpPr txBox="1"/>
          <p:nvPr/>
        </p:nvSpPr>
        <p:spPr>
          <a:xfrm>
            <a:off x="4581144" y="3602736"/>
            <a:ext cx="301752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새 공격 조사 후 확보하는 사례</a:t>
            </a:r>
          </a:p>
          <a:p>
            <a:pPr algn="l">
              <a:lnSpc>
                <a:spcPct val="116000"/>
              </a:lnSpc>
              <a:spcBef>
                <a:spcPts val="0"/>
              </a:spcBef>
              <a:spcAft>
                <a:spcPts val="0"/>
              </a:spcAft>
            </a:pPr>
            <a:r>
              <a:rPr sz="1800" b="0" lang="ko-KR">
                <a:solidFill>
                  <a:srgbClr val="20262E"/>
                </a:solidFill>
                <a:latin typeface="Pretendard"/>
                <a:ea typeface="Pretendard"/>
                <a:cs typeface="Pretendard"/>
              </a:rPr>
              <a:t>충분한 학습 자료 확보의 어려움</a:t>
            </a:r>
          </a:p>
        </p:txBody>
      </p:sp>
      <p:sp>
        <p:nvSpPr>
          <p:cNvPr id="13" name="Rectangle 12"/>
          <p:cNvSpPr/>
          <p:nvPr/>
        </p:nvSpPr>
        <p:spPr>
          <a:xfrm>
            <a:off x="8302752" y="2953512"/>
            <a:ext cx="3328416"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302752" y="2953512"/>
            <a:ext cx="3328416" cy="438912"/>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449056" y="3044952"/>
            <a:ext cx="30175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FFFFFF"/>
                </a:solidFill>
                <a:latin typeface="Pretendard"/>
                <a:ea typeface="Pretendard"/>
                <a:cs typeface="Pretendard"/>
              </a:rPr>
              <a:t>오탐과 갱신 부담</a:t>
            </a:r>
          </a:p>
        </p:txBody>
      </p:sp>
      <p:sp>
        <p:nvSpPr>
          <p:cNvPr id="16" name="TextBox 15"/>
          <p:cNvSpPr txBox="1"/>
          <p:nvPr/>
        </p:nvSpPr>
        <p:spPr>
          <a:xfrm>
            <a:off x="8449056" y="3602736"/>
            <a:ext cx="301752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정상 트래픽에 대한 잘못된 경보</a:t>
            </a:r>
          </a:p>
          <a:p>
            <a:pPr algn="l">
              <a:lnSpc>
                <a:spcPct val="116000"/>
              </a:lnSpc>
              <a:spcBef>
                <a:spcPts val="0"/>
              </a:spcBef>
              <a:spcAft>
                <a:spcPts val="0"/>
              </a:spcAft>
            </a:pPr>
            <a:r>
              <a:rPr sz="1800" b="0" lang="ko-KR">
                <a:solidFill>
                  <a:srgbClr val="20262E"/>
                </a:solidFill>
                <a:latin typeface="Pretendard"/>
                <a:ea typeface="Pretendard"/>
                <a:cs typeface="Pretendard"/>
              </a:rPr>
              <a:t>새 사례 반영에 필요한 추가 계산</a:t>
            </a:r>
          </a:p>
        </p:txBody>
      </p:sp>
      <p:sp>
        <p:nvSpPr>
          <p:cNvPr id="17" name="TextBox 16"/>
          <p:cNvSpPr txBox="1"/>
          <p:nvPr/>
        </p:nvSpPr>
        <p:spPr>
          <a:xfrm>
            <a:off x="603504" y="4800600"/>
            <a:ext cx="10972800"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고정된 클래스의 한 번의 점수에 더해, 새 라벨을 반영한 뒤의 탐지 품질과 비용 확인</a:t>
            </a:r>
          </a:p>
        </p:txBody>
      </p:sp>
      <p:sp>
        <p:nvSpPr>
          <p:cNvPr id="18" name="TextBox 17"/>
          <p:cNvSpPr txBox="1"/>
          <p:nvPr/>
        </p:nvSpPr>
        <p:spPr>
          <a:xfrm>
            <a:off x="603504" y="5504688"/>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hlinkClick r:id="rId3"/>
              </a:rPr>
              <a:t>Sommer · Paxson, Outside the Closed World: On Using Machine Learning</a:t>
            </a:r>
          </a:p>
        </p:txBody>
      </p:sp>
      <p:sp>
        <p:nvSpPr>
          <p:cNvPr id="19" name="TextBox 18"/>
          <p:cNvSpPr txBox="1"/>
          <p:nvPr/>
        </p:nvSpPr>
        <p:spPr>
          <a:xfrm>
            <a:off x="603504" y="579729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hlinkClick r:id="rId3"/>
              </a:rPr>
              <a:t>for Network Intrusion Detection, IEEE S&amp;P 2010 · 학습 자료 부족·입력 변동성·오류 비용</a:t>
            </a:r>
          </a:p>
        </p:txBody>
      </p:sp>
      <p:sp>
        <p:nvSpPr>
          <p:cNvPr id="20" name="Rectangle 19"/>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연구 문제 · 소수의 신규 공격 사례를 기존 탐지기에 반영하는 방법</a:t>
            </a:r>
          </a:p>
        </p:txBody>
      </p:sp>
      <p:sp>
        <p:nvSpPr>
          <p:cNvPr id="22" name="TextBox 21"/>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01 문제</a:t>
            </a:r>
          </a:p>
        </p:txBody>
      </p:sp>
      <p:sp>
        <p:nvSpPr>
          <p:cNvPr id="23" name="TextBox 22"/>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공격 변화의 수집 사례 · 공식 벤치마크</a:t>
            </a:r>
          </a:p>
        </p:txBody>
      </p:sp>
      <p:sp>
        <p:nvSpPr>
          <p:cNvPr id="3" name="TextBox 2"/>
          <p:cNvSpPr txBox="1"/>
          <p:nvPr/>
        </p:nvSpPr>
        <p:spPr>
          <a:xfrm>
            <a:off x="566928" y="1024128"/>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CSE-CIC-IDS2018 · AWS 시험망에서 정상 동작과 계획된 공격을 실행·수집</a:t>
            </a:r>
          </a:p>
        </p:txBody>
      </p:sp>
      <p:sp>
        <p:nvSpPr>
          <p:cNvPr id="4" name="TextBox 3"/>
          <p:cNvSpPr txBox="1"/>
          <p:nvPr/>
        </p:nvSpPr>
        <p:spPr>
          <a:xfrm>
            <a:off x="566928" y="155448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hlinkClick r:id="rId3"/>
              </a:rPr>
              <a:t>CSE · UNB CIC, CSE-CIC-IDS2018 on AWS, 2018 · 공식 문서의 공격 일정 Table 2</a:t>
            </a:r>
          </a:p>
        </p:txBody>
      </p:sp>
      <p:sp>
        <p:nvSpPr>
          <p:cNvPr id="5" name="Rectangle 4"/>
          <p:cNvSpPr/>
          <p:nvPr/>
        </p:nvSpPr>
        <p:spPr>
          <a:xfrm>
            <a:off x="56692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5836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2/14</a:t>
            </a:r>
          </a:p>
        </p:txBody>
      </p:sp>
      <p:sp>
        <p:nvSpPr>
          <p:cNvPr id="7" name="TextBox 6"/>
          <p:cNvSpPr txBox="1"/>
          <p:nvPr/>
        </p:nvSpPr>
        <p:spPr>
          <a:xfrm>
            <a:off x="65836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Brute force</a:t>
            </a:r>
          </a:p>
        </p:txBody>
      </p:sp>
      <p:sp>
        <p:nvSpPr>
          <p:cNvPr id="8" name="Right Arrow 7"/>
          <p:cNvSpPr/>
          <p:nvPr/>
        </p:nvSpPr>
        <p:spPr>
          <a:xfrm>
            <a:off x="227685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248716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57860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2/15·16</a:t>
            </a:r>
          </a:p>
        </p:txBody>
      </p:sp>
      <p:sp>
        <p:nvSpPr>
          <p:cNvPr id="11" name="TextBox 10"/>
          <p:cNvSpPr txBox="1"/>
          <p:nvPr/>
        </p:nvSpPr>
        <p:spPr>
          <a:xfrm>
            <a:off x="257860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DoS</a:t>
            </a:r>
          </a:p>
        </p:txBody>
      </p:sp>
      <p:sp>
        <p:nvSpPr>
          <p:cNvPr id="12" name="Right Arrow 11"/>
          <p:cNvSpPr/>
          <p:nvPr/>
        </p:nvSpPr>
        <p:spPr>
          <a:xfrm>
            <a:off x="419709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40740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49884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2/20·21</a:t>
            </a:r>
          </a:p>
        </p:txBody>
      </p:sp>
      <p:sp>
        <p:nvSpPr>
          <p:cNvPr id="15" name="TextBox 14"/>
          <p:cNvSpPr txBox="1"/>
          <p:nvPr/>
        </p:nvSpPr>
        <p:spPr>
          <a:xfrm>
            <a:off x="449884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DDoS</a:t>
            </a:r>
          </a:p>
        </p:txBody>
      </p:sp>
      <p:sp>
        <p:nvSpPr>
          <p:cNvPr id="16" name="Right Arrow 15"/>
          <p:cNvSpPr/>
          <p:nvPr/>
        </p:nvSpPr>
        <p:spPr>
          <a:xfrm>
            <a:off x="611733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632764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1908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2/22·23</a:t>
            </a:r>
          </a:p>
        </p:txBody>
      </p:sp>
      <p:sp>
        <p:nvSpPr>
          <p:cNvPr id="19" name="TextBox 18"/>
          <p:cNvSpPr txBox="1"/>
          <p:nvPr/>
        </p:nvSpPr>
        <p:spPr>
          <a:xfrm>
            <a:off x="641908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Web attacks</a:t>
            </a:r>
          </a:p>
        </p:txBody>
      </p:sp>
      <p:sp>
        <p:nvSpPr>
          <p:cNvPr id="20" name="Right Arrow 19"/>
          <p:cNvSpPr/>
          <p:nvPr/>
        </p:nvSpPr>
        <p:spPr>
          <a:xfrm>
            <a:off x="803757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824788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39327"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2/28·3/1</a:t>
            </a:r>
          </a:p>
        </p:txBody>
      </p:sp>
      <p:sp>
        <p:nvSpPr>
          <p:cNvPr id="23" name="TextBox 22"/>
          <p:cNvSpPr txBox="1"/>
          <p:nvPr/>
        </p:nvSpPr>
        <p:spPr>
          <a:xfrm>
            <a:off x="8339327"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Infiltration</a:t>
            </a:r>
          </a:p>
        </p:txBody>
      </p:sp>
      <p:sp>
        <p:nvSpPr>
          <p:cNvPr id="24" name="Right Arrow 23"/>
          <p:cNvSpPr/>
          <p:nvPr/>
        </p:nvSpPr>
        <p:spPr>
          <a:xfrm>
            <a:off x="995781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016812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0259567"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3/2</a:t>
            </a:r>
          </a:p>
        </p:txBody>
      </p:sp>
      <p:sp>
        <p:nvSpPr>
          <p:cNvPr id="27" name="TextBox 26"/>
          <p:cNvSpPr txBox="1"/>
          <p:nvPr/>
        </p:nvSpPr>
        <p:spPr>
          <a:xfrm>
            <a:off x="10259567"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Bot</a:t>
            </a:r>
          </a:p>
        </p:txBody>
      </p:sp>
      <p:sp>
        <p:nvSpPr>
          <p:cNvPr id="28" name="TextBox 27"/>
          <p:cNvSpPr txBox="1"/>
          <p:nvPr/>
        </p:nvSpPr>
        <p:spPr>
          <a:xfrm>
            <a:off x="594360" y="3547872"/>
            <a:ext cx="1097280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2200" b="0" lang="ko-KR">
                <a:solidFill>
                  <a:srgbClr val="20262E"/>
                </a:solidFill>
                <a:latin typeface="Pretendard"/>
                <a:ea typeface="Pretendard"/>
                <a:cs typeface="Pretendard"/>
              </a:rPr>
              <a:t>수집 기간에 따라 달라지는 공격 유형</a:t>
            </a:r>
          </a:p>
          <a:p>
            <a:pPr algn="l">
              <a:lnSpc>
                <a:spcPct val="116000"/>
              </a:lnSpc>
              <a:spcBef>
                <a:spcPts val="0"/>
              </a:spcBef>
              <a:spcAft>
                <a:spcPts val="0"/>
              </a:spcAft>
            </a:pPr>
            <a:r>
              <a:rPr sz="2200" b="0" lang="ko-KR">
                <a:solidFill>
                  <a:srgbClr val="20262E"/>
                </a:solidFill>
                <a:latin typeface="Pretendard"/>
                <a:ea typeface="Pretendard"/>
                <a:cs typeface="Pretendard"/>
              </a:rPr>
              <a:t>패킷에서 추출한 통신량·지속시간 등의 표 특징과 공격 라벨</a:t>
            </a:r>
          </a:p>
        </p:txBody>
      </p:sp>
      <p:sp>
        <p:nvSpPr>
          <p:cNvPr id="29" name="Rectangle 28"/>
          <p:cNvSpPr/>
          <p:nvPr/>
        </p:nvSpPr>
        <p:spPr>
          <a:xfrm>
            <a:off x="594360" y="4517136"/>
            <a:ext cx="10972800" cy="10972"/>
          </a:xfrm>
          <a:prstGeom prst="rect">
            <a:avLst/>
          </a:prstGeom>
          <a:solidFill>
            <a:srgbClr val="D7E0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94360" y="4745736"/>
            <a:ext cx="1097280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이번 실험에서 설계한 부분 · 확보되는 공격 라벨의 순서와 개수</a:t>
            </a:r>
          </a:p>
          <a:p>
            <a:pPr algn="l">
              <a:lnSpc>
                <a:spcPct val="116000"/>
              </a:lnSpc>
              <a:spcBef>
                <a:spcPts val="0"/>
              </a:spcBef>
              <a:spcAft>
                <a:spcPts val="0"/>
              </a:spcAft>
            </a:pPr>
            <a:r>
              <a:rPr sz="2100" b="1" lang="ko-KR">
                <a:solidFill>
                  <a:srgbClr val="00306C"/>
                </a:solidFill>
                <a:latin typeface="Pretendard"/>
                <a:ea typeface="Pretendard"/>
                <a:cs typeface="Pretendard"/>
              </a:rPr>
              <a:t>원본 날짜별 전체 트래픽 재생과 구별되는 단계적 라벨 제공</a:t>
            </a:r>
          </a:p>
        </p:txBody>
      </p:sp>
      <p:sp>
        <p:nvSpPr>
          <p:cNvPr id="31" name="TextBox 30"/>
          <p:cNvSpPr txBox="1"/>
          <p:nvPr/>
        </p:nvSpPr>
        <p:spPr>
          <a:xfrm>
            <a:off x="594360" y="576072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50" b="0" lang="ko-KR">
                <a:solidFill>
                  <a:srgbClr val="617080"/>
                </a:solidFill>
                <a:latin typeface="Pretendard"/>
                <a:ea typeface="Pretendard"/>
                <a:cs typeface="Pretendard"/>
                <a:hlinkClick r:id="rId4"/>
              </a:rPr>
              <a:t>ToN-IoT도 별도 시험망에서 수집된 네트워크 자료 사용 · UNSW Canberra, The TON_IoT Datasets</a:t>
            </a:r>
          </a:p>
        </p:txBody>
      </p:sp>
      <p:sp>
        <p:nvSpPr>
          <p:cNvPr id="32" name="Rectangle 31"/>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수집 기록을 활용한 통제 실험 · 공격 라벨이 추가되는 상황의 구성</a:t>
            </a:r>
          </a:p>
        </p:txBody>
      </p:sp>
      <p:sp>
        <p:nvSpPr>
          <p:cNvPr id="34" name="TextBox 33"/>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01 문제</a:t>
            </a:r>
          </a:p>
        </p:txBody>
      </p:sp>
      <p:sp>
        <p:nvSpPr>
          <p:cNvPr id="35" name="TextBox 34"/>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TabPFN의 in-context learning</a:t>
            </a:r>
          </a:p>
        </p:txBody>
      </p:sp>
      <p:sp>
        <p:nvSpPr>
          <p:cNvPr id="3" name="TextBox 2"/>
          <p:cNvSpPr txBox="1"/>
          <p:nvPr/>
        </p:nvSpPr>
        <p:spPr>
          <a:xfrm>
            <a:off x="566928" y="987552"/>
            <a:ext cx="10972800"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TabPFN · 표 데이터의 사례와 정답으로부터 예측하는 방법을 사전학습한 모델</a:t>
            </a:r>
          </a:p>
        </p:txBody>
      </p:sp>
      <p:sp>
        <p:nvSpPr>
          <p:cNvPr id="4" name="TextBox 3"/>
          <p:cNvSpPr txBox="1"/>
          <p:nvPr/>
        </p:nvSpPr>
        <p:spPr>
          <a:xfrm>
            <a:off x="566928" y="1481328"/>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hlinkClick r:id="rId3"/>
              </a:rPr>
              <a:t>Grinsztajn et al., TabPFN-3: Technical Report, arXiv 2026 · 합성 표 과제로 사전학습</a:t>
            </a:r>
          </a:p>
        </p:txBody>
      </p:sp>
      <p:sp>
        <p:nvSpPr>
          <p:cNvPr id="5" name="Rectangle 4"/>
          <p:cNvSpPr/>
          <p:nvPr/>
        </p:nvSpPr>
        <p:spPr>
          <a:xfrm>
            <a:off x="566928" y="2011680"/>
            <a:ext cx="3136392" cy="114300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49808" y="2157984"/>
            <a:ext cx="2761488"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Context · 라벨 사례</a:t>
            </a:r>
          </a:p>
        </p:txBody>
      </p:sp>
      <p:sp>
        <p:nvSpPr>
          <p:cNvPr id="7" name="TextBox 6"/>
          <p:cNvSpPr txBox="1"/>
          <p:nvPr/>
        </p:nvSpPr>
        <p:spPr>
          <a:xfrm>
            <a:off x="749808" y="2651760"/>
            <a:ext cx="2761488" cy="525932"/>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기존 정상·공격 + 신규 공격</a:t>
            </a:r>
          </a:p>
          <a:p>
            <a:pPr algn="l">
              <a:lnSpc>
                <a:spcPct val="116000"/>
              </a:lnSpc>
              <a:spcBef>
                <a:spcPts val="0"/>
              </a:spcBef>
              <a:spcAft>
                <a:spcPts val="0"/>
              </a:spcAft>
            </a:pPr>
            <a:r>
              <a:rPr sz="1700" b="0" lang="ko-KR">
                <a:solidFill>
                  <a:srgbClr val="20262E"/>
                </a:solidFill>
                <a:latin typeface="Pretendard"/>
                <a:ea typeface="Pretendard"/>
                <a:cs typeface="Pretendard"/>
              </a:rPr>
              <a:t>특징과 정답을 함께 입력</a:t>
            </a:r>
          </a:p>
        </p:txBody>
      </p:sp>
      <p:sp>
        <p:nvSpPr>
          <p:cNvPr id="8" name="Rectangle 7"/>
          <p:cNvSpPr/>
          <p:nvPr/>
        </p:nvSpPr>
        <p:spPr>
          <a:xfrm>
            <a:off x="566928" y="3410712"/>
            <a:ext cx="3136392" cy="8595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49808" y="3538728"/>
            <a:ext cx="2761488"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Query · 분류할 통신 기록</a:t>
            </a:r>
          </a:p>
        </p:txBody>
      </p:sp>
      <p:sp>
        <p:nvSpPr>
          <p:cNvPr id="10" name="TextBox 9"/>
          <p:cNvSpPr txBox="1"/>
          <p:nvPr/>
        </p:nvSpPr>
        <p:spPr>
          <a:xfrm>
            <a:off x="749808" y="3922776"/>
            <a:ext cx="2761488" cy="255231"/>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특징만 입력 · 정답은 평가에 사용</a:t>
            </a:r>
          </a:p>
        </p:txBody>
      </p:sp>
      <p:sp>
        <p:nvSpPr>
          <p:cNvPr id="11" name="Right Arrow 10"/>
          <p:cNvSpPr/>
          <p:nvPr/>
        </p:nvSpPr>
        <p:spPr>
          <a:xfrm>
            <a:off x="3886200" y="2551176"/>
            <a:ext cx="429768" cy="28346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ight Arrow 11"/>
          <p:cNvSpPr/>
          <p:nvPr/>
        </p:nvSpPr>
        <p:spPr>
          <a:xfrm>
            <a:off x="3886200" y="3694176"/>
            <a:ext cx="429768" cy="28346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517136" y="2414016"/>
            <a:ext cx="3163824" cy="151790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36592" y="2697480"/>
            <a:ext cx="2724912" cy="417652"/>
          </a:xfrm>
          <a:prstGeom prst="rect">
            <a:avLst/>
          </a:prstGeom>
          <a:noFill/>
          <a:effectLst/>
        </p:spPr>
        <p:txBody>
          <a:bodyPr wrap="none" anchor="t" lIns="0" rIns="0" tIns="0" bIns="0">
            <a:noAutofit/>
          </a:bodyPr>
          <a:lstStyle/>
          <a:p>
            <a:pPr algn="l">
              <a:lnSpc>
                <a:spcPct val="116000"/>
              </a:lnSpc>
              <a:spcBef>
                <a:spcPts val="0"/>
              </a:spcBef>
              <a:spcAft>
                <a:spcPts val="0"/>
              </a:spcAft>
            </a:pPr>
            <a:r>
              <a:rPr sz="2700" b="1" lang="ko-KR">
                <a:solidFill>
                  <a:srgbClr val="FFFFFF"/>
                </a:solidFill>
                <a:latin typeface="Pretendard"/>
                <a:ea typeface="Pretendard"/>
                <a:cs typeface="Pretendard"/>
              </a:rPr>
              <a:t>TabPFN v3</a:t>
            </a:r>
          </a:p>
        </p:txBody>
      </p:sp>
      <p:sp>
        <p:nvSpPr>
          <p:cNvPr id="15" name="TextBox 14"/>
          <p:cNvSpPr txBox="1"/>
          <p:nvPr/>
        </p:nvSpPr>
        <p:spPr>
          <a:xfrm>
            <a:off x="4736592" y="3364992"/>
            <a:ext cx="2724912" cy="320040"/>
          </a:xfrm>
          <a:prstGeom prst="rect">
            <a:avLst/>
          </a:prstGeom>
          <a:noFill/>
          <a:effectLst/>
        </p:spPr>
        <p:txBody>
          <a:bodyPr wrap="none" anchor="t" lIns="0" rIns="0" tIns="0" bIns="0">
            <a:noAutofit/>
          </a:bodyPr>
          <a:lstStyle/>
          <a:p>
            <a:pPr algn="l">
              <a:lnSpc>
                <a:spcPct val="116000"/>
              </a:lnSpc>
              <a:spcBef>
                <a:spcPts val="0"/>
              </a:spcBef>
              <a:spcAft>
                <a:spcPts val="0"/>
              </a:spcAft>
            </a:pPr>
            <a:r>
              <a:rPr sz="2000" b="0" lang="ko-KR">
                <a:solidFill>
                  <a:srgbClr val="FFFFFF"/>
                </a:solidFill>
                <a:latin typeface="Pretendard"/>
                <a:ea typeface="Pretendard"/>
                <a:cs typeface="Pretendard"/>
              </a:rPr>
              <a:t>사전학습 가중치 고정</a:t>
            </a:r>
          </a:p>
        </p:txBody>
      </p:sp>
      <p:sp>
        <p:nvSpPr>
          <p:cNvPr id="16" name="Right Arrow 15"/>
          <p:cNvSpPr/>
          <p:nvPr/>
        </p:nvSpPr>
        <p:spPr>
          <a:xfrm>
            <a:off x="7872983" y="3017520"/>
            <a:ext cx="420624" cy="28346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485632" y="2414016"/>
            <a:ext cx="3136392"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86800" y="2715768"/>
            <a:ext cx="2734056"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정상·공격별 확률</a:t>
            </a:r>
          </a:p>
        </p:txBody>
      </p:sp>
      <p:sp>
        <p:nvSpPr>
          <p:cNvPr id="19" name="TextBox 18"/>
          <p:cNvSpPr txBox="1"/>
          <p:nvPr/>
        </p:nvSpPr>
        <p:spPr>
          <a:xfrm>
            <a:off x="8686800" y="3355848"/>
            <a:ext cx="2734056" cy="28346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context를 참조한 추론</a:t>
            </a:r>
          </a:p>
        </p:txBody>
      </p:sp>
      <p:sp>
        <p:nvSpPr>
          <p:cNvPr id="20" name="TextBox 19"/>
          <p:cNvSpPr txBox="1"/>
          <p:nvPr/>
        </p:nvSpPr>
        <p:spPr>
          <a:xfrm>
            <a:off x="594360" y="4626864"/>
            <a:ext cx="2304288" cy="320040"/>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In-context learning</a:t>
            </a:r>
          </a:p>
        </p:txBody>
      </p:sp>
      <p:sp>
        <p:nvSpPr>
          <p:cNvPr id="21" name="TextBox 20"/>
          <p:cNvSpPr txBox="1"/>
          <p:nvPr/>
        </p:nvSpPr>
        <p:spPr>
          <a:xfrm>
            <a:off x="3154680" y="4626864"/>
            <a:ext cx="8412480" cy="62179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0" lang="ko-KR">
                <a:solidFill>
                  <a:srgbClr val="20262E"/>
                </a:solidFill>
                <a:latin typeface="Pretendard"/>
                <a:ea typeface="Pretendard"/>
                <a:cs typeface="Pretendard"/>
              </a:rPr>
              <a:t>입력 사례를 바꾸어 현재 분류 문제에 적응</a:t>
            </a:r>
          </a:p>
          <a:p>
            <a:pPr algn="l">
              <a:lnSpc>
                <a:spcPct val="116000"/>
              </a:lnSpc>
              <a:spcBef>
                <a:spcPts val="0"/>
              </a:spcBef>
              <a:spcAft>
                <a:spcPts val="0"/>
              </a:spcAft>
            </a:pPr>
            <a:r>
              <a:rPr sz="2000" b="0" lang="ko-KR">
                <a:solidFill>
                  <a:srgbClr val="20262E"/>
                </a:solidFill>
                <a:latin typeface="Pretendard"/>
                <a:ea typeface="Pretendard"/>
                <a:cs typeface="Pretendard"/>
              </a:rPr>
              <a:t>가중치에 사례를 저장하거나 역전파하는 과정 없음</a:t>
            </a:r>
          </a:p>
        </p:txBody>
      </p:sp>
      <p:sp>
        <p:nvSpPr>
          <p:cNvPr id="22" name="TextBox 21"/>
          <p:cNvSpPr txBox="1"/>
          <p:nvPr/>
        </p:nvSpPr>
        <p:spPr>
          <a:xfrm>
            <a:off x="594360" y="5596128"/>
            <a:ext cx="2304288" cy="320040"/>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617080"/>
                </a:solidFill>
                <a:latin typeface="Pretendard"/>
                <a:ea typeface="Pretendard"/>
                <a:cs typeface="Pretendard"/>
              </a:rPr>
              <a:t>Fine-tuning</a:t>
            </a:r>
          </a:p>
        </p:txBody>
      </p:sp>
      <p:sp>
        <p:nvSpPr>
          <p:cNvPr id="23" name="TextBox 22"/>
          <p:cNvSpPr txBox="1"/>
          <p:nvPr/>
        </p:nvSpPr>
        <p:spPr>
          <a:xfrm>
            <a:off x="3154680" y="5596128"/>
            <a:ext cx="8412480" cy="320040"/>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오차를 역전파해 가중치를 바꾸는 별도 절차 · 이번 실험은 미수행</a:t>
            </a:r>
          </a:p>
        </p:txBody>
      </p:sp>
      <p:sp>
        <p:nvSpPr>
          <p:cNvPr id="24" name="Rectangle 23"/>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갱신 대상 · 사전학습 가중치 외부의 context와 계산 캐시</a:t>
            </a:r>
          </a:p>
        </p:txBody>
      </p:sp>
      <p:sp>
        <p:nvSpPr>
          <p:cNvPr id="26" name="TextBox 25"/>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02 접근</a:t>
            </a:r>
          </a:p>
        </p:txBody>
      </p:sp>
      <p:sp>
        <p:nvSpPr>
          <p:cNvPr id="27" name="TextBox 26"/>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평가 목적 · 누적과 고정 버퍼의 품질·비용</a:t>
            </a:r>
          </a:p>
        </p:txBody>
      </p:sp>
      <p:sp>
        <p:nvSpPr>
          <p:cNvPr id="3" name="TextBox 2"/>
          <p:cNvSpPr txBox="1"/>
          <p:nvPr/>
        </p:nvSpPr>
        <p:spPr>
          <a:xfrm>
            <a:off x="594360" y="1042415"/>
            <a:ext cx="10972800" cy="822960"/>
          </a:xfrm>
          <a:prstGeom prst="rect">
            <a:avLst/>
          </a:prstGeom>
          <a:noFill/>
          <a:effectLst/>
        </p:spPr>
        <p:txBody>
          <a:bodyPr wrap="none" anchor="t" lIns="0" rIns="0" tIns="0" bIns="0">
            <a:noAutofit/>
          </a:bodyPr>
          <a:lstStyle/>
          <a:p>
            <a:pPr algn="l">
              <a:lnSpc>
                <a:spcPct val="116000"/>
              </a:lnSpc>
              <a:spcBef>
                <a:spcPts val="0"/>
              </a:spcBef>
              <a:spcAft>
                <a:spcPts val="0"/>
              </a:spcAft>
            </a:pPr>
            <a:r>
              <a:rPr sz="2600" b="1" lang="ko-KR">
                <a:solidFill>
                  <a:srgbClr val="00306C"/>
                </a:solidFill>
                <a:latin typeface="Pretendard"/>
                <a:ea typeface="Pretendard"/>
                <a:cs typeface="Pretendard"/>
              </a:rPr>
              <a:t>새 공격의 라벨 사례가 소량 확보될 때</a:t>
            </a:r>
          </a:p>
          <a:p>
            <a:pPr algn="l">
              <a:lnSpc>
                <a:spcPct val="116000"/>
              </a:lnSpc>
              <a:spcBef>
                <a:spcPts val="0"/>
              </a:spcBef>
              <a:spcAft>
                <a:spcPts val="0"/>
              </a:spcAft>
            </a:pPr>
            <a:r>
              <a:rPr sz="2600" b="1" lang="ko-KR">
                <a:solidFill>
                  <a:srgbClr val="00306C"/>
                </a:solidFill>
                <a:latin typeface="Pretendard"/>
                <a:ea typeface="Pretendard"/>
                <a:cs typeface="Pretendard"/>
              </a:rPr>
              <a:t>누적 재학습과 context 갱신의 탐지 품질·계산 비용 비교</a:t>
            </a:r>
          </a:p>
        </p:txBody>
      </p:sp>
      <p:sp>
        <p:nvSpPr>
          <p:cNvPr id="4" name="Rectangle 3"/>
          <p:cNvSpPr/>
          <p:nvPr/>
        </p:nvSpPr>
        <p:spPr>
          <a:xfrm>
            <a:off x="594360" y="2048256"/>
            <a:ext cx="10991088" cy="49377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68096" y="2148840"/>
            <a:ext cx="10652760"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공통 입력 · 초기 1,000개 + 단계별 신규 공격 라벨 / 모든 방법에 동일 사례 제공</a:t>
            </a:r>
          </a:p>
        </p:txBody>
      </p:sp>
      <p:sp>
        <p:nvSpPr>
          <p:cNvPr id="6" name="Down Arrow 5"/>
          <p:cNvSpPr/>
          <p:nvPr/>
        </p:nvSpPr>
        <p:spPr>
          <a:xfrm>
            <a:off x="2057400" y="2642616"/>
            <a:ext cx="320040" cy="219456"/>
          </a:xfrm>
          <a:prstGeom prst="down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94360" y="2971800"/>
            <a:ext cx="3300984" cy="132588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2971800"/>
            <a:ext cx="3300984" cy="438912"/>
          </a:xfrm>
          <a:prstGeom prst="rect">
            <a:avLst/>
          </a:prstGeom>
          <a:solidFill>
            <a:srgbClr val="11111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49808" y="3072384"/>
            <a:ext cx="2990088"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FFFFFF"/>
                </a:solidFill>
                <a:latin typeface="Pretendard"/>
                <a:ea typeface="Pretendard"/>
                <a:cs typeface="Pretendard"/>
              </a:rPr>
              <a:t>XGB 누적 재학습</a:t>
            </a:r>
          </a:p>
        </p:txBody>
      </p:sp>
      <p:sp>
        <p:nvSpPr>
          <p:cNvPr id="10" name="TextBox 9"/>
          <p:cNvSpPr txBox="1"/>
          <p:nvPr/>
        </p:nvSpPr>
        <p:spPr>
          <a:xfrm>
            <a:off x="749808" y="3611880"/>
            <a:ext cx="2990088" cy="566928"/>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지금까지 제공한 사례 전부</a:t>
            </a:r>
          </a:p>
          <a:p>
            <a:pPr algn="l">
              <a:lnSpc>
                <a:spcPct val="116000"/>
              </a:lnSpc>
              <a:spcBef>
                <a:spcPts val="0"/>
              </a:spcBef>
              <a:spcAft>
                <a:spcPts val="0"/>
              </a:spcAft>
            </a:pPr>
            <a:r>
              <a:rPr sz="1800" b="0" lang="ko-KR">
                <a:solidFill>
                  <a:srgbClr val="20262E"/>
                </a:solidFill>
                <a:latin typeface="Pretendard"/>
                <a:ea typeface="Pretendard"/>
                <a:cs typeface="Pretendard"/>
              </a:rPr>
              <a:t>가중치 재학습</a:t>
            </a:r>
          </a:p>
        </p:txBody>
      </p:sp>
      <p:sp>
        <p:nvSpPr>
          <p:cNvPr id="11" name="Down Arrow 10"/>
          <p:cNvSpPr/>
          <p:nvPr/>
        </p:nvSpPr>
        <p:spPr>
          <a:xfrm>
            <a:off x="5916168" y="2642616"/>
            <a:ext cx="320040" cy="219456"/>
          </a:xfrm>
          <a:prstGeom prst="down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53128" y="2971800"/>
            <a:ext cx="3300984" cy="132588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453128" y="2971800"/>
            <a:ext cx="3300984" cy="43891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08576" y="3072384"/>
            <a:ext cx="2990088"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FFFFFF"/>
                </a:solidFill>
                <a:latin typeface="Pretendard"/>
                <a:ea typeface="Pretendard"/>
                <a:cs typeface="Pretendard"/>
              </a:rPr>
              <a:t>PFN 누적 context</a:t>
            </a:r>
          </a:p>
        </p:txBody>
      </p:sp>
      <p:sp>
        <p:nvSpPr>
          <p:cNvPr id="15" name="TextBox 14"/>
          <p:cNvSpPr txBox="1"/>
          <p:nvPr/>
        </p:nvSpPr>
        <p:spPr>
          <a:xfrm>
            <a:off x="4608576" y="3611880"/>
            <a:ext cx="2990088" cy="566928"/>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지금까지 제공한 사례 전부</a:t>
            </a:r>
          </a:p>
          <a:p>
            <a:pPr algn="l">
              <a:lnSpc>
                <a:spcPct val="116000"/>
              </a:lnSpc>
              <a:spcBef>
                <a:spcPts val="0"/>
              </a:spcBef>
              <a:spcAft>
                <a:spcPts val="0"/>
              </a:spcAft>
            </a:pPr>
            <a:r>
              <a:rPr sz="1800" b="0" lang="ko-KR">
                <a:solidFill>
                  <a:srgbClr val="20262E"/>
                </a:solidFill>
                <a:latin typeface="Pretendard"/>
                <a:ea typeface="Pretendard"/>
                <a:cs typeface="Pretendard"/>
              </a:rPr>
              <a:t>고정 가중치 · context 갱신</a:t>
            </a:r>
          </a:p>
        </p:txBody>
      </p:sp>
      <p:sp>
        <p:nvSpPr>
          <p:cNvPr id="16" name="Down Arrow 15"/>
          <p:cNvSpPr/>
          <p:nvPr/>
        </p:nvSpPr>
        <p:spPr>
          <a:xfrm>
            <a:off x="9774936" y="2642616"/>
            <a:ext cx="320040" cy="219456"/>
          </a:xfrm>
          <a:prstGeom prst="down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311896" y="2971800"/>
            <a:ext cx="3300984" cy="132588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311896" y="2971800"/>
            <a:ext cx="3300984" cy="438912"/>
          </a:xfrm>
          <a:prstGeom prst="rect">
            <a:avLst/>
          </a:prstGeom>
          <a:solidFill>
            <a:srgbClr val="2F8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467344" y="3072384"/>
            <a:ext cx="2990088"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FFFFFF"/>
                </a:solidFill>
                <a:latin typeface="Pretendard"/>
                <a:ea typeface="Pretendard"/>
                <a:cs typeface="Pretendard"/>
              </a:rPr>
              <a:t>PFN 고정 버퍼</a:t>
            </a:r>
          </a:p>
        </p:txBody>
      </p:sp>
      <p:sp>
        <p:nvSpPr>
          <p:cNvPr id="20" name="TextBox 19"/>
          <p:cNvSpPr txBox="1"/>
          <p:nvPr/>
        </p:nvSpPr>
        <p:spPr>
          <a:xfrm>
            <a:off x="8467344" y="3611880"/>
            <a:ext cx="2990088" cy="566928"/>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기존 삭제 + 신규 전량 편입</a:t>
            </a:r>
          </a:p>
          <a:p>
            <a:pPr algn="l">
              <a:lnSpc>
                <a:spcPct val="116000"/>
              </a:lnSpc>
              <a:spcBef>
                <a:spcPts val="0"/>
              </a:spcBef>
              <a:spcAft>
                <a:spcPts val="0"/>
              </a:spcAft>
            </a:pPr>
            <a:r>
              <a:rPr sz="1800" b="0" lang="ko-KR">
                <a:solidFill>
                  <a:srgbClr val="20262E"/>
                </a:solidFill>
                <a:latin typeface="Pretendard"/>
                <a:ea typeface="Pretendard"/>
                <a:cs typeface="Pretendard"/>
              </a:rPr>
              <a:t>1,000개 유지 · context 갱신</a:t>
            </a:r>
          </a:p>
        </p:txBody>
      </p:sp>
      <p:sp>
        <p:nvSpPr>
          <p:cNvPr id="21" name="TextBox 20"/>
          <p:cNvSpPr txBox="1"/>
          <p:nvPr/>
        </p:nvSpPr>
        <p:spPr>
          <a:xfrm>
            <a:off x="594360" y="4681728"/>
            <a:ext cx="3300984"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탐지 품질</a:t>
            </a:r>
          </a:p>
        </p:txBody>
      </p:sp>
      <p:sp>
        <p:nvSpPr>
          <p:cNvPr id="22" name="TextBox 21"/>
          <p:cNvSpPr txBox="1"/>
          <p:nvPr/>
        </p:nvSpPr>
        <p:spPr>
          <a:xfrm>
            <a:off x="594360" y="5202936"/>
            <a:ext cx="3300984"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전체·신규 공격별 F1</a:t>
            </a:r>
          </a:p>
        </p:txBody>
      </p:sp>
      <p:sp>
        <p:nvSpPr>
          <p:cNvPr id="23" name="TextBox 22"/>
          <p:cNvSpPr txBox="1"/>
          <p:nvPr/>
        </p:nvSpPr>
        <p:spPr>
          <a:xfrm>
            <a:off x="4453128" y="4681728"/>
            <a:ext cx="3300984"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기존 클래스 유지</a:t>
            </a:r>
          </a:p>
        </p:txBody>
      </p:sp>
      <p:sp>
        <p:nvSpPr>
          <p:cNvPr id="24" name="TextBox 23"/>
          <p:cNvSpPr txBox="1"/>
          <p:nvPr/>
        </p:nvSpPr>
        <p:spPr>
          <a:xfrm>
            <a:off x="4453128" y="5202936"/>
            <a:ext cx="3300984"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동일 평가 사례의 갱신 전후 변화</a:t>
            </a:r>
          </a:p>
        </p:txBody>
      </p:sp>
      <p:sp>
        <p:nvSpPr>
          <p:cNvPr id="25" name="TextBox 24"/>
          <p:cNvSpPr txBox="1"/>
          <p:nvPr/>
        </p:nvSpPr>
        <p:spPr>
          <a:xfrm>
            <a:off x="8311896" y="4681728"/>
            <a:ext cx="3300984"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갱신 비용</a:t>
            </a:r>
          </a:p>
        </p:txBody>
      </p:sp>
      <p:sp>
        <p:nvSpPr>
          <p:cNvPr id="26" name="TextBox 25"/>
          <p:cNvSpPr txBox="1"/>
          <p:nvPr/>
        </p:nvSpPr>
        <p:spPr>
          <a:xfrm>
            <a:off x="8311896" y="5202936"/>
            <a:ext cx="3300984"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초기 준비·추론과 분리한 시간</a:t>
            </a:r>
          </a:p>
        </p:txBody>
      </p:sp>
      <p:sp>
        <p:nvSpPr>
          <p:cNvPr id="27" name="TextBox 26"/>
          <p:cNvSpPr txBox="1"/>
          <p:nvPr/>
        </p:nvSpPr>
        <p:spPr>
          <a:xfrm>
            <a:off x="594360" y="588873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평가 범위 · 신규 공격의 라벨 확보 후 분류 / 라벨 없는 미지 공격 탐지와 네트워크 간 전이는 별도 과제</a:t>
            </a:r>
          </a:p>
        </p:txBody>
      </p:sp>
      <p:sp>
        <p:nvSpPr>
          <p:cNvPr id="28" name="Rectangle 27"/>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동일한 신규 사례 · 서로 다른 사례 보유 방식과 갱신 연산</a:t>
            </a:r>
          </a:p>
        </p:txBody>
      </p:sp>
      <p:sp>
        <p:nvSpPr>
          <p:cNvPr id="30" name="TextBox 29"/>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31" name="TextBox 30"/>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평가 방법 · 데이터 출처와 사례 선택</a:t>
            </a:r>
          </a:p>
        </p:txBody>
      </p:sp>
      <p:sp>
        <p:nvSpPr>
          <p:cNvPr id="3" name="TextBox 2"/>
          <p:cNvSpPr txBox="1"/>
          <p:nvPr/>
        </p:nvSpPr>
        <p:spPr>
          <a:xfrm>
            <a:off x="566928" y="1005840"/>
            <a:ext cx="10972800"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306C"/>
                </a:solidFill>
                <a:latin typeface="Pretendard"/>
                <a:ea typeface="Pretendard"/>
                <a:cs typeface="Pretendard"/>
              </a:rPr>
              <a:t>각 벤치마크 안에서 train의 행을 선택 · CIC와 ToN 사이의 행 결합 없음</a:t>
            </a:r>
          </a:p>
        </p:txBody>
      </p:sp>
      <p:sp>
        <p:nvSpPr>
          <p:cNvPr id="4" name="Rectangle 3"/>
          <p:cNvSpPr/>
          <p:nvPr/>
        </p:nvSpPr>
        <p:spPr>
          <a:xfrm>
            <a:off x="566928" y="1764792"/>
            <a:ext cx="1536192" cy="13167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04088" y="2029967"/>
            <a:ext cx="1261872"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CIC2018</a:t>
            </a:r>
          </a:p>
        </p:txBody>
      </p:sp>
      <p:sp>
        <p:nvSpPr>
          <p:cNvPr id="6" name="TextBox 5"/>
          <p:cNvSpPr txBox="1"/>
          <p:nvPr/>
        </p:nvSpPr>
        <p:spPr>
          <a:xfrm>
            <a:off x="704088" y="2569464"/>
            <a:ext cx="1261872"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수집 벤치마크</a:t>
            </a:r>
          </a:p>
        </p:txBody>
      </p:sp>
      <p:sp>
        <p:nvSpPr>
          <p:cNvPr id="7" name="Right Arrow 6"/>
          <p:cNvSpPr/>
          <p:nvPr/>
        </p:nvSpPr>
        <p:spPr>
          <a:xfrm>
            <a:off x="2221992" y="2286000"/>
            <a:ext cx="283464" cy="24688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2660904" y="1764792"/>
            <a:ext cx="2990088" cy="13167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816352" y="1892807"/>
            <a:ext cx="2670048"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7BC6"/>
                </a:solidFill>
                <a:latin typeface="Pretendard"/>
                <a:ea typeface="Pretendard"/>
                <a:cs typeface="Pretendard"/>
              </a:rPr>
              <a:t>정제 후 train / test 분리</a:t>
            </a:r>
          </a:p>
        </p:txBody>
      </p:sp>
      <p:sp>
        <p:nvSpPr>
          <p:cNvPr id="10" name="TextBox 9"/>
          <p:cNvSpPr txBox="1"/>
          <p:nvPr/>
        </p:nvSpPr>
        <p:spPr>
          <a:xfrm>
            <a:off x="2816352" y="2423160"/>
            <a:ext cx="2670048" cy="510463"/>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상충 라벨 제거</a:t>
            </a:r>
          </a:p>
          <a:p>
            <a:pPr algn="l">
              <a:lnSpc>
                <a:spcPct val="116000"/>
              </a:lnSpc>
              <a:spcBef>
                <a:spcPts val="0"/>
              </a:spcBef>
              <a:spcAft>
                <a:spcPts val="0"/>
              </a:spcAft>
            </a:pPr>
            <a:r>
              <a:rPr sz="1650" b="0" lang="ko-KR">
                <a:solidFill>
                  <a:srgbClr val="20262E"/>
                </a:solidFill>
                <a:latin typeface="Pretendard"/>
                <a:ea typeface="Pretendard"/>
                <a:cs typeface="Pretendard"/>
              </a:rPr>
              <a:t>학습·평가 행 분리</a:t>
            </a:r>
          </a:p>
        </p:txBody>
      </p:sp>
      <p:sp>
        <p:nvSpPr>
          <p:cNvPr id="11" name="Right Arrow 10"/>
          <p:cNvSpPr/>
          <p:nvPr/>
        </p:nvSpPr>
        <p:spPr>
          <a:xfrm>
            <a:off x="5788152" y="2066543"/>
            <a:ext cx="256032" cy="21031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ight Arrow 11"/>
          <p:cNvSpPr/>
          <p:nvPr/>
        </p:nvSpPr>
        <p:spPr>
          <a:xfrm>
            <a:off x="5788152" y="2679191"/>
            <a:ext cx="256032" cy="21031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208776" y="1764792"/>
            <a:ext cx="5413248" cy="612648"/>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364224" y="1865376"/>
            <a:ext cx="5074920" cy="402336"/>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306C"/>
                </a:solidFill>
                <a:latin typeface="Pretendard"/>
                <a:ea typeface="Pretendard"/>
                <a:cs typeface="Pretendard"/>
              </a:rPr>
              <a:t>Train → 초기 1,000개 + 신규 공격당 n개 선택</a:t>
            </a:r>
          </a:p>
        </p:txBody>
      </p:sp>
      <p:sp>
        <p:nvSpPr>
          <p:cNvPr id="15" name="Rectangle 14"/>
          <p:cNvSpPr/>
          <p:nvPr/>
        </p:nvSpPr>
        <p:spPr>
          <a:xfrm>
            <a:off x="6208776" y="2496312"/>
            <a:ext cx="5413248" cy="58521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364224" y="2624328"/>
            <a:ext cx="5074920" cy="292608"/>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Test → 고정 3,042,473개 · 학습/context에 미사용</a:t>
            </a:r>
          </a:p>
        </p:txBody>
      </p:sp>
      <p:sp>
        <p:nvSpPr>
          <p:cNvPr id="17" name="Rectangle 16"/>
          <p:cNvSpPr/>
          <p:nvPr/>
        </p:nvSpPr>
        <p:spPr>
          <a:xfrm>
            <a:off x="566928" y="3666744"/>
            <a:ext cx="1536192" cy="13167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04088" y="3931920"/>
            <a:ext cx="1261872"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ToN-IoT</a:t>
            </a:r>
          </a:p>
        </p:txBody>
      </p:sp>
      <p:sp>
        <p:nvSpPr>
          <p:cNvPr id="19" name="TextBox 18"/>
          <p:cNvSpPr txBox="1"/>
          <p:nvPr/>
        </p:nvSpPr>
        <p:spPr>
          <a:xfrm>
            <a:off x="704088" y="4471416"/>
            <a:ext cx="1261872"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수집 벤치마크</a:t>
            </a:r>
          </a:p>
        </p:txBody>
      </p:sp>
      <p:sp>
        <p:nvSpPr>
          <p:cNvPr id="20" name="Right Arrow 19"/>
          <p:cNvSpPr/>
          <p:nvPr/>
        </p:nvSpPr>
        <p:spPr>
          <a:xfrm>
            <a:off x="2221992" y="4187952"/>
            <a:ext cx="283464" cy="24688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2660904" y="3666744"/>
            <a:ext cx="2990088" cy="13167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2816352" y="3794759"/>
            <a:ext cx="2670048"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7BC6"/>
                </a:solidFill>
                <a:latin typeface="Pretendard"/>
                <a:ea typeface="Pretendard"/>
                <a:cs typeface="Pretendard"/>
              </a:rPr>
              <a:t>정제 후 train / test 분리</a:t>
            </a:r>
          </a:p>
        </p:txBody>
      </p:sp>
      <p:sp>
        <p:nvSpPr>
          <p:cNvPr id="23" name="TextBox 22"/>
          <p:cNvSpPr txBox="1"/>
          <p:nvPr/>
        </p:nvSpPr>
        <p:spPr>
          <a:xfrm>
            <a:off x="2816352" y="4325112"/>
            <a:ext cx="2670048" cy="510463"/>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상충 라벨 제거</a:t>
            </a:r>
          </a:p>
          <a:p>
            <a:pPr algn="l">
              <a:lnSpc>
                <a:spcPct val="116000"/>
              </a:lnSpc>
              <a:spcBef>
                <a:spcPts val="0"/>
              </a:spcBef>
              <a:spcAft>
                <a:spcPts val="0"/>
              </a:spcAft>
            </a:pPr>
            <a:r>
              <a:rPr sz="1650" b="0" lang="ko-KR">
                <a:solidFill>
                  <a:srgbClr val="20262E"/>
                </a:solidFill>
                <a:latin typeface="Pretendard"/>
                <a:ea typeface="Pretendard"/>
                <a:cs typeface="Pretendard"/>
              </a:rPr>
              <a:t>학습·평가 행 분리</a:t>
            </a:r>
          </a:p>
        </p:txBody>
      </p:sp>
      <p:sp>
        <p:nvSpPr>
          <p:cNvPr id="24" name="Right Arrow 23"/>
          <p:cNvSpPr/>
          <p:nvPr/>
        </p:nvSpPr>
        <p:spPr>
          <a:xfrm>
            <a:off x="5788152" y="3968496"/>
            <a:ext cx="256032" cy="21031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ight Arrow 24"/>
          <p:cNvSpPr/>
          <p:nvPr/>
        </p:nvSpPr>
        <p:spPr>
          <a:xfrm>
            <a:off x="5788152" y="4581144"/>
            <a:ext cx="256032" cy="21031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6208776" y="3666744"/>
            <a:ext cx="5413248" cy="612648"/>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364224" y="3767328"/>
            <a:ext cx="5074920" cy="402336"/>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306C"/>
                </a:solidFill>
                <a:latin typeface="Pretendard"/>
                <a:ea typeface="Pretendard"/>
                <a:cs typeface="Pretendard"/>
              </a:rPr>
              <a:t>Train → 초기 1,000개 + 신규 공격당 n개 선택</a:t>
            </a:r>
          </a:p>
        </p:txBody>
      </p:sp>
      <p:sp>
        <p:nvSpPr>
          <p:cNvPr id="28" name="Rectangle 27"/>
          <p:cNvSpPr/>
          <p:nvPr/>
        </p:nvSpPr>
        <p:spPr>
          <a:xfrm>
            <a:off x="6208776" y="4398264"/>
            <a:ext cx="5413248" cy="58521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364224" y="4526279"/>
            <a:ext cx="5074920" cy="292608"/>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Test → 고정 2,271,723개 · 학습/context에 미사용</a:t>
            </a:r>
          </a:p>
        </p:txBody>
      </p:sp>
      <p:sp>
        <p:nvSpPr>
          <p:cNvPr id="30" name="TextBox 29"/>
          <p:cNvSpPr txBox="1"/>
          <p:nvPr/>
        </p:nvSpPr>
        <p:spPr>
          <a:xfrm>
            <a:off x="603504" y="5321808"/>
            <a:ext cx="10972800" cy="329184"/>
          </a:xfrm>
          <a:prstGeom prst="rect">
            <a:avLst/>
          </a:prstGeom>
          <a:noFill/>
          <a:effectLst/>
        </p:spPr>
        <p:txBody>
          <a:bodyPr wrap="none" anchor="t" lIns="0" rIns="0" tIns="0" bIns="0">
            <a:noAutofit/>
          </a:bodyPr>
          <a:lstStyle/>
          <a:p>
            <a:pPr algn="l">
              <a:lnSpc>
                <a:spcPct val="116000"/>
              </a:lnSpc>
              <a:spcBef>
                <a:spcPts val="0"/>
              </a:spcBef>
              <a:spcAft>
                <a:spcPts val="0"/>
              </a:spcAft>
            </a:pPr>
            <a:r>
              <a:rPr sz="1950" b="1" lang="ko-KR">
                <a:solidFill>
                  <a:srgbClr val="00306C"/>
                </a:solidFill>
                <a:latin typeface="Pretendard"/>
                <a:ea typeface="Pretendard"/>
                <a:cs typeface="Pretendard"/>
              </a:rPr>
              <a:t>제공 사례 · 같은 train에서 단계별로 선택한 라벨 사례 / 별도 출처의 데이터셋 생성 없음</a:t>
            </a:r>
          </a:p>
        </p:txBody>
      </p:sp>
      <p:sp>
        <p:nvSpPr>
          <p:cNvPr id="31" name="TextBox 30"/>
          <p:cNvSpPr txBox="1"/>
          <p:nvPr/>
        </p:nvSpPr>
        <p:spPr>
          <a:xfrm>
            <a:off x="603504" y="5833872"/>
            <a:ext cx="10972800" cy="329184"/>
          </a:xfrm>
          <a:prstGeom prst="rect">
            <a:avLst/>
          </a:prstGeom>
          <a:noFill/>
          <a:effectLst/>
        </p:spPr>
        <p:txBody>
          <a:bodyPr wrap="none" anchor="t" lIns="0" rIns="0" tIns="0" bIns="0">
            <a:noAutofit/>
          </a:bodyPr>
          <a:lstStyle/>
          <a:p>
            <a:pPr algn="l">
              <a:lnSpc>
                <a:spcPct val="116000"/>
              </a:lnSpc>
              <a:spcBef>
                <a:spcPts val="0"/>
              </a:spcBef>
              <a:spcAft>
                <a:spcPts val="0"/>
              </a:spcAft>
            </a:pPr>
            <a:r>
              <a:rPr sz="1950" b="1" lang="ko-KR">
                <a:solidFill>
                  <a:srgbClr val="2F8C86"/>
                </a:solidFill>
                <a:latin typeface="Pretendard"/>
                <a:ea typeface="Pretendard"/>
                <a:cs typeface="Pretendard"/>
              </a:rPr>
              <a:t>실제 사용 사례 · 누적은 지금까지 제공한 전부 / 버퍼는 삭제 후 남긴 사례와 신규 사례 1,000개</a:t>
            </a:r>
          </a:p>
        </p:txBody>
      </p:sp>
      <p:sp>
        <p:nvSpPr>
          <p:cNvPr id="32" name="Rectangle 31"/>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수집된 특징 행을 선택한 라벨 제공 실험 · 새로운 특징 행의 합성 없음</a:t>
            </a:r>
          </a:p>
        </p:txBody>
      </p:sp>
      <p:sp>
        <p:nvSpPr>
          <p:cNvPr id="34" name="TextBox 33"/>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35" name="TextBox 34"/>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평가 방법 · 단계별 공급량과 실제 보유량</a:t>
            </a:r>
          </a:p>
        </p:txBody>
      </p:sp>
      <p:sp>
        <p:nvSpPr>
          <p:cNvPr id="3" name="TextBox 2"/>
          <p:cNvSpPr txBox="1"/>
          <p:nvPr/>
        </p:nvSpPr>
        <p:spPr>
          <a:xfrm>
            <a:off x="566928" y="996696"/>
            <a:ext cx="10972800" cy="356616"/>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306C"/>
                </a:solidFill>
                <a:latin typeface="Pretendard"/>
                <a:ea typeface="Pretendard"/>
                <a:cs typeface="Pretendard"/>
              </a:rPr>
              <a:t>n = 5 · 10 · 20 · 30 · 50 · 100개 / 신규 공격 클래스 · seed 43 한 번</a:t>
            </a:r>
          </a:p>
        </p:txBody>
      </p:sp>
      <p:sp>
        <p:nvSpPr>
          <p:cNvPr id="4" name="TextBox 3"/>
          <p:cNvSpPr txBox="1"/>
          <p:nvPr/>
        </p:nvSpPr>
        <p:spPr>
          <a:xfrm>
            <a:off x="566928" y="1463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rPr>
              <a:t>n은 확보 가능한 라벨 수의 실험 조건 · 하루 공격량이나 최적 표본 수를 뜻하지 않는 값</a:t>
            </a:r>
          </a:p>
        </p:txBody>
      </p:sp>
      <p:sp>
        <p:nvSpPr>
          <p:cNvPr id="5" name="TextBox 4"/>
          <p:cNvSpPr txBox="1"/>
          <p:nvPr/>
        </p:nvSpPr>
        <p:spPr>
          <a:xfrm>
            <a:off x="566928" y="1819656"/>
            <a:ext cx="5349240"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CIC2018</a:t>
            </a:r>
          </a:p>
        </p:txBody>
      </p:sp>
      <p:sp>
        <p:nvSpPr>
          <p:cNvPr id="6" name="TextBox 5"/>
          <p:cNvSpPr txBox="1"/>
          <p:nvPr/>
        </p:nvSpPr>
        <p:spPr>
          <a:xfrm>
            <a:off x="6281928" y="1819656"/>
            <a:ext cx="5349240"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ToN-IoT</a:t>
            </a:r>
          </a:p>
        </p:txBody>
      </p:sp>
      <p:sp>
        <p:nvSpPr>
          <p:cNvPr id="7" name="Rectangle 6"/>
          <p:cNvSpPr/>
          <p:nvPr/>
        </p:nvSpPr>
        <p:spPr>
          <a:xfrm>
            <a:off x="566928" y="2240280"/>
            <a:ext cx="54864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58368" y="2331720"/>
            <a:ext cx="365759"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단계</a:t>
            </a:r>
          </a:p>
        </p:txBody>
      </p:sp>
      <p:sp>
        <p:nvSpPr>
          <p:cNvPr id="9" name="Rectangle 8"/>
          <p:cNvSpPr/>
          <p:nvPr/>
        </p:nvSpPr>
        <p:spPr>
          <a:xfrm>
            <a:off x="1115568" y="2240280"/>
            <a:ext cx="1719072"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207008" y="2331720"/>
            <a:ext cx="1536192"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제공 클래스</a:t>
            </a:r>
          </a:p>
        </p:txBody>
      </p:sp>
      <p:sp>
        <p:nvSpPr>
          <p:cNvPr id="11" name="Rectangle 10"/>
          <p:cNvSpPr/>
          <p:nvPr/>
        </p:nvSpPr>
        <p:spPr>
          <a:xfrm>
            <a:off x="2834639" y="2240280"/>
            <a:ext cx="82296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926079" y="2331720"/>
            <a:ext cx="640080"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제공 수</a:t>
            </a:r>
          </a:p>
        </p:txBody>
      </p:sp>
      <p:sp>
        <p:nvSpPr>
          <p:cNvPr id="13" name="Rectangle 12"/>
          <p:cNvSpPr/>
          <p:nvPr/>
        </p:nvSpPr>
        <p:spPr>
          <a:xfrm>
            <a:off x="3657599" y="2240280"/>
            <a:ext cx="1298448"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749039" y="2331720"/>
            <a:ext cx="111556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 보유</a:t>
            </a:r>
          </a:p>
        </p:txBody>
      </p:sp>
      <p:sp>
        <p:nvSpPr>
          <p:cNvPr id="15" name="Rectangle 14"/>
          <p:cNvSpPr/>
          <p:nvPr/>
        </p:nvSpPr>
        <p:spPr>
          <a:xfrm>
            <a:off x="4956048" y="2240280"/>
            <a:ext cx="969264" cy="448056"/>
          </a:xfrm>
          <a:prstGeom prst="rect">
            <a:avLst/>
          </a:prstGeom>
          <a:solidFill>
            <a:srgbClr val="2F8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047488" y="233172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버퍼</a:t>
            </a:r>
          </a:p>
        </p:txBody>
      </p:sp>
      <p:sp>
        <p:nvSpPr>
          <p:cNvPr id="17" name="Rectangle 16"/>
          <p:cNvSpPr/>
          <p:nvPr/>
        </p:nvSpPr>
        <p:spPr>
          <a:xfrm>
            <a:off x="566928" y="2688336"/>
            <a:ext cx="5358383" cy="8229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58368" y="2770632"/>
            <a:ext cx="365759" cy="6949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1</a:t>
            </a:r>
          </a:p>
        </p:txBody>
      </p:sp>
      <p:sp>
        <p:nvSpPr>
          <p:cNvPr id="19" name="TextBox 18"/>
          <p:cNvSpPr txBox="1"/>
          <p:nvPr/>
        </p:nvSpPr>
        <p:spPr>
          <a:xfrm>
            <a:off x="1207008" y="2770632"/>
            <a:ext cx="1536192" cy="6949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Benign</a:t>
            </a:r>
          </a:p>
          <a:p>
            <a:pPr algn="l">
              <a:lnSpc>
                <a:spcPct val="116000"/>
              </a:lnSpc>
              <a:spcBef>
                <a:spcPts val="0"/>
              </a:spcBef>
              <a:spcAft>
                <a:spcPts val="0"/>
              </a:spcAft>
            </a:pPr>
            <a:r>
              <a:rPr sz="1400" b="0" lang="ko-KR">
                <a:solidFill>
                  <a:srgbClr val="20262E"/>
                </a:solidFill>
                <a:latin typeface="Pretendard"/>
                <a:ea typeface="Pretendard"/>
                <a:cs typeface="Pretendard"/>
              </a:rPr>
              <a:t>Brute force</a:t>
            </a:r>
          </a:p>
          <a:p>
            <a:pPr algn="l">
              <a:lnSpc>
                <a:spcPct val="116000"/>
              </a:lnSpc>
              <a:spcBef>
                <a:spcPts val="0"/>
              </a:spcBef>
              <a:spcAft>
                <a:spcPts val="0"/>
              </a:spcAft>
            </a:pPr>
            <a:r>
              <a:rPr sz="1400" b="0" lang="ko-KR">
                <a:solidFill>
                  <a:srgbClr val="20262E"/>
                </a:solidFill>
                <a:latin typeface="Pretendard"/>
                <a:ea typeface="Pretendard"/>
                <a:cs typeface="Pretendard"/>
              </a:rPr>
              <a:t>DoS</a:t>
            </a:r>
          </a:p>
        </p:txBody>
      </p:sp>
      <p:sp>
        <p:nvSpPr>
          <p:cNvPr id="20" name="TextBox 19"/>
          <p:cNvSpPr txBox="1"/>
          <p:nvPr/>
        </p:nvSpPr>
        <p:spPr>
          <a:xfrm>
            <a:off x="2926079" y="2770632"/>
            <a:ext cx="640080"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750</a:t>
            </a:r>
          </a:p>
          <a:p>
            <a:pPr algn="r">
              <a:lnSpc>
                <a:spcPct val="116000"/>
              </a:lnSpc>
              <a:spcBef>
                <a:spcPts val="0"/>
              </a:spcBef>
              <a:spcAft>
                <a:spcPts val="0"/>
              </a:spcAft>
            </a:pPr>
            <a:r>
              <a:rPr sz="1400" b="0" lang="ko-KR">
                <a:solidFill>
                  <a:srgbClr val="20262E"/>
                </a:solidFill>
                <a:latin typeface="Pretendard"/>
                <a:ea typeface="Pretendard"/>
                <a:cs typeface="Pretendard"/>
              </a:rPr>
              <a:t>125</a:t>
            </a:r>
          </a:p>
          <a:p>
            <a:pPr algn="r">
              <a:lnSpc>
                <a:spcPct val="116000"/>
              </a:lnSpc>
              <a:spcBef>
                <a:spcPts val="0"/>
              </a:spcBef>
              <a:spcAft>
                <a:spcPts val="0"/>
              </a:spcAft>
            </a:pPr>
            <a:r>
              <a:rPr sz="1400" b="0" lang="ko-KR">
                <a:solidFill>
                  <a:srgbClr val="20262E"/>
                </a:solidFill>
                <a:latin typeface="Pretendard"/>
                <a:ea typeface="Pretendard"/>
                <a:cs typeface="Pretendard"/>
              </a:rPr>
              <a:t>125</a:t>
            </a:r>
          </a:p>
        </p:txBody>
      </p:sp>
      <p:sp>
        <p:nvSpPr>
          <p:cNvPr id="21" name="TextBox 20"/>
          <p:cNvSpPr txBox="1"/>
          <p:nvPr/>
        </p:nvSpPr>
        <p:spPr>
          <a:xfrm>
            <a:off x="3749039" y="2770632"/>
            <a:ext cx="1115568"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a:t>
            </a:r>
          </a:p>
        </p:txBody>
      </p:sp>
      <p:sp>
        <p:nvSpPr>
          <p:cNvPr id="22" name="TextBox 21"/>
          <p:cNvSpPr txBox="1"/>
          <p:nvPr/>
        </p:nvSpPr>
        <p:spPr>
          <a:xfrm>
            <a:off x="5047488" y="2770632"/>
            <a:ext cx="786384"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23" name="Rectangle 22"/>
          <p:cNvSpPr/>
          <p:nvPr/>
        </p:nvSpPr>
        <p:spPr>
          <a:xfrm>
            <a:off x="566928" y="3511296"/>
            <a:ext cx="5358383"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58368" y="3593592"/>
            <a:ext cx="365759"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2</a:t>
            </a:r>
          </a:p>
        </p:txBody>
      </p:sp>
      <p:sp>
        <p:nvSpPr>
          <p:cNvPr id="25" name="TextBox 24"/>
          <p:cNvSpPr txBox="1"/>
          <p:nvPr/>
        </p:nvSpPr>
        <p:spPr>
          <a:xfrm>
            <a:off x="1207008" y="3593592"/>
            <a:ext cx="1536192"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DDoS</a:t>
            </a:r>
          </a:p>
        </p:txBody>
      </p:sp>
      <p:sp>
        <p:nvSpPr>
          <p:cNvPr id="26" name="TextBox 25"/>
          <p:cNvSpPr txBox="1"/>
          <p:nvPr/>
        </p:nvSpPr>
        <p:spPr>
          <a:xfrm>
            <a:off x="2926079" y="3593592"/>
            <a:ext cx="640080"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27" name="TextBox 26"/>
          <p:cNvSpPr txBox="1"/>
          <p:nvPr/>
        </p:nvSpPr>
        <p:spPr>
          <a:xfrm>
            <a:off x="3749039" y="3593592"/>
            <a:ext cx="1115568"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1,000+n</a:t>
            </a:r>
          </a:p>
        </p:txBody>
      </p:sp>
      <p:sp>
        <p:nvSpPr>
          <p:cNvPr id="28" name="TextBox 27"/>
          <p:cNvSpPr txBox="1"/>
          <p:nvPr/>
        </p:nvSpPr>
        <p:spPr>
          <a:xfrm>
            <a:off x="5047488" y="3593592"/>
            <a:ext cx="786384"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29" name="Rectangle 28"/>
          <p:cNvSpPr/>
          <p:nvPr/>
        </p:nvSpPr>
        <p:spPr>
          <a:xfrm>
            <a:off x="566928" y="3950208"/>
            <a:ext cx="5358383" cy="43891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658368" y="4032504"/>
            <a:ext cx="365759"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3</a:t>
            </a:r>
          </a:p>
        </p:txBody>
      </p:sp>
      <p:sp>
        <p:nvSpPr>
          <p:cNvPr id="31" name="TextBox 30"/>
          <p:cNvSpPr txBox="1"/>
          <p:nvPr/>
        </p:nvSpPr>
        <p:spPr>
          <a:xfrm>
            <a:off x="1207008" y="4032504"/>
            <a:ext cx="1536192"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Web attacks</a:t>
            </a:r>
          </a:p>
        </p:txBody>
      </p:sp>
      <p:sp>
        <p:nvSpPr>
          <p:cNvPr id="32" name="TextBox 31"/>
          <p:cNvSpPr txBox="1"/>
          <p:nvPr/>
        </p:nvSpPr>
        <p:spPr>
          <a:xfrm>
            <a:off x="2926079" y="4032504"/>
            <a:ext cx="640080"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33" name="TextBox 32"/>
          <p:cNvSpPr txBox="1"/>
          <p:nvPr/>
        </p:nvSpPr>
        <p:spPr>
          <a:xfrm>
            <a:off x="3749039" y="4032504"/>
            <a:ext cx="1115568"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1,000+2n</a:t>
            </a:r>
          </a:p>
        </p:txBody>
      </p:sp>
      <p:sp>
        <p:nvSpPr>
          <p:cNvPr id="34" name="TextBox 33"/>
          <p:cNvSpPr txBox="1"/>
          <p:nvPr/>
        </p:nvSpPr>
        <p:spPr>
          <a:xfrm>
            <a:off x="5047488" y="4032504"/>
            <a:ext cx="786384"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35" name="Rectangle 34"/>
          <p:cNvSpPr/>
          <p:nvPr/>
        </p:nvSpPr>
        <p:spPr>
          <a:xfrm>
            <a:off x="566928" y="4389120"/>
            <a:ext cx="5358383"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658368" y="4471416"/>
            <a:ext cx="365759"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4</a:t>
            </a:r>
          </a:p>
        </p:txBody>
      </p:sp>
      <p:sp>
        <p:nvSpPr>
          <p:cNvPr id="37" name="TextBox 36"/>
          <p:cNvSpPr txBox="1"/>
          <p:nvPr/>
        </p:nvSpPr>
        <p:spPr>
          <a:xfrm>
            <a:off x="1207008" y="4471416"/>
            <a:ext cx="1536192"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Infiltration</a:t>
            </a:r>
          </a:p>
        </p:txBody>
      </p:sp>
      <p:sp>
        <p:nvSpPr>
          <p:cNvPr id="38" name="TextBox 37"/>
          <p:cNvSpPr txBox="1"/>
          <p:nvPr/>
        </p:nvSpPr>
        <p:spPr>
          <a:xfrm>
            <a:off x="2926079" y="4471416"/>
            <a:ext cx="640080"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39" name="TextBox 38"/>
          <p:cNvSpPr txBox="1"/>
          <p:nvPr/>
        </p:nvSpPr>
        <p:spPr>
          <a:xfrm>
            <a:off x="3749039" y="4471416"/>
            <a:ext cx="1115568"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1,000+3n</a:t>
            </a:r>
          </a:p>
        </p:txBody>
      </p:sp>
      <p:sp>
        <p:nvSpPr>
          <p:cNvPr id="40" name="TextBox 39"/>
          <p:cNvSpPr txBox="1"/>
          <p:nvPr/>
        </p:nvSpPr>
        <p:spPr>
          <a:xfrm>
            <a:off x="5047488" y="4471416"/>
            <a:ext cx="786384"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41" name="Rectangle 40"/>
          <p:cNvSpPr/>
          <p:nvPr/>
        </p:nvSpPr>
        <p:spPr>
          <a:xfrm>
            <a:off x="566928" y="4828032"/>
            <a:ext cx="5358383" cy="43891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58368" y="4910328"/>
            <a:ext cx="365759"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5</a:t>
            </a:r>
          </a:p>
        </p:txBody>
      </p:sp>
      <p:sp>
        <p:nvSpPr>
          <p:cNvPr id="43" name="TextBox 42"/>
          <p:cNvSpPr txBox="1"/>
          <p:nvPr/>
        </p:nvSpPr>
        <p:spPr>
          <a:xfrm>
            <a:off x="1207008" y="4910328"/>
            <a:ext cx="1536192"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Bot</a:t>
            </a:r>
          </a:p>
        </p:txBody>
      </p:sp>
      <p:sp>
        <p:nvSpPr>
          <p:cNvPr id="44" name="TextBox 43"/>
          <p:cNvSpPr txBox="1"/>
          <p:nvPr/>
        </p:nvSpPr>
        <p:spPr>
          <a:xfrm>
            <a:off x="2926079" y="4910328"/>
            <a:ext cx="640080"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45" name="TextBox 44"/>
          <p:cNvSpPr txBox="1"/>
          <p:nvPr/>
        </p:nvSpPr>
        <p:spPr>
          <a:xfrm>
            <a:off x="3749039" y="4910328"/>
            <a:ext cx="1115568"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1,000+4n</a:t>
            </a:r>
          </a:p>
        </p:txBody>
      </p:sp>
      <p:sp>
        <p:nvSpPr>
          <p:cNvPr id="46" name="TextBox 45"/>
          <p:cNvSpPr txBox="1"/>
          <p:nvPr/>
        </p:nvSpPr>
        <p:spPr>
          <a:xfrm>
            <a:off x="5047488" y="4910328"/>
            <a:ext cx="786384"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47" name="Rectangle 46"/>
          <p:cNvSpPr/>
          <p:nvPr/>
        </p:nvSpPr>
        <p:spPr>
          <a:xfrm>
            <a:off x="6281928" y="2240280"/>
            <a:ext cx="54864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6373368" y="2331720"/>
            <a:ext cx="365759"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단계</a:t>
            </a:r>
          </a:p>
        </p:txBody>
      </p:sp>
      <p:sp>
        <p:nvSpPr>
          <p:cNvPr id="49" name="Rectangle 48"/>
          <p:cNvSpPr/>
          <p:nvPr/>
        </p:nvSpPr>
        <p:spPr>
          <a:xfrm>
            <a:off x="6830568" y="2240280"/>
            <a:ext cx="1719072"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922007" y="2331720"/>
            <a:ext cx="1536192"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제공 클래스</a:t>
            </a:r>
          </a:p>
        </p:txBody>
      </p:sp>
      <p:sp>
        <p:nvSpPr>
          <p:cNvPr id="51" name="Rectangle 50"/>
          <p:cNvSpPr/>
          <p:nvPr/>
        </p:nvSpPr>
        <p:spPr>
          <a:xfrm>
            <a:off x="8549640" y="2240280"/>
            <a:ext cx="82296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8641080" y="2331720"/>
            <a:ext cx="640080"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제공 수</a:t>
            </a:r>
          </a:p>
        </p:txBody>
      </p:sp>
      <p:sp>
        <p:nvSpPr>
          <p:cNvPr id="53" name="Rectangle 52"/>
          <p:cNvSpPr/>
          <p:nvPr/>
        </p:nvSpPr>
        <p:spPr>
          <a:xfrm>
            <a:off x="9372600" y="2240280"/>
            <a:ext cx="1298448"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464040" y="2331720"/>
            <a:ext cx="111556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 보유</a:t>
            </a:r>
          </a:p>
        </p:txBody>
      </p:sp>
      <p:sp>
        <p:nvSpPr>
          <p:cNvPr id="55" name="Rectangle 54"/>
          <p:cNvSpPr/>
          <p:nvPr/>
        </p:nvSpPr>
        <p:spPr>
          <a:xfrm>
            <a:off x="10671048" y="2240280"/>
            <a:ext cx="969264" cy="448056"/>
          </a:xfrm>
          <a:prstGeom prst="rect">
            <a:avLst/>
          </a:prstGeom>
          <a:solidFill>
            <a:srgbClr val="2F8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762488" y="233172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버퍼</a:t>
            </a:r>
          </a:p>
        </p:txBody>
      </p:sp>
      <p:sp>
        <p:nvSpPr>
          <p:cNvPr id="57" name="Rectangle 56"/>
          <p:cNvSpPr/>
          <p:nvPr/>
        </p:nvSpPr>
        <p:spPr>
          <a:xfrm>
            <a:off x="6281928" y="2688336"/>
            <a:ext cx="5358383" cy="8229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6373368" y="2770632"/>
            <a:ext cx="365759" cy="6949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1</a:t>
            </a:r>
          </a:p>
        </p:txBody>
      </p:sp>
      <p:sp>
        <p:nvSpPr>
          <p:cNvPr id="59" name="TextBox 58"/>
          <p:cNvSpPr txBox="1"/>
          <p:nvPr/>
        </p:nvSpPr>
        <p:spPr>
          <a:xfrm>
            <a:off x="6922007" y="2770632"/>
            <a:ext cx="1536192" cy="6949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Benign</a:t>
            </a:r>
          </a:p>
          <a:p>
            <a:pPr algn="l">
              <a:lnSpc>
                <a:spcPct val="116000"/>
              </a:lnSpc>
              <a:spcBef>
                <a:spcPts val="0"/>
              </a:spcBef>
              <a:spcAft>
                <a:spcPts val="0"/>
              </a:spcAft>
            </a:pPr>
            <a:r>
              <a:rPr sz="1400" b="0" lang="ko-KR">
                <a:solidFill>
                  <a:srgbClr val="20262E"/>
                </a:solidFill>
                <a:latin typeface="Pretendard"/>
                <a:ea typeface="Pretendard"/>
                <a:cs typeface="Pretendard"/>
              </a:rPr>
              <a:t>DoS</a:t>
            </a:r>
          </a:p>
          <a:p>
            <a:pPr algn="l">
              <a:lnSpc>
                <a:spcPct val="116000"/>
              </a:lnSpc>
              <a:spcBef>
                <a:spcPts val="0"/>
              </a:spcBef>
              <a:spcAft>
                <a:spcPts val="0"/>
              </a:spcAft>
            </a:pPr>
            <a:r>
              <a:rPr sz="1400" b="0" lang="ko-KR">
                <a:solidFill>
                  <a:srgbClr val="20262E"/>
                </a:solidFill>
                <a:latin typeface="Pretendard"/>
                <a:ea typeface="Pretendard"/>
                <a:cs typeface="Pretendard"/>
              </a:rPr>
              <a:t>Scanning</a:t>
            </a:r>
          </a:p>
        </p:txBody>
      </p:sp>
      <p:sp>
        <p:nvSpPr>
          <p:cNvPr id="60" name="TextBox 59"/>
          <p:cNvSpPr txBox="1"/>
          <p:nvPr/>
        </p:nvSpPr>
        <p:spPr>
          <a:xfrm>
            <a:off x="8641080" y="2770632"/>
            <a:ext cx="640080"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750</a:t>
            </a:r>
          </a:p>
          <a:p>
            <a:pPr algn="r">
              <a:lnSpc>
                <a:spcPct val="116000"/>
              </a:lnSpc>
              <a:spcBef>
                <a:spcPts val="0"/>
              </a:spcBef>
              <a:spcAft>
                <a:spcPts val="0"/>
              </a:spcAft>
            </a:pPr>
            <a:r>
              <a:rPr sz="1400" b="0" lang="ko-KR">
                <a:solidFill>
                  <a:srgbClr val="20262E"/>
                </a:solidFill>
                <a:latin typeface="Pretendard"/>
                <a:ea typeface="Pretendard"/>
                <a:cs typeface="Pretendard"/>
              </a:rPr>
              <a:t>125</a:t>
            </a:r>
          </a:p>
          <a:p>
            <a:pPr algn="r">
              <a:lnSpc>
                <a:spcPct val="116000"/>
              </a:lnSpc>
              <a:spcBef>
                <a:spcPts val="0"/>
              </a:spcBef>
              <a:spcAft>
                <a:spcPts val="0"/>
              </a:spcAft>
            </a:pPr>
            <a:r>
              <a:rPr sz="1400" b="0" lang="ko-KR">
                <a:solidFill>
                  <a:srgbClr val="20262E"/>
                </a:solidFill>
                <a:latin typeface="Pretendard"/>
                <a:ea typeface="Pretendard"/>
                <a:cs typeface="Pretendard"/>
              </a:rPr>
              <a:t>125</a:t>
            </a:r>
          </a:p>
        </p:txBody>
      </p:sp>
      <p:sp>
        <p:nvSpPr>
          <p:cNvPr id="61" name="TextBox 60"/>
          <p:cNvSpPr txBox="1"/>
          <p:nvPr/>
        </p:nvSpPr>
        <p:spPr>
          <a:xfrm>
            <a:off x="9464040" y="2770632"/>
            <a:ext cx="1115568"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a:t>
            </a:r>
          </a:p>
        </p:txBody>
      </p:sp>
      <p:sp>
        <p:nvSpPr>
          <p:cNvPr id="62" name="TextBox 61"/>
          <p:cNvSpPr txBox="1"/>
          <p:nvPr/>
        </p:nvSpPr>
        <p:spPr>
          <a:xfrm>
            <a:off x="10762488" y="2770632"/>
            <a:ext cx="786384"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63" name="Rectangle 62"/>
          <p:cNvSpPr/>
          <p:nvPr/>
        </p:nvSpPr>
        <p:spPr>
          <a:xfrm>
            <a:off x="6281928" y="3511296"/>
            <a:ext cx="5358383" cy="5486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6373368" y="3593592"/>
            <a:ext cx="365759" cy="420623"/>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2</a:t>
            </a:r>
          </a:p>
        </p:txBody>
      </p:sp>
      <p:sp>
        <p:nvSpPr>
          <p:cNvPr id="65" name="TextBox 64"/>
          <p:cNvSpPr txBox="1"/>
          <p:nvPr/>
        </p:nvSpPr>
        <p:spPr>
          <a:xfrm>
            <a:off x="6922007" y="3593592"/>
            <a:ext cx="1536192" cy="43312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DDoS</a:t>
            </a:r>
          </a:p>
          <a:p>
            <a:pPr algn="l">
              <a:lnSpc>
                <a:spcPct val="116000"/>
              </a:lnSpc>
              <a:spcBef>
                <a:spcPts val="0"/>
              </a:spcBef>
              <a:spcAft>
                <a:spcPts val="0"/>
              </a:spcAft>
            </a:pPr>
            <a:r>
              <a:rPr sz="1400" b="0" lang="ko-KR">
                <a:solidFill>
                  <a:srgbClr val="20262E"/>
                </a:solidFill>
                <a:latin typeface="Pretendard"/>
                <a:ea typeface="Pretendard"/>
                <a:cs typeface="Pretendard"/>
              </a:rPr>
              <a:t>Injection</a:t>
            </a:r>
          </a:p>
        </p:txBody>
      </p:sp>
      <p:sp>
        <p:nvSpPr>
          <p:cNvPr id="66" name="TextBox 65"/>
          <p:cNvSpPr txBox="1"/>
          <p:nvPr/>
        </p:nvSpPr>
        <p:spPr>
          <a:xfrm>
            <a:off x="8641080" y="3593592"/>
            <a:ext cx="640080" cy="433120"/>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67" name="TextBox 66"/>
          <p:cNvSpPr txBox="1"/>
          <p:nvPr/>
        </p:nvSpPr>
        <p:spPr>
          <a:xfrm>
            <a:off x="9464040" y="3593592"/>
            <a:ext cx="1115568"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1,000+2n</a:t>
            </a:r>
          </a:p>
        </p:txBody>
      </p:sp>
      <p:sp>
        <p:nvSpPr>
          <p:cNvPr id="68" name="TextBox 67"/>
          <p:cNvSpPr txBox="1"/>
          <p:nvPr/>
        </p:nvSpPr>
        <p:spPr>
          <a:xfrm>
            <a:off x="10762488" y="3593592"/>
            <a:ext cx="786384"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69" name="Rectangle 68"/>
          <p:cNvSpPr/>
          <p:nvPr/>
        </p:nvSpPr>
        <p:spPr>
          <a:xfrm>
            <a:off x="6281928" y="4059936"/>
            <a:ext cx="5358383" cy="34747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6373368" y="4142232"/>
            <a:ext cx="365759"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3</a:t>
            </a:r>
          </a:p>
        </p:txBody>
      </p:sp>
      <p:sp>
        <p:nvSpPr>
          <p:cNvPr id="71" name="TextBox 70"/>
          <p:cNvSpPr txBox="1"/>
          <p:nvPr/>
        </p:nvSpPr>
        <p:spPr>
          <a:xfrm>
            <a:off x="6922007" y="4142232"/>
            <a:ext cx="1536192"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Password</a:t>
            </a:r>
          </a:p>
        </p:txBody>
      </p:sp>
      <p:sp>
        <p:nvSpPr>
          <p:cNvPr id="72" name="TextBox 71"/>
          <p:cNvSpPr txBox="1"/>
          <p:nvPr/>
        </p:nvSpPr>
        <p:spPr>
          <a:xfrm>
            <a:off x="8641080" y="4142232"/>
            <a:ext cx="640080"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73" name="TextBox 72"/>
          <p:cNvSpPr txBox="1"/>
          <p:nvPr/>
        </p:nvSpPr>
        <p:spPr>
          <a:xfrm>
            <a:off x="9464040" y="4142232"/>
            <a:ext cx="1115568"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1,000+3n</a:t>
            </a:r>
          </a:p>
        </p:txBody>
      </p:sp>
      <p:sp>
        <p:nvSpPr>
          <p:cNvPr id="74" name="TextBox 73"/>
          <p:cNvSpPr txBox="1"/>
          <p:nvPr/>
        </p:nvSpPr>
        <p:spPr>
          <a:xfrm>
            <a:off x="10762488" y="4142232"/>
            <a:ext cx="786384"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75" name="Rectangle 74"/>
          <p:cNvSpPr/>
          <p:nvPr/>
        </p:nvSpPr>
        <p:spPr>
          <a:xfrm>
            <a:off x="6281928" y="4407408"/>
            <a:ext cx="5358383"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6373368" y="4489704"/>
            <a:ext cx="365759"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4</a:t>
            </a:r>
          </a:p>
        </p:txBody>
      </p:sp>
      <p:sp>
        <p:nvSpPr>
          <p:cNvPr id="77" name="TextBox 76"/>
          <p:cNvSpPr txBox="1"/>
          <p:nvPr/>
        </p:nvSpPr>
        <p:spPr>
          <a:xfrm>
            <a:off x="6922007" y="4489704"/>
            <a:ext cx="1536192"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XSS</a:t>
            </a:r>
          </a:p>
        </p:txBody>
      </p:sp>
      <p:sp>
        <p:nvSpPr>
          <p:cNvPr id="78" name="TextBox 77"/>
          <p:cNvSpPr txBox="1"/>
          <p:nvPr/>
        </p:nvSpPr>
        <p:spPr>
          <a:xfrm>
            <a:off x="8641080" y="4489704"/>
            <a:ext cx="640080"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79" name="TextBox 78"/>
          <p:cNvSpPr txBox="1"/>
          <p:nvPr/>
        </p:nvSpPr>
        <p:spPr>
          <a:xfrm>
            <a:off x="9464040" y="4489704"/>
            <a:ext cx="1115568"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1,000+4n</a:t>
            </a:r>
          </a:p>
        </p:txBody>
      </p:sp>
      <p:sp>
        <p:nvSpPr>
          <p:cNvPr id="80" name="TextBox 79"/>
          <p:cNvSpPr txBox="1"/>
          <p:nvPr/>
        </p:nvSpPr>
        <p:spPr>
          <a:xfrm>
            <a:off x="10762488" y="4489704"/>
            <a:ext cx="786384"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81" name="Rectangle 80"/>
          <p:cNvSpPr/>
          <p:nvPr/>
        </p:nvSpPr>
        <p:spPr>
          <a:xfrm>
            <a:off x="6281928" y="4754880"/>
            <a:ext cx="5358383" cy="54864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6373368" y="4837176"/>
            <a:ext cx="365759" cy="420623"/>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5</a:t>
            </a:r>
          </a:p>
        </p:txBody>
      </p:sp>
      <p:sp>
        <p:nvSpPr>
          <p:cNvPr id="83" name="TextBox 82"/>
          <p:cNvSpPr txBox="1"/>
          <p:nvPr/>
        </p:nvSpPr>
        <p:spPr>
          <a:xfrm>
            <a:off x="6922007" y="4837176"/>
            <a:ext cx="1536192" cy="43312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Backdoor</a:t>
            </a:r>
          </a:p>
          <a:p>
            <a:pPr algn="l">
              <a:lnSpc>
                <a:spcPct val="116000"/>
              </a:lnSpc>
              <a:spcBef>
                <a:spcPts val="0"/>
              </a:spcBef>
              <a:spcAft>
                <a:spcPts val="0"/>
              </a:spcAft>
            </a:pPr>
            <a:r>
              <a:rPr sz="1400" b="0" lang="ko-KR">
                <a:solidFill>
                  <a:srgbClr val="20262E"/>
                </a:solidFill>
                <a:latin typeface="Pretendard"/>
                <a:ea typeface="Pretendard"/>
                <a:cs typeface="Pretendard"/>
              </a:rPr>
              <a:t>Ransomware</a:t>
            </a:r>
          </a:p>
        </p:txBody>
      </p:sp>
      <p:sp>
        <p:nvSpPr>
          <p:cNvPr id="84" name="TextBox 83"/>
          <p:cNvSpPr txBox="1"/>
          <p:nvPr/>
        </p:nvSpPr>
        <p:spPr>
          <a:xfrm>
            <a:off x="8641080" y="4837176"/>
            <a:ext cx="640080" cy="433120"/>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85" name="TextBox 84"/>
          <p:cNvSpPr txBox="1"/>
          <p:nvPr/>
        </p:nvSpPr>
        <p:spPr>
          <a:xfrm>
            <a:off x="9464040" y="4837176"/>
            <a:ext cx="1115568"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1,000+6n</a:t>
            </a:r>
          </a:p>
        </p:txBody>
      </p:sp>
      <p:sp>
        <p:nvSpPr>
          <p:cNvPr id="86" name="TextBox 85"/>
          <p:cNvSpPr txBox="1"/>
          <p:nvPr/>
        </p:nvSpPr>
        <p:spPr>
          <a:xfrm>
            <a:off x="10762488" y="4837176"/>
            <a:ext cx="786384"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87" name="Rectangle 86"/>
          <p:cNvSpPr/>
          <p:nvPr/>
        </p:nvSpPr>
        <p:spPr>
          <a:xfrm>
            <a:off x="6281928" y="5303520"/>
            <a:ext cx="5358383"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6373368" y="5385816"/>
            <a:ext cx="365759"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6</a:t>
            </a:r>
          </a:p>
        </p:txBody>
      </p:sp>
      <p:sp>
        <p:nvSpPr>
          <p:cNvPr id="89" name="TextBox 88"/>
          <p:cNvSpPr txBox="1"/>
          <p:nvPr/>
        </p:nvSpPr>
        <p:spPr>
          <a:xfrm>
            <a:off x="6922007" y="5385816"/>
            <a:ext cx="1536192"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MITM</a:t>
            </a:r>
          </a:p>
        </p:txBody>
      </p:sp>
      <p:sp>
        <p:nvSpPr>
          <p:cNvPr id="90" name="TextBox 89"/>
          <p:cNvSpPr txBox="1"/>
          <p:nvPr/>
        </p:nvSpPr>
        <p:spPr>
          <a:xfrm>
            <a:off x="8641080" y="5385816"/>
            <a:ext cx="640080"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91" name="TextBox 90"/>
          <p:cNvSpPr txBox="1"/>
          <p:nvPr/>
        </p:nvSpPr>
        <p:spPr>
          <a:xfrm>
            <a:off x="9464040" y="5385816"/>
            <a:ext cx="1115568"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1,000+7n</a:t>
            </a:r>
          </a:p>
        </p:txBody>
      </p:sp>
      <p:sp>
        <p:nvSpPr>
          <p:cNvPr id="92" name="TextBox 91"/>
          <p:cNvSpPr txBox="1"/>
          <p:nvPr/>
        </p:nvSpPr>
        <p:spPr>
          <a:xfrm>
            <a:off x="10762488" y="5385816"/>
            <a:ext cx="786384"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93" name="TextBox 92"/>
          <p:cNvSpPr txBox="1"/>
          <p:nvPr/>
        </p:nvSpPr>
        <p:spPr>
          <a:xfrm>
            <a:off x="594360" y="598017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50" b="0" lang="ko-KR">
                <a:solidFill>
                  <a:srgbClr val="617080"/>
                </a:solidFill>
                <a:latin typeface="Pretendard"/>
                <a:ea typeface="Pretendard"/>
                <a:cs typeface="Pretendard"/>
              </a:rPr>
              <a:t>제공 수는 클래스당 사례 수 · 누적 보유는 XGB/PFN 공통 · 버퍼는 PFN의 매 단계 실제 context 크기</a:t>
            </a:r>
          </a:p>
        </p:txBody>
      </p:sp>
      <p:sp>
        <p:nvSpPr>
          <p:cNvPr id="94" name="Rectangle 93"/>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TextBox 94"/>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같은 신규 사례 전량 반영 · 누적 보유량 증가와 1,000개 버퍼 유지 비교</a:t>
            </a:r>
          </a:p>
        </p:txBody>
      </p:sp>
      <p:sp>
        <p:nvSpPr>
          <p:cNvPr id="96" name="TextBox 95"/>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97" name="TextBox 96"/>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평가 방법 · 누적 편입과 기존 사례 교체</a:t>
            </a:r>
          </a:p>
        </p:txBody>
      </p:sp>
      <p:sp>
        <p:nvSpPr>
          <p:cNvPr id="3" name="TextBox 2"/>
          <p:cNvSpPr txBox="1"/>
          <p:nvPr/>
        </p:nvSpPr>
        <p:spPr>
          <a:xfrm>
            <a:off x="566928" y="1024128"/>
            <a:ext cx="10972800"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CIC 2단계 · n = 20 예시 · 같은 train에서 선택한 DDoS 20개를 전량 제공</a:t>
            </a:r>
          </a:p>
        </p:txBody>
      </p:sp>
      <p:sp>
        <p:nvSpPr>
          <p:cNvPr id="4" name="TextBox 3"/>
          <p:cNvSpPr txBox="1"/>
          <p:nvPr/>
        </p:nvSpPr>
        <p:spPr>
          <a:xfrm>
            <a:off x="594360" y="1883664"/>
            <a:ext cx="1847088" cy="371246"/>
          </a:xfrm>
          <a:prstGeom prst="rect">
            <a:avLst/>
          </a:prstGeom>
          <a:noFill/>
          <a:effectLst/>
        </p:spPr>
        <p:txBody>
          <a:bodyPr wrap="none" anchor="t" lIns="0" rIns="0" tIns="0" bIns="0">
            <a:noAutofit/>
          </a:bodyPr>
          <a:lstStyle/>
          <a:p>
            <a:pPr algn="l">
              <a:lnSpc>
                <a:spcPct val="116000"/>
              </a:lnSpc>
              <a:spcBef>
                <a:spcPts val="0"/>
              </a:spcBef>
              <a:spcAft>
                <a:spcPts val="0"/>
              </a:spcAft>
            </a:pPr>
            <a:r>
              <a:rPr sz="2400" b="1" lang="ko-KR">
                <a:solidFill>
                  <a:srgbClr val="0072B2"/>
                </a:solidFill>
                <a:latin typeface="Pretendard"/>
                <a:ea typeface="Pretendard"/>
                <a:cs typeface="Pretendard"/>
              </a:rPr>
              <a:t>누적</a:t>
            </a:r>
          </a:p>
        </p:txBody>
      </p:sp>
      <p:sp>
        <p:nvSpPr>
          <p:cNvPr id="5" name="TextBox 4"/>
          <p:cNvSpPr txBox="1"/>
          <p:nvPr/>
        </p:nvSpPr>
        <p:spPr>
          <a:xfrm>
            <a:off x="594360" y="2423160"/>
            <a:ext cx="1847088"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rPr>
              <a:t>XGB / PFN</a:t>
            </a:r>
          </a:p>
        </p:txBody>
      </p:sp>
      <p:sp>
        <p:nvSpPr>
          <p:cNvPr id="6" name="Rectangle 5"/>
          <p:cNvSpPr/>
          <p:nvPr/>
        </p:nvSpPr>
        <p:spPr>
          <a:xfrm>
            <a:off x="2670048" y="1764792"/>
            <a:ext cx="1920240" cy="100584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2807208" y="1901952"/>
            <a:ext cx="1645920"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기존 1,000개</a:t>
            </a:r>
          </a:p>
        </p:txBody>
      </p:sp>
      <p:sp>
        <p:nvSpPr>
          <p:cNvPr id="8" name="TextBox 7"/>
          <p:cNvSpPr txBox="1"/>
          <p:nvPr/>
        </p:nvSpPr>
        <p:spPr>
          <a:xfrm>
            <a:off x="2807208" y="2386584"/>
            <a:ext cx="1691640" cy="256032"/>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20262E"/>
                </a:solidFill>
                <a:latin typeface="Pretendard"/>
                <a:ea typeface="Pretendard"/>
                <a:cs typeface="Pretendard"/>
              </a:rPr>
              <a:t>전부 유지</a:t>
            </a:r>
          </a:p>
        </p:txBody>
      </p:sp>
      <p:sp>
        <p:nvSpPr>
          <p:cNvPr id="9" name="TextBox 8"/>
          <p:cNvSpPr txBox="1"/>
          <p:nvPr/>
        </p:nvSpPr>
        <p:spPr>
          <a:xfrm>
            <a:off x="4800600" y="2075688"/>
            <a:ext cx="365760" cy="433120"/>
          </a:xfrm>
          <a:prstGeom prst="rect">
            <a:avLst/>
          </a:prstGeom>
          <a:noFill/>
          <a:effectLst/>
        </p:spPr>
        <p:txBody>
          <a:bodyPr wrap="none" anchor="t" lIns="0" rIns="0" tIns="0" bIns="0">
            <a:noAutofit/>
          </a:bodyPr>
          <a:lstStyle/>
          <a:p>
            <a:pPr algn="ctr">
              <a:lnSpc>
                <a:spcPct val="116000"/>
              </a:lnSpc>
              <a:spcBef>
                <a:spcPts val="0"/>
              </a:spcBef>
              <a:spcAft>
                <a:spcPts val="0"/>
              </a:spcAft>
            </a:pPr>
            <a:r>
              <a:rPr sz="2800" b="1" lang="ko-KR">
                <a:solidFill>
                  <a:srgbClr val="617080"/>
                </a:solidFill>
                <a:latin typeface="Pretendard"/>
                <a:ea typeface="Pretendard"/>
                <a:cs typeface="Pretendard"/>
              </a:rPr>
              <a:t>+</a:t>
            </a:r>
          </a:p>
        </p:txBody>
      </p:sp>
      <p:sp>
        <p:nvSpPr>
          <p:cNvPr id="10" name="Rectangle 9"/>
          <p:cNvSpPr/>
          <p:nvPr/>
        </p:nvSpPr>
        <p:spPr>
          <a:xfrm>
            <a:off x="5367528" y="1764792"/>
            <a:ext cx="1920240" cy="1005840"/>
          </a:xfrm>
          <a:prstGeom prst="rect">
            <a:avLst/>
          </a:prstGeom>
          <a:solidFill>
            <a:srgbClr val="FFF1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504688" y="1938528"/>
            <a:ext cx="16459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9A5300"/>
                </a:solidFill>
                <a:latin typeface="Pretendard"/>
                <a:ea typeface="Pretendard"/>
                <a:cs typeface="Pretendard"/>
              </a:rPr>
              <a:t>신규 20개</a:t>
            </a:r>
          </a:p>
        </p:txBody>
      </p:sp>
      <p:sp>
        <p:nvSpPr>
          <p:cNvPr id="12" name="TextBox 11"/>
          <p:cNvSpPr txBox="1"/>
          <p:nvPr/>
        </p:nvSpPr>
        <p:spPr>
          <a:xfrm>
            <a:off x="5504688" y="2395728"/>
            <a:ext cx="1645920" cy="256032"/>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9A5300"/>
                </a:solidFill>
                <a:latin typeface="Pretendard"/>
                <a:ea typeface="Pretendard"/>
                <a:cs typeface="Pretendard"/>
              </a:rPr>
              <a:t>전량 편입</a:t>
            </a:r>
          </a:p>
        </p:txBody>
      </p:sp>
      <p:sp>
        <p:nvSpPr>
          <p:cNvPr id="13" name="Right Arrow 12"/>
          <p:cNvSpPr/>
          <p:nvPr/>
        </p:nvSpPr>
        <p:spPr>
          <a:xfrm>
            <a:off x="7470648" y="2157984"/>
            <a:ext cx="347472" cy="25603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055864" y="1764792"/>
            <a:ext cx="3566160" cy="1005840"/>
          </a:xfrm>
          <a:prstGeom prst="rect">
            <a:avLst/>
          </a:prstGeom>
          <a:solidFill>
            <a:srgbClr val="EAF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229600" y="1911095"/>
            <a:ext cx="3209544" cy="355777"/>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2B2"/>
                </a:solidFill>
                <a:latin typeface="Pretendard"/>
                <a:ea typeface="Pretendard"/>
                <a:cs typeface="Pretendard"/>
              </a:rPr>
              <a:t>1,000 + 20 = 1,020개</a:t>
            </a:r>
          </a:p>
        </p:txBody>
      </p:sp>
      <p:sp>
        <p:nvSpPr>
          <p:cNvPr id="16" name="TextBox 15"/>
          <p:cNvSpPr txBox="1"/>
          <p:nvPr/>
        </p:nvSpPr>
        <p:spPr>
          <a:xfrm>
            <a:off x="8229600" y="2423160"/>
            <a:ext cx="3209544"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0072B2"/>
                </a:solidFill>
                <a:latin typeface="Pretendard"/>
                <a:ea typeface="Pretendard"/>
                <a:cs typeface="Pretendard"/>
              </a:rPr>
              <a:t>누적 사례 전체 보유</a:t>
            </a:r>
          </a:p>
        </p:txBody>
      </p:sp>
      <p:sp>
        <p:nvSpPr>
          <p:cNvPr id="17" name="TextBox 16"/>
          <p:cNvSpPr txBox="1"/>
          <p:nvPr/>
        </p:nvSpPr>
        <p:spPr>
          <a:xfrm>
            <a:off x="594360" y="3639312"/>
            <a:ext cx="1847088" cy="371246"/>
          </a:xfrm>
          <a:prstGeom prst="rect">
            <a:avLst/>
          </a:prstGeom>
          <a:noFill/>
          <a:effectLst/>
        </p:spPr>
        <p:txBody>
          <a:bodyPr wrap="none" anchor="t" lIns="0" rIns="0" tIns="0" bIns="0">
            <a:noAutofit/>
          </a:bodyPr>
          <a:lstStyle/>
          <a:p>
            <a:pPr algn="l">
              <a:lnSpc>
                <a:spcPct val="116000"/>
              </a:lnSpc>
              <a:spcBef>
                <a:spcPts val="0"/>
              </a:spcBef>
              <a:spcAft>
                <a:spcPts val="0"/>
              </a:spcAft>
            </a:pPr>
            <a:r>
              <a:rPr sz="2400" b="1" lang="ko-KR">
                <a:solidFill>
                  <a:srgbClr val="2F8C86"/>
                </a:solidFill>
                <a:latin typeface="Pretendard"/>
                <a:ea typeface="Pretendard"/>
                <a:cs typeface="Pretendard"/>
              </a:rPr>
              <a:t>고정 버퍼</a:t>
            </a:r>
          </a:p>
        </p:txBody>
      </p:sp>
      <p:sp>
        <p:nvSpPr>
          <p:cNvPr id="18" name="TextBox 17"/>
          <p:cNvSpPr txBox="1"/>
          <p:nvPr/>
        </p:nvSpPr>
        <p:spPr>
          <a:xfrm>
            <a:off x="594360" y="4178808"/>
            <a:ext cx="1847088"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rPr>
              <a:t>PFN 3개 삭제 정책</a:t>
            </a:r>
          </a:p>
        </p:txBody>
      </p:sp>
      <p:sp>
        <p:nvSpPr>
          <p:cNvPr id="19" name="Rectangle 18"/>
          <p:cNvSpPr/>
          <p:nvPr/>
        </p:nvSpPr>
        <p:spPr>
          <a:xfrm>
            <a:off x="2670048" y="3520440"/>
            <a:ext cx="1920240" cy="100584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2807208" y="3657600"/>
            <a:ext cx="1645920"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기존 1,000개</a:t>
            </a:r>
          </a:p>
        </p:txBody>
      </p:sp>
      <p:sp>
        <p:nvSpPr>
          <p:cNvPr id="21" name="TextBox 20"/>
          <p:cNvSpPr txBox="1"/>
          <p:nvPr/>
        </p:nvSpPr>
        <p:spPr>
          <a:xfrm>
            <a:off x="2807208" y="4142232"/>
            <a:ext cx="1691640" cy="256032"/>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D55E00"/>
                </a:solidFill>
                <a:latin typeface="Pretendard"/>
                <a:ea typeface="Pretendard"/>
                <a:cs typeface="Pretendard"/>
              </a:rPr>
              <a:t>20개 삭제 → 980개</a:t>
            </a:r>
          </a:p>
        </p:txBody>
      </p:sp>
      <p:sp>
        <p:nvSpPr>
          <p:cNvPr id="22" name="TextBox 21"/>
          <p:cNvSpPr txBox="1"/>
          <p:nvPr/>
        </p:nvSpPr>
        <p:spPr>
          <a:xfrm>
            <a:off x="4800600" y="3831336"/>
            <a:ext cx="365760" cy="433120"/>
          </a:xfrm>
          <a:prstGeom prst="rect">
            <a:avLst/>
          </a:prstGeom>
          <a:noFill/>
          <a:effectLst/>
        </p:spPr>
        <p:txBody>
          <a:bodyPr wrap="none" anchor="t" lIns="0" rIns="0" tIns="0" bIns="0">
            <a:noAutofit/>
          </a:bodyPr>
          <a:lstStyle/>
          <a:p>
            <a:pPr algn="ctr">
              <a:lnSpc>
                <a:spcPct val="116000"/>
              </a:lnSpc>
              <a:spcBef>
                <a:spcPts val="0"/>
              </a:spcBef>
              <a:spcAft>
                <a:spcPts val="0"/>
              </a:spcAft>
            </a:pPr>
            <a:r>
              <a:rPr sz="2800" b="1" lang="ko-KR">
                <a:solidFill>
                  <a:srgbClr val="617080"/>
                </a:solidFill>
                <a:latin typeface="Pretendard"/>
                <a:ea typeface="Pretendard"/>
                <a:cs typeface="Pretendard"/>
              </a:rPr>
              <a:t>+</a:t>
            </a:r>
          </a:p>
        </p:txBody>
      </p:sp>
      <p:sp>
        <p:nvSpPr>
          <p:cNvPr id="23" name="Rectangle 22"/>
          <p:cNvSpPr/>
          <p:nvPr/>
        </p:nvSpPr>
        <p:spPr>
          <a:xfrm>
            <a:off x="5367528" y="3520440"/>
            <a:ext cx="1920240" cy="1005840"/>
          </a:xfrm>
          <a:prstGeom prst="rect">
            <a:avLst/>
          </a:prstGeom>
          <a:solidFill>
            <a:srgbClr val="FFF1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504688" y="3694176"/>
            <a:ext cx="16459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9A5300"/>
                </a:solidFill>
                <a:latin typeface="Pretendard"/>
                <a:ea typeface="Pretendard"/>
                <a:cs typeface="Pretendard"/>
              </a:rPr>
              <a:t>신규 20개</a:t>
            </a:r>
          </a:p>
        </p:txBody>
      </p:sp>
      <p:sp>
        <p:nvSpPr>
          <p:cNvPr id="25" name="TextBox 24"/>
          <p:cNvSpPr txBox="1"/>
          <p:nvPr/>
        </p:nvSpPr>
        <p:spPr>
          <a:xfrm>
            <a:off x="5504688" y="4151376"/>
            <a:ext cx="1645920" cy="256032"/>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9A5300"/>
                </a:solidFill>
                <a:latin typeface="Pretendard"/>
                <a:ea typeface="Pretendard"/>
                <a:cs typeface="Pretendard"/>
              </a:rPr>
              <a:t>전량 편입</a:t>
            </a:r>
          </a:p>
        </p:txBody>
      </p:sp>
      <p:sp>
        <p:nvSpPr>
          <p:cNvPr id="26" name="Right Arrow 25"/>
          <p:cNvSpPr/>
          <p:nvPr/>
        </p:nvSpPr>
        <p:spPr>
          <a:xfrm>
            <a:off x="7470648" y="3913632"/>
            <a:ext cx="347472" cy="25603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8055864" y="3520440"/>
            <a:ext cx="3566160" cy="1005840"/>
          </a:xfrm>
          <a:prstGeom prst="rect">
            <a:avLst/>
          </a:prstGeom>
          <a:solidFill>
            <a:srgbClr val="E9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8229600" y="3666744"/>
            <a:ext cx="3209544" cy="355777"/>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2F8C86"/>
                </a:solidFill>
                <a:latin typeface="Pretendard"/>
                <a:ea typeface="Pretendard"/>
                <a:cs typeface="Pretendard"/>
              </a:rPr>
              <a:t>980 + 20 = 1,000개</a:t>
            </a:r>
          </a:p>
        </p:txBody>
      </p:sp>
      <p:sp>
        <p:nvSpPr>
          <p:cNvPr id="29" name="TextBox 28"/>
          <p:cNvSpPr txBox="1"/>
          <p:nvPr/>
        </p:nvSpPr>
        <p:spPr>
          <a:xfrm>
            <a:off x="8229600" y="4178808"/>
            <a:ext cx="3209544"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F8C86"/>
                </a:solidFill>
                <a:latin typeface="Pretendard"/>
                <a:ea typeface="Pretendard"/>
                <a:cs typeface="Pretendard"/>
              </a:rPr>
              <a:t>context 1,000개 유지</a:t>
            </a:r>
          </a:p>
        </p:txBody>
      </p:sp>
      <p:sp>
        <p:nvSpPr>
          <p:cNvPr id="30" name="TextBox 29"/>
          <p:cNvSpPr txBox="1"/>
          <p:nvPr/>
        </p:nvSpPr>
        <p:spPr>
          <a:xfrm>
            <a:off x="2670048" y="2962656"/>
            <a:ext cx="8942832" cy="292608"/>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ko-KR">
                <a:solidFill>
                  <a:srgbClr val="00306C"/>
                </a:solidFill>
                <a:latin typeface="Pretendard"/>
                <a:ea typeface="Pretendard"/>
                <a:cs typeface="Pretendard"/>
              </a:rPr>
              <a:t>XGB · 누적 사례로 재학습 / PFN · 누적 사례로 context/cache 갱신</a:t>
            </a:r>
          </a:p>
        </p:txBody>
      </p:sp>
      <p:sp>
        <p:nvSpPr>
          <p:cNvPr id="31" name="TextBox 30"/>
          <p:cNvSpPr txBox="1"/>
          <p:nvPr/>
        </p:nvSpPr>
        <p:spPr>
          <a:xfrm>
            <a:off x="2670048" y="4718304"/>
            <a:ext cx="8942832" cy="292608"/>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ko-KR">
                <a:solidFill>
                  <a:srgbClr val="2F8C86"/>
                </a:solidFill>
                <a:latin typeface="Pretendard"/>
                <a:ea typeface="Pretendard"/>
                <a:cs typeface="Pretendard"/>
              </a:rPr>
              <a:t>PFN · 가중치 고정 / 남은 기존 사례와 신규 사례로 context/cache 갱신</a:t>
            </a:r>
          </a:p>
        </p:txBody>
      </p:sp>
      <p:sp>
        <p:nvSpPr>
          <p:cNvPr id="32" name="Rectangle 31"/>
          <p:cNvSpPr/>
          <p:nvPr/>
        </p:nvSpPr>
        <p:spPr>
          <a:xfrm>
            <a:off x="594360" y="5257800"/>
            <a:ext cx="10972800" cy="10972"/>
          </a:xfrm>
          <a:prstGeom prst="rect">
            <a:avLst/>
          </a:prstGeom>
          <a:solidFill>
            <a:srgbClr val="D7E0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94360" y="5468112"/>
            <a:ext cx="3657600"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700" b="1" lang="ko-KR">
                <a:solidFill>
                  <a:srgbClr val="D55E00"/>
                </a:solidFill>
                <a:latin typeface="Pretendard"/>
                <a:ea typeface="Pretendard"/>
                <a:cs typeface="Pretendard"/>
              </a:rPr>
              <a:t>FIFO · 먼저 들어온 기존 사례 삭제</a:t>
            </a:r>
          </a:p>
        </p:txBody>
      </p:sp>
      <p:sp>
        <p:nvSpPr>
          <p:cNvPr id="34" name="TextBox 33"/>
          <p:cNvSpPr txBox="1"/>
          <p:nvPr/>
        </p:nvSpPr>
        <p:spPr>
          <a:xfrm>
            <a:off x="4453128" y="5468112"/>
            <a:ext cx="3383280"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700" b="1" lang="ko-KR">
                <a:solidFill>
                  <a:srgbClr val="009E73"/>
                </a:solidFill>
                <a:latin typeface="Pretendard"/>
                <a:ea typeface="Pretendard"/>
                <a:cs typeface="Pretendard"/>
              </a:rPr>
              <a:t>무작위 · 기존 사례 무작위 삭제</a:t>
            </a:r>
          </a:p>
        </p:txBody>
      </p:sp>
      <p:sp>
        <p:nvSpPr>
          <p:cNvPr id="35" name="TextBox 34"/>
          <p:cNvSpPr txBox="1"/>
          <p:nvPr/>
        </p:nvSpPr>
        <p:spPr>
          <a:xfrm>
            <a:off x="8311896" y="5468112"/>
            <a:ext cx="3300984"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700" b="1" lang="ko-KR">
                <a:solidFill>
                  <a:srgbClr val="B45A9B"/>
                </a:solidFill>
                <a:latin typeface="Pretendard"/>
                <a:ea typeface="Pretendard"/>
                <a:cs typeface="Pretendard"/>
              </a:rPr>
              <a:t>유사도 · 신규와 가까운 기존 삭제</a:t>
            </a:r>
          </a:p>
        </p:txBody>
      </p:sp>
      <p:sp>
        <p:nvSpPr>
          <p:cNvPr id="36" name="TextBox 35"/>
          <p:cNvSpPr txBox="1"/>
          <p:nvPr/>
        </p:nvSpPr>
        <p:spPr>
          <a:xfrm>
            <a:off x="594360" y="593445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50" b="0" lang="ko-KR">
                <a:solidFill>
                  <a:srgbClr val="617080"/>
                </a:solidFill>
                <a:latin typeface="Pretendard"/>
                <a:ea typeface="Pretendard"/>
                <a:cs typeface="Pretendard"/>
              </a:rPr>
              <a:t>기존 클래스별 최소 1개 보존 · 신규 사례 편입 상한 없음 · 갱신 비용은 2단계 이후 선택·삭제·fit/cache 합계</a:t>
            </a:r>
          </a:p>
        </p:txBody>
      </p:sp>
      <p:sp>
        <p:nvSpPr>
          <p:cNvPr id="37" name="Rectangle 36"/>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신규 20개는 두 방식에 동일하게 편입 · 차이는 기존 사례의 보존과 삭제</a:t>
            </a:r>
          </a:p>
        </p:txBody>
      </p:sp>
      <p:sp>
        <p:nvSpPr>
          <p:cNvPr id="39" name="TextBox 38"/>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40" name="TextBox 39"/>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전체 클래스의 최종 분류 성능</a:t>
            </a:r>
          </a:p>
        </p:txBody>
      </p:sp>
      <p:sp>
        <p:nvSpPr>
          <p:cNvPr id="3" name="TextBox 2"/>
          <p:cNvSpPr txBox="1"/>
          <p:nvPr/>
        </p:nvSpPr>
        <p:spPr>
          <a:xfrm>
            <a:off x="566928" y="996696"/>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모든 갱신을 마친 모델 · 전체 고정 test에서 모든 클래스 F1의 산술평균</a:t>
            </a:r>
          </a:p>
        </p:txBody>
      </p:sp>
      <p:sp>
        <p:nvSpPr>
          <p:cNvPr id="4" name="TextBox 3"/>
          <p:cNvSpPr txBox="1"/>
          <p:nvPr/>
        </p:nvSpPr>
        <p:spPr>
          <a:xfrm>
            <a:off x="566928" y="1481328"/>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rPr>
              <a:t>CIC 7개 클래스 / ToN 10개 클래스 · 정상·초기 공격·신규 공격 모두 포함 · seed 43 한 번</a:t>
            </a:r>
          </a:p>
        </p:txBody>
      </p:sp>
      <p:pic>
        <p:nvPicPr>
          <p:cNvPr id="5" name="Picture 4" descr="overall.png"/>
          <p:cNvPicPr>
            <a:picLocks noChangeAspect="1"/>
          </p:cNvPicPr>
          <p:nvPr/>
        </p:nvPicPr>
        <p:blipFill>
          <a:blip r:embed="rId3"/>
          <a:srcRect/>
          <a:stretch>
            <a:fillRect/>
          </a:stretch>
        </p:blipFill>
        <p:spPr>
          <a:xfrm>
            <a:off x="502920" y="1828800"/>
            <a:ext cx="11192256" cy="3337560"/>
          </a:xfrm>
          <a:prstGeom prst="rect">
            <a:avLst/>
          </a:prstGeom>
          <a:effectLst/>
        </p:spPr>
      </p:pic>
      <p:sp>
        <p:nvSpPr>
          <p:cNvPr id="6" name="TextBox 5"/>
          <p:cNvSpPr txBox="1"/>
          <p:nvPr/>
        </p:nvSpPr>
        <p:spPr>
          <a:xfrm>
            <a:off x="594360" y="5230368"/>
            <a:ext cx="123444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n = 100 값</a:t>
            </a:r>
          </a:p>
        </p:txBody>
      </p:sp>
      <p:sp>
        <p:nvSpPr>
          <p:cNvPr id="7" name="TextBox 6"/>
          <p:cNvSpPr txBox="1"/>
          <p:nvPr/>
        </p:nvSpPr>
        <p:spPr>
          <a:xfrm>
            <a:off x="1947672"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111111"/>
                </a:solidFill>
                <a:latin typeface="Pretendard"/>
                <a:ea typeface="Pretendard"/>
                <a:cs typeface="Pretendard"/>
              </a:rPr>
              <a:t>XGB 누적 재학습</a:t>
            </a:r>
          </a:p>
        </p:txBody>
      </p:sp>
      <p:sp>
        <p:nvSpPr>
          <p:cNvPr id="8" name="TextBox 7"/>
          <p:cNvSpPr txBox="1"/>
          <p:nvPr/>
        </p:nvSpPr>
        <p:spPr>
          <a:xfrm>
            <a:off x="1947672"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9" name="TextBox 8"/>
          <p:cNvSpPr txBox="1"/>
          <p:nvPr/>
        </p:nvSpPr>
        <p:spPr>
          <a:xfrm>
            <a:off x="2907791"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0" name="TextBox 9"/>
          <p:cNvSpPr txBox="1"/>
          <p:nvPr/>
        </p:nvSpPr>
        <p:spPr>
          <a:xfrm>
            <a:off x="1947672"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72.16</a:t>
            </a:r>
          </a:p>
        </p:txBody>
      </p:sp>
      <p:sp>
        <p:nvSpPr>
          <p:cNvPr id="11" name="TextBox 10"/>
          <p:cNvSpPr txBox="1"/>
          <p:nvPr/>
        </p:nvSpPr>
        <p:spPr>
          <a:xfrm>
            <a:off x="2907791"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63.12</a:t>
            </a:r>
          </a:p>
        </p:txBody>
      </p:sp>
      <p:sp>
        <p:nvSpPr>
          <p:cNvPr id="12" name="TextBox 11"/>
          <p:cNvSpPr txBox="1"/>
          <p:nvPr/>
        </p:nvSpPr>
        <p:spPr>
          <a:xfrm>
            <a:off x="3895344"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0072B2"/>
                </a:solidFill>
                <a:latin typeface="Pretendard"/>
                <a:ea typeface="Pretendard"/>
                <a:cs typeface="Pretendard"/>
              </a:rPr>
              <a:t>PFN 누적</a:t>
            </a:r>
          </a:p>
        </p:txBody>
      </p:sp>
      <p:sp>
        <p:nvSpPr>
          <p:cNvPr id="13" name="TextBox 12"/>
          <p:cNvSpPr txBox="1"/>
          <p:nvPr/>
        </p:nvSpPr>
        <p:spPr>
          <a:xfrm>
            <a:off x="3895344"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4" name="TextBox 13"/>
          <p:cNvSpPr txBox="1"/>
          <p:nvPr/>
        </p:nvSpPr>
        <p:spPr>
          <a:xfrm>
            <a:off x="4855464"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5" name="TextBox 14"/>
          <p:cNvSpPr txBox="1"/>
          <p:nvPr/>
        </p:nvSpPr>
        <p:spPr>
          <a:xfrm>
            <a:off x="3895344"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73.11</a:t>
            </a:r>
          </a:p>
        </p:txBody>
      </p:sp>
      <p:sp>
        <p:nvSpPr>
          <p:cNvPr id="16" name="TextBox 15"/>
          <p:cNvSpPr txBox="1"/>
          <p:nvPr/>
        </p:nvSpPr>
        <p:spPr>
          <a:xfrm>
            <a:off x="4855464"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66.61</a:t>
            </a:r>
          </a:p>
        </p:txBody>
      </p:sp>
      <p:sp>
        <p:nvSpPr>
          <p:cNvPr id="17" name="TextBox 16"/>
          <p:cNvSpPr txBox="1"/>
          <p:nvPr/>
        </p:nvSpPr>
        <p:spPr>
          <a:xfrm>
            <a:off x="5843016"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D55E00"/>
                </a:solidFill>
                <a:latin typeface="Pretendard"/>
                <a:ea typeface="Pretendard"/>
                <a:cs typeface="Pretendard"/>
              </a:rPr>
              <a:t>PFN FIFO</a:t>
            </a:r>
          </a:p>
        </p:txBody>
      </p:sp>
      <p:sp>
        <p:nvSpPr>
          <p:cNvPr id="18" name="TextBox 17"/>
          <p:cNvSpPr txBox="1"/>
          <p:nvPr/>
        </p:nvSpPr>
        <p:spPr>
          <a:xfrm>
            <a:off x="5843016"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9" name="TextBox 18"/>
          <p:cNvSpPr txBox="1"/>
          <p:nvPr/>
        </p:nvSpPr>
        <p:spPr>
          <a:xfrm>
            <a:off x="6803136"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0" name="TextBox 19"/>
          <p:cNvSpPr txBox="1"/>
          <p:nvPr/>
        </p:nvSpPr>
        <p:spPr>
          <a:xfrm>
            <a:off x="5843016"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71.71</a:t>
            </a:r>
          </a:p>
        </p:txBody>
      </p:sp>
      <p:sp>
        <p:nvSpPr>
          <p:cNvPr id="21" name="TextBox 20"/>
          <p:cNvSpPr txBox="1"/>
          <p:nvPr/>
        </p:nvSpPr>
        <p:spPr>
          <a:xfrm>
            <a:off x="6803136"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71.19</a:t>
            </a:r>
          </a:p>
        </p:txBody>
      </p:sp>
      <p:sp>
        <p:nvSpPr>
          <p:cNvPr id="22" name="TextBox 21"/>
          <p:cNvSpPr txBox="1"/>
          <p:nvPr/>
        </p:nvSpPr>
        <p:spPr>
          <a:xfrm>
            <a:off x="7790688"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009E73"/>
                </a:solidFill>
                <a:latin typeface="Pretendard"/>
                <a:ea typeface="Pretendard"/>
                <a:cs typeface="Pretendard"/>
              </a:rPr>
              <a:t>PFN 무작위</a:t>
            </a:r>
          </a:p>
        </p:txBody>
      </p:sp>
      <p:sp>
        <p:nvSpPr>
          <p:cNvPr id="23" name="TextBox 22"/>
          <p:cNvSpPr txBox="1"/>
          <p:nvPr/>
        </p:nvSpPr>
        <p:spPr>
          <a:xfrm>
            <a:off x="7790688"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4" name="TextBox 23"/>
          <p:cNvSpPr txBox="1"/>
          <p:nvPr/>
        </p:nvSpPr>
        <p:spPr>
          <a:xfrm>
            <a:off x="8750808"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5" name="TextBox 24"/>
          <p:cNvSpPr txBox="1"/>
          <p:nvPr/>
        </p:nvSpPr>
        <p:spPr>
          <a:xfrm>
            <a:off x="7790688"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72.03</a:t>
            </a:r>
          </a:p>
        </p:txBody>
      </p:sp>
      <p:sp>
        <p:nvSpPr>
          <p:cNvPr id="26" name="TextBox 25"/>
          <p:cNvSpPr txBox="1"/>
          <p:nvPr/>
        </p:nvSpPr>
        <p:spPr>
          <a:xfrm>
            <a:off x="8750808"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66.26</a:t>
            </a:r>
          </a:p>
        </p:txBody>
      </p:sp>
      <p:sp>
        <p:nvSpPr>
          <p:cNvPr id="27" name="TextBox 26"/>
          <p:cNvSpPr txBox="1"/>
          <p:nvPr/>
        </p:nvSpPr>
        <p:spPr>
          <a:xfrm>
            <a:off x="9738359"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B45A9B"/>
                </a:solidFill>
                <a:latin typeface="Pretendard"/>
                <a:ea typeface="Pretendard"/>
                <a:cs typeface="Pretendard"/>
              </a:rPr>
              <a:t>PFN 유사도</a:t>
            </a:r>
          </a:p>
        </p:txBody>
      </p:sp>
      <p:sp>
        <p:nvSpPr>
          <p:cNvPr id="28" name="TextBox 27"/>
          <p:cNvSpPr txBox="1"/>
          <p:nvPr/>
        </p:nvSpPr>
        <p:spPr>
          <a:xfrm>
            <a:off x="9738359"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9" name="TextBox 28"/>
          <p:cNvSpPr txBox="1"/>
          <p:nvPr/>
        </p:nvSpPr>
        <p:spPr>
          <a:xfrm>
            <a:off x="10698480"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30" name="TextBox 29"/>
          <p:cNvSpPr txBox="1"/>
          <p:nvPr/>
        </p:nvSpPr>
        <p:spPr>
          <a:xfrm>
            <a:off x="9738359"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70.25</a:t>
            </a:r>
          </a:p>
        </p:txBody>
      </p:sp>
      <p:sp>
        <p:nvSpPr>
          <p:cNvPr id="31" name="TextBox 30"/>
          <p:cNvSpPr txBox="1"/>
          <p:nvPr/>
        </p:nvSpPr>
        <p:spPr>
          <a:xfrm>
            <a:off x="10698480"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52.50</a:t>
            </a:r>
          </a:p>
        </p:txBody>
      </p:sp>
      <p:sp>
        <p:nvSpPr>
          <p:cNvPr id="32" name="TextBox 31"/>
          <p:cNvSpPr txBox="1"/>
          <p:nvPr/>
        </p:nvSpPr>
        <p:spPr>
          <a:xfrm>
            <a:off x="594360" y="5870448"/>
            <a:ext cx="123444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617080"/>
                </a:solidFill>
                <a:latin typeface="Pretendard"/>
                <a:ea typeface="Pretendard"/>
                <a:cs typeface="Pretendard"/>
              </a:rPr>
              <a:t>단위 %</a:t>
            </a:r>
          </a:p>
        </p:txBody>
      </p:sp>
      <p:sp>
        <p:nvSpPr>
          <p:cNvPr id="33" name="Rectangle 32"/>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같은 갱신 시나리오의 전체 품질 비교 · 다음 장에서 신규 공격 성능을 분리</a:t>
            </a:r>
          </a:p>
        </p:txBody>
      </p:sp>
      <p:sp>
        <p:nvSpPr>
          <p:cNvPr id="35" name="TextBox 34"/>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36" name="TextBox 35"/>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신규 공격 라벨 수에 따른 탐지 품질</a:t>
            </a:r>
          </a:p>
        </p:txBody>
      </p:sp>
      <p:sp>
        <p:nvSpPr>
          <p:cNvPr id="3" name="TextBox 2"/>
          <p:cNvSpPr txBox="1"/>
          <p:nvPr/>
        </p:nvSpPr>
        <p:spPr>
          <a:xfrm>
            <a:off x="566928" y="996696"/>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최종 모델 · 전체 test에서 계산한 신규 공격 클래스별 F1의 산술평균</a:t>
            </a:r>
          </a:p>
        </p:txBody>
      </p:sp>
      <p:sp>
        <p:nvSpPr>
          <p:cNvPr id="4" name="TextBox 3"/>
          <p:cNvSpPr txBox="1"/>
          <p:nvPr/>
        </p:nvSpPr>
        <p:spPr>
          <a:xfrm>
            <a:off x="566928" y="1481328"/>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CIC 4개 · ToN 7개 신규 공격 / 정상·초기 공격은 평균에서 제외, 이들에서 발생한 오탐은 F1에 포함</a:t>
            </a:r>
          </a:p>
        </p:txBody>
      </p:sp>
      <p:pic>
        <p:nvPicPr>
          <p:cNvPr id="5" name="Picture 4" descr="new_attacks.png"/>
          <p:cNvPicPr>
            <a:picLocks noChangeAspect="1"/>
          </p:cNvPicPr>
          <p:nvPr/>
        </p:nvPicPr>
        <p:blipFill>
          <a:blip r:embed="rId3"/>
          <a:srcRect/>
          <a:stretch>
            <a:fillRect/>
          </a:stretch>
        </p:blipFill>
        <p:spPr>
          <a:xfrm>
            <a:off x="502920" y="1828800"/>
            <a:ext cx="11192256" cy="3337560"/>
          </a:xfrm>
          <a:prstGeom prst="rect">
            <a:avLst/>
          </a:prstGeom>
          <a:effectLst/>
        </p:spPr>
      </p:pic>
      <p:sp>
        <p:nvSpPr>
          <p:cNvPr id="6" name="TextBox 5"/>
          <p:cNvSpPr txBox="1"/>
          <p:nvPr/>
        </p:nvSpPr>
        <p:spPr>
          <a:xfrm>
            <a:off x="594360" y="5230368"/>
            <a:ext cx="123444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n = 100 값</a:t>
            </a:r>
          </a:p>
        </p:txBody>
      </p:sp>
      <p:sp>
        <p:nvSpPr>
          <p:cNvPr id="7" name="TextBox 6"/>
          <p:cNvSpPr txBox="1"/>
          <p:nvPr/>
        </p:nvSpPr>
        <p:spPr>
          <a:xfrm>
            <a:off x="1947672"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111111"/>
                </a:solidFill>
                <a:latin typeface="Pretendard"/>
                <a:ea typeface="Pretendard"/>
                <a:cs typeface="Pretendard"/>
              </a:rPr>
              <a:t>XGB 누적 재학습</a:t>
            </a:r>
          </a:p>
        </p:txBody>
      </p:sp>
      <p:sp>
        <p:nvSpPr>
          <p:cNvPr id="8" name="TextBox 7"/>
          <p:cNvSpPr txBox="1"/>
          <p:nvPr/>
        </p:nvSpPr>
        <p:spPr>
          <a:xfrm>
            <a:off x="1947672"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9" name="TextBox 8"/>
          <p:cNvSpPr txBox="1"/>
          <p:nvPr/>
        </p:nvSpPr>
        <p:spPr>
          <a:xfrm>
            <a:off x="2907791"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0" name="TextBox 9"/>
          <p:cNvSpPr txBox="1"/>
          <p:nvPr/>
        </p:nvSpPr>
        <p:spPr>
          <a:xfrm>
            <a:off x="1947672"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52.02</a:t>
            </a:r>
          </a:p>
        </p:txBody>
      </p:sp>
      <p:sp>
        <p:nvSpPr>
          <p:cNvPr id="11" name="TextBox 10"/>
          <p:cNvSpPr txBox="1"/>
          <p:nvPr/>
        </p:nvSpPr>
        <p:spPr>
          <a:xfrm>
            <a:off x="2907791"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65.57</a:t>
            </a:r>
          </a:p>
        </p:txBody>
      </p:sp>
      <p:sp>
        <p:nvSpPr>
          <p:cNvPr id="12" name="TextBox 11"/>
          <p:cNvSpPr txBox="1"/>
          <p:nvPr/>
        </p:nvSpPr>
        <p:spPr>
          <a:xfrm>
            <a:off x="3895344"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0072B2"/>
                </a:solidFill>
                <a:latin typeface="Pretendard"/>
                <a:ea typeface="Pretendard"/>
                <a:cs typeface="Pretendard"/>
              </a:rPr>
              <a:t>PFN 누적</a:t>
            </a:r>
          </a:p>
        </p:txBody>
      </p:sp>
      <p:sp>
        <p:nvSpPr>
          <p:cNvPr id="13" name="TextBox 12"/>
          <p:cNvSpPr txBox="1"/>
          <p:nvPr/>
        </p:nvSpPr>
        <p:spPr>
          <a:xfrm>
            <a:off x="3895344"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4" name="TextBox 13"/>
          <p:cNvSpPr txBox="1"/>
          <p:nvPr/>
        </p:nvSpPr>
        <p:spPr>
          <a:xfrm>
            <a:off x="4855464"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5" name="TextBox 14"/>
          <p:cNvSpPr txBox="1"/>
          <p:nvPr/>
        </p:nvSpPr>
        <p:spPr>
          <a:xfrm>
            <a:off x="3895344"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53.41</a:t>
            </a:r>
          </a:p>
        </p:txBody>
      </p:sp>
      <p:sp>
        <p:nvSpPr>
          <p:cNvPr id="16" name="TextBox 15"/>
          <p:cNvSpPr txBox="1"/>
          <p:nvPr/>
        </p:nvSpPr>
        <p:spPr>
          <a:xfrm>
            <a:off x="4855464"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64.52</a:t>
            </a:r>
          </a:p>
        </p:txBody>
      </p:sp>
      <p:sp>
        <p:nvSpPr>
          <p:cNvPr id="17" name="TextBox 16"/>
          <p:cNvSpPr txBox="1"/>
          <p:nvPr/>
        </p:nvSpPr>
        <p:spPr>
          <a:xfrm>
            <a:off x="5843016"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D55E00"/>
                </a:solidFill>
                <a:latin typeface="Pretendard"/>
                <a:ea typeface="Pretendard"/>
                <a:cs typeface="Pretendard"/>
              </a:rPr>
              <a:t>PFN FIFO</a:t>
            </a:r>
          </a:p>
        </p:txBody>
      </p:sp>
      <p:sp>
        <p:nvSpPr>
          <p:cNvPr id="18" name="TextBox 17"/>
          <p:cNvSpPr txBox="1"/>
          <p:nvPr/>
        </p:nvSpPr>
        <p:spPr>
          <a:xfrm>
            <a:off x="5843016"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9" name="TextBox 18"/>
          <p:cNvSpPr txBox="1"/>
          <p:nvPr/>
        </p:nvSpPr>
        <p:spPr>
          <a:xfrm>
            <a:off x="6803136"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0" name="TextBox 19"/>
          <p:cNvSpPr txBox="1"/>
          <p:nvPr/>
        </p:nvSpPr>
        <p:spPr>
          <a:xfrm>
            <a:off x="5843016"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51.12</a:t>
            </a:r>
          </a:p>
        </p:txBody>
      </p:sp>
      <p:sp>
        <p:nvSpPr>
          <p:cNvPr id="21" name="TextBox 20"/>
          <p:cNvSpPr txBox="1"/>
          <p:nvPr/>
        </p:nvSpPr>
        <p:spPr>
          <a:xfrm>
            <a:off x="6803136"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64.27</a:t>
            </a:r>
          </a:p>
        </p:txBody>
      </p:sp>
      <p:sp>
        <p:nvSpPr>
          <p:cNvPr id="22" name="TextBox 21"/>
          <p:cNvSpPr txBox="1"/>
          <p:nvPr/>
        </p:nvSpPr>
        <p:spPr>
          <a:xfrm>
            <a:off x="7790688"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009E73"/>
                </a:solidFill>
                <a:latin typeface="Pretendard"/>
                <a:ea typeface="Pretendard"/>
                <a:cs typeface="Pretendard"/>
              </a:rPr>
              <a:t>PFN 무작위</a:t>
            </a:r>
          </a:p>
        </p:txBody>
      </p:sp>
      <p:sp>
        <p:nvSpPr>
          <p:cNvPr id="23" name="TextBox 22"/>
          <p:cNvSpPr txBox="1"/>
          <p:nvPr/>
        </p:nvSpPr>
        <p:spPr>
          <a:xfrm>
            <a:off x="7790688"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4" name="TextBox 23"/>
          <p:cNvSpPr txBox="1"/>
          <p:nvPr/>
        </p:nvSpPr>
        <p:spPr>
          <a:xfrm>
            <a:off x="8750808"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5" name="TextBox 24"/>
          <p:cNvSpPr txBox="1"/>
          <p:nvPr/>
        </p:nvSpPr>
        <p:spPr>
          <a:xfrm>
            <a:off x="7790688"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51.66</a:t>
            </a:r>
          </a:p>
        </p:txBody>
      </p:sp>
      <p:sp>
        <p:nvSpPr>
          <p:cNvPr id="26" name="TextBox 25"/>
          <p:cNvSpPr txBox="1"/>
          <p:nvPr/>
        </p:nvSpPr>
        <p:spPr>
          <a:xfrm>
            <a:off x="8750808"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64.61</a:t>
            </a:r>
          </a:p>
        </p:txBody>
      </p:sp>
      <p:sp>
        <p:nvSpPr>
          <p:cNvPr id="27" name="TextBox 26"/>
          <p:cNvSpPr txBox="1"/>
          <p:nvPr/>
        </p:nvSpPr>
        <p:spPr>
          <a:xfrm>
            <a:off x="9738359"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B45A9B"/>
                </a:solidFill>
                <a:latin typeface="Pretendard"/>
                <a:ea typeface="Pretendard"/>
                <a:cs typeface="Pretendard"/>
              </a:rPr>
              <a:t>PFN 유사도</a:t>
            </a:r>
          </a:p>
        </p:txBody>
      </p:sp>
      <p:sp>
        <p:nvSpPr>
          <p:cNvPr id="28" name="TextBox 27"/>
          <p:cNvSpPr txBox="1"/>
          <p:nvPr/>
        </p:nvSpPr>
        <p:spPr>
          <a:xfrm>
            <a:off x="9738359"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9" name="TextBox 28"/>
          <p:cNvSpPr txBox="1"/>
          <p:nvPr/>
        </p:nvSpPr>
        <p:spPr>
          <a:xfrm>
            <a:off x="10698480"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30" name="TextBox 29"/>
          <p:cNvSpPr txBox="1"/>
          <p:nvPr/>
        </p:nvSpPr>
        <p:spPr>
          <a:xfrm>
            <a:off x="9738359"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49.09</a:t>
            </a:r>
          </a:p>
        </p:txBody>
      </p:sp>
      <p:sp>
        <p:nvSpPr>
          <p:cNvPr id="31" name="TextBox 30"/>
          <p:cNvSpPr txBox="1"/>
          <p:nvPr/>
        </p:nvSpPr>
        <p:spPr>
          <a:xfrm>
            <a:off x="10698480"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48.04</a:t>
            </a:r>
          </a:p>
        </p:txBody>
      </p:sp>
      <p:sp>
        <p:nvSpPr>
          <p:cNvPr id="32" name="TextBox 31"/>
          <p:cNvSpPr txBox="1"/>
          <p:nvPr/>
        </p:nvSpPr>
        <p:spPr>
          <a:xfrm>
            <a:off x="594360" y="5870448"/>
            <a:ext cx="123444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617080"/>
                </a:solidFill>
                <a:latin typeface="Pretendard"/>
                <a:ea typeface="Pretendard"/>
                <a:cs typeface="Pretendard"/>
              </a:rPr>
              <a:t>단위 %</a:t>
            </a:r>
          </a:p>
        </p:txBody>
      </p:sp>
      <p:sp>
        <p:nvSpPr>
          <p:cNvPr id="33" name="Rectangle 32"/>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평균 성능의 유사성과 희소 공격 탐지의 충분성을 구분</a:t>
            </a:r>
          </a:p>
        </p:txBody>
      </p:sp>
      <p:sp>
        <p:nvSpPr>
          <p:cNvPr id="35" name="TextBox 34"/>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36" name="TextBox 35"/>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갱신 이후 초기 클래스 성능 변화</a:t>
            </a:r>
          </a:p>
        </p:txBody>
      </p:sp>
      <p:sp>
        <p:nvSpPr>
          <p:cNvPr id="3" name="TextBox 2"/>
          <p:cNvSpPr txBox="1"/>
          <p:nvPr/>
        </p:nvSpPr>
        <p:spPr>
          <a:xfrm>
            <a:off x="566928" y="996696"/>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초기 정상·공격 2종의 같은 평가 표본 · 최종 − 초기 Macro-F1 (%p)</a:t>
            </a:r>
          </a:p>
        </p:txBody>
      </p:sp>
      <p:sp>
        <p:nvSpPr>
          <p:cNvPr id="4" name="TextBox 3"/>
          <p:cNvSpPr txBox="1"/>
          <p:nvPr/>
        </p:nvSpPr>
        <p:spPr>
          <a:xfrm>
            <a:off x="566928" y="1481328"/>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rPr>
              <a:t>클래스당 최대 2,000개 고정 test 표본 / 같은 query 구성 / 0 아래는 초기보다 성능 하락</a:t>
            </a:r>
          </a:p>
        </p:txBody>
      </p:sp>
      <p:pic>
        <p:nvPicPr>
          <p:cNvPr id="5" name="Picture 4" descr="retention.png"/>
          <p:cNvPicPr>
            <a:picLocks noChangeAspect="1"/>
          </p:cNvPicPr>
          <p:nvPr/>
        </p:nvPicPr>
        <p:blipFill>
          <a:blip r:embed="rId3"/>
          <a:srcRect/>
          <a:stretch>
            <a:fillRect/>
          </a:stretch>
        </p:blipFill>
        <p:spPr>
          <a:xfrm>
            <a:off x="502920" y="1828800"/>
            <a:ext cx="11192256" cy="3337560"/>
          </a:xfrm>
          <a:prstGeom prst="rect">
            <a:avLst/>
          </a:prstGeom>
          <a:effectLst/>
        </p:spPr>
      </p:pic>
      <p:sp>
        <p:nvSpPr>
          <p:cNvPr id="6" name="TextBox 5"/>
          <p:cNvSpPr txBox="1"/>
          <p:nvPr/>
        </p:nvSpPr>
        <p:spPr>
          <a:xfrm>
            <a:off x="594360" y="5230368"/>
            <a:ext cx="123444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n = 100 값</a:t>
            </a:r>
          </a:p>
        </p:txBody>
      </p:sp>
      <p:sp>
        <p:nvSpPr>
          <p:cNvPr id="7" name="TextBox 6"/>
          <p:cNvSpPr txBox="1"/>
          <p:nvPr/>
        </p:nvSpPr>
        <p:spPr>
          <a:xfrm>
            <a:off x="1947672"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111111"/>
                </a:solidFill>
                <a:latin typeface="Pretendard"/>
                <a:ea typeface="Pretendard"/>
                <a:cs typeface="Pretendard"/>
              </a:rPr>
              <a:t>XGB 누적 재학습</a:t>
            </a:r>
          </a:p>
        </p:txBody>
      </p:sp>
      <p:sp>
        <p:nvSpPr>
          <p:cNvPr id="8" name="TextBox 7"/>
          <p:cNvSpPr txBox="1"/>
          <p:nvPr/>
        </p:nvSpPr>
        <p:spPr>
          <a:xfrm>
            <a:off x="1947672"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9" name="TextBox 8"/>
          <p:cNvSpPr txBox="1"/>
          <p:nvPr/>
        </p:nvSpPr>
        <p:spPr>
          <a:xfrm>
            <a:off x="2907791"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0" name="TextBox 9"/>
          <p:cNvSpPr txBox="1"/>
          <p:nvPr/>
        </p:nvSpPr>
        <p:spPr>
          <a:xfrm>
            <a:off x="1947672"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0.04</a:t>
            </a:r>
          </a:p>
        </p:txBody>
      </p:sp>
      <p:sp>
        <p:nvSpPr>
          <p:cNvPr id="11" name="TextBox 10"/>
          <p:cNvSpPr txBox="1"/>
          <p:nvPr/>
        </p:nvSpPr>
        <p:spPr>
          <a:xfrm>
            <a:off x="2907791"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-0.44</a:t>
            </a:r>
          </a:p>
        </p:txBody>
      </p:sp>
      <p:sp>
        <p:nvSpPr>
          <p:cNvPr id="12" name="TextBox 11"/>
          <p:cNvSpPr txBox="1"/>
          <p:nvPr/>
        </p:nvSpPr>
        <p:spPr>
          <a:xfrm>
            <a:off x="3895344"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0072B2"/>
                </a:solidFill>
                <a:latin typeface="Pretendard"/>
                <a:ea typeface="Pretendard"/>
                <a:cs typeface="Pretendard"/>
              </a:rPr>
              <a:t>PFN 누적</a:t>
            </a:r>
          </a:p>
        </p:txBody>
      </p:sp>
      <p:sp>
        <p:nvSpPr>
          <p:cNvPr id="13" name="TextBox 12"/>
          <p:cNvSpPr txBox="1"/>
          <p:nvPr/>
        </p:nvSpPr>
        <p:spPr>
          <a:xfrm>
            <a:off x="3895344"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4" name="TextBox 13"/>
          <p:cNvSpPr txBox="1"/>
          <p:nvPr/>
        </p:nvSpPr>
        <p:spPr>
          <a:xfrm>
            <a:off x="4855464"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5" name="TextBox 14"/>
          <p:cNvSpPr txBox="1"/>
          <p:nvPr/>
        </p:nvSpPr>
        <p:spPr>
          <a:xfrm>
            <a:off x="3895344"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0.05</a:t>
            </a:r>
          </a:p>
        </p:txBody>
      </p:sp>
      <p:sp>
        <p:nvSpPr>
          <p:cNvPr id="16" name="TextBox 15"/>
          <p:cNvSpPr txBox="1"/>
          <p:nvPr/>
        </p:nvSpPr>
        <p:spPr>
          <a:xfrm>
            <a:off x="4855464"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-1.23</a:t>
            </a:r>
          </a:p>
        </p:txBody>
      </p:sp>
      <p:sp>
        <p:nvSpPr>
          <p:cNvPr id="17" name="TextBox 16"/>
          <p:cNvSpPr txBox="1"/>
          <p:nvPr/>
        </p:nvSpPr>
        <p:spPr>
          <a:xfrm>
            <a:off x="5843016"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D55E00"/>
                </a:solidFill>
                <a:latin typeface="Pretendard"/>
                <a:ea typeface="Pretendard"/>
                <a:cs typeface="Pretendard"/>
              </a:rPr>
              <a:t>PFN FIFO</a:t>
            </a:r>
          </a:p>
        </p:txBody>
      </p:sp>
      <p:sp>
        <p:nvSpPr>
          <p:cNvPr id="18" name="TextBox 17"/>
          <p:cNvSpPr txBox="1"/>
          <p:nvPr/>
        </p:nvSpPr>
        <p:spPr>
          <a:xfrm>
            <a:off x="5843016"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9" name="TextBox 18"/>
          <p:cNvSpPr txBox="1"/>
          <p:nvPr/>
        </p:nvSpPr>
        <p:spPr>
          <a:xfrm>
            <a:off x="6803136"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0" name="TextBox 19"/>
          <p:cNvSpPr txBox="1"/>
          <p:nvPr/>
        </p:nvSpPr>
        <p:spPr>
          <a:xfrm>
            <a:off x="5843016"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-0.25</a:t>
            </a:r>
          </a:p>
        </p:txBody>
      </p:sp>
      <p:sp>
        <p:nvSpPr>
          <p:cNvPr id="21" name="TextBox 20"/>
          <p:cNvSpPr txBox="1"/>
          <p:nvPr/>
        </p:nvSpPr>
        <p:spPr>
          <a:xfrm>
            <a:off x="6803136"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-7.28</a:t>
            </a:r>
          </a:p>
        </p:txBody>
      </p:sp>
      <p:sp>
        <p:nvSpPr>
          <p:cNvPr id="22" name="TextBox 21"/>
          <p:cNvSpPr txBox="1"/>
          <p:nvPr/>
        </p:nvSpPr>
        <p:spPr>
          <a:xfrm>
            <a:off x="7790688"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009E73"/>
                </a:solidFill>
                <a:latin typeface="Pretendard"/>
                <a:ea typeface="Pretendard"/>
                <a:cs typeface="Pretendard"/>
              </a:rPr>
              <a:t>PFN 무작위</a:t>
            </a:r>
          </a:p>
        </p:txBody>
      </p:sp>
      <p:sp>
        <p:nvSpPr>
          <p:cNvPr id="23" name="TextBox 22"/>
          <p:cNvSpPr txBox="1"/>
          <p:nvPr/>
        </p:nvSpPr>
        <p:spPr>
          <a:xfrm>
            <a:off x="7790688"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4" name="TextBox 23"/>
          <p:cNvSpPr txBox="1"/>
          <p:nvPr/>
        </p:nvSpPr>
        <p:spPr>
          <a:xfrm>
            <a:off x="8750808"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5" name="TextBox 24"/>
          <p:cNvSpPr txBox="1"/>
          <p:nvPr/>
        </p:nvSpPr>
        <p:spPr>
          <a:xfrm>
            <a:off x="7790688"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0.13</a:t>
            </a:r>
          </a:p>
        </p:txBody>
      </p:sp>
      <p:sp>
        <p:nvSpPr>
          <p:cNvPr id="26" name="TextBox 25"/>
          <p:cNvSpPr txBox="1"/>
          <p:nvPr/>
        </p:nvSpPr>
        <p:spPr>
          <a:xfrm>
            <a:off x="8750808"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-0.72</a:t>
            </a:r>
          </a:p>
        </p:txBody>
      </p:sp>
      <p:sp>
        <p:nvSpPr>
          <p:cNvPr id="27" name="TextBox 26"/>
          <p:cNvSpPr txBox="1"/>
          <p:nvPr/>
        </p:nvSpPr>
        <p:spPr>
          <a:xfrm>
            <a:off x="9738359"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B45A9B"/>
                </a:solidFill>
                <a:latin typeface="Pretendard"/>
                <a:ea typeface="Pretendard"/>
                <a:cs typeface="Pretendard"/>
              </a:rPr>
              <a:t>PFN 유사도</a:t>
            </a:r>
          </a:p>
        </p:txBody>
      </p:sp>
      <p:sp>
        <p:nvSpPr>
          <p:cNvPr id="28" name="TextBox 27"/>
          <p:cNvSpPr txBox="1"/>
          <p:nvPr/>
        </p:nvSpPr>
        <p:spPr>
          <a:xfrm>
            <a:off x="9738359"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9" name="TextBox 28"/>
          <p:cNvSpPr txBox="1"/>
          <p:nvPr/>
        </p:nvSpPr>
        <p:spPr>
          <a:xfrm>
            <a:off x="10698480"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30" name="TextBox 29"/>
          <p:cNvSpPr txBox="1"/>
          <p:nvPr/>
        </p:nvSpPr>
        <p:spPr>
          <a:xfrm>
            <a:off x="9738359"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-0.96</a:t>
            </a:r>
          </a:p>
        </p:txBody>
      </p:sp>
      <p:sp>
        <p:nvSpPr>
          <p:cNvPr id="31" name="TextBox 30"/>
          <p:cNvSpPr txBox="1"/>
          <p:nvPr/>
        </p:nvSpPr>
        <p:spPr>
          <a:xfrm>
            <a:off x="10698480"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-28.76</a:t>
            </a:r>
          </a:p>
        </p:txBody>
      </p:sp>
      <p:sp>
        <p:nvSpPr>
          <p:cNvPr id="32" name="TextBox 31"/>
          <p:cNvSpPr txBox="1"/>
          <p:nvPr/>
        </p:nvSpPr>
        <p:spPr>
          <a:xfrm>
            <a:off x="594360" y="5870448"/>
            <a:ext cx="123444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617080"/>
                </a:solidFill>
                <a:latin typeface="Pretendard"/>
                <a:ea typeface="Pretendard"/>
                <a:cs typeface="Pretendard"/>
              </a:rPr>
              <a:t>단위 %p</a:t>
            </a:r>
          </a:p>
        </p:txBody>
      </p:sp>
      <p:sp>
        <p:nvSpPr>
          <p:cNvPr id="33" name="Rectangle 32"/>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ToN의 큰 교체 조건에서 FIFO·유사도 삭제의 유지 성능 하락</a:t>
            </a:r>
          </a:p>
        </p:txBody>
      </p:sp>
      <p:sp>
        <p:nvSpPr>
          <p:cNvPr id="35" name="TextBox 34"/>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36" name="TextBox 35"/>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소규모 context의 후속 갱신 비용</a:t>
            </a:r>
          </a:p>
        </p:txBody>
      </p:sp>
      <p:sp>
        <p:nvSpPr>
          <p:cNvPr id="3" name="TextBox 2"/>
          <p:cNvSpPr txBox="1"/>
          <p:nvPr/>
        </p:nvSpPr>
        <p:spPr>
          <a:xfrm>
            <a:off x="566928" y="996696"/>
            <a:ext cx="10972800" cy="355777"/>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306C"/>
                </a:solidFill>
                <a:latin typeface="Pretendard"/>
                <a:ea typeface="Pretendard"/>
                <a:cs typeface="Pretendard"/>
              </a:rPr>
              <a:t>2단계 이후 갱신 시간 합계 · 초기 준비와 모든 추론 제외</a:t>
            </a:r>
          </a:p>
        </p:txBody>
      </p:sp>
      <p:sp>
        <p:nvSpPr>
          <p:cNvPr id="4" name="TextBox 3"/>
          <p:cNvSpPr txBox="1"/>
          <p:nvPr/>
        </p:nvSpPr>
        <p:spPr>
          <a:xfrm>
            <a:off x="566928" y="1481328"/>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rPr>
              <a:t>XGB 누적 재학습 / PFN 가중치 고정 후 context 선택·전처리·캐시 준비 · 동일 실행 환경에서 측정</a:t>
            </a:r>
          </a:p>
        </p:txBody>
      </p:sp>
      <p:pic>
        <p:nvPicPr>
          <p:cNvPr id="5" name="Picture 4" descr="cost.png"/>
          <p:cNvPicPr>
            <a:picLocks noChangeAspect="1"/>
          </p:cNvPicPr>
          <p:nvPr/>
        </p:nvPicPr>
        <p:blipFill>
          <a:blip r:embed="rId3"/>
          <a:srcRect/>
          <a:stretch>
            <a:fillRect/>
          </a:stretch>
        </p:blipFill>
        <p:spPr>
          <a:xfrm>
            <a:off x="502920" y="1828800"/>
            <a:ext cx="11192256" cy="3337560"/>
          </a:xfrm>
          <a:prstGeom prst="rect">
            <a:avLst/>
          </a:prstGeom>
          <a:effectLst/>
        </p:spPr>
      </p:pic>
      <p:sp>
        <p:nvSpPr>
          <p:cNvPr id="6" name="TextBox 5"/>
          <p:cNvSpPr txBox="1"/>
          <p:nvPr/>
        </p:nvSpPr>
        <p:spPr>
          <a:xfrm>
            <a:off x="594360" y="5230368"/>
            <a:ext cx="123444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n = 100 값</a:t>
            </a:r>
          </a:p>
        </p:txBody>
      </p:sp>
      <p:sp>
        <p:nvSpPr>
          <p:cNvPr id="7" name="TextBox 6"/>
          <p:cNvSpPr txBox="1"/>
          <p:nvPr/>
        </p:nvSpPr>
        <p:spPr>
          <a:xfrm>
            <a:off x="1947672"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111111"/>
                </a:solidFill>
                <a:latin typeface="Pretendard"/>
                <a:ea typeface="Pretendard"/>
                <a:cs typeface="Pretendard"/>
              </a:rPr>
              <a:t>XGB 누적 재학습</a:t>
            </a:r>
          </a:p>
        </p:txBody>
      </p:sp>
      <p:sp>
        <p:nvSpPr>
          <p:cNvPr id="8" name="TextBox 7"/>
          <p:cNvSpPr txBox="1"/>
          <p:nvPr/>
        </p:nvSpPr>
        <p:spPr>
          <a:xfrm>
            <a:off x="1947672"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9" name="TextBox 8"/>
          <p:cNvSpPr txBox="1"/>
          <p:nvPr/>
        </p:nvSpPr>
        <p:spPr>
          <a:xfrm>
            <a:off x="2907791"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0" name="TextBox 9"/>
          <p:cNvSpPr txBox="1"/>
          <p:nvPr/>
        </p:nvSpPr>
        <p:spPr>
          <a:xfrm>
            <a:off x="1947672"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2.71</a:t>
            </a:r>
          </a:p>
        </p:txBody>
      </p:sp>
      <p:sp>
        <p:nvSpPr>
          <p:cNvPr id="11" name="TextBox 10"/>
          <p:cNvSpPr txBox="1"/>
          <p:nvPr/>
        </p:nvSpPr>
        <p:spPr>
          <a:xfrm>
            <a:off x="2907791"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5.86</a:t>
            </a:r>
          </a:p>
        </p:txBody>
      </p:sp>
      <p:sp>
        <p:nvSpPr>
          <p:cNvPr id="12" name="TextBox 11"/>
          <p:cNvSpPr txBox="1"/>
          <p:nvPr/>
        </p:nvSpPr>
        <p:spPr>
          <a:xfrm>
            <a:off x="3895344"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0072B2"/>
                </a:solidFill>
                <a:latin typeface="Pretendard"/>
                <a:ea typeface="Pretendard"/>
                <a:cs typeface="Pretendard"/>
              </a:rPr>
              <a:t>PFN 누적</a:t>
            </a:r>
          </a:p>
        </p:txBody>
      </p:sp>
      <p:sp>
        <p:nvSpPr>
          <p:cNvPr id="13" name="TextBox 12"/>
          <p:cNvSpPr txBox="1"/>
          <p:nvPr/>
        </p:nvSpPr>
        <p:spPr>
          <a:xfrm>
            <a:off x="3895344"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4" name="TextBox 13"/>
          <p:cNvSpPr txBox="1"/>
          <p:nvPr/>
        </p:nvSpPr>
        <p:spPr>
          <a:xfrm>
            <a:off x="4855464"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15" name="TextBox 14"/>
          <p:cNvSpPr txBox="1"/>
          <p:nvPr/>
        </p:nvSpPr>
        <p:spPr>
          <a:xfrm>
            <a:off x="3895344"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1.32</a:t>
            </a:r>
          </a:p>
        </p:txBody>
      </p:sp>
      <p:sp>
        <p:nvSpPr>
          <p:cNvPr id="16" name="TextBox 15"/>
          <p:cNvSpPr txBox="1"/>
          <p:nvPr/>
        </p:nvSpPr>
        <p:spPr>
          <a:xfrm>
            <a:off x="4855464"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1.68</a:t>
            </a:r>
          </a:p>
        </p:txBody>
      </p:sp>
      <p:sp>
        <p:nvSpPr>
          <p:cNvPr id="17" name="TextBox 16"/>
          <p:cNvSpPr txBox="1"/>
          <p:nvPr/>
        </p:nvSpPr>
        <p:spPr>
          <a:xfrm>
            <a:off x="5843016"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D55E00"/>
                </a:solidFill>
                <a:latin typeface="Pretendard"/>
                <a:ea typeface="Pretendard"/>
                <a:cs typeface="Pretendard"/>
              </a:rPr>
              <a:t>PFN FIFO</a:t>
            </a:r>
          </a:p>
        </p:txBody>
      </p:sp>
      <p:sp>
        <p:nvSpPr>
          <p:cNvPr id="18" name="TextBox 17"/>
          <p:cNvSpPr txBox="1"/>
          <p:nvPr/>
        </p:nvSpPr>
        <p:spPr>
          <a:xfrm>
            <a:off x="5843016"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19" name="TextBox 18"/>
          <p:cNvSpPr txBox="1"/>
          <p:nvPr/>
        </p:nvSpPr>
        <p:spPr>
          <a:xfrm>
            <a:off x="6803136"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0" name="TextBox 19"/>
          <p:cNvSpPr txBox="1"/>
          <p:nvPr/>
        </p:nvSpPr>
        <p:spPr>
          <a:xfrm>
            <a:off x="5843016"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1.32</a:t>
            </a:r>
          </a:p>
        </p:txBody>
      </p:sp>
      <p:sp>
        <p:nvSpPr>
          <p:cNvPr id="21" name="TextBox 20"/>
          <p:cNvSpPr txBox="1"/>
          <p:nvPr/>
        </p:nvSpPr>
        <p:spPr>
          <a:xfrm>
            <a:off x="6803136"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1.66</a:t>
            </a:r>
          </a:p>
        </p:txBody>
      </p:sp>
      <p:sp>
        <p:nvSpPr>
          <p:cNvPr id="22" name="TextBox 21"/>
          <p:cNvSpPr txBox="1"/>
          <p:nvPr/>
        </p:nvSpPr>
        <p:spPr>
          <a:xfrm>
            <a:off x="7790688"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009E73"/>
                </a:solidFill>
                <a:latin typeface="Pretendard"/>
                <a:ea typeface="Pretendard"/>
                <a:cs typeface="Pretendard"/>
              </a:rPr>
              <a:t>PFN 무작위</a:t>
            </a:r>
          </a:p>
        </p:txBody>
      </p:sp>
      <p:sp>
        <p:nvSpPr>
          <p:cNvPr id="23" name="TextBox 22"/>
          <p:cNvSpPr txBox="1"/>
          <p:nvPr/>
        </p:nvSpPr>
        <p:spPr>
          <a:xfrm>
            <a:off x="7790688"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4" name="TextBox 23"/>
          <p:cNvSpPr txBox="1"/>
          <p:nvPr/>
        </p:nvSpPr>
        <p:spPr>
          <a:xfrm>
            <a:off x="8750808"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25" name="TextBox 24"/>
          <p:cNvSpPr txBox="1"/>
          <p:nvPr/>
        </p:nvSpPr>
        <p:spPr>
          <a:xfrm>
            <a:off x="7790688"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1.33</a:t>
            </a:r>
          </a:p>
        </p:txBody>
      </p:sp>
      <p:sp>
        <p:nvSpPr>
          <p:cNvPr id="26" name="TextBox 25"/>
          <p:cNvSpPr txBox="1"/>
          <p:nvPr/>
        </p:nvSpPr>
        <p:spPr>
          <a:xfrm>
            <a:off x="8750808"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1.66</a:t>
            </a:r>
          </a:p>
        </p:txBody>
      </p:sp>
      <p:sp>
        <p:nvSpPr>
          <p:cNvPr id="27" name="TextBox 26"/>
          <p:cNvSpPr txBox="1"/>
          <p:nvPr/>
        </p:nvSpPr>
        <p:spPr>
          <a:xfrm>
            <a:off x="9738359" y="5230368"/>
            <a:ext cx="1828800" cy="228600"/>
          </a:xfrm>
          <a:prstGeom prst="rect">
            <a:avLst/>
          </a:prstGeom>
          <a:noFill/>
          <a:effectLst/>
        </p:spPr>
        <p:txBody>
          <a:bodyPr wrap="none" anchor="t" lIns="0" rIns="0" tIns="0" bIns="0">
            <a:noAutofit/>
          </a:bodyPr>
          <a:lstStyle/>
          <a:p>
            <a:pPr algn="l">
              <a:lnSpc>
                <a:spcPct val="116000"/>
              </a:lnSpc>
              <a:spcBef>
                <a:spcPts val="0"/>
              </a:spcBef>
              <a:spcAft>
                <a:spcPts val="0"/>
              </a:spcAft>
            </a:pPr>
            <a:r>
              <a:rPr sz="1450" b="1" lang="ko-KR">
                <a:solidFill>
                  <a:srgbClr val="B45A9B"/>
                </a:solidFill>
                <a:latin typeface="Pretendard"/>
                <a:ea typeface="Pretendard"/>
                <a:cs typeface="Pretendard"/>
              </a:rPr>
              <a:t>PFN 유사도</a:t>
            </a:r>
          </a:p>
        </p:txBody>
      </p:sp>
      <p:sp>
        <p:nvSpPr>
          <p:cNvPr id="28" name="TextBox 27"/>
          <p:cNvSpPr txBox="1"/>
          <p:nvPr/>
        </p:nvSpPr>
        <p:spPr>
          <a:xfrm>
            <a:off x="9738359"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CIC</a:t>
            </a:r>
          </a:p>
        </p:txBody>
      </p:sp>
      <p:sp>
        <p:nvSpPr>
          <p:cNvPr id="29" name="TextBox 28"/>
          <p:cNvSpPr txBox="1"/>
          <p:nvPr/>
        </p:nvSpPr>
        <p:spPr>
          <a:xfrm>
            <a:off x="10698480" y="5559552"/>
            <a:ext cx="850392"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617080"/>
                </a:solidFill>
                <a:latin typeface="Pretendard"/>
                <a:ea typeface="Pretendard"/>
                <a:cs typeface="Pretendard"/>
              </a:rPr>
              <a:t>ToN</a:t>
            </a:r>
          </a:p>
        </p:txBody>
      </p:sp>
      <p:sp>
        <p:nvSpPr>
          <p:cNvPr id="30" name="TextBox 29"/>
          <p:cNvSpPr txBox="1"/>
          <p:nvPr/>
        </p:nvSpPr>
        <p:spPr>
          <a:xfrm>
            <a:off x="9738359"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1.34</a:t>
            </a:r>
          </a:p>
        </p:txBody>
      </p:sp>
      <p:sp>
        <p:nvSpPr>
          <p:cNvPr id="31" name="TextBox 30"/>
          <p:cNvSpPr txBox="1"/>
          <p:nvPr/>
        </p:nvSpPr>
        <p:spPr>
          <a:xfrm>
            <a:off x="10698480" y="5870448"/>
            <a:ext cx="850392" cy="26296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1.81</a:t>
            </a:r>
          </a:p>
        </p:txBody>
      </p:sp>
      <p:sp>
        <p:nvSpPr>
          <p:cNvPr id="32" name="TextBox 31"/>
          <p:cNvSpPr txBox="1"/>
          <p:nvPr/>
        </p:nvSpPr>
        <p:spPr>
          <a:xfrm>
            <a:off x="594360" y="5870448"/>
            <a:ext cx="123444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617080"/>
                </a:solidFill>
                <a:latin typeface="Pretendard"/>
                <a:ea typeface="Pretendard"/>
                <a:cs typeface="Pretendard"/>
              </a:rPr>
              <a:t>단위 초</a:t>
            </a:r>
          </a:p>
        </p:txBody>
      </p:sp>
      <p:sp>
        <p:nvSpPr>
          <p:cNvPr id="33" name="Rectangle 32"/>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이번 1,000~1,700개 조건의 비용 이점 · 대규모·전체 추론 비용으로 일반화 불가</a:t>
            </a:r>
          </a:p>
        </p:txBody>
      </p:sp>
      <p:sp>
        <p:nvSpPr>
          <p:cNvPr id="35" name="TextBox 34"/>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36" name="TextBox 35"/>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해석 · 낮은 갱신 비용과 남은 Tail 문제</a:t>
            </a:r>
          </a:p>
        </p:txBody>
      </p:sp>
      <p:sp>
        <p:nvSpPr>
          <p:cNvPr id="3" name="TextBox 2"/>
          <p:cNvSpPr txBox="1"/>
          <p:nvPr/>
        </p:nvSpPr>
        <p:spPr>
          <a:xfrm>
            <a:off x="566928" y="996696"/>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n = 100 · 각 데이터셋 test에서 가장 희소한 공격 2종 · test 수 내림차순</a:t>
            </a:r>
          </a:p>
        </p:txBody>
      </p:sp>
      <p:pic>
        <p:nvPicPr>
          <p:cNvPr id="4" name="Picture 3" descr="tail.png"/>
          <p:cNvPicPr>
            <a:picLocks noChangeAspect="1"/>
          </p:cNvPicPr>
          <p:nvPr/>
        </p:nvPicPr>
        <p:blipFill>
          <a:blip r:embed="rId3"/>
          <a:srcRect/>
          <a:stretch>
            <a:fillRect/>
          </a:stretch>
        </p:blipFill>
        <p:spPr>
          <a:xfrm>
            <a:off x="502920" y="1536192"/>
            <a:ext cx="11192256" cy="2926080"/>
          </a:xfrm>
          <a:prstGeom prst="rect">
            <a:avLst/>
          </a:prstGeom>
          <a:effectLst/>
        </p:spPr>
      </p:pic>
      <p:sp>
        <p:nvSpPr>
          <p:cNvPr id="5" name="TextBox 4"/>
          <p:cNvSpPr txBox="1"/>
          <p:nvPr/>
        </p:nvSpPr>
        <p:spPr>
          <a:xfrm>
            <a:off x="594360" y="4599432"/>
            <a:ext cx="10972800" cy="356616"/>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ToN Ransomware · PFN 무작위의 재현율 95.20% / 정밀도 1.30%</a:t>
            </a:r>
          </a:p>
        </p:txBody>
      </p:sp>
      <p:sp>
        <p:nvSpPr>
          <p:cNvPr id="6" name="TextBox 5"/>
          <p:cNvSpPr txBox="1"/>
          <p:nvPr/>
        </p:nvSpPr>
        <p:spPr>
          <a:xfrm>
            <a:off x="594360" y="5148072"/>
            <a:ext cx="10972800" cy="66751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0" lang="ko-KR">
                <a:solidFill>
                  <a:srgbClr val="20262E"/>
                </a:solidFill>
                <a:latin typeface="Pretendard"/>
                <a:ea typeface="Pretendard"/>
                <a:cs typeface="Pretendard"/>
              </a:rPr>
              <a:t>삭제 없는 PFN 누적에서도 낮은 Tail F1 → 버퍼만으로 설명되지 않는 한계</a:t>
            </a:r>
          </a:p>
          <a:p>
            <a:pPr algn="l">
              <a:lnSpc>
                <a:spcPct val="116000"/>
              </a:lnSpc>
              <a:spcBef>
                <a:spcPts val="0"/>
              </a:spcBef>
              <a:spcAft>
                <a:spcPts val="0"/>
              </a:spcAft>
            </a:pPr>
            <a:r>
              <a:rPr sz="2000" b="0" lang="ko-KR">
                <a:solidFill>
                  <a:srgbClr val="20262E"/>
                </a:solidFill>
                <a:latin typeface="Pretendard"/>
                <a:ea typeface="Pretendard"/>
                <a:cs typeface="Pretendard"/>
              </a:rPr>
              <a:t>다음 확인 · 기존 대규모 결과와 클래스별 비교 후 가중치 적응·오탐 억제 효과 분리</a:t>
            </a:r>
          </a:p>
        </p:txBody>
      </p:sp>
      <p:sp>
        <p:nvSpPr>
          <p:cNvPr id="7" name="Rectangle 6"/>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확인된 성과 · 소규모 갱신 비용 절감 / 개선 과제 · 희소 공격의 오탐과 분류 품질</a:t>
            </a:r>
          </a:p>
        </p:txBody>
      </p:sp>
      <p:sp>
        <p:nvSpPr>
          <p:cNvPr id="9" name="TextBox 8"/>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10" name="TextBox 9"/>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CIC2018 클래스별 성능</a:t>
            </a:r>
          </a:p>
        </p:txBody>
      </p:sp>
      <p:sp>
        <p:nvSpPr>
          <p:cNvPr id="3" name="TextBox 2"/>
          <p:cNvSpPr txBox="1"/>
          <p:nvPr/>
        </p:nvSpPr>
        <p:spPr>
          <a:xfrm>
            <a:off x="566928" y="1024128"/>
            <a:ext cx="10972800"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900" b="0" lang="ko-KR">
                <a:solidFill>
                  <a:srgbClr val="617080"/>
                </a:solidFill>
                <a:latin typeface="Pretendard"/>
                <a:ea typeface="Pretendard"/>
                <a:cs typeface="Pretendard"/>
              </a:rPr>
              <a:t>n = 100 · 마지막 모델 전체 test · F1 (%) · 평가 표본 수 내림차순</a:t>
            </a:r>
          </a:p>
        </p:txBody>
      </p:sp>
      <p:sp>
        <p:nvSpPr>
          <p:cNvPr id="4" name="Rectangle 3"/>
          <p:cNvSpPr/>
          <p:nvPr/>
        </p:nvSpPr>
        <p:spPr>
          <a:xfrm>
            <a:off x="566928" y="1618488"/>
            <a:ext cx="2075688"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58368" y="1709928"/>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1" lang="ko-KR">
                <a:solidFill>
                  <a:srgbClr val="FFFFFF"/>
                </a:solidFill>
                <a:latin typeface="Pretendard"/>
                <a:ea typeface="Pretendard"/>
                <a:cs typeface="Pretendard"/>
              </a:rPr>
              <a:t>클래스</a:t>
            </a:r>
          </a:p>
        </p:txBody>
      </p:sp>
      <p:sp>
        <p:nvSpPr>
          <p:cNvPr id="6" name="Rectangle 5"/>
          <p:cNvSpPr/>
          <p:nvPr/>
        </p:nvSpPr>
        <p:spPr>
          <a:xfrm>
            <a:off x="2642616" y="1618488"/>
            <a:ext cx="1481328"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2734056" y="1709928"/>
            <a:ext cx="1298448"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1" lang="ko-KR">
                <a:solidFill>
                  <a:srgbClr val="FFFFFF"/>
                </a:solidFill>
                <a:latin typeface="Pretendard"/>
                <a:ea typeface="Pretendard"/>
                <a:cs typeface="Pretendard"/>
              </a:rPr>
              <a:t>test 수</a:t>
            </a:r>
          </a:p>
        </p:txBody>
      </p:sp>
      <p:sp>
        <p:nvSpPr>
          <p:cNvPr id="8" name="Rectangle 7"/>
          <p:cNvSpPr/>
          <p:nvPr/>
        </p:nvSpPr>
        <p:spPr>
          <a:xfrm>
            <a:off x="4123944" y="1618488"/>
            <a:ext cx="151790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215383" y="170992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XGB</a:t>
            </a:r>
          </a:p>
        </p:txBody>
      </p:sp>
      <p:sp>
        <p:nvSpPr>
          <p:cNvPr id="10" name="Rectangle 9"/>
          <p:cNvSpPr/>
          <p:nvPr/>
        </p:nvSpPr>
        <p:spPr>
          <a:xfrm>
            <a:off x="5641848" y="1618488"/>
            <a:ext cx="151790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733288" y="170992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PFN 누적</a:t>
            </a:r>
          </a:p>
        </p:txBody>
      </p:sp>
      <p:sp>
        <p:nvSpPr>
          <p:cNvPr id="12" name="Rectangle 11"/>
          <p:cNvSpPr/>
          <p:nvPr/>
        </p:nvSpPr>
        <p:spPr>
          <a:xfrm>
            <a:off x="7159752" y="1618488"/>
            <a:ext cx="151790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251192" y="170992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FIFO</a:t>
            </a:r>
          </a:p>
        </p:txBody>
      </p:sp>
      <p:sp>
        <p:nvSpPr>
          <p:cNvPr id="14" name="Rectangle 13"/>
          <p:cNvSpPr/>
          <p:nvPr/>
        </p:nvSpPr>
        <p:spPr>
          <a:xfrm>
            <a:off x="8677656" y="1618488"/>
            <a:ext cx="151790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769096" y="170992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무작위</a:t>
            </a:r>
          </a:p>
        </p:txBody>
      </p:sp>
      <p:sp>
        <p:nvSpPr>
          <p:cNvPr id="16" name="Rectangle 15"/>
          <p:cNvSpPr/>
          <p:nvPr/>
        </p:nvSpPr>
        <p:spPr>
          <a:xfrm>
            <a:off x="10195560" y="1618488"/>
            <a:ext cx="14264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287000" y="1709928"/>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유사도</a:t>
            </a:r>
          </a:p>
        </p:txBody>
      </p:sp>
      <p:sp>
        <p:nvSpPr>
          <p:cNvPr id="18" name="Rectangle 17"/>
          <p:cNvSpPr/>
          <p:nvPr/>
        </p:nvSpPr>
        <p:spPr>
          <a:xfrm>
            <a:off x="566928" y="2066543"/>
            <a:ext cx="11055096" cy="39319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58368" y="2148839"/>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Benign</a:t>
            </a:r>
          </a:p>
        </p:txBody>
      </p:sp>
      <p:sp>
        <p:nvSpPr>
          <p:cNvPr id="20" name="TextBox 19"/>
          <p:cNvSpPr txBox="1"/>
          <p:nvPr/>
        </p:nvSpPr>
        <p:spPr>
          <a:xfrm>
            <a:off x="2734056" y="2148839"/>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2,652,203</a:t>
            </a:r>
          </a:p>
        </p:txBody>
      </p:sp>
      <p:sp>
        <p:nvSpPr>
          <p:cNvPr id="21" name="TextBox 20"/>
          <p:cNvSpPr txBox="1"/>
          <p:nvPr/>
        </p:nvSpPr>
        <p:spPr>
          <a:xfrm>
            <a:off x="4215383" y="2148839"/>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97.79</a:t>
            </a:r>
          </a:p>
        </p:txBody>
      </p:sp>
      <p:sp>
        <p:nvSpPr>
          <p:cNvPr id="22" name="TextBox 21"/>
          <p:cNvSpPr txBox="1"/>
          <p:nvPr/>
        </p:nvSpPr>
        <p:spPr>
          <a:xfrm>
            <a:off x="5733288" y="2148839"/>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99.02</a:t>
            </a:r>
          </a:p>
        </p:txBody>
      </p:sp>
      <p:sp>
        <p:nvSpPr>
          <p:cNvPr id="23" name="TextBox 22"/>
          <p:cNvSpPr txBox="1"/>
          <p:nvPr/>
        </p:nvSpPr>
        <p:spPr>
          <a:xfrm>
            <a:off x="7251192" y="2148839"/>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98.38</a:t>
            </a:r>
          </a:p>
        </p:txBody>
      </p:sp>
      <p:sp>
        <p:nvSpPr>
          <p:cNvPr id="24" name="TextBox 23"/>
          <p:cNvSpPr txBox="1"/>
          <p:nvPr/>
        </p:nvSpPr>
        <p:spPr>
          <a:xfrm>
            <a:off x="8769096" y="2148839"/>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98.86</a:t>
            </a:r>
          </a:p>
        </p:txBody>
      </p:sp>
      <p:sp>
        <p:nvSpPr>
          <p:cNvPr id="25" name="TextBox 24"/>
          <p:cNvSpPr txBox="1"/>
          <p:nvPr/>
        </p:nvSpPr>
        <p:spPr>
          <a:xfrm>
            <a:off x="10287000" y="2148839"/>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96.04</a:t>
            </a:r>
          </a:p>
        </p:txBody>
      </p:sp>
      <p:sp>
        <p:nvSpPr>
          <p:cNvPr id="26" name="Rectangle 25"/>
          <p:cNvSpPr/>
          <p:nvPr/>
        </p:nvSpPr>
        <p:spPr>
          <a:xfrm>
            <a:off x="566928" y="2459736"/>
            <a:ext cx="11055096" cy="3931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8368" y="2542032"/>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DDoS</a:t>
            </a:r>
          </a:p>
        </p:txBody>
      </p:sp>
      <p:sp>
        <p:nvSpPr>
          <p:cNvPr id="28" name="TextBox 27"/>
          <p:cNvSpPr txBox="1"/>
          <p:nvPr/>
        </p:nvSpPr>
        <p:spPr>
          <a:xfrm>
            <a:off x="2734056" y="2542032"/>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262,680</a:t>
            </a:r>
          </a:p>
        </p:txBody>
      </p:sp>
      <p:sp>
        <p:nvSpPr>
          <p:cNvPr id="29" name="TextBox 28"/>
          <p:cNvSpPr txBox="1"/>
          <p:nvPr/>
        </p:nvSpPr>
        <p:spPr>
          <a:xfrm>
            <a:off x="4215383" y="254203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99.71</a:t>
            </a:r>
          </a:p>
        </p:txBody>
      </p:sp>
      <p:sp>
        <p:nvSpPr>
          <p:cNvPr id="30" name="TextBox 29"/>
          <p:cNvSpPr txBox="1"/>
          <p:nvPr/>
        </p:nvSpPr>
        <p:spPr>
          <a:xfrm>
            <a:off x="5733288" y="254203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99.71</a:t>
            </a:r>
          </a:p>
        </p:txBody>
      </p:sp>
      <p:sp>
        <p:nvSpPr>
          <p:cNvPr id="31" name="TextBox 30"/>
          <p:cNvSpPr txBox="1"/>
          <p:nvPr/>
        </p:nvSpPr>
        <p:spPr>
          <a:xfrm>
            <a:off x="7251192" y="254203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99.71</a:t>
            </a:r>
          </a:p>
        </p:txBody>
      </p:sp>
      <p:sp>
        <p:nvSpPr>
          <p:cNvPr id="32" name="TextBox 31"/>
          <p:cNvSpPr txBox="1"/>
          <p:nvPr/>
        </p:nvSpPr>
        <p:spPr>
          <a:xfrm>
            <a:off x="8769096" y="254203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99.70</a:t>
            </a:r>
          </a:p>
        </p:txBody>
      </p:sp>
      <p:sp>
        <p:nvSpPr>
          <p:cNvPr id="33" name="TextBox 32"/>
          <p:cNvSpPr txBox="1"/>
          <p:nvPr/>
        </p:nvSpPr>
        <p:spPr>
          <a:xfrm>
            <a:off x="10287000" y="2542032"/>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93.18</a:t>
            </a:r>
          </a:p>
        </p:txBody>
      </p:sp>
      <p:sp>
        <p:nvSpPr>
          <p:cNvPr id="34" name="Rectangle 33"/>
          <p:cNvSpPr/>
          <p:nvPr/>
        </p:nvSpPr>
        <p:spPr>
          <a:xfrm>
            <a:off x="566928" y="2852928"/>
            <a:ext cx="11055096" cy="39319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58368" y="2935224"/>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Bot</a:t>
            </a:r>
          </a:p>
        </p:txBody>
      </p:sp>
      <p:sp>
        <p:nvSpPr>
          <p:cNvPr id="36" name="TextBox 35"/>
          <p:cNvSpPr txBox="1"/>
          <p:nvPr/>
        </p:nvSpPr>
        <p:spPr>
          <a:xfrm>
            <a:off x="2734056" y="2935224"/>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41,542</a:t>
            </a:r>
          </a:p>
        </p:txBody>
      </p:sp>
      <p:sp>
        <p:nvSpPr>
          <p:cNvPr id="37" name="TextBox 36"/>
          <p:cNvSpPr txBox="1"/>
          <p:nvPr/>
        </p:nvSpPr>
        <p:spPr>
          <a:xfrm>
            <a:off x="4215383" y="2935224"/>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96.96</a:t>
            </a:r>
          </a:p>
        </p:txBody>
      </p:sp>
      <p:sp>
        <p:nvSpPr>
          <p:cNvPr id="38" name="TextBox 37"/>
          <p:cNvSpPr txBox="1"/>
          <p:nvPr/>
        </p:nvSpPr>
        <p:spPr>
          <a:xfrm>
            <a:off x="5733288" y="2935224"/>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99.14</a:t>
            </a:r>
          </a:p>
        </p:txBody>
      </p:sp>
      <p:sp>
        <p:nvSpPr>
          <p:cNvPr id="39" name="TextBox 38"/>
          <p:cNvSpPr txBox="1"/>
          <p:nvPr/>
        </p:nvSpPr>
        <p:spPr>
          <a:xfrm>
            <a:off x="7251192" y="2935224"/>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99.10</a:t>
            </a:r>
          </a:p>
        </p:txBody>
      </p:sp>
      <p:sp>
        <p:nvSpPr>
          <p:cNvPr id="40" name="TextBox 39"/>
          <p:cNvSpPr txBox="1"/>
          <p:nvPr/>
        </p:nvSpPr>
        <p:spPr>
          <a:xfrm>
            <a:off x="8769096" y="2935224"/>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99.04</a:t>
            </a:r>
          </a:p>
        </p:txBody>
      </p:sp>
      <p:sp>
        <p:nvSpPr>
          <p:cNvPr id="41" name="TextBox 40"/>
          <p:cNvSpPr txBox="1"/>
          <p:nvPr/>
        </p:nvSpPr>
        <p:spPr>
          <a:xfrm>
            <a:off x="10287000" y="2935224"/>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98.82</a:t>
            </a:r>
          </a:p>
        </p:txBody>
      </p:sp>
      <p:sp>
        <p:nvSpPr>
          <p:cNvPr id="42" name="Rectangle 41"/>
          <p:cNvSpPr/>
          <p:nvPr/>
        </p:nvSpPr>
        <p:spPr>
          <a:xfrm>
            <a:off x="566928" y="3246120"/>
            <a:ext cx="11055096" cy="3931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658368" y="3328416"/>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DoS</a:t>
            </a:r>
          </a:p>
        </p:txBody>
      </p:sp>
      <p:sp>
        <p:nvSpPr>
          <p:cNvPr id="44" name="TextBox 43"/>
          <p:cNvSpPr txBox="1"/>
          <p:nvPr/>
        </p:nvSpPr>
        <p:spPr>
          <a:xfrm>
            <a:off x="2734056" y="3328416"/>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39,483</a:t>
            </a:r>
          </a:p>
        </p:txBody>
      </p:sp>
      <p:sp>
        <p:nvSpPr>
          <p:cNvPr id="45" name="TextBox 44"/>
          <p:cNvSpPr txBox="1"/>
          <p:nvPr/>
        </p:nvSpPr>
        <p:spPr>
          <a:xfrm>
            <a:off x="4215383" y="3328416"/>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99.29</a:t>
            </a:r>
          </a:p>
        </p:txBody>
      </p:sp>
      <p:sp>
        <p:nvSpPr>
          <p:cNvPr id="46" name="TextBox 45"/>
          <p:cNvSpPr txBox="1"/>
          <p:nvPr/>
        </p:nvSpPr>
        <p:spPr>
          <a:xfrm>
            <a:off x="5733288" y="3328416"/>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99.16</a:t>
            </a:r>
          </a:p>
        </p:txBody>
      </p:sp>
      <p:sp>
        <p:nvSpPr>
          <p:cNvPr id="47" name="TextBox 46"/>
          <p:cNvSpPr txBox="1"/>
          <p:nvPr/>
        </p:nvSpPr>
        <p:spPr>
          <a:xfrm>
            <a:off x="7251192" y="3328416"/>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99.15</a:t>
            </a:r>
          </a:p>
        </p:txBody>
      </p:sp>
      <p:sp>
        <p:nvSpPr>
          <p:cNvPr id="48" name="TextBox 47"/>
          <p:cNvSpPr txBox="1"/>
          <p:nvPr/>
        </p:nvSpPr>
        <p:spPr>
          <a:xfrm>
            <a:off x="8769096" y="3328416"/>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98.75</a:t>
            </a:r>
          </a:p>
        </p:txBody>
      </p:sp>
      <p:sp>
        <p:nvSpPr>
          <p:cNvPr id="49" name="TextBox 48"/>
          <p:cNvSpPr txBox="1"/>
          <p:nvPr/>
        </p:nvSpPr>
        <p:spPr>
          <a:xfrm>
            <a:off x="10287000" y="3328416"/>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99.35</a:t>
            </a:r>
          </a:p>
        </p:txBody>
      </p:sp>
      <p:sp>
        <p:nvSpPr>
          <p:cNvPr id="50" name="Rectangle 49"/>
          <p:cNvSpPr/>
          <p:nvPr/>
        </p:nvSpPr>
        <p:spPr>
          <a:xfrm>
            <a:off x="566928" y="3639312"/>
            <a:ext cx="11055096" cy="39319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658368" y="3721608"/>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Brute force</a:t>
            </a:r>
          </a:p>
        </p:txBody>
      </p:sp>
      <p:sp>
        <p:nvSpPr>
          <p:cNvPr id="52" name="TextBox 51"/>
          <p:cNvSpPr txBox="1"/>
          <p:nvPr/>
        </p:nvSpPr>
        <p:spPr>
          <a:xfrm>
            <a:off x="2734056" y="3721608"/>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37,696</a:t>
            </a:r>
          </a:p>
        </p:txBody>
      </p:sp>
      <p:sp>
        <p:nvSpPr>
          <p:cNvPr id="53" name="TextBox 52"/>
          <p:cNvSpPr txBox="1"/>
          <p:nvPr/>
        </p:nvSpPr>
        <p:spPr>
          <a:xfrm>
            <a:off x="4215383" y="372160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99.98</a:t>
            </a:r>
          </a:p>
        </p:txBody>
      </p:sp>
      <p:sp>
        <p:nvSpPr>
          <p:cNvPr id="54" name="TextBox 53"/>
          <p:cNvSpPr txBox="1"/>
          <p:nvPr/>
        </p:nvSpPr>
        <p:spPr>
          <a:xfrm>
            <a:off x="5733288" y="372160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99.97</a:t>
            </a:r>
          </a:p>
        </p:txBody>
      </p:sp>
      <p:sp>
        <p:nvSpPr>
          <p:cNvPr id="55" name="TextBox 54"/>
          <p:cNvSpPr txBox="1"/>
          <p:nvPr/>
        </p:nvSpPr>
        <p:spPr>
          <a:xfrm>
            <a:off x="7251192" y="372160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99.97</a:t>
            </a:r>
          </a:p>
        </p:txBody>
      </p:sp>
      <p:sp>
        <p:nvSpPr>
          <p:cNvPr id="56" name="TextBox 55"/>
          <p:cNvSpPr txBox="1"/>
          <p:nvPr/>
        </p:nvSpPr>
        <p:spPr>
          <a:xfrm>
            <a:off x="8769096" y="372160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99.97</a:t>
            </a:r>
          </a:p>
        </p:txBody>
      </p:sp>
      <p:sp>
        <p:nvSpPr>
          <p:cNvPr id="57" name="TextBox 56"/>
          <p:cNvSpPr txBox="1"/>
          <p:nvPr/>
        </p:nvSpPr>
        <p:spPr>
          <a:xfrm>
            <a:off x="10287000" y="3721608"/>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99.97</a:t>
            </a:r>
          </a:p>
        </p:txBody>
      </p:sp>
      <p:sp>
        <p:nvSpPr>
          <p:cNvPr id="58" name="Rectangle 57"/>
          <p:cNvSpPr/>
          <p:nvPr/>
        </p:nvSpPr>
        <p:spPr>
          <a:xfrm>
            <a:off x="566928" y="4032504"/>
            <a:ext cx="11055096" cy="3931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658368" y="4114800"/>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Infiltration</a:t>
            </a:r>
          </a:p>
        </p:txBody>
      </p:sp>
      <p:sp>
        <p:nvSpPr>
          <p:cNvPr id="60" name="TextBox 59"/>
          <p:cNvSpPr txBox="1"/>
          <p:nvPr/>
        </p:nvSpPr>
        <p:spPr>
          <a:xfrm>
            <a:off x="2734056" y="4114800"/>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8,742</a:t>
            </a:r>
          </a:p>
        </p:txBody>
      </p:sp>
      <p:sp>
        <p:nvSpPr>
          <p:cNvPr id="61" name="TextBox 60"/>
          <p:cNvSpPr txBox="1"/>
          <p:nvPr/>
        </p:nvSpPr>
        <p:spPr>
          <a:xfrm>
            <a:off x="4215383" y="4114800"/>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5.39</a:t>
            </a:r>
          </a:p>
        </p:txBody>
      </p:sp>
      <p:sp>
        <p:nvSpPr>
          <p:cNvPr id="62" name="TextBox 61"/>
          <p:cNvSpPr txBox="1"/>
          <p:nvPr/>
        </p:nvSpPr>
        <p:spPr>
          <a:xfrm>
            <a:off x="5733288" y="4114800"/>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13.83</a:t>
            </a:r>
          </a:p>
        </p:txBody>
      </p:sp>
      <p:sp>
        <p:nvSpPr>
          <p:cNvPr id="63" name="TextBox 62"/>
          <p:cNvSpPr txBox="1"/>
          <p:nvPr/>
        </p:nvSpPr>
        <p:spPr>
          <a:xfrm>
            <a:off x="7251192" y="4114800"/>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5.14</a:t>
            </a:r>
          </a:p>
        </p:txBody>
      </p:sp>
      <p:sp>
        <p:nvSpPr>
          <p:cNvPr id="64" name="TextBox 63"/>
          <p:cNvSpPr txBox="1"/>
          <p:nvPr/>
        </p:nvSpPr>
        <p:spPr>
          <a:xfrm>
            <a:off x="8769096" y="4114800"/>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7.25</a:t>
            </a:r>
          </a:p>
        </p:txBody>
      </p:sp>
      <p:sp>
        <p:nvSpPr>
          <p:cNvPr id="65" name="TextBox 64"/>
          <p:cNvSpPr txBox="1"/>
          <p:nvPr/>
        </p:nvSpPr>
        <p:spPr>
          <a:xfrm>
            <a:off x="10287000" y="4114800"/>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3.92</a:t>
            </a:r>
          </a:p>
        </p:txBody>
      </p:sp>
      <p:sp>
        <p:nvSpPr>
          <p:cNvPr id="66" name="Rectangle 65"/>
          <p:cNvSpPr/>
          <p:nvPr/>
        </p:nvSpPr>
        <p:spPr>
          <a:xfrm>
            <a:off x="566928" y="4425696"/>
            <a:ext cx="11055096" cy="39319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658368" y="4507992"/>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Web attacks</a:t>
            </a:r>
          </a:p>
        </p:txBody>
      </p:sp>
      <p:sp>
        <p:nvSpPr>
          <p:cNvPr id="68" name="TextBox 67"/>
          <p:cNvSpPr txBox="1"/>
          <p:nvPr/>
        </p:nvSpPr>
        <p:spPr>
          <a:xfrm>
            <a:off x="2734056" y="4507992"/>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127</a:t>
            </a:r>
          </a:p>
        </p:txBody>
      </p:sp>
      <p:sp>
        <p:nvSpPr>
          <p:cNvPr id="69" name="TextBox 68"/>
          <p:cNvSpPr txBox="1"/>
          <p:nvPr/>
        </p:nvSpPr>
        <p:spPr>
          <a:xfrm>
            <a:off x="4215383" y="450799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6.02</a:t>
            </a:r>
          </a:p>
        </p:txBody>
      </p:sp>
      <p:sp>
        <p:nvSpPr>
          <p:cNvPr id="70" name="TextBox 69"/>
          <p:cNvSpPr txBox="1"/>
          <p:nvPr/>
        </p:nvSpPr>
        <p:spPr>
          <a:xfrm>
            <a:off x="5733288" y="450799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0.97</a:t>
            </a:r>
          </a:p>
        </p:txBody>
      </p:sp>
      <p:sp>
        <p:nvSpPr>
          <p:cNvPr id="71" name="TextBox 70"/>
          <p:cNvSpPr txBox="1"/>
          <p:nvPr/>
        </p:nvSpPr>
        <p:spPr>
          <a:xfrm>
            <a:off x="7251192" y="450799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0.52</a:t>
            </a:r>
          </a:p>
        </p:txBody>
      </p:sp>
      <p:sp>
        <p:nvSpPr>
          <p:cNvPr id="72" name="TextBox 71"/>
          <p:cNvSpPr txBox="1"/>
          <p:nvPr/>
        </p:nvSpPr>
        <p:spPr>
          <a:xfrm>
            <a:off x="8769096" y="450799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0.64</a:t>
            </a:r>
          </a:p>
        </p:txBody>
      </p:sp>
      <p:sp>
        <p:nvSpPr>
          <p:cNvPr id="73" name="TextBox 72"/>
          <p:cNvSpPr txBox="1"/>
          <p:nvPr/>
        </p:nvSpPr>
        <p:spPr>
          <a:xfrm>
            <a:off x="10287000" y="4507992"/>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0.45</a:t>
            </a:r>
          </a:p>
        </p:txBody>
      </p:sp>
      <p:sp>
        <p:nvSpPr>
          <p:cNvPr id="74" name="TextBox 73"/>
          <p:cNvSpPr txBox="1"/>
          <p:nvPr/>
        </p:nvSpPr>
        <p:spPr>
          <a:xfrm>
            <a:off x="594360" y="6035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각 방법은 동일한 초기·신규 사례 사용 · 전체 n의 precision·recall·F1은 실험 보고서에 수록</a:t>
            </a:r>
          </a:p>
        </p:txBody>
      </p:sp>
      <p:sp>
        <p:nvSpPr>
          <p:cNvPr id="75" name="Rectangle 74"/>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530352" y="6537960"/>
            <a:ext cx="8778240" cy="201168"/>
          </a:xfrm>
          <a:prstGeom prst="rect">
            <a:avLst/>
          </a:prstGeom>
          <a:noFill/>
          <a:effectLst/>
        </p:spPr>
        <p:txBody>
          <a:bodyPr wrap="none" anchor="t" lIns="0" rIns="0" tIns="0" bIns="0">
            <a:noAutofit/>
          </a:bodyPr>
          <a:lstStyle/>
          <a:p/>
        </p:txBody>
      </p:sp>
      <p:sp>
        <p:nvSpPr>
          <p:cNvPr id="77" name="TextBox 76"/>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78" name="TextBox 77"/>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ToN-IoT 클래스별 성능</a:t>
            </a:r>
          </a:p>
        </p:txBody>
      </p:sp>
      <p:sp>
        <p:nvSpPr>
          <p:cNvPr id="3" name="TextBox 2"/>
          <p:cNvSpPr txBox="1"/>
          <p:nvPr/>
        </p:nvSpPr>
        <p:spPr>
          <a:xfrm>
            <a:off x="566928" y="1024128"/>
            <a:ext cx="10972800"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900" b="0" lang="ko-KR">
                <a:solidFill>
                  <a:srgbClr val="617080"/>
                </a:solidFill>
                <a:latin typeface="Pretendard"/>
                <a:ea typeface="Pretendard"/>
                <a:cs typeface="Pretendard"/>
              </a:rPr>
              <a:t>n = 100 · 마지막 모델 전체 test · F1 (%) · 평가 표본 수 내림차순</a:t>
            </a:r>
          </a:p>
        </p:txBody>
      </p:sp>
      <p:sp>
        <p:nvSpPr>
          <p:cNvPr id="4" name="Rectangle 3"/>
          <p:cNvSpPr/>
          <p:nvPr/>
        </p:nvSpPr>
        <p:spPr>
          <a:xfrm>
            <a:off x="566928" y="1618488"/>
            <a:ext cx="2075688"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58368" y="1709928"/>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1" lang="ko-KR">
                <a:solidFill>
                  <a:srgbClr val="FFFFFF"/>
                </a:solidFill>
                <a:latin typeface="Pretendard"/>
                <a:ea typeface="Pretendard"/>
                <a:cs typeface="Pretendard"/>
              </a:rPr>
              <a:t>클래스</a:t>
            </a:r>
          </a:p>
        </p:txBody>
      </p:sp>
      <p:sp>
        <p:nvSpPr>
          <p:cNvPr id="6" name="Rectangle 5"/>
          <p:cNvSpPr/>
          <p:nvPr/>
        </p:nvSpPr>
        <p:spPr>
          <a:xfrm>
            <a:off x="2642616" y="1618488"/>
            <a:ext cx="1481328"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2734056" y="1709928"/>
            <a:ext cx="1298448"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1" lang="ko-KR">
                <a:solidFill>
                  <a:srgbClr val="FFFFFF"/>
                </a:solidFill>
                <a:latin typeface="Pretendard"/>
                <a:ea typeface="Pretendard"/>
                <a:cs typeface="Pretendard"/>
              </a:rPr>
              <a:t>test 수</a:t>
            </a:r>
          </a:p>
        </p:txBody>
      </p:sp>
      <p:sp>
        <p:nvSpPr>
          <p:cNvPr id="8" name="Rectangle 7"/>
          <p:cNvSpPr/>
          <p:nvPr/>
        </p:nvSpPr>
        <p:spPr>
          <a:xfrm>
            <a:off x="4123944" y="1618488"/>
            <a:ext cx="151790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215383" y="170992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XGB</a:t>
            </a:r>
          </a:p>
        </p:txBody>
      </p:sp>
      <p:sp>
        <p:nvSpPr>
          <p:cNvPr id="10" name="Rectangle 9"/>
          <p:cNvSpPr/>
          <p:nvPr/>
        </p:nvSpPr>
        <p:spPr>
          <a:xfrm>
            <a:off x="5641848" y="1618488"/>
            <a:ext cx="151790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733288" y="170992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PFN 누적</a:t>
            </a:r>
          </a:p>
        </p:txBody>
      </p:sp>
      <p:sp>
        <p:nvSpPr>
          <p:cNvPr id="12" name="Rectangle 11"/>
          <p:cNvSpPr/>
          <p:nvPr/>
        </p:nvSpPr>
        <p:spPr>
          <a:xfrm>
            <a:off x="7159752" y="1618488"/>
            <a:ext cx="151790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251192" y="170992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FIFO</a:t>
            </a:r>
          </a:p>
        </p:txBody>
      </p:sp>
      <p:sp>
        <p:nvSpPr>
          <p:cNvPr id="14" name="Rectangle 13"/>
          <p:cNvSpPr/>
          <p:nvPr/>
        </p:nvSpPr>
        <p:spPr>
          <a:xfrm>
            <a:off x="8677656" y="1618488"/>
            <a:ext cx="151790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769096" y="170992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무작위</a:t>
            </a:r>
          </a:p>
        </p:txBody>
      </p:sp>
      <p:sp>
        <p:nvSpPr>
          <p:cNvPr id="16" name="Rectangle 15"/>
          <p:cNvSpPr/>
          <p:nvPr/>
        </p:nvSpPr>
        <p:spPr>
          <a:xfrm>
            <a:off x="10195560" y="1618488"/>
            <a:ext cx="14264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287000" y="1709928"/>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1" lang="ko-KR">
                <a:solidFill>
                  <a:srgbClr val="FFFFFF"/>
                </a:solidFill>
                <a:latin typeface="Pretendard"/>
                <a:ea typeface="Pretendard"/>
                <a:cs typeface="Pretendard"/>
              </a:rPr>
              <a:t>유사도</a:t>
            </a:r>
          </a:p>
        </p:txBody>
      </p:sp>
      <p:sp>
        <p:nvSpPr>
          <p:cNvPr id="18" name="Rectangle 17"/>
          <p:cNvSpPr/>
          <p:nvPr/>
        </p:nvSpPr>
        <p:spPr>
          <a:xfrm>
            <a:off x="566928" y="2066543"/>
            <a:ext cx="11055096" cy="39319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58368" y="2148839"/>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Benign</a:t>
            </a:r>
          </a:p>
        </p:txBody>
      </p:sp>
      <p:sp>
        <p:nvSpPr>
          <p:cNvPr id="20" name="TextBox 19"/>
          <p:cNvSpPr txBox="1"/>
          <p:nvPr/>
        </p:nvSpPr>
        <p:spPr>
          <a:xfrm>
            <a:off x="2734056" y="2148839"/>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1,474,302</a:t>
            </a:r>
          </a:p>
        </p:txBody>
      </p:sp>
      <p:sp>
        <p:nvSpPr>
          <p:cNvPr id="21" name="TextBox 20"/>
          <p:cNvSpPr txBox="1"/>
          <p:nvPr/>
        </p:nvSpPr>
        <p:spPr>
          <a:xfrm>
            <a:off x="4215383" y="2148839"/>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91.37</a:t>
            </a:r>
          </a:p>
        </p:txBody>
      </p:sp>
      <p:sp>
        <p:nvSpPr>
          <p:cNvPr id="22" name="TextBox 21"/>
          <p:cNvSpPr txBox="1"/>
          <p:nvPr/>
        </p:nvSpPr>
        <p:spPr>
          <a:xfrm>
            <a:off x="5733288" y="2148839"/>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90.08</a:t>
            </a:r>
          </a:p>
        </p:txBody>
      </p:sp>
      <p:sp>
        <p:nvSpPr>
          <p:cNvPr id="23" name="TextBox 22"/>
          <p:cNvSpPr txBox="1"/>
          <p:nvPr/>
        </p:nvSpPr>
        <p:spPr>
          <a:xfrm>
            <a:off x="7251192" y="2148839"/>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87.71</a:t>
            </a:r>
          </a:p>
        </p:txBody>
      </p:sp>
      <p:sp>
        <p:nvSpPr>
          <p:cNvPr id="24" name="TextBox 23"/>
          <p:cNvSpPr txBox="1"/>
          <p:nvPr/>
        </p:nvSpPr>
        <p:spPr>
          <a:xfrm>
            <a:off x="8769096" y="2148839"/>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89.61</a:t>
            </a:r>
          </a:p>
        </p:txBody>
      </p:sp>
      <p:sp>
        <p:nvSpPr>
          <p:cNvPr id="25" name="TextBox 24"/>
          <p:cNvSpPr txBox="1"/>
          <p:nvPr/>
        </p:nvSpPr>
        <p:spPr>
          <a:xfrm>
            <a:off x="10287000" y="2148839"/>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66.22</a:t>
            </a:r>
          </a:p>
        </p:txBody>
      </p:sp>
      <p:sp>
        <p:nvSpPr>
          <p:cNvPr id="26" name="Rectangle 25"/>
          <p:cNvSpPr/>
          <p:nvPr/>
        </p:nvSpPr>
        <p:spPr>
          <a:xfrm>
            <a:off x="566928" y="2459736"/>
            <a:ext cx="11055096" cy="3931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8368" y="2542032"/>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XSS</a:t>
            </a:r>
          </a:p>
        </p:txBody>
      </p:sp>
      <p:sp>
        <p:nvSpPr>
          <p:cNvPr id="28" name="TextBox 27"/>
          <p:cNvSpPr txBox="1"/>
          <p:nvPr/>
        </p:nvSpPr>
        <p:spPr>
          <a:xfrm>
            <a:off x="2734056" y="2542032"/>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343,854</a:t>
            </a:r>
          </a:p>
        </p:txBody>
      </p:sp>
      <p:sp>
        <p:nvSpPr>
          <p:cNvPr id="29" name="TextBox 28"/>
          <p:cNvSpPr txBox="1"/>
          <p:nvPr/>
        </p:nvSpPr>
        <p:spPr>
          <a:xfrm>
            <a:off x="4215383" y="254203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82.10</a:t>
            </a:r>
          </a:p>
        </p:txBody>
      </p:sp>
      <p:sp>
        <p:nvSpPr>
          <p:cNvPr id="30" name="TextBox 29"/>
          <p:cNvSpPr txBox="1"/>
          <p:nvPr/>
        </p:nvSpPr>
        <p:spPr>
          <a:xfrm>
            <a:off x="5733288" y="254203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82.39</a:t>
            </a:r>
          </a:p>
        </p:txBody>
      </p:sp>
      <p:sp>
        <p:nvSpPr>
          <p:cNvPr id="31" name="TextBox 30"/>
          <p:cNvSpPr txBox="1"/>
          <p:nvPr/>
        </p:nvSpPr>
        <p:spPr>
          <a:xfrm>
            <a:off x="7251192" y="254203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84.99</a:t>
            </a:r>
          </a:p>
        </p:txBody>
      </p:sp>
      <p:sp>
        <p:nvSpPr>
          <p:cNvPr id="32" name="TextBox 31"/>
          <p:cNvSpPr txBox="1"/>
          <p:nvPr/>
        </p:nvSpPr>
        <p:spPr>
          <a:xfrm>
            <a:off x="8769096" y="254203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83.93</a:t>
            </a:r>
          </a:p>
        </p:txBody>
      </p:sp>
      <p:sp>
        <p:nvSpPr>
          <p:cNvPr id="33" name="TextBox 32"/>
          <p:cNvSpPr txBox="1"/>
          <p:nvPr/>
        </p:nvSpPr>
        <p:spPr>
          <a:xfrm>
            <a:off x="10287000" y="2542032"/>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73.59</a:t>
            </a:r>
          </a:p>
        </p:txBody>
      </p:sp>
      <p:sp>
        <p:nvSpPr>
          <p:cNvPr id="34" name="Rectangle 33"/>
          <p:cNvSpPr/>
          <p:nvPr/>
        </p:nvSpPr>
        <p:spPr>
          <a:xfrm>
            <a:off x="566928" y="2852928"/>
            <a:ext cx="11055096" cy="39319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58368" y="2935224"/>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Password</a:t>
            </a:r>
          </a:p>
        </p:txBody>
      </p:sp>
      <p:sp>
        <p:nvSpPr>
          <p:cNvPr id="36" name="TextBox 35"/>
          <p:cNvSpPr txBox="1"/>
          <p:nvPr/>
        </p:nvSpPr>
        <p:spPr>
          <a:xfrm>
            <a:off x="2734056" y="2935224"/>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210,951</a:t>
            </a:r>
          </a:p>
        </p:txBody>
      </p:sp>
      <p:sp>
        <p:nvSpPr>
          <p:cNvPr id="37" name="TextBox 36"/>
          <p:cNvSpPr txBox="1"/>
          <p:nvPr/>
        </p:nvSpPr>
        <p:spPr>
          <a:xfrm>
            <a:off x="4215383" y="2935224"/>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88.60</a:t>
            </a:r>
          </a:p>
        </p:txBody>
      </p:sp>
      <p:sp>
        <p:nvSpPr>
          <p:cNvPr id="38" name="TextBox 37"/>
          <p:cNvSpPr txBox="1"/>
          <p:nvPr/>
        </p:nvSpPr>
        <p:spPr>
          <a:xfrm>
            <a:off x="5733288" y="2935224"/>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88.31</a:t>
            </a:r>
          </a:p>
        </p:txBody>
      </p:sp>
      <p:sp>
        <p:nvSpPr>
          <p:cNvPr id="39" name="TextBox 38"/>
          <p:cNvSpPr txBox="1"/>
          <p:nvPr/>
        </p:nvSpPr>
        <p:spPr>
          <a:xfrm>
            <a:off x="7251192" y="2935224"/>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89.03</a:t>
            </a:r>
          </a:p>
        </p:txBody>
      </p:sp>
      <p:sp>
        <p:nvSpPr>
          <p:cNvPr id="40" name="TextBox 39"/>
          <p:cNvSpPr txBox="1"/>
          <p:nvPr/>
        </p:nvSpPr>
        <p:spPr>
          <a:xfrm>
            <a:off x="8769096" y="2935224"/>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88.18</a:t>
            </a:r>
          </a:p>
        </p:txBody>
      </p:sp>
      <p:sp>
        <p:nvSpPr>
          <p:cNvPr id="41" name="TextBox 40"/>
          <p:cNvSpPr txBox="1"/>
          <p:nvPr/>
        </p:nvSpPr>
        <p:spPr>
          <a:xfrm>
            <a:off x="10287000" y="2935224"/>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73.88</a:t>
            </a:r>
          </a:p>
        </p:txBody>
      </p:sp>
      <p:sp>
        <p:nvSpPr>
          <p:cNvPr id="42" name="Rectangle 41"/>
          <p:cNvSpPr/>
          <p:nvPr/>
        </p:nvSpPr>
        <p:spPr>
          <a:xfrm>
            <a:off x="566928" y="3246120"/>
            <a:ext cx="11055096" cy="3931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658368" y="3328416"/>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DDoS</a:t>
            </a:r>
          </a:p>
        </p:txBody>
      </p:sp>
      <p:sp>
        <p:nvSpPr>
          <p:cNvPr id="44" name="TextBox 43"/>
          <p:cNvSpPr txBox="1"/>
          <p:nvPr/>
        </p:nvSpPr>
        <p:spPr>
          <a:xfrm>
            <a:off x="2734056" y="3328416"/>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103,338</a:t>
            </a:r>
          </a:p>
        </p:txBody>
      </p:sp>
      <p:sp>
        <p:nvSpPr>
          <p:cNvPr id="45" name="TextBox 44"/>
          <p:cNvSpPr txBox="1"/>
          <p:nvPr/>
        </p:nvSpPr>
        <p:spPr>
          <a:xfrm>
            <a:off x="4215383" y="3328416"/>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94.14</a:t>
            </a:r>
          </a:p>
        </p:txBody>
      </p:sp>
      <p:sp>
        <p:nvSpPr>
          <p:cNvPr id="46" name="TextBox 45"/>
          <p:cNvSpPr txBox="1"/>
          <p:nvPr/>
        </p:nvSpPr>
        <p:spPr>
          <a:xfrm>
            <a:off x="5733288" y="3328416"/>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95.01</a:t>
            </a:r>
          </a:p>
        </p:txBody>
      </p:sp>
      <p:sp>
        <p:nvSpPr>
          <p:cNvPr id="47" name="TextBox 46"/>
          <p:cNvSpPr txBox="1"/>
          <p:nvPr/>
        </p:nvSpPr>
        <p:spPr>
          <a:xfrm>
            <a:off x="7251192" y="3328416"/>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94.47</a:t>
            </a:r>
          </a:p>
        </p:txBody>
      </p:sp>
      <p:sp>
        <p:nvSpPr>
          <p:cNvPr id="48" name="TextBox 47"/>
          <p:cNvSpPr txBox="1"/>
          <p:nvPr/>
        </p:nvSpPr>
        <p:spPr>
          <a:xfrm>
            <a:off x="8769096" y="3328416"/>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94.21</a:t>
            </a:r>
          </a:p>
        </p:txBody>
      </p:sp>
      <p:sp>
        <p:nvSpPr>
          <p:cNvPr id="49" name="TextBox 48"/>
          <p:cNvSpPr txBox="1"/>
          <p:nvPr/>
        </p:nvSpPr>
        <p:spPr>
          <a:xfrm>
            <a:off x="10287000" y="3328416"/>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37.97</a:t>
            </a:r>
          </a:p>
        </p:txBody>
      </p:sp>
      <p:sp>
        <p:nvSpPr>
          <p:cNvPr id="50" name="Rectangle 49"/>
          <p:cNvSpPr/>
          <p:nvPr/>
        </p:nvSpPr>
        <p:spPr>
          <a:xfrm>
            <a:off x="566928" y="3639312"/>
            <a:ext cx="11055096" cy="39319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658368" y="3721608"/>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Injection</a:t>
            </a:r>
          </a:p>
        </p:txBody>
      </p:sp>
      <p:sp>
        <p:nvSpPr>
          <p:cNvPr id="52" name="TextBox 51"/>
          <p:cNvSpPr txBox="1"/>
          <p:nvPr/>
        </p:nvSpPr>
        <p:spPr>
          <a:xfrm>
            <a:off x="2734056" y="3721608"/>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68,891</a:t>
            </a:r>
          </a:p>
        </p:txBody>
      </p:sp>
      <p:sp>
        <p:nvSpPr>
          <p:cNvPr id="53" name="TextBox 52"/>
          <p:cNvSpPr txBox="1"/>
          <p:nvPr/>
        </p:nvSpPr>
        <p:spPr>
          <a:xfrm>
            <a:off x="4215383" y="372160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80.53</a:t>
            </a:r>
          </a:p>
        </p:txBody>
      </p:sp>
      <p:sp>
        <p:nvSpPr>
          <p:cNvPr id="54" name="TextBox 53"/>
          <p:cNvSpPr txBox="1"/>
          <p:nvPr/>
        </p:nvSpPr>
        <p:spPr>
          <a:xfrm>
            <a:off x="5733288" y="372160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80.71</a:t>
            </a:r>
          </a:p>
        </p:txBody>
      </p:sp>
      <p:sp>
        <p:nvSpPr>
          <p:cNvPr id="55" name="TextBox 54"/>
          <p:cNvSpPr txBox="1"/>
          <p:nvPr/>
        </p:nvSpPr>
        <p:spPr>
          <a:xfrm>
            <a:off x="7251192" y="372160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78.45</a:t>
            </a:r>
          </a:p>
        </p:txBody>
      </p:sp>
      <p:sp>
        <p:nvSpPr>
          <p:cNvPr id="56" name="TextBox 55"/>
          <p:cNvSpPr txBox="1"/>
          <p:nvPr/>
        </p:nvSpPr>
        <p:spPr>
          <a:xfrm>
            <a:off x="8769096" y="3721608"/>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80.98</a:t>
            </a:r>
          </a:p>
        </p:txBody>
      </p:sp>
      <p:sp>
        <p:nvSpPr>
          <p:cNvPr id="57" name="TextBox 56"/>
          <p:cNvSpPr txBox="1"/>
          <p:nvPr/>
        </p:nvSpPr>
        <p:spPr>
          <a:xfrm>
            <a:off x="10287000" y="3721608"/>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52.11</a:t>
            </a:r>
          </a:p>
        </p:txBody>
      </p:sp>
      <p:sp>
        <p:nvSpPr>
          <p:cNvPr id="58" name="Rectangle 57"/>
          <p:cNvSpPr/>
          <p:nvPr/>
        </p:nvSpPr>
        <p:spPr>
          <a:xfrm>
            <a:off x="566928" y="4032504"/>
            <a:ext cx="11055096" cy="3931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658368" y="4114800"/>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Backdoor</a:t>
            </a:r>
          </a:p>
        </p:txBody>
      </p:sp>
      <p:sp>
        <p:nvSpPr>
          <p:cNvPr id="60" name="TextBox 59"/>
          <p:cNvSpPr txBox="1"/>
          <p:nvPr/>
        </p:nvSpPr>
        <p:spPr>
          <a:xfrm>
            <a:off x="2734056" y="4114800"/>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40,030</a:t>
            </a:r>
          </a:p>
        </p:txBody>
      </p:sp>
      <p:sp>
        <p:nvSpPr>
          <p:cNvPr id="61" name="TextBox 60"/>
          <p:cNvSpPr txBox="1"/>
          <p:nvPr/>
        </p:nvSpPr>
        <p:spPr>
          <a:xfrm>
            <a:off x="4215383" y="4114800"/>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98.87</a:t>
            </a:r>
          </a:p>
        </p:txBody>
      </p:sp>
      <p:sp>
        <p:nvSpPr>
          <p:cNvPr id="62" name="TextBox 61"/>
          <p:cNvSpPr txBox="1"/>
          <p:nvPr/>
        </p:nvSpPr>
        <p:spPr>
          <a:xfrm>
            <a:off x="5733288" y="4114800"/>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99.80</a:t>
            </a:r>
          </a:p>
        </p:txBody>
      </p:sp>
      <p:sp>
        <p:nvSpPr>
          <p:cNvPr id="63" name="TextBox 62"/>
          <p:cNvSpPr txBox="1"/>
          <p:nvPr/>
        </p:nvSpPr>
        <p:spPr>
          <a:xfrm>
            <a:off x="7251192" y="4114800"/>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98.79</a:t>
            </a:r>
          </a:p>
        </p:txBody>
      </p:sp>
      <p:sp>
        <p:nvSpPr>
          <p:cNvPr id="64" name="TextBox 63"/>
          <p:cNvSpPr txBox="1"/>
          <p:nvPr/>
        </p:nvSpPr>
        <p:spPr>
          <a:xfrm>
            <a:off x="8769096" y="4114800"/>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99.77</a:t>
            </a:r>
          </a:p>
        </p:txBody>
      </p:sp>
      <p:sp>
        <p:nvSpPr>
          <p:cNvPr id="65" name="TextBox 64"/>
          <p:cNvSpPr txBox="1"/>
          <p:nvPr/>
        </p:nvSpPr>
        <p:spPr>
          <a:xfrm>
            <a:off x="10287000" y="4114800"/>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97.40</a:t>
            </a:r>
          </a:p>
        </p:txBody>
      </p:sp>
      <p:sp>
        <p:nvSpPr>
          <p:cNvPr id="66" name="Rectangle 65"/>
          <p:cNvSpPr/>
          <p:nvPr/>
        </p:nvSpPr>
        <p:spPr>
          <a:xfrm>
            <a:off x="566928" y="4425696"/>
            <a:ext cx="11055096" cy="39319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658368" y="4507992"/>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DoS</a:t>
            </a:r>
          </a:p>
        </p:txBody>
      </p:sp>
      <p:sp>
        <p:nvSpPr>
          <p:cNvPr id="68" name="TextBox 67"/>
          <p:cNvSpPr txBox="1"/>
          <p:nvPr/>
        </p:nvSpPr>
        <p:spPr>
          <a:xfrm>
            <a:off x="2734056" y="4507992"/>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22,458</a:t>
            </a:r>
          </a:p>
        </p:txBody>
      </p:sp>
      <p:sp>
        <p:nvSpPr>
          <p:cNvPr id="69" name="TextBox 68"/>
          <p:cNvSpPr txBox="1"/>
          <p:nvPr/>
        </p:nvSpPr>
        <p:spPr>
          <a:xfrm>
            <a:off x="4215383" y="450799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60.20</a:t>
            </a:r>
          </a:p>
        </p:txBody>
      </p:sp>
      <p:sp>
        <p:nvSpPr>
          <p:cNvPr id="70" name="TextBox 69"/>
          <p:cNvSpPr txBox="1"/>
          <p:nvPr/>
        </p:nvSpPr>
        <p:spPr>
          <a:xfrm>
            <a:off x="5733288" y="450799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67.02</a:t>
            </a:r>
          </a:p>
        </p:txBody>
      </p:sp>
      <p:sp>
        <p:nvSpPr>
          <p:cNvPr id="71" name="TextBox 70"/>
          <p:cNvSpPr txBox="1"/>
          <p:nvPr/>
        </p:nvSpPr>
        <p:spPr>
          <a:xfrm>
            <a:off x="7251192" y="450799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94.65</a:t>
            </a:r>
          </a:p>
        </p:txBody>
      </p:sp>
      <p:sp>
        <p:nvSpPr>
          <p:cNvPr id="72" name="TextBox 71"/>
          <p:cNvSpPr txBox="1"/>
          <p:nvPr/>
        </p:nvSpPr>
        <p:spPr>
          <a:xfrm>
            <a:off x="8769096" y="4507992"/>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78.94</a:t>
            </a:r>
          </a:p>
        </p:txBody>
      </p:sp>
      <p:sp>
        <p:nvSpPr>
          <p:cNvPr id="73" name="TextBox 72"/>
          <p:cNvSpPr txBox="1"/>
          <p:nvPr/>
        </p:nvSpPr>
        <p:spPr>
          <a:xfrm>
            <a:off x="10287000" y="4507992"/>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89.97</a:t>
            </a:r>
          </a:p>
        </p:txBody>
      </p:sp>
      <p:sp>
        <p:nvSpPr>
          <p:cNvPr id="74" name="Rectangle 73"/>
          <p:cNvSpPr/>
          <p:nvPr/>
        </p:nvSpPr>
        <p:spPr>
          <a:xfrm>
            <a:off x="566928" y="4818888"/>
            <a:ext cx="11055096" cy="3931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658368" y="4901183"/>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Scanning</a:t>
            </a:r>
          </a:p>
        </p:txBody>
      </p:sp>
      <p:sp>
        <p:nvSpPr>
          <p:cNvPr id="76" name="TextBox 75"/>
          <p:cNvSpPr txBox="1"/>
          <p:nvPr/>
        </p:nvSpPr>
        <p:spPr>
          <a:xfrm>
            <a:off x="2734056" y="4901183"/>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6,029</a:t>
            </a:r>
          </a:p>
        </p:txBody>
      </p:sp>
      <p:sp>
        <p:nvSpPr>
          <p:cNvPr id="77" name="TextBox 76"/>
          <p:cNvSpPr txBox="1"/>
          <p:nvPr/>
        </p:nvSpPr>
        <p:spPr>
          <a:xfrm>
            <a:off x="4215383" y="4901183"/>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20.57</a:t>
            </a:r>
          </a:p>
        </p:txBody>
      </p:sp>
      <p:sp>
        <p:nvSpPr>
          <p:cNvPr id="78" name="TextBox 77"/>
          <p:cNvSpPr txBox="1"/>
          <p:nvPr/>
        </p:nvSpPr>
        <p:spPr>
          <a:xfrm>
            <a:off x="5733288" y="4901183"/>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57.37</a:t>
            </a:r>
          </a:p>
        </p:txBody>
      </p:sp>
      <p:sp>
        <p:nvSpPr>
          <p:cNvPr id="79" name="TextBox 78"/>
          <p:cNvSpPr txBox="1"/>
          <p:nvPr/>
        </p:nvSpPr>
        <p:spPr>
          <a:xfrm>
            <a:off x="7251192" y="4901183"/>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79.68</a:t>
            </a:r>
          </a:p>
        </p:txBody>
      </p:sp>
      <p:sp>
        <p:nvSpPr>
          <p:cNvPr id="80" name="TextBox 79"/>
          <p:cNvSpPr txBox="1"/>
          <p:nvPr/>
        </p:nvSpPr>
        <p:spPr>
          <a:xfrm>
            <a:off x="8769096" y="4901183"/>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41.78</a:t>
            </a:r>
          </a:p>
        </p:txBody>
      </p:sp>
      <p:sp>
        <p:nvSpPr>
          <p:cNvPr id="81" name="TextBox 80"/>
          <p:cNvSpPr txBox="1"/>
          <p:nvPr/>
        </p:nvSpPr>
        <p:spPr>
          <a:xfrm>
            <a:off x="10287000" y="4901183"/>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32.51</a:t>
            </a:r>
          </a:p>
        </p:txBody>
      </p:sp>
      <p:sp>
        <p:nvSpPr>
          <p:cNvPr id="82" name="Rectangle 81"/>
          <p:cNvSpPr/>
          <p:nvPr/>
        </p:nvSpPr>
        <p:spPr>
          <a:xfrm>
            <a:off x="566928" y="5212079"/>
            <a:ext cx="11055096" cy="39319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658368" y="5294375"/>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MITM</a:t>
            </a:r>
          </a:p>
        </p:txBody>
      </p:sp>
      <p:sp>
        <p:nvSpPr>
          <p:cNvPr id="84" name="TextBox 83"/>
          <p:cNvSpPr txBox="1"/>
          <p:nvPr/>
        </p:nvSpPr>
        <p:spPr>
          <a:xfrm>
            <a:off x="2734056" y="5294375"/>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1,161</a:t>
            </a:r>
          </a:p>
        </p:txBody>
      </p:sp>
      <p:sp>
        <p:nvSpPr>
          <p:cNvPr id="85" name="TextBox 84"/>
          <p:cNvSpPr txBox="1"/>
          <p:nvPr/>
        </p:nvSpPr>
        <p:spPr>
          <a:xfrm>
            <a:off x="4215383" y="5294375"/>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2.86</a:t>
            </a:r>
          </a:p>
        </p:txBody>
      </p:sp>
      <p:sp>
        <p:nvSpPr>
          <p:cNvPr id="86" name="TextBox 85"/>
          <p:cNvSpPr txBox="1"/>
          <p:nvPr/>
        </p:nvSpPr>
        <p:spPr>
          <a:xfrm>
            <a:off x="5733288" y="5294375"/>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2.72</a:t>
            </a:r>
          </a:p>
        </p:txBody>
      </p:sp>
      <p:sp>
        <p:nvSpPr>
          <p:cNvPr id="87" name="TextBox 86"/>
          <p:cNvSpPr txBox="1"/>
          <p:nvPr/>
        </p:nvSpPr>
        <p:spPr>
          <a:xfrm>
            <a:off x="7251192" y="5294375"/>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1.87</a:t>
            </a:r>
          </a:p>
        </p:txBody>
      </p:sp>
      <p:sp>
        <p:nvSpPr>
          <p:cNvPr id="88" name="TextBox 87"/>
          <p:cNvSpPr txBox="1"/>
          <p:nvPr/>
        </p:nvSpPr>
        <p:spPr>
          <a:xfrm>
            <a:off x="8769096" y="5294375"/>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2.59</a:t>
            </a:r>
          </a:p>
        </p:txBody>
      </p:sp>
      <p:sp>
        <p:nvSpPr>
          <p:cNvPr id="89" name="TextBox 88"/>
          <p:cNvSpPr txBox="1"/>
          <p:nvPr/>
        </p:nvSpPr>
        <p:spPr>
          <a:xfrm>
            <a:off x="10287000" y="5294375"/>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0.45</a:t>
            </a:r>
          </a:p>
        </p:txBody>
      </p:sp>
      <p:sp>
        <p:nvSpPr>
          <p:cNvPr id="90" name="Rectangle 89"/>
          <p:cNvSpPr/>
          <p:nvPr/>
        </p:nvSpPr>
        <p:spPr>
          <a:xfrm>
            <a:off x="566928" y="5605271"/>
            <a:ext cx="11055096" cy="3931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658368" y="5687567"/>
            <a:ext cx="1892807"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Ransomware</a:t>
            </a:r>
          </a:p>
        </p:txBody>
      </p:sp>
      <p:sp>
        <p:nvSpPr>
          <p:cNvPr id="92" name="TextBox 91"/>
          <p:cNvSpPr txBox="1"/>
          <p:nvPr/>
        </p:nvSpPr>
        <p:spPr>
          <a:xfrm>
            <a:off x="2734056" y="5687567"/>
            <a:ext cx="129844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709</a:t>
            </a:r>
          </a:p>
        </p:txBody>
      </p:sp>
      <p:sp>
        <p:nvSpPr>
          <p:cNvPr id="93" name="TextBox 92"/>
          <p:cNvSpPr txBox="1"/>
          <p:nvPr/>
        </p:nvSpPr>
        <p:spPr>
          <a:xfrm>
            <a:off x="4215383" y="5687567"/>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11.92</a:t>
            </a:r>
          </a:p>
        </p:txBody>
      </p:sp>
      <p:sp>
        <p:nvSpPr>
          <p:cNvPr id="94" name="TextBox 93"/>
          <p:cNvSpPr txBox="1"/>
          <p:nvPr/>
        </p:nvSpPr>
        <p:spPr>
          <a:xfrm>
            <a:off x="5733288" y="5687567"/>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2.68</a:t>
            </a:r>
          </a:p>
        </p:txBody>
      </p:sp>
      <p:sp>
        <p:nvSpPr>
          <p:cNvPr id="95" name="TextBox 94"/>
          <p:cNvSpPr txBox="1"/>
          <p:nvPr/>
        </p:nvSpPr>
        <p:spPr>
          <a:xfrm>
            <a:off x="7251192" y="5687567"/>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2.26</a:t>
            </a:r>
          </a:p>
        </p:txBody>
      </p:sp>
      <p:sp>
        <p:nvSpPr>
          <p:cNvPr id="96" name="TextBox 95"/>
          <p:cNvSpPr txBox="1"/>
          <p:nvPr/>
        </p:nvSpPr>
        <p:spPr>
          <a:xfrm>
            <a:off x="8769096" y="5687567"/>
            <a:ext cx="133502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2.57</a:t>
            </a:r>
          </a:p>
        </p:txBody>
      </p:sp>
      <p:sp>
        <p:nvSpPr>
          <p:cNvPr id="97" name="TextBox 96"/>
          <p:cNvSpPr txBox="1"/>
          <p:nvPr/>
        </p:nvSpPr>
        <p:spPr>
          <a:xfrm>
            <a:off x="10287000" y="5687567"/>
            <a:ext cx="12435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700" b="0" lang="ko-KR">
                <a:solidFill>
                  <a:srgbClr val="20262E"/>
                </a:solidFill>
                <a:latin typeface="Pretendard"/>
                <a:ea typeface="Pretendard"/>
                <a:cs typeface="Pretendard"/>
              </a:rPr>
              <a:t>0.89</a:t>
            </a:r>
          </a:p>
        </p:txBody>
      </p:sp>
      <p:sp>
        <p:nvSpPr>
          <p:cNvPr id="98" name="TextBox 97"/>
          <p:cNvSpPr txBox="1"/>
          <p:nvPr/>
        </p:nvSpPr>
        <p:spPr>
          <a:xfrm>
            <a:off x="594360" y="6035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각 방법은 동일한 초기·신규 사례 사용 · 전체 n의 precision·recall·F1은 실험 보고서에 수록</a:t>
            </a:r>
          </a:p>
        </p:txBody>
      </p:sp>
      <p:sp>
        <p:nvSpPr>
          <p:cNvPr id="99" name="Rectangle 98"/>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TextBox 99"/>
          <p:cNvSpPr txBox="1"/>
          <p:nvPr/>
        </p:nvSpPr>
        <p:spPr>
          <a:xfrm>
            <a:off x="530352" y="6537960"/>
            <a:ext cx="8778240" cy="201168"/>
          </a:xfrm>
          <a:prstGeom prst="rect">
            <a:avLst/>
          </a:prstGeom>
          <a:noFill/>
          <a:effectLst/>
        </p:spPr>
        <p:txBody>
          <a:bodyPr wrap="none" anchor="t" lIns="0" rIns="0" tIns="0" bIns="0">
            <a:noAutofit/>
          </a:bodyPr>
          <a:lstStyle/>
          <a:p/>
        </p:txBody>
      </p:sp>
      <p:sp>
        <p:nvSpPr>
          <p:cNvPr id="101" name="TextBox 100"/>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02" name="TextBox 101"/>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TabPFN v3의 기록 표현</a:t>
            </a:r>
          </a:p>
        </p:txBody>
      </p:sp>
      <p:pic>
        <p:nvPicPr>
          <p:cNvPr id="3" name="Picture 2" descr="v3_architecture_page.png"/>
          <p:cNvPicPr>
            <a:picLocks noChangeAspect="1"/>
          </p:cNvPicPr>
          <p:nvPr/>
        </p:nvPicPr>
        <p:blipFill>
          <a:blip r:embed="rId3"/>
          <a:srcRect l="20000" t="8200" r="19000" b="28500"/>
          <a:stretch>
            <a:fillRect/>
          </a:stretch>
        </p:blipFill>
        <p:spPr>
          <a:xfrm>
            <a:off x="566928" y="996696"/>
            <a:ext cx="3611880" cy="5376672"/>
          </a:xfrm>
          <a:prstGeom prst="rect">
            <a:avLst/>
          </a:prstGeom>
          <a:effectLst/>
        </p:spPr>
      </p:pic>
      <p:sp>
        <p:nvSpPr>
          <p:cNvPr id="4" name="TextBox 3"/>
          <p:cNvSpPr txBox="1"/>
          <p:nvPr/>
        </p:nvSpPr>
        <p:spPr>
          <a:xfrm>
            <a:off x="4553712" y="1271016"/>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1  입력값 표현</a:t>
            </a:r>
          </a:p>
        </p:txBody>
      </p:sp>
      <p:sp>
        <p:nvSpPr>
          <p:cNvPr id="5" name="TextBox 4"/>
          <p:cNvSpPr txBox="1"/>
          <p:nvPr/>
        </p:nvSpPr>
        <p:spPr>
          <a:xfrm>
            <a:off x="4800600" y="1883664"/>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통신 기록의 각 값을 벡터로 변환</a:t>
            </a:r>
          </a:p>
          <a:p>
            <a:pPr algn="l">
              <a:lnSpc>
                <a:spcPct val="116000"/>
              </a:lnSpc>
              <a:spcBef>
                <a:spcPts val="0"/>
              </a:spcBef>
              <a:spcAft>
                <a:spcPts val="0"/>
              </a:spcAft>
            </a:pPr>
            <a:r>
              <a:rPr sz="2100" b="0" lang="ko-KR">
                <a:solidFill>
                  <a:srgbClr val="20262E"/>
                </a:solidFill>
                <a:latin typeface="Pretendard"/>
                <a:ea typeface="Pretendard"/>
                <a:cs typeface="Pretendard"/>
              </a:rPr>
              <a:t>결측 표시와 context 라벨 정보 반영</a:t>
            </a:r>
          </a:p>
        </p:txBody>
      </p:sp>
      <p:sp>
        <p:nvSpPr>
          <p:cNvPr id="6" name="TextBox 5"/>
          <p:cNvSpPr txBox="1"/>
          <p:nvPr/>
        </p:nvSpPr>
        <p:spPr>
          <a:xfrm>
            <a:off x="4553712" y="2843784"/>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2  열의 분포 요약</a:t>
            </a:r>
          </a:p>
        </p:txBody>
      </p:sp>
      <p:sp>
        <p:nvSpPr>
          <p:cNvPr id="7" name="TextBox 6"/>
          <p:cNvSpPr txBox="1"/>
          <p:nvPr/>
        </p:nvSpPr>
        <p:spPr>
          <a:xfrm>
            <a:off x="4800600" y="3456432"/>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여러 기록에서 같은 특징을 살펴</a:t>
            </a:r>
          </a:p>
          <a:p>
            <a:pPr algn="l">
              <a:lnSpc>
                <a:spcPct val="116000"/>
              </a:lnSpc>
              <a:spcBef>
                <a:spcPts val="0"/>
              </a:spcBef>
              <a:spcAft>
                <a:spcPts val="0"/>
              </a:spcAft>
            </a:pPr>
            <a:r>
              <a:rPr sz="2100" b="0" lang="ko-KR">
                <a:solidFill>
                  <a:srgbClr val="20262E"/>
                </a:solidFill>
                <a:latin typeface="Pretendard"/>
                <a:ea typeface="Pretendard"/>
                <a:cs typeface="Pretendard"/>
              </a:rPr>
              <a:t>그 특징의 분포를 표현</a:t>
            </a:r>
          </a:p>
        </p:txBody>
      </p:sp>
      <p:sp>
        <p:nvSpPr>
          <p:cNvPr id="8" name="TextBox 7"/>
          <p:cNvSpPr txBox="1"/>
          <p:nvPr/>
        </p:nvSpPr>
        <p:spPr>
          <a:xfrm>
            <a:off x="4553712" y="4416552"/>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3  한 기록의 특징 통합</a:t>
            </a:r>
          </a:p>
        </p:txBody>
      </p:sp>
      <p:sp>
        <p:nvSpPr>
          <p:cNvPr id="9" name="TextBox 8"/>
          <p:cNvSpPr txBox="1"/>
          <p:nvPr/>
        </p:nvSpPr>
        <p:spPr>
          <a:xfrm>
            <a:off x="4800600" y="5029200"/>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여러 열을 행 단위 표현으로 압축</a:t>
            </a:r>
          </a:p>
          <a:p>
            <a:pPr algn="l">
              <a:lnSpc>
                <a:spcPct val="116000"/>
              </a:lnSpc>
              <a:spcBef>
                <a:spcPts val="0"/>
              </a:spcBef>
              <a:spcAft>
                <a:spcPts val="0"/>
              </a:spcAft>
            </a:pPr>
            <a:r>
              <a:rPr sz="2100" b="0" lang="ko-KR">
                <a:solidFill>
                  <a:srgbClr val="20262E"/>
                </a:solidFill>
                <a:latin typeface="Pretendard"/>
                <a:ea typeface="Pretendard"/>
                <a:cs typeface="Pretendard"/>
              </a:rPr>
              <a:t>다음 단계에서 사례끼리 비교</a:t>
            </a:r>
          </a:p>
        </p:txBody>
      </p:sp>
      <p:sp>
        <p:nvSpPr>
          <p:cNvPr id="10" name="Rectangle 9"/>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30352" y="6537960"/>
            <a:ext cx="8778240" cy="201168"/>
          </a:xfrm>
          <a:prstGeom prst="rect">
            <a:avLst/>
          </a:prstGeom>
          <a:noFill/>
          <a:effectLst/>
        </p:spPr>
        <p:txBody>
          <a:bodyPr wrap="none" anchor="t" lIns="0" rIns="0" tIns="0" bIns="0">
            <a:noAutofit/>
          </a:bodyPr>
          <a:lstStyle/>
          <a:p/>
        </p:txBody>
      </p:sp>
      <p:sp>
        <p:nvSpPr>
          <p:cNvPr id="12" name="TextBox 11"/>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3" name="TextBox 12"/>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TabPFN v3의 추론과 fine-tuning</a:t>
            </a:r>
          </a:p>
        </p:txBody>
      </p:sp>
      <p:pic>
        <p:nvPicPr>
          <p:cNvPr id="3" name="Picture 2" descr="v3_architecture_page.png"/>
          <p:cNvPicPr>
            <a:picLocks noChangeAspect="1"/>
          </p:cNvPicPr>
          <p:nvPr/>
        </p:nvPicPr>
        <p:blipFill>
          <a:blip r:embed="rId3"/>
          <a:srcRect l="20000" t="8200" r="19000" b="28500"/>
          <a:stretch>
            <a:fillRect/>
          </a:stretch>
        </p:blipFill>
        <p:spPr>
          <a:xfrm>
            <a:off x="566928" y="996696"/>
            <a:ext cx="3611880" cy="5376672"/>
          </a:xfrm>
          <a:prstGeom prst="rect">
            <a:avLst/>
          </a:prstGeom>
          <a:effectLst/>
        </p:spPr>
      </p:pic>
      <p:sp>
        <p:nvSpPr>
          <p:cNvPr id="4" name="TextBox 3"/>
          <p:cNvSpPr txBox="1"/>
          <p:nvPr/>
        </p:nvSpPr>
        <p:spPr>
          <a:xfrm>
            <a:off x="4553712" y="1280160"/>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4  Context를 참조한 예측</a:t>
            </a:r>
          </a:p>
        </p:txBody>
      </p:sp>
      <p:sp>
        <p:nvSpPr>
          <p:cNvPr id="5" name="TextBox 4"/>
          <p:cNvSpPr txBox="1"/>
          <p:nvPr/>
        </p:nvSpPr>
        <p:spPr>
          <a:xfrm>
            <a:off x="4800600" y="1856231"/>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query가 라벨이 있는 기록을 참조</a:t>
            </a:r>
          </a:p>
          <a:p>
            <a:pPr algn="l">
              <a:lnSpc>
                <a:spcPct val="116000"/>
              </a:lnSpc>
              <a:spcBef>
                <a:spcPts val="0"/>
              </a:spcBef>
              <a:spcAft>
                <a:spcPts val="0"/>
              </a:spcAft>
            </a:pPr>
            <a:r>
              <a:rPr sz="2100" b="0" lang="ko-KR">
                <a:solidFill>
                  <a:srgbClr val="20262E"/>
                </a:solidFill>
                <a:latin typeface="Pretendard"/>
                <a:ea typeface="Pretendard"/>
                <a:cs typeface="Pretendard"/>
              </a:rPr>
              <a:t>attention으로 참고 비중 계산</a:t>
            </a:r>
          </a:p>
        </p:txBody>
      </p:sp>
      <p:sp>
        <p:nvSpPr>
          <p:cNvPr id="6" name="TextBox 5"/>
          <p:cNvSpPr txBox="1"/>
          <p:nvPr/>
        </p:nvSpPr>
        <p:spPr>
          <a:xfrm>
            <a:off x="4553712" y="2852928"/>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5  라벨을 이용한 확률 출력</a:t>
            </a:r>
          </a:p>
        </p:txBody>
      </p:sp>
      <p:sp>
        <p:nvSpPr>
          <p:cNvPr id="7" name="TextBox 6"/>
          <p:cNvSpPr txBox="1"/>
          <p:nvPr/>
        </p:nvSpPr>
        <p:spPr>
          <a:xfrm>
            <a:off x="4800600" y="3429000"/>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context 라벨을 가중합하는 decoder</a:t>
            </a:r>
          </a:p>
          <a:p>
            <a:pPr algn="l">
              <a:lnSpc>
                <a:spcPct val="116000"/>
              </a:lnSpc>
              <a:spcBef>
                <a:spcPts val="0"/>
              </a:spcBef>
              <a:spcAft>
                <a:spcPts val="0"/>
              </a:spcAft>
            </a:pPr>
            <a:r>
              <a:rPr sz="2100" b="0" lang="ko-KR">
                <a:solidFill>
                  <a:srgbClr val="20262E"/>
                </a:solidFill>
                <a:latin typeface="Pretendard"/>
                <a:ea typeface="Pretendard"/>
                <a:cs typeface="Pretendard"/>
              </a:rPr>
              <a:t>기존·신규 클래스 사례 모두 필요</a:t>
            </a:r>
          </a:p>
        </p:txBody>
      </p:sp>
      <p:sp>
        <p:nvSpPr>
          <p:cNvPr id="8" name="Rectangle 7"/>
          <p:cNvSpPr/>
          <p:nvPr/>
        </p:nvSpPr>
        <p:spPr>
          <a:xfrm>
            <a:off x="4553712" y="4663440"/>
            <a:ext cx="7059168" cy="1435608"/>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0" y="4837176"/>
            <a:ext cx="6629400"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별도의 가중치 fine-tuning</a:t>
            </a:r>
          </a:p>
        </p:txBody>
      </p:sp>
      <p:sp>
        <p:nvSpPr>
          <p:cNvPr id="10" name="TextBox 9"/>
          <p:cNvSpPr txBox="1"/>
          <p:nvPr/>
        </p:nvSpPr>
        <p:spPr>
          <a:xfrm>
            <a:off x="4754880" y="5358384"/>
            <a:ext cx="6629400" cy="594360"/>
          </a:xfrm>
          <a:prstGeom prst="rect">
            <a:avLst/>
          </a:prstGeom>
          <a:noFill/>
          <a:effectLst/>
        </p:spPr>
        <p:txBody>
          <a:bodyPr wrap="none" anchor="t" lIns="0" rIns="0" tIns="0" bIns="0">
            <a:noAutofit/>
          </a:bodyPr>
          <a:lstStyle/>
          <a:p>
            <a:pPr algn="l">
              <a:lnSpc>
                <a:spcPct val="116000"/>
              </a:lnSpc>
              <a:spcBef>
                <a:spcPts val="0"/>
              </a:spcBef>
              <a:spcAft>
                <a:spcPts val="0"/>
              </a:spcAft>
            </a:pPr>
            <a:r>
              <a:rPr sz="1900" b="0" lang="ko-KR">
                <a:solidFill>
                  <a:srgbClr val="20262E"/>
                </a:solidFill>
                <a:latin typeface="Pretendard"/>
                <a:ea typeface="Pretendard"/>
                <a:cs typeface="Pretendard"/>
              </a:rPr>
              <a:t>라벨 사례를 context와 query로 나눠 query 오차 역전파</a:t>
            </a:r>
          </a:p>
          <a:p>
            <a:pPr algn="l">
              <a:lnSpc>
                <a:spcPct val="116000"/>
              </a:lnSpc>
              <a:spcBef>
                <a:spcPts val="0"/>
              </a:spcBef>
              <a:spcAft>
                <a:spcPts val="0"/>
              </a:spcAft>
            </a:pPr>
            <a:r>
              <a:rPr sz="1900" b="0" lang="ko-KR">
                <a:solidFill>
                  <a:srgbClr val="20262E"/>
                </a:solidFill>
                <a:latin typeface="Pretendard"/>
                <a:ea typeface="Pretendard"/>
                <a:cs typeface="Pretendard"/>
              </a:rPr>
              <a:t>이번 실험은 미수행 · context/cache 갱신만 사용</a:t>
            </a:r>
          </a:p>
        </p:txBody>
      </p:sp>
      <p:sp>
        <p:nvSpPr>
          <p:cNvPr id="11" name="Rectangle 10"/>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30352" y="6537960"/>
            <a:ext cx="8778240" cy="201168"/>
          </a:xfrm>
          <a:prstGeom prst="rect">
            <a:avLst/>
          </a:prstGeom>
          <a:noFill/>
          <a:effectLst/>
        </p:spPr>
        <p:txBody>
          <a:bodyPr wrap="none" anchor="t" lIns="0" rIns="0" tIns="0" bIns="0">
            <a:noAutofit/>
          </a:bodyPr>
          <a:lstStyle/>
          <a:p/>
        </p:txBody>
      </p:sp>
      <p:sp>
        <p:nvSpPr>
          <p:cNvPr id="13" name="TextBox 12"/>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4" name="TextBox 13"/>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