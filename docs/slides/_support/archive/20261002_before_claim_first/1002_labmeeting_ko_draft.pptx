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예측 혼동행렬이 아니라 동일 feature에서 복수 라벨이 관찰되는 비율</a:t>
            </a:r>
          </a:p>
          <a:p>
            <a:r>
              <a:t>분모는 원래 행 클래스의 모든 표본이며 정제 전 전체 데이터 기준</a:t>
            </a:r>
          </a:p>
          <a:p>
            <a:r>
              <a:t>A와 B가 서로 feature를 공유하더라도 클래스 크기가 달라 셀 비율은 비대칭</a:t>
            </a:r>
          </a:p>
          <a:p>
            <a:r>
              <a:t>한 행이 여러 다른 라벨과 공유되면 여러 셀에 집계되므로 행 합은 제거 비율이 아님</a:t>
            </a:r>
          </a:p>
          <a:p>
            <a:r>
              <a:t>Web attack: Benign만 1,335행, Infiltration만 3행, 양쪽 모두 429행, 겹침 없는 771행</a:t>
            </a:r>
          </a:p>
          <a:p>
            <a:r>
              <a:t>데이터 및 그림 원본: docs/slides/kor/1002_intro_assets/</a:t>
            </a:r>
          </a:p>
          <a:p>
            <a:r>
              <a:t>열 약어는 행의 전체 클래스명과 같은 순서</a:t>
            </a:r>
          </a:p>
          <a:p>
            <a:r>
              <a:t>행과 열 모두 정제 전 전체 클래스 표본 수 내림차순</a:t>
            </a:r>
          </a:p>
          <a:p>
            <a:r>
              <a:t>동일 feature의 상충 라벨은 관찰 사실이며 window 라벨링을 모든 상충의 원인으로 단정하지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정제 전후 클래스별 행 수는 현재 fixed-split의 class_counts.csv를 train/val/test 전체 합산</a:t>
            </a:r>
          </a:p>
          <a:p>
            <a:r>
              <a:t>CIC2018 합계 20,115,529 → 14,755,417; ToN 합계 27,520,260 → 10,807,288</a:t>
            </a:r>
          </a:p>
          <a:p>
            <a:r>
              <a:t>구성비 분모는 각각 정제 전 전체 행과 정제 후 전체 행</a:t>
            </a:r>
          </a:p>
          <a:p>
            <a:r>
              <a:t>CIC2018 Infiltration 188,152 → 46,761; Web attack 2,538 → 771</a:t>
            </a:r>
          </a:p>
          <a:p>
            <a:r>
              <a:t>사용자 요청에 따라 제거 기준 설명 제외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0904 사용자 편집본의 오프라인/온라인 두 단계 흐름도를 현재 구현에 맞춰 재구성</a:t>
            </a:r>
          </a:p>
          <a:p>
            <a:r>
              <a:t>Expert 풀에서 residual을 계산하되 Global 오분류만으로 context를 제한하지 않음</a:t>
            </a:r>
          </a:p>
          <a:p>
            <a:r>
              <a:t>Residual에는 입력 표현, Global 확률, 정답과 확률의 차이, 오류 크기 사용</a:t>
            </a:r>
          </a:p>
          <a:p>
            <a:r>
              <a:t>공통 anchor로 클래스 사례를 제공하고 군집별 특화 block으로 각 expert 구성</a:t>
            </a:r>
          </a:p>
          <a:p>
            <a:r>
              <a:t>Scorer는 expert 선택 및 사전 호출 판단; verifier는 expert 예측 수락 판단</a:t>
            </a:r>
          </a:p>
          <a:p>
            <a:r>
              <a:t>정제 데이터에서 seed 43, K=2/4/6/8 expert와 S/V를 적용한 결과를 뒤에서 제시</a:t>
            </a:r>
          </a:p>
          <a:p>
            <a:r>
              <a:t>본 장은 학습·추론 구조이며 정답 residual을 온라인 routing에 사용하지 않음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현재까지 시도한 context 구성 방법 중 하나로 제시</a:t>
            </a:r>
          </a:p>
          <a:p>
            <a:r>
              <a:t>Global 100,000행 context 및 anchor ID 고정, residual KMeans 군집 수만 2/4/6/8로 변경</a:t>
            </a:r>
          </a:p>
          <a:p>
            <a:r>
              <a:t>Residual에는 입력 표현, Global 예측 확률, 정답과 확률의 차이, 오류 크기가 포함</a:t>
            </a:r>
          </a:p>
          <a:p>
            <a:r>
              <a:t>Expert context에는 선택된 원래 feature와 label 쌍을 제공, residual을 추가 feature로 제공하지 않음</a:t>
            </a:r>
          </a:p>
          <a:p>
            <a:r>
              <a:t>Block은 Global이 틀린 행만으로 구성되지 않으며 다양성 선택을 포함</a:t>
            </a:r>
          </a:p>
          <a:p>
            <a:r>
              <a:t>각 block 상한 186,000행, 군집이 작으면 가능한 표본 사용</a:t>
            </a:r>
          </a:p>
          <a:p>
            <a:r>
              <a:t>K별 합계는 중복 anchor를 포함한 context 행 수의 합이며 고유 학습 표본 수와 다름</a:t>
            </a:r>
          </a:p>
          <a:p>
            <a:r>
              <a:t>K가 증가하면 총 context 크기도 달라지므로 고정 총예산 실험으로 해석하지 않음</a:t>
            </a:r>
          </a:p>
          <a:p>
            <a:r>
              <a:t>근거: docs/research/20260930/exp63_capability_report_data.json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 K=4 saved fitted bank 기준</a:t>
            </a:r>
          </a:p>
          <a:p>
            <a:r>
              <a:t>각 expert가 같은 전체 test를 분류한 raw multiclass F1, S/V 적용 전</a:t>
            </a:r>
          </a:p>
          <a:p>
            <a:r>
              <a:t>이 표는 정답 residual로 표본을 expert에 배정한 oracle 결과가 아님</a:t>
            </a:r>
          </a:p>
          <a:p>
            <a:r>
              <a:t>A/B는 expert별 평가 표본군이 달라 자체 역량의 두 관점으로 사용하지 않음</a:t>
            </a:r>
          </a:p>
          <a:p>
            <a:r>
              <a:t>파란 숫자는 소수 셋째 자리 표시값이 Global보다 클 때만 강조</a:t>
            </a:r>
          </a:p>
          <a:p>
            <a:r>
              <a:t>ToN Scanning은 K=2/4/6/8의 모든 expert에서 test·validation confirm F1 개선</a:t>
            </a:r>
          </a:p>
          <a:p>
            <a:r>
              <a:t>CIC2018 Infiltration은 모든 K에서 test F1 개선 expert 없음</a:t>
            </a:r>
          </a:p>
          <a:p>
            <a:r>
              <a:t>CIC2018 Web attack은 일부 test 개선이 있으나 동일 expert의 confirm 개선 없음</a:t>
            </a:r>
          </a:p>
          <a:p>
            <a:r>
              <a:t>같은 클래스에서 test와 confirm의 개선 방향을 확인하며 두 split의 F1 절대값 차이를 직접 일반화 격차로 해석하지 않음</a:t>
            </a:r>
          </a:p>
          <a:p>
            <a:r>
              <a:t>단일 클래스의 개선으로 expert 전체가 Global보다 우수하다고 해석하지 않음</a:t>
            </a:r>
          </a:p>
          <a:p>
            <a:r>
              <a:t>근거: 각 dataset_k4/diagnostics/expert_class_metrics.csv 및 EXP63 capability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EXP63의 S1V0 설정 이름은 S와 V를 모두 학습한 현재 완전판이며 V 제거 ablation을 뜻하지 않음</a:t>
            </a:r>
          </a:p>
          <a:p>
            <a:r>
              <a:t>K=4는 기존 대표 설정이므로 다음 SOTA 표에도 사용, test 최고 K를 선택한 것이 아님</a:t>
            </a:r>
          </a:p>
          <a:p>
            <a:r>
              <a:t>CIC2018 모든 K: 선택된 정책에서 호출과 채택 모두 0</a:t>
            </a:r>
          </a:p>
          <a:p>
            <a:r>
              <a:t>ToN 모든 K: 정책상 모든 표본에 선택 expert 한 개 호출, 모든 K개 expert를 호출한다는 뜻은 아님</a:t>
            </a:r>
          </a:p>
          <a:p>
            <a:r>
              <a:t>호출과 verifier 채택은 다르며 채택된 출력이 Global과 같은 클래스일 수 있음</a:t>
            </a:r>
          </a:p>
          <a:p>
            <a:r>
              <a:t>실험은 모든 expert 예측을 미리 저장해 정책을 평가했으므로 호출 수는 논리적 호출 수</a:t>
            </a:r>
          </a:p>
          <a:p>
            <a:r>
              <a:t>현재 값으로 sparse online latency를 측정했다고 주장하지 않음</a:t>
            </a:r>
          </a:p>
          <a:p>
            <a:r>
              <a:t>CIC의 호출 부재를 V 하나의 원인으로 단정하지 않으며 이번 발표에서는 원인 분석을 확장하지 않음</a:t>
            </a:r>
          </a:p>
          <a:p>
            <a:r>
              <a:t>별도의 S 제거/V 제거 기여 분리 실험은 이번 표에 포함하지 않음</a:t>
            </a:r>
          </a:p>
          <a:p>
            <a:r>
              <a:t>근거: tabpfn/results/20260930_exp63_k_sweep_s43/*/summary.csv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SOTA는 EXP61, 현재 모델은 EXP63 K=4 결과</a:t>
            </a:r>
          </a:p>
          <a:p>
            <a:r>
              <a:t>현재 모델 수치는 residual oracle 또는 expert별 test 최고값이 아니라 S/V 포함 최종 예측</a:t>
            </a:r>
          </a:p>
          <a:p>
            <a:r>
              <a:t>대표 설정 K=4를 사전에 사용했던 구성으로 유지, ToN test 최고 K=6을 골라 비교하지 않음</a:t>
            </a:r>
          </a:p>
          <a:p>
            <a:r>
              <a:t>첫 5개 방법만 Global C0의 정확히 같은 100,000 train ID 사용</a:t>
            </a:r>
          </a:p>
          <a:p>
            <a:r>
              <a:t>전체 train XGB는 CIC2018 8,666,430행, ToN 4,669,119행 사용</a:t>
            </a:r>
          </a:p>
          <a:p>
            <a:r>
              <a:t>현재 모델은 expert 구성과 S/V 학습을 위한 추가 라벨 데이터를 사용하므로 같은 100k 학습 예산의 SOTA 우위로 주장하지 않음</a:t>
            </a:r>
          </a:p>
          <a:p>
            <a:r>
              <a:t>Global/DistPFN은 v3, BoostPFN/LoCalPFN은 v1, backbone과 validation 사용도 동일하지 않음</a:t>
            </a:r>
          </a:p>
          <a:p>
            <a:r>
              <a:t>단일 seed이며 이미 관찰한 development holdout 결과</a:t>
            </a:r>
          </a:p>
          <a:p>
            <a:r>
              <a:t>근거: docs/research/20260930/exp61_report_data.json 및 exp63_capability_report_data.json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EXP61 측정 비용은 기존 SOTA 표의 실제 fit/predict/GPU 값을 그대로 사용</a:t>
            </a:r>
          </a:p>
          <a:p>
            <a:r>
              <a:t>단독 실행 latency 비교나 고유 속도 배수로 해석하지 않음</a:t>
            </a:r>
          </a:p>
          <a:p>
            <a:r>
              <a:t>GPU는 1초 간격 프로세스별 최대 사용량</a:t>
            </a:r>
          </a:p>
          <a:p>
            <a:r>
              <a:t>현재 모델은 offline으로 모든 expert 예측을 준비한 뒤 정책을 평가했으므로 실제 조건부 호출 비용은 미측정</a:t>
            </a:r>
          </a:p>
          <a:p>
            <a:r>
              <a:t>재사용 집계 작업의 3초 등은 모델의 학습·추론 시간으로 사용하지 않음</a:t>
            </a:r>
          </a:p>
          <a:p>
            <a:r>
              <a:t>ToN 100% 호출은 선택 expert 한 개를 호출하는 정책이며 4개 전부 호출이 아님</a:t>
            </a:r>
          </a:p>
          <a:p>
            <a:r>
              <a:t>근거: docs/research/20260930/exp61_report_data.json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두 접근은 계획이며 이번 수정에서 실행하지 않음</a:t>
            </a:r>
          </a:p>
          <a:p>
            <a:r>
              <a:t>현재 anchor+residual은 context 설계의 한 가지 시도이며 최종 구조로 확정하지 않음</a:t>
            </a:r>
          </a:p>
          <a:p>
            <a:r>
              <a:t>Benign 다양성: 같은 크기/클래스 수 조건에서 선택 방식의 효과 확인</a:t>
            </a:r>
          </a:p>
          <a:p>
            <a:r>
              <a:t>LITO는 majority feature를 중요도에 따라 masking하고 minority 조건으로 imputation, self-authentication 수행</a:t>
            </a:r>
          </a:p>
          <a:p>
            <a:r>
              <a:t>우리 IDS 적용은 네트워크 feature 제약을 반영하는 응용이며 아직 검증되지 않음</a:t>
            </a:r>
          </a:p>
          <a:p>
            <a:r>
              <a:t>생성 모델의 자기 검증은 실제 공격 라벨의 정당성을 보장하지 않음</a:t>
            </a:r>
          </a:p>
          <a:p>
            <a:r>
              <a:t>동일 tail 할당량에서 실측 반복 대비 합성 효과를 구분</a:t>
            </a:r>
          </a:p>
          <a:p>
            <a:r>
              <a:t>Reference: June Yong Yang, Geondo Park, Joowon Kim, Hyeongwon Jang, Eunho Yang. Language-Interfaced Tabular Oversampling via Progressive Imputation and Self Authentication. ICLR 2024.</a:t>
            </a:r>
          </a:p>
          <a:p>
            <a:r>
              <a:t>https://proceedings.iclr.cc/paper_files/paper/2024/file/5d54d2df6ec8f7b920aa0fec9a6d1b2e-Paper-Conference.pdf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접근 모두 후속 실험 예정이며 현재 성능 표에 포함하지 않음</a:t>
            </a:r>
          </a:p>
          <a:p>
            <a:r>
              <a:t>3번은 여러 행을 하나의 embedding으로 묶는 방법이 아님, 훈련 관계를 이용해 encoder를 학습하고 적용 시 각 행에서 embedding 산출</a:t>
            </a:r>
          </a:p>
          <a:p>
            <a:r>
              <a:t>인용 논문은 feature와 class label prototype을 같은 공간에 표현, TabPFN에 concatenation하는 부분은 우리 적용 제안</a:t>
            </a:r>
          </a:p>
          <a:p>
            <a:r>
              <a:t>Manuel Lopez-Martin, Antonio Sanchez-Esguevillas, Juan Ignacio Arribas, Belen Carro. Supervised contrastive learning over prototype-label embeddings for network intrusion detection. Information Fusion 79 (2022), 200–228. DOI: 10.1016/j.inffus.2021.09.014</a:t>
            </a:r>
          </a:p>
          <a:p>
            <a:r>
              <a:t>https://github.com/mlopezm/Supervised-contrastive-learning-over-prototype-label-embeddings</a:t>
            </a:r>
          </a:p>
          <a:p>
            <a:r>
              <a:t>4번은 고정 PFN에 대해 작은 context를 최적화하는 ICD이며 기존 posterior 보정 DistPFN과 다른 방법</a:t>
            </a:r>
          </a:p>
          <a:p>
            <a:r>
              <a:t>Junwei Ma, Valentin Thomas, Guangwei Yu, Anthony Caterini. In-Context Data Distillation with TabPFN. arXiv:2402.06971, 2024. ICLR 2024 ME-FoMo Workshop 발표는 저자 페이지에서 확인</a:t>
            </a:r>
          </a:p>
          <a:p>
            <a:r>
              <a:t>https://arxiv.org/abs/2402.06971</a:t>
            </a:r>
          </a:p>
          <a:p>
            <a:r>
              <a:t>https://valthom.github.io/</a:t>
            </a:r>
          </a:p>
          <a:p>
            <a:r>
              <a:t>현재 v3에서의 구현 호환성과 비용을 확인한 뒤 검토, 배포에서 새 입력의 정답은 불필요</a:t>
            </a:r>
          </a:p>
          <a:p>
            <a:r>
              <a:t>자료 정리: docs/research/20261001/context_followup_approaches.md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ceedings.iclr.cc/paper_files/paper/2024/file/5d54d2df6ec8f7b920aa0fec9a6d1b2e-Paper-Conference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mlopezm/Supervised-contrastive-learning-over-prototype-label-embeddings" TargetMode="External"/><Relationship Id="rId4" Type="http://schemas.openxmlformats.org/officeDocument/2006/relationships/hyperlink" Target="https://arxiv.org/abs/2402.06971" TargetMode="External"/><Relationship Id="rId5" Type="http://schemas.openxmlformats.org/officeDocument/2006/relationships/hyperlink" Target="https://valthom.github.i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feature를 공유하는 클래스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행: 원래 라벨 · 열: 동일 feature의 다른 라벨 · 셀: 행 클래스 대비 비율 (%) · 정제 전 표본 수 내림차순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1344168"/>
            <a:ext cx="5394960" cy="2057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1344168"/>
            <a:ext cx="5394960" cy="2057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3557016"/>
            <a:ext cx="5394960" cy="2057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3557016"/>
            <a:ext cx="539496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5797296"/>
            <a:ext cx="6537960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빈칸: 0%   ·: 1% 미만   회색: 동일 클래스   같은 행의 중복 집계로 합산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5843016"/>
            <a:ext cx="411480" cy="128016"/>
          </a:xfrm>
          <a:prstGeom prst="rect">
            <a:avLst/>
          </a:prstGeom>
          <a:solidFill>
            <a:srgbClr val="F2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02752" y="5843016"/>
            <a:ext cx="411480" cy="128016"/>
          </a:xfrm>
          <a:prstGeom prst="rect">
            <a:avLst/>
          </a:prstGeom>
          <a:solidFill>
            <a:srgbClr val="9CC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6256" y="5843016"/>
            <a:ext cx="411480" cy="128016"/>
          </a:xfrm>
          <a:prstGeom prst="rect">
            <a:avLst/>
          </a:prstGeom>
          <a:solidFill>
            <a:srgbClr val="4B95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78824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5843016"/>
            <a:ext cx="411480" cy="128016"/>
          </a:xfrm>
          <a:prstGeom prst="rect">
            <a:avLst/>
          </a:prstGeom>
          <a:solidFill>
            <a:srgbClr val="126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13264" y="5843016"/>
            <a:ext cx="411480" cy="128016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6007608"/>
            <a:ext cx="466344" cy="17373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9064" y="5815584"/>
            <a:ext cx="822960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attack: 1,764 + 432 − 중복 429 = 1,767행 제거 · 771행 잔존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이후 클래스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데이터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23544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전체 데이터 기준 (train + validation + test) · 정제 후 표본 수 내림차순 · 비중 단위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56231"/>
          <a:ext cx="5394960" cy="2913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17,514,626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12,798,328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87.070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86.736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1,324,350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1,316,025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6.584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8.919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207,703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1.033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1.408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302,966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197,415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1.506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1.338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575,194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188,414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2.859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188,152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46,761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0.317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2,538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771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0.013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0.005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20,115,529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14,755,417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74920"/>
            <a:ext cx="5394960" cy="65836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5129784"/>
            <a:ext cx="5084064" cy="5029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Infiltration 75.1% 감소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Web attack 69.6% 감소 · 정제 후 771행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380744"/>
            <a:ext cx="5394960" cy="3566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856231"/>
          <a:ext cx="5394960" cy="38843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3584"/>
                <a:gridCol w="1261872"/>
                <a:gridCol w="1261872"/>
                <a:gridCol w="813816"/>
                <a:gridCol w="813816"/>
              </a:tblGrid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정제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비중 후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16,792,214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6,446,120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61.018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59.646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2,834,435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1,670,497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10.299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15.457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1,594,777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1,061,699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5.795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9.824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4,141,256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925,247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15.048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8.561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381,777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341,263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1.387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3.158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203,384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200,688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1.857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203,456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113,655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0.739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1.052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1,358,977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39,069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4.938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0.362</a:t>
                      </a:r>
                    </a:p>
                  </a:txBody>
                  <a:tcPr marL="73152" marR="73152" marT="22860" marB="22860">
                    <a:solidFill>
                      <a:srgbClr val="EEF5FB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6,013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5,446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0.022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0.050</a:t>
                      </a:r>
                    </a:p>
                  </a:txBody>
                  <a:tcPr marL="73152" marR="73152" marT="22860" marB="22860">
                    <a:solidFill>
                      <a:srgbClr val="FFFFFF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3,971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3,604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0.014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0.033</a:t>
                      </a:r>
                    </a:p>
                  </a:txBody>
                  <a:tcPr marL="73152" marR="73152" marT="22860" marB="22860">
                    <a:solidFill>
                      <a:srgbClr val="F3F6FA"/>
                    </a:solidFill>
                  </a:tcPr>
                </a:tc>
              </a:tr>
              <a:tr h="323697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4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27,520,260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10,807,288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05" b="1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100.000</a:t>
                      </a:r>
                    </a:p>
                  </a:txBody>
                  <a:tcPr marL="73152" marR="73152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 후에도 남는 클래스 불균형 · CIC2018 Web attack 771행, ToN Scanning 39,069행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Global과 residual expert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모델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학습 데이터의 역할 분리 · Global 구성 / Expert 구성 / S·V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풀 · 공통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풀 · residual과 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371600"/>
            <a:ext cx="3538728" cy="42062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2004" bIns="32004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Route 풀 · S/V 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오프라인 · 모델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context로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분류기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25496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입력 표현·예측 확률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정답과의 차이·오류 크기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7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실패 특성에 따라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K개 군집으로 분할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42631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구성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+ 군집별 특화 block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2459736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2551176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학습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907791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Global·expert의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교정·훼손 사례 학습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87752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944368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04888" y="2944368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363455" y="2944368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3685032"/>
            <a:ext cx="11055096" cy="25603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온라인 · 입력별 예측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Global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기본 클래스 예측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25496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0360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Scorer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선택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여부 판단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38927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Expert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57216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선택한 context로 분류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42631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97496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Verifier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5783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Expert 예측의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여부 판단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42232"/>
            <a:ext cx="2020824" cy="969264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56064" y="4233672"/>
            <a:ext cx="1911095" cy="292608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최종 예측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4590288"/>
            <a:ext cx="1874519" cy="365760"/>
          </a:xfrm>
          <a:prstGeom prst="rect">
            <a:avLst/>
          </a:prstGeom>
          <a:noFill/>
        </p:spPr>
        <p:txBody>
          <a:bodyPr wrap="square" lIns="18288" rIns="18288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3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채택 시 expert 예측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87752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46320" y="4626864"/>
            <a:ext cx="237744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104888" y="4626864"/>
            <a:ext cx="237743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63455" y="4626864"/>
            <a:ext cx="237745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35908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53044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5908" y="5577840"/>
            <a:ext cx="6775704" cy="0"/>
          </a:xfrm>
          <a:prstGeom prst="line">
            <a:avLst/>
          </a:prstGeom>
          <a:ln w="1651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611612" y="5111496"/>
            <a:ext cx="0" cy="466344"/>
          </a:xfrm>
          <a:prstGeom prst="line">
            <a:avLst/>
          </a:prstGeom>
          <a:ln w="1651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5733288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 또는 채택 조건 미충족 → Global 예측 유지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Backbone 고정 · context로 expert 구성 · S/V로 예측 교체 여부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첫 context 구성 실험 · 공통 anchor와 residual block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Context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정제 CIC2018·ToN · seed 43 · Global 고정 · K = 2, 4, 6,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4864608" cy="4270248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864608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40764"/>
            <a:ext cx="4553712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각 expert에 제공하는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21671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2768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공통 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2688336"/>
            <a:ext cx="4005072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모든 클래스의 기본 사례 · 클래스당 최대 2,000행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310128"/>
            <a:ext cx="914400" cy="329184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" y="3767328"/>
            <a:ext cx="4334256" cy="1024128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3877056"/>
            <a:ext cx="4005072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Residual 군집별 특화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279392"/>
            <a:ext cx="4005072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 오류 양상과 입력 특성을 반영한 표본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5056632"/>
            <a:ext cx="4242816" cy="39319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같은 TabPFN backbone · 서로 다른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508760"/>
            <a:ext cx="5797296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K에 따른 expert 구성과 context 행 수 합계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24728" y="2048256"/>
          <a:ext cx="5797296" cy="242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432"/>
                <a:gridCol w="2313432"/>
                <a:gridCol w="2313432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Expert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250,481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231,534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277,505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270,546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328,037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338,908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376,411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421,513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824728" y="4764024"/>
          <a:ext cx="5797296" cy="786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8528"/>
                <a:gridCol w="1929384"/>
                <a:gridCol w="1929384"/>
              </a:tblGrid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anchor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9319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행 수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12,224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18,717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824728" y="5660136"/>
            <a:ext cx="5797296" cy="38404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합계에 expert별 anchor 반복 포함 · K별 총예산 상이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Residual block + anchor를 context 구성의 첫 비교 기준으로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동일 test에서 비교한 Global과 expert의 분류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Expert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4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K = 4 · 클래스별 F1 · test 표본 수 내림차순 · 파란 숫자: 표시값 기준 Global 대비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828800"/>
          <a:ext cx="5394960" cy="283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2,652,203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262,680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Bot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41,542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39,483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Brute force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37,696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Infiltration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8,742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0.288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0.018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0.023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Web attack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127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0.210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0.353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0.199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0.794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" y="4855464"/>
            <a:ext cx="5358384" cy="6583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Infiltration: 모든 expert에서 Global보다 낮은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Web attack: e1의 test 개선, validation 확인에서는 미개선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1389888"/>
            <a:ext cx="5394960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27064" y="1828800"/>
          <a:ext cx="539496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621792"/>
                <a:gridCol w="621792"/>
                <a:gridCol w="621792"/>
                <a:gridCol w="621792"/>
                <a:gridCol w="621792"/>
              </a:tblGrid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클래스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표본 수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e2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e3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e4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Benign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1,474,302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0.912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0.920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XSS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343,854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0.825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0.834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Password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210,951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DDoS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103,338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0.982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Injection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68,891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0.903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0.850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0.935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0.460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0.873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Backdoor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40,030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0.999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DoS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22,458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0.977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0.954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0.969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Scanning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6,029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0.616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0.564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0.660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MitM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1,161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0.036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0.052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Ransomware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0.094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0.106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0.132</a:t>
                      </a:r>
                    </a:p>
                  </a:txBody>
                  <a:tcPr marL="64008" marR="64008" marT="22860" marB="22860">
                    <a:solidFill>
                      <a:srgbClr val="EEF5FB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0.117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31546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0.680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0.665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0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0.730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24728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각 expert가 같은 전체 test를 분류 · 다른 클래스에서 발생한 FP까지 포함한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ToN Scanning은 e1~e4 모두 test와 validation 확인에서 Global 대비 개선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S/V 적용 결과 · ToN 호출 활성화, CIC2018 호출 0건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S/V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validation에서 호출·채택 기준 선택 · 전체 test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2, 4, 6, 8 모두 Global 예측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7064" y="1453896"/>
            <a:ext cx="539496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27064" y="1984248"/>
          <a:ext cx="539496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517904"/>
                <a:gridCol w="1389888"/>
                <a:gridCol w="1389888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구성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Macro-F1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호출률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채택률 (%)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0.7636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5.26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1.23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6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0.7677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4.09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K = 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0.7463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100.00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1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27064" y="5056632"/>
            <a:ext cx="5394960" cy="72237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5184648"/>
            <a:ext cx="5102352" cy="4297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K = 4 Scanning F1   0.0394 → 0.8587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07024"/>
            <a:ext cx="11055096" cy="24688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호출률: 정책상 expert 호출 표본 비율 · 채택률: expert 출력 수락 표본 비율 · 분모는 전체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context 구성에서 데이터셋별 S/V 활성화 차이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정제 데이터의 SOTA와 현재 모델 성능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SOTA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Seed 43 · 동일 정제 test · 대표 설정 K = 4 · Macro-F1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4408"/>
                <a:gridCol w="1929384"/>
                <a:gridCol w="1929384"/>
                <a:gridCol w="3931920"/>
              </a:tblGrid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CIC2018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학습 정보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0.6796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0.6983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0.7148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0.5866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0.7024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0.6462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7BC6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0.7839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0.6682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공통 100,000행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0.7795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0.7162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75488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현재 모델 · K = 4 · S+V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0.7824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65" b="1" lang="ko-KR">
                          <a:solidFill>
                            <a:srgbClr val="00306C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0.7617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 lang="ko-KR">
                          <a:solidFill>
                            <a:srgbClr val="00306C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+ Expert·Route 풀</a:t>
                      </a:r>
                    </a:p>
                  </a:txBody>
                  <a:tcPr marL="64008" marR="64008" marT="22860" marB="22860">
                    <a:solidFill>
                      <a:srgbClr val="E7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522976"/>
            <a:ext cx="11055096" cy="2834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2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첫 5개 방법은 같은 100,000개 train ID 사용 · 전체 train XGB와 현재 모델은 추가 학습 데이터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16168"/>
            <a:ext cx="11055096" cy="26517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8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Global·DistPFN: v3 · BoostPFN·LoCalPFN: v1 · LoCalPFN은 미세조정 포함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2804"/>
            <a:ext cx="7498079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현재 모델은 anchor + residual block의 예비 결과 · 동일 학습 예산의 비교와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SOTA 측정 비용과 현재 모델의 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비용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RTX 4090 24GB · 최대 2개 작업 병렬 · 자원 경합을 포함한 경과 시간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63624"/>
          <a:ext cx="11055096" cy="3392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0632"/>
                <a:gridCol w="1408176"/>
                <a:gridCol w="1408176"/>
                <a:gridCol w="1408176"/>
                <a:gridCol w="1408176"/>
                <a:gridCol w="1325880"/>
                <a:gridCol w="1325880"/>
              </a:tblGrid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방법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학습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추론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CIC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ToN GPU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GiB</a:t>
                      </a:r>
                    </a:p>
                  </a:txBody>
                  <a:tcPr marL="64008" marR="64008" marT="22860" marB="22860">
                    <a:solidFill>
                      <a:srgbClr val="00306C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Global TabPFN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55.4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0.55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0.53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BoostPFN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2,308.5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97.8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1,737.6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0.89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LoCalPFN · FT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3,196.3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17,300.8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5,783.1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11,144.8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7.54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DistPFN · v3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1,099.4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36.7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821.9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2.92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2.94</a:t>
                      </a:r>
                    </a:p>
                  </a:txBody>
                  <a:tcPr marL="64008" marR="64008" marT="22860" marB="2286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10" b="1" lang="ko-KR">
                          <a:solidFill>
                            <a:srgbClr val="2126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XGBoost · 전체 train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107.8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143.2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1.1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2.20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  <a:tc>
                  <a:txBody>
                    <a:bodyPr wrap="square" lIns="64008" rIns="64008" tIns="32004" bIns="32004" anchor="ctr">
                      <a:noAutofit/>
                    </a:bodyPr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75" b="0" lang="ko-KR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1.59</a:t>
                      </a:r>
                    </a:p>
                  </a:txBody>
                  <a:tcPr marL="64008" marR="64008" marT="22860" marB="2286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102352"/>
            <a:ext cx="11055096" cy="30175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LoCalPFN: 학습에 validation, 추론에 검색 포함 · DistPFN: Global 계산과 prior 보정 포함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577840"/>
            <a:ext cx="11055096" cy="521207"/>
          </a:xfrm>
          <a:prstGeom prst="roundRect">
            <a:avLst>
              <a:gd name="adj" fmla="val 3500"/>
            </a:avLst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0136"/>
            <a:ext cx="10725912" cy="33832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현재 모델 K = 4 · 정책상 호출률 CIC2018 0.00%, ToN 100.00% · 조건부 추론 시간 별도 측정 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후속 접근 · Benign 다양성과 tail 합성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후속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현재 기준: anchor + residual block · 제한된 context에 담을 정보의 확장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99616"/>
            <a:ext cx="5394960" cy="456285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59051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1  Benign을 다양하게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499616"/>
            <a:ext cx="5394960" cy="456285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499616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59051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2  LITO 방식의 tail 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85416"/>
            <a:ext cx="4937760" cy="6675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프로토콜·통신량·시간 특성이 다른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정상 트래픽 패턴을 context에 포함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36392"/>
            <a:ext cx="1453896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236976"/>
            <a:ext cx="1325880" cy="22860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프로토콜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584448"/>
            <a:ext cx="1380744" cy="2103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7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TCP · UDP 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136392"/>
            <a:ext cx="1453896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3236976"/>
            <a:ext cx="1325880" cy="22860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통신량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3584448"/>
            <a:ext cx="1380744" cy="2103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7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패킷 수 · 크기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136392"/>
            <a:ext cx="1453896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78808" y="3236976"/>
            <a:ext cx="1325880" cy="22860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시간 특성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3584448"/>
            <a:ext cx="1380744" cy="2103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7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지속시간 · 간격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61104"/>
            <a:ext cx="4937760" cy="83210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클래스별 할당량과 context 크기 고정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유사한 정상 사례의 반복 비중 축소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다양한 실측 사례를 선택하는 효과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532120"/>
            <a:ext cx="4937760" cy="2743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훈련 데이터에서 구성 · 후속 실험 예정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185416"/>
            <a:ext cx="4937760" cy="6675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Feature 일부를 가린 뒤 tail 조건으로 생성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생성 결과의 클래스 일관성과 유효성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2881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Feature 마스킹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1987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조건부 생성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55480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6579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2065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생성 결과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261104"/>
            <a:ext cx="4937760" cy="81381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네트워크 feature 간 관계를 반영한 합성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같은 tail 할당량에서 실측 반복과 비교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실측 validation에서 분류 성능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5321808"/>
            <a:ext cx="4937760" cy="57607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3"/>
              </a:rPr>
              <a:t>Yang 외 · Language-Interfaced Tabular Oversampling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3"/>
              </a:rPr>
              <a:t>via Progressive Imputation and Self Authentication · ICLR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5943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후속 접근 · Feature 표현 학습과 context 최적화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999" cy="502920"/>
          </a:xfrm>
          <a:prstGeom prst="rect">
            <a:avLst/>
          </a:prstGeom>
          <a:solidFill>
            <a:srgbClr val="00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6428232"/>
            <a:ext cx="2743200" cy="274320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lang="ko-KR">
                <a:solidFill>
                  <a:srgbClr val="D6E4F3"/>
                </a:solidFill>
                <a:latin typeface="Pretendard"/>
                <a:ea typeface="Pretendard"/>
                <a:cs typeface="Pretendard"/>
              </a:rPr>
              <a:t>후속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409944"/>
            <a:ext cx="438912" cy="310896"/>
          </a:xfrm>
          <a:prstGeom prst="rect">
            <a:avLst/>
          </a:prstGeom>
          <a:noFill/>
        </p:spPr>
        <p:txBody>
          <a:bodyPr wrap="square" tIns="32004" bIns="32004" anchor="ctr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11055096" cy="32004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</a:rPr>
              <a:t>훈련 데이터로 사전 학습 · 새 입력의 정답 없이 적용 가능한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99616"/>
            <a:ext cx="5394960" cy="456285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99616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59051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3  Feature 학습으로 embedding 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499616"/>
            <a:ext cx="5394960" cy="4562856"/>
          </a:xfrm>
          <a:prstGeom prst="roundRect">
            <a:avLst>
              <a:gd name="adj" fmla="val 3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499616"/>
            <a:ext cx="5394960" cy="457200"/>
          </a:xfrm>
          <a:prstGeom prst="rect">
            <a:avLst/>
          </a:prstGeom>
          <a:solidFill>
            <a:srgbClr val="E7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59051"/>
            <a:ext cx="5084064" cy="32918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4  Context 자체의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85416"/>
            <a:ext cx="4937760" cy="6675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정상·공격 구분에 유용한 표현을 학습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각 행의 embedding을 기존 feature에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Flow 한 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58568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468880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3744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학습한 encoder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04488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0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9663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행별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242816"/>
            <a:ext cx="4937760" cy="74066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학습 시 샘플·클래스 관계 활용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Context와 query에 동일한 변환 적용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원래 feature만 사용한 경우와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212080"/>
            <a:ext cx="4937760" cy="694944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3"/>
              </a:rPr>
              <a:t>Lopez-Martin 외 · Supervised contrastive learning over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3"/>
              </a:rPr>
              <a:t>prototype-label embeddings for network intrusion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3"/>
              </a:rPr>
              <a:t>Information Fusion 2022 · 공개 코드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185416"/>
            <a:ext cx="4937760" cy="667512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TabPFN을 고정하고 context 값을 학습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작은 context로 훈련 풀의 정보를 압축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학습할 context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9560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1987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고정 TabPFN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538728"/>
            <a:ext cx="210312" cy="0"/>
          </a:xfrm>
          <a:prstGeom prst="line">
            <a:avLst/>
          </a:prstGeom>
          <a:ln w="20320">
            <a:solidFill>
              <a:srgbClr val="007B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65792" y="3136392"/>
            <a:ext cx="1435608" cy="8046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0656" y="3310128"/>
            <a:ext cx="1325880" cy="36576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훈련 query 손실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63656" y="3941063"/>
            <a:ext cx="0" cy="164593"/>
          </a:xfrm>
          <a:prstGeom prst="line">
            <a:avLst/>
          </a:prstGeom>
          <a:ln w="2032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196328" y="4105656"/>
            <a:ext cx="3767328" cy="0"/>
          </a:xfrm>
          <a:prstGeom prst="line">
            <a:avLst/>
          </a:prstGeom>
          <a:ln w="20320">
            <a:solidFill>
              <a:srgbClr val="839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196328" y="3941063"/>
            <a:ext cx="0" cy="164593"/>
          </a:xfrm>
          <a:prstGeom prst="line">
            <a:avLst/>
          </a:prstGeom>
          <a:ln w="20320">
            <a:solidFill>
              <a:srgbClr val="8393A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55664" y="4325112"/>
            <a:ext cx="4937760" cy="658368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고정된 context 행 수에서 최적화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원본 표본 선택과 학습된 context 비교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lang="ko-KR">
                <a:solidFill>
                  <a:srgbClr val="21262E"/>
                </a:solidFill>
                <a:latin typeface="Pretendard"/>
                <a:ea typeface="Pretendard"/>
                <a:cs typeface="Pretendard"/>
              </a:rPr>
              <a:t>현재 v3의 gradient·메모리 조건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5212080"/>
            <a:ext cx="4937760" cy="502920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4"/>
              </a:rPr>
              <a:t>Ma 외 · In-Context Data Distillation with TabPFN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4"/>
              </a:rPr>
              <a:t>ICLR 2024 ME-FoMo Workshop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5742432"/>
            <a:ext cx="4937760" cy="219456"/>
          </a:xfrm>
          <a:prstGeom prst="rect">
            <a:avLst/>
          </a:prstGeom>
          <a:noFill/>
        </p:spPr>
        <p:txBody>
          <a:bodyPr wrap="square" lIns="0" rIns="0" tIns="32004" bIns="32004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lang="ko-KR">
                <a:solidFill>
                  <a:srgbClr val="5D6773"/>
                </a:solidFill>
                <a:latin typeface="Pretendard"/>
                <a:ea typeface="Pretendard"/>
                <a:cs typeface="Pretendard"/>
                <a:hlinkClick r:id="rId5"/>
              </a:rPr>
              <a:t>Valentin Thomas 연구 페이지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10월 2일 랩미팅 · 한국어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2026-10-01 EXP61/63 반영 · 한국어만 갱신 · 후속 네 접근은 계획</dc:description>
</cp:coreProperties>
</file>