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3" r:id="rId16"/>
    <p:sldId id="274" r:id="rId17"/>
    <p:sldId id="275" r:id="rId18"/>
    <p:sldId id="269" r:id="rId19"/>
    <p:sldId id="270" r:id="rId20"/>
    <p:sldId id="271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57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107" y="2011680"/>
            <a:ext cx="4408588" cy="4846320"/>
          </a:xfrm>
          <a:prstGeom prst="rect">
            <a:avLst/>
          </a:prstGeom>
        </p:spPr>
      </p:pic>
      <p:pic>
        <p:nvPicPr>
          <p:cNvPr id="3" name="Image 1" descr="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74520" cy="442621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1828800"/>
            <a:ext cx="685800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제목을 입력하세요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03320"/>
            <a:ext cx="6583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부제목 · 행사명 · 날짜</a:t>
            </a:r>
            <a:endParaRPr lang="en-US" sz="15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85800" y="4709160"/>
            <a:ext cx="62179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정보를 입력하세요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46" y="1828800"/>
            <a:ext cx="4574950" cy="502920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3017520"/>
            <a:ext cx="8778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제목을 입력하세요</a:t>
            </a:r>
            <a:endParaRPr lang="en-US" sz="3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설명 (선택)</a:t>
            </a:r>
            <a:endParaRPr lang="en-US" sz="14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11055096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내용을 입력하세요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내용을 입력하세요</a:t>
            </a:r>
            <a:endParaRPr lang="en-US" sz="145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208776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내용을 입력하세요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203" y="1554480"/>
            <a:ext cx="4824492" cy="530352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28800" cy="43182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49040"/>
            <a:ext cx="68580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 정보를 입력하세요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>
          <a:xfrm>
            <a:off x="685800" y="1828800"/>
            <a:ext cx="7829062" cy="1691640"/>
          </a:xfrm>
        </p:spPr>
        <p:txBody>
          <a:bodyPr wrap="square"/>
          <a:lstStyle/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제목</a:t>
            </a:r>
            <a:r>
              <a:rPr dirty="0"/>
              <a:t> </a:t>
            </a:r>
            <a:r>
              <a:rPr dirty="0" err="1">
                <a:solidFill>
                  <a:srgbClr val="007BC6"/>
                </a:solidFill>
              </a:rPr>
              <a:t>핵심</a:t>
            </a:r>
            <a:r>
              <a:rPr dirty="0">
                <a:solidFill>
                  <a:srgbClr val="007BC6"/>
                </a:solidFill>
              </a:rPr>
              <a:t> </a:t>
            </a:r>
            <a:r>
              <a:rPr dirty="0" err="1">
                <a:solidFill>
                  <a:srgbClr val="007BC6"/>
                </a:solidFill>
              </a:rPr>
              <a:t>키워드</a:t>
            </a:r>
            <a:endParaRPr dirty="0">
              <a:solidFill>
                <a:srgbClr val="007BC6"/>
              </a:solidFill>
            </a:endParaRPr>
          </a:p>
          <a:p>
            <a:r>
              <a:rPr dirty="0" err="1"/>
              <a:t>둘째</a:t>
            </a:r>
            <a:r>
              <a:rPr dirty="0"/>
              <a:t> </a:t>
            </a:r>
            <a:r>
              <a:rPr dirty="0" err="1"/>
              <a:t>줄은</a:t>
            </a:r>
            <a:r>
              <a:rPr dirty="0"/>
              <a:t> </a:t>
            </a:r>
            <a:r>
              <a:rPr dirty="0" err="1"/>
              <a:t>의미</a:t>
            </a:r>
            <a:r>
              <a:rPr dirty="0"/>
              <a:t> </a:t>
            </a:r>
            <a:r>
              <a:rPr dirty="0" err="1"/>
              <a:t>단위로</a:t>
            </a:r>
            <a:r>
              <a:rPr dirty="0"/>
              <a:t> </a:t>
            </a:r>
            <a:r>
              <a:rPr dirty="0" err="1"/>
              <a:t>줄바꿈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704088" y="1261872"/>
            <a:ext cx="1207008" cy="402336"/>
          </a:xfrm>
          <a:prstGeom prst="roundRect">
            <a:avLst>
              <a:gd name="adj" fmla="val 50000"/>
            </a:avLst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보고 구분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6543" y="131673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D6773"/>
                </a:solidFill>
              </a:rPr>
              <a:t>YYYY. MM.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041648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306C"/>
                </a:solidFill>
              </a:rPr>
              <a:t>연구 기간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4041648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1262E"/>
                </a:solidFill>
              </a:rPr>
              <a:t>YYYY.MM.DD ~ YYYY.MM.DD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4425696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306C"/>
                </a:solidFill>
              </a:rPr>
              <a:t>발주 기관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4425696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1262E"/>
                </a:solidFill>
              </a:rPr>
              <a:t>부처명 / 전문기관명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4809744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306C"/>
                </a:solidFill>
              </a:rPr>
              <a:t>수행 기관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4809744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1262E"/>
                </a:solidFill>
              </a:rPr>
              <a:t>한국에너지공과대학교 (KENTECH)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5193792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306C"/>
                </a:solidFill>
              </a:rPr>
              <a:t>연구책임자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193792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1262E"/>
                </a:solidFill>
              </a:rPr>
              <a:t>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 wrap="square"/>
          <a:lstStyle/>
          <a:p>
            <a:r>
              <a:t>목차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66928" y="1481328"/>
            <a:ext cx="5399532" cy="1225296"/>
          </a:xfrm>
          <a:prstGeom prst="roundRect">
            <a:avLst>
              <a:gd name="adj" fmla="val 597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5338" rIns="146304" bIns="80467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1810512"/>
            <a:ext cx="9144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7BC6"/>
                </a:solidFill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9928" y="1728216"/>
            <a:ext cx="3794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21262E"/>
                </a:solidFill>
              </a:rPr>
              <a:t>섹션 제목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773"/>
                </a:solidFill>
              </a:rPr>
              <a:t>다루는 내용 두세 가지 · 가운뎃점으로 구분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43500" y="16459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3AE"/>
                </a:solidFill>
              </a:rPr>
              <a:t>0쪽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22492" y="1481328"/>
            <a:ext cx="5399532" cy="1225296"/>
          </a:xfrm>
          <a:prstGeom prst="roundRect">
            <a:avLst>
              <a:gd name="adj" fmla="val 597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5338" rIns="146304" bIns="80467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8524" y="1810512"/>
            <a:ext cx="9144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7BC6"/>
                </a:solidFill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5492" y="1728216"/>
            <a:ext cx="3794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21262E"/>
                </a:solidFill>
              </a:rPr>
              <a:t>섹션 제목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773"/>
                </a:solidFill>
              </a:rPr>
              <a:t>다루는 내용 두세 가지 · 가운뎃점으로 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99064" y="16459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3AE"/>
                </a:solidFill>
              </a:rPr>
              <a:t>0쪽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2907792"/>
            <a:ext cx="5399532" cy="1225296"/>
          </a:xfrm>
          <a:prstGeom prst="roundRect">
            <a:avLst>
              <a:gd name="adj" fmla="val 597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5338" rIns="146304" bIns="80467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3236976"/>
            <a:ext cx="9144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7BC6"/>
                </a:solidFill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09928" y="3154680"/>
            <a:ext cx="3794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21262E"/>
                </a:solidFill>
              </a:rPr>
              <a:t>섹션 제목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773"/>
                </a:solidFill>
              </a:rPr>
              <a:t>다루는 내용 두세 가지 · 가운뎃점으로 구분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43500" y="3072384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3AE"/>
                </a:solidFill>
              </a:rPr>
              <a:t>0쪽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22492" y="2907792"/>
            <a:ext cx="5399532" cy="1225296"/>
          </a:xfrm>
          <a:prstGeom prst="roundRect">
            <a:avLst>
              <a:gd name="adj" fmla="val 597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5338" rIns="146304" bIns="80467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78524" y="3236976"/>
            <a:ext cx="9144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7BC6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5492" y="3154680"/>
            <a:ext cx="3794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21262E"/>
                </a:solidFill>
              </a:rPr>
              <a:t>섹션 제목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773"/>
                </a:solidFill>
              </a:rPr>
              <a:t>다루는 내용 두세 가지 · 가운뎃점으로 구분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99064" y="3072384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3AE"/>
                </a:solidFill>
              </a:rPr>
              <a:t>0쪽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4334256"/>
            <a:ext cx="5399532" cy="1225296"/>
          </a:xfrm>
          <a:prstGeom prst="roundRect">
            <a:avLst>
              <a:gd name="adj" fmla="val 597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5338" rIns="146304" bIns="80467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" y="4663440"/>
            <a:ext cx="9144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7BC6"/>
                </a:solidFill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09928" y="4581144"/>
            <a:ext cx="3794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21262E"/>
                </a:solidFill>
              </a:rPr>
              <a:t>섹션 제목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773"/>
                </a:solidFill>
              </a:rPr>
              <a:t>다루는 내용 두세 가지 · 가운뎃점으로 구분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43500" y="4498848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3AE"/>
                </a:solidFill>
              </a:rPr>
              <a:t>0쪽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22492" y="4334256"/>
            <a:ext cx="5399532" cy="1225296"/>
          </a:xfrm>
          <a:prstGeom prst="roundRect">
            <a:avLst>
              <a:gd name="adj" fmla="val 597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5338" rIns="146304" bIns="80467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78524" y="4663440"/>
            <a:ext cx="9144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7BC6"/>
                </a:solidFill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5492" y="4581144"/>
            <a:ext cx="3794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21262E"/>
                </a:solidFill>
              </a:rPr>
              <a:t>섹션 제목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773"/>
                </a:solidFill>
              </a:rPr>
              <a:t>다루는 내용 두세 가지 · 가운뎃점으로 구분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99064" y="4498848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AA3AE"/>
                </a:solidFill>
              </a:rPr>
              <a:t>0쪽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 wrap="square"/>
          <a:lstStyle/>
          <a:p>
            <a:r>
              <a:t>섹션 제목을 입력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3"/>
          </p:nvPr>
        </p:nvSpPr>
        <p:spPr/>
        <p:txBody>
          <a:bodyPr wrap="square"/>
          <a:lstStyle/>
          <a:p>
            <a:r>
              <a:t>이 섹션이 다루는 내용을 한 줄로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365760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>
                <a:solidFill>
                  <a:srgbClr val="2E64A8"/>
                </a:solidFill>
              </a:rPr>
              <a:t>01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5870448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00306C"/>
                </a:solidFill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1152144" y="5870448"/>
            <a:ext cx="292608" cy="292608"/>
          </a:xfrm>
          <a:prstGeom prst="ellipse">
            <a:avLst/>
          </a:prstGeom>
          <a:noFill/>
          <a:ln w="12700">
            <a:solidFill>
              <a:srgbClr val="4A7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0">
                <a:solidFill>
                  <a:srgbClr val="4A78B0"/>
                </a:solidFill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1591056" y="5870448"/>
            <a:ext cx="292608" cy="292608"/>
          </a:xfrm>
          <a:prstGeom prst="ellipse">
            <a:avLst/>
          </a:prstGeom>
          <a:noFill/>
          <a:ln w="12700">
            <a:solidFill>
              <a:srgbClr val="4A7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0">
                <a:solidFill>
                  <a:srgbClr val="4A78B0"/>
                </a:solidFill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2029967" y="5870448"/>
            <a:ext cx="292608" cy="292608"/>
          </a:xfrm>
          <a:prstGeom prst="ellipse">
            <a:avLst/>
          </a:prstGeom>
          <a:noFill/>
          <a:ln w="12700">
            <a:solidFill>
              <a:srgbClr val="4A7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0">
                <a:solidFill>
                  <a:srgbClr val="4A78B0"/>
                </a:solidFill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2468880" y="5870448"/>
            <a:ext cx="292608" cy="292608"/>
          </a:xfrm>
          <a:prstGeom prst="ellipse">
            <a:avLst/>
          </a:prstGeom>
          <a:noFill/>
          <a:ln w="12700">
            <a:solidFill>
              <a:srgbClr val="4A7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0">
                <a:solidFill>
                  <a:srgbClr val="4A78B0"/>
                </a:solidFill>
              </a:rPr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2907791" y="5870448"/>
            <a:ext cx="292608" cy="292608"/>
          </a:xfrm>
          <a:prstGeom prst="ellipse">
            <a:avLst/>
          </a:prstGeom>
          <a:noFill/>
          <a:ln w="12700">
            <a:solidFill>
              <a:srgbClr val="4A7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0">
                <a:solidFill>
                  <a:srgbClr val="4A78B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 wrap="square"/>
          <a:lstStyle/>
          <a:p>
            <a:r>
              <a:t>기본 2카드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896112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D6773"/>
                </a:solidFill>
              </a:rPr>
              <a:t>필요할 때만 쓰는 부제 한 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1417320"/>
            <a:ext cx="5413248" cy="411480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 Same Side Corner Rectangle 27"/>
          <p:cNvSpPr/>
          <p:nvPr/>
        </p:nvSpPr>
        <p:spPr>
          <a:xfrm>
            <a:off x="566928" y="1417320"/>
            <a:ext cx="5413248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06C"/>
                </a:solidFill>
              </a:rPr>
              <a:t>카드 제목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819656"/>
            <a:ext cx="5413248" cy="3712463"/>
          </a:xfrm>
          <a:prstGeom prst="rect">
            <a:avLst/>
          </a:prstGeom>
          <a:noFill/>
        </p:spPr>
        <p:txBody>
          <a:bodyPr wrap="square" lIns="182880" tIns="80467" rIns="146304" bIns="65836" anchor="ctr">
            <a:spAutoFit/>
          </a:bodyPr>
          <a:lstStyle/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30" b="0">
                <a:solidFill>
                  <a:srgbClr val="21262E"/>
                </a:solidFill>
              </a:rPr>
              <a:t>개조식 명사형으로 한 항목씩 작성</a:t>
            </a:r>
          </a:p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30" b="0">
                <a:solidFill>
                  <a:srgbClr val="21262E"/>
                </a:solidFill>
              </a:rPr>
              <a:t>불릿은 자동으로 파란 점과 내어쓰기 적용</a:t>
            </a:r>
          </a:p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30" b="0">
                <a:solidFill>
                  <a:srgbClr val="21262E"/>
                </a:solidFill>
              </a:rPr>
              <a:t>두 줄로 감기는 항목도 글머리 기준으로 정렬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200"/>
              </a:spcAft>
            </a:pPr>
            <a:r>
              <a:rPr sz="1030" b="0">
                <a:solidFill>
                  <a:srgbClr val="5D6773"/>
                </a:solidFill>
              </a:rPr>
              <a:t>보조 설명이나 한정 문구는 회색 작은 글씨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1417320"/>
            <a:ext cx="5413248" cy="411480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 Same Side Corner Rectangle 30"/>
          <p:cNvSpPr/>
          <p:nvPr/>
        </p:nvSpPr>
        <p:spPr>
          <a:xfrm>
            <a:off x="6208776" y="1417320"/>
            <a:ext cx="5413248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06C"/>
                </a:solidFill>
              </a:rPr>
              <a:t>카드 제목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8776" y="1819656"/>
            <a:ext cx="5413248" cy="3712463"/>
          </a:xfrm>
          <a:prstGeom prst="rect">
            <a:avLst/>
          </a:prstGeom>
          <a:noFill/>
        </p:spPr>
        <p:txBody>
          <a:bodyPr wrap="square" lIns="182880" tIns="80467" rIns="146304" bIns="65836" anchor="ctr">
            <a:spAutoFit/>
          </a:bodyPr>
          <a:lstStyle/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30" b="0">
                <a:solidFill>
                  <a:srgbClr val="21262E"/>
                </a:solidFill>
              </a:rPr>
              <a:t>개조식 명사형으로 한 항목씩 작성</a:t>
            </a:r>
          </a:p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30" b="0">
                <a:solidFill>
                  <a:srgbClr val="21262E"/>
                </a:solidFill>
              </a:rPr>
              <a:t>불릿은 자동으로 파란 점과 내어쓰기 적용</a:t>
            </a:r>
          </a:p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30" b="0">
                <a:solidFill>
                  <a:srgbClr val="21262E"/>
                </a:solidFill>
              </a:rPr>
              <a:t>두 줄로 감기는 항목도 글머리 기준으로 정렬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200"/>
              </a:spcAft>
            </a:pPr>
            <a:r>
              <a:rPr sz="1030" b="0">
                <a:solidFill>
                  <a:srgbClr val="5D6773"/>
                </a:solidFill>
              </a:rPr>
              <a:t>보조 설명이나 한정 문구는 회색 작은 글씨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55080"/>
            <a:ext cx="1219196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8288" rIns="228600" bIns="18288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buNone/>
            </a:pPr>
            <a:r>
              <a:rPr sz="1250" b="1">
                <a:solidFill>
                  <a:srgbClr val="FFFFFF"/>
                </a:solidFill>
              </a:rPr>
              <a:t>하단 밴드에는 이 슬라이드가 증명하는 핵심 주장을 한 문장으로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6355080"/>
            <a:ext cx="301752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8FACD0"/>
                </a:solidFill>
              </a:rPr>
              <a:t>00  섹션 이름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355080"/>
            <a:ext cx="548640" cy="5029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rIns="0" anchor="ctr"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lang="en-US" sz="1000" b="0">
                <a:solidFill>
                  <a:srgbClr val="FFFFFF"/>
                </a:solidFill>
              </a:r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 wrap="square"/>
          <a:lstStyle/>
          <a:p>
            <a:r>
              <a:t>3카드와 강조 카드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1417320"/>
            <a:ext cx="3532632" cy="2377440"/>
          </a:xfrm>
          <a:prstGeom prst="roundRect">
            <a:avLst>
              <a:gd name="adj" fmla="val 3076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 Same Side Corner Rectangle 26"/>
          <p:cNvSpPr/>
          <p:nvPr/>
        </p:nvSpPr>
        <p:spPr>
          <a:xfrm>
            <a:off x="566928" y="1417320"/>
            <a:ext cx="3532632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06C"/>
                </a:solidFill>
              </a:rPr>
              <a:t>항목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1819656"/>
            <a:ext cx="3532632" cy="1975104"/>
          </a:xfrm>
          <a:prstGeom prst="rect">
            <a:avLst/>
          </a:prstGeom>
          <a:noFill/>
        </p:spPr>
        <p:txBody>
          <a:bodyPr wrap="square" lIns="182880" tIns="80467" rIns="146304" bIns="65836" anchor="ctr">
            <a:spAutoFit/>
          </a:bodyPr>
          <a:lstStyle/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080" b="0">
                <a:solidFill>
                  <a:srgbClr val="21262E"/>
                </a:solidFill>
              </a:rPr>
              <a:t>카드 제목은 병렬 구조로 통일</a:t>
            </a:r>
          </a:p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080" b="0">
                <a:solidFill>
                  <a:srgbClr val="21262E"/>
                </a:solidFill>
              </a:rPr>
              <a:t>카드 높이와 여백은 서로 맞춤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8160" y="1417320"/>
            <a:ext cx="3532632" cy="2377440"/>
          </a:xfrm>
          <a:prstGeom prst="roundRect">
            <a:avLst>
              <a:gd name="adj" fmla="val 3076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 Same Side Corner Rectangle 29"/>
          <p:cNvSpPr/>
          <p:nvPr/>
        </p:nvSpPr>
        <p:spPr>
          <a:xfrm>
            <a:off x="4328160" y="1417320"/>
            <a:ext cx="3532632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06C"/>
                </a:solidFill>
              </a:rPr>
              <a:t>항목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8160" y="1819656"/>
            <a:ext cx="3532632" cy="1975104"/>
          </a:xfrm>
          <a:prstGeom prst="rect">
            <a:avLst/>
          </a:prstGeom>
          <a:noFill/>
        </p:spPr>
        <p:txBody>
          <a:bodyPr wrap="square" lIns="182880" tIns="80467" rIns="146304" bIns="65836" anchor="ctr">
            <a:spAutoFit/>
          </a:bodyPr>
          <a:lstStyle/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080" b="0">
                <a:solidFill>
                  <a:srgbClr val="21262E"/>
                </a:solidFill>
              </a:rPr>
              <a:t>카드 제목은 병렬 구조로 통일</a:t>
            </a:r>
          </a:p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080" b="0">
                <a:solidFill>
                  <a:srgbClr val="21262E"/>
                </a:solidFill>
              </a:rPr>
              <a:t>카드 높이와 여백은 서로 맞춤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89391" y="1417320"/>
            <a:ext cx="3532632" cy="2377440"/>
          </a:xfrm>
          <a:prstGeom prst="roundRect">
            <a:avLst>
              <a:gd name="adj" fmla="val 3076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 Same Side Corner Rectangle 32"/>
          <p:cNvSpPr/>
          <p:nvPr/>
        </p:nvSpPr>
        <p:spPr>
          <a:xfrm>
            <a:off x="8089391" y="1417320"/>
            <a:ext cx="3532632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06C"/>
                </a:solidFill>
              </a:rPr>
              <a:t>항목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9391" y="1819656"/>
            <a:ext cx="3532632" cy="1975104"/>
          </a:xfrm>
          <a:prstGeom prst="rect">
            <a:avLst/>
          </a:prstGeom>
          <a:noFill/>
        </p:spPr>
        <p:txBody>
          <a:bodyPr wrap="square" lIns="182880" tIns="80467" rIns="146304" bIns="65836" anchor="ctr">
            <a:spAutoFit/>
          </a:bodyPr>
          <a:lstStyle/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080" b="0">
                <a:solidFill>
                  <a:srgbClr val="21262E"/>
                </a:solidFill>
              </a:rPr>
              <a:t>카드 제목은 병렬 구조로 통일</a:t>
            </a:r>
          </a:p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080" b="0">
                <a:solidFill>
                  <a:srgbClr val="21262E"/>
                </a:solidFill>
              </a:rPr>
              <a:t>카드 높이와 여백은 서로 맞춤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023360"/>
            <a:ext cx="11055096" cy="1508760"/>
          </a:xfrm>
          <a:prstGeom prst="roundRect">
            <a:avLst>
              <a:gd name="adj" fmla="val 4848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 Same Side Corner Rectangle 35"/>
          <p:cNvSpPr/>
          <p:nvPr/>
        </p:nvSpPr>
        <p:spPr>
          <a:xfrm>
            <a:off x="566928" y="4023360"/>
            <a:ext cx="11055096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D6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06C"/>
                </a:solidFill>
              </a:rPr>
              <a:t>강조 카드 (옅은 파랑)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425696"/>
            <a:ext cx="11055096" cy="1106424"/>
          </a:xfrm>
          <a:prstGeom prst="rect">
            <a:avLst/>
          </a:prstGeom>
          <a:noFill/>
        </p:spPr>
        <p:txBody>
          <a:bodyPr wrap="square" lIns="182880" tIns="80467" rIns="146304" bIns="65836" anchor="ctr">
            <a:spAutoFit/>
          </a:bodyPr>
          <a:lstStyle/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30" b="0">
                <a:solidFill>
                  <a:srgbClr val="21262E"/>
                </a:solidFill>
              </a:rPr>
              <a:t>결론·전환·원칙처럼 힘을 실을 내용에만 사용</a:t>
            </a:r>
          </a:p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30" b="0">
                <a:solidFill>
                  <a:srgbClr val="21262E"/>
                </a:solidFill>
              </a:rPr>
              <a:t>헤더 띠가 한 단계 더 진해져 위계가 구분됨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55080"/>
            <a:ext cx="1219196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8288" rIns="228600" bIns="18288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buNone/>
            </a:pPr>
            <a:r>
              <a:rPr sz="1250" b="1">
                <a:solidFill>
                  <a:srgbClr val="FFFFFF"/>
                </a:solidFill>
              </a:rPr>
              <a:t>카드 수가 달라도 간격 0.25인치와 같은 높이를 유지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6355080"/>
            <a:ext cx="301752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8FACD0"/>
                </a:solidFill>
              </a:rPr>
              <a:t>00  섹션 이름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355080"/>
            <a:ext cx="548640" cy="5029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rIns="0" anchor="ctr"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lang="en-US" sz="1000" b="0">
                <a:solidFill>
                  <a:srgbClr val="FFFFFF"/>
                </a:solidFill>
              </a:r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 wrap="square"/>
          <a:lstStyle/>
          <a:p>
            <a:r>
              <a:t>핵심 수치와 구성비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1417320"/>
            <a:ext cx="2592324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00306C"/>
                </a:solidFill>
              </a:rPr>
              <a:t>00건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1262E"/>
                </a:solidFill>
              </a:rPr>
              <a:t>지표 이름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D6773"/>
                </a:solidFill>
              </a:rPr>
              <a:t>보조 설명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7852" y="1417320"/>
            <a:ext cx="2592324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00306C"/>
                </a:solidFill>
              </a:rPr>
              <a:t>0.000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1262E"/>
                </a:solidFill>
              </a:rPr>
              <a:t>지표 이름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D6773"/>
                </a:solidFill>
              </a:rPr>
              <a:t>보조 설명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1417320"/>
            <a:ext cx="2592324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00306C"/>
                </a:solidFill>
              </a:rPr>
              <a:t>00%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1262E"/>
                </a:solidFill>
              </a:rPr>
              <a:t>지표 이름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D6773"/>
                </a:solidFill>
              </a:rPr>
              <a:t>보조 설명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9699" y="1417320"/>
            <a:ext cx="2592324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00306C"/>
                </a:solidFill>
              </a:rPr>
              <a:t>00종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1262E"/>
                </a:solidFill>
              </a:rPr>
              <a:t>지표 이름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D6773"/>
                </a:solidFill>
              </a:rPr>
              <a:t>보조 설명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108960"/>
            <a:ext cx="11055096" cy="1097280"/>
          </a:xfrm>
          <a:prstGeom prst="roundRect">
            <a:avLst>
              <a:gd name="adj" fmla="val 6666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 Same Side Corner Rectangle 30"/>
          <p:cNvSpPr/>
          <p:nvPr/>
        </p:nvSpPr>
        <p:spPr>
          <a:xfrm>
            <a:off x="566928" y="3108960"/>
            <a:ext cx="11055096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06C"/>
                </a:solidFill>
              </a:rPr>
              <a:t>전체 구성 · 비율 막대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" y="3712463"/>
            <a:ext cx="7344917" cy="256032"/>
          </a:xfrm>
          <a:prstGeom prst="rect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</a:rPr>
              <a:t>구분 A · 85%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1301" y="3712463"/>
            <a:ext cx="1296161" cy="256032"/>
          </a:xfrm>
          <a:prstGeom prst="rect">
            <a:avLst/>
          </a:prstGeom>
          <a:solidFill>
            <a:srgbClr val="B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55480" y="3730751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83A3A"/>
                </a:solidFill>
              </a:rPr>
              <a:t>구분 B · 15%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434840"/>
            <a:ext cx="1105509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D6773"/>
                </a:solidFill>
              </a:rPr>
              <a:t>큰 수는 스탯 카드로, 구성비는 한 줄 막대로 표현 · 수치는 근거 있는 값만 사용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355080"/>
            <a:ext cx="1219196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8288" rIns="228600" bIns="18288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buNone/>
            </a:pPr>
            <a:r>
              <a:rPr sz="1250" b="1">
                <a:solidFill>
                  <a:srgbClr val="FFFFFF"/>
                </a:solidFill>
              </a:rPr>
              <a:t>정성 구조를 먼저 보이고 수치는 그 뒤에 붙이는 순서 유지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6355080"/>
            <a:ext cx="301752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8FACD0"/>
                </a:solidFill>
              </a:rPr>
              <a:t>00  섹션 이름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355080"/>
            <a:ext cx="548640" cy="5029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rIns="0" anchor="ctr"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lang="en-US" sz="1000" b="0">
                <a:solidFill>
                  <a:srgbClr val="FFFFFF"/>
                </a:solidFill>
              </a:r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 wrap="square"/>
          <a:lstStyle/>
          <a:p>
            <a:r>
              <a:t>표와 보조 스탯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66928" y="1417320"/>
          <a:ext cx="83210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1262E"/>
                          </a:solidFill>
                        </a:rPr>
                        <a:t>항목 A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1262E"/>
                          </a:solidFill>
                        </a:rPr>
                        <a:t>설명 문구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1262E"/>
                          </a:solidFill>
                        </a:rPr>
                        <a:t>0.000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1262E"/>
                          </a:solidFill>
                        </a:rPr>
                        <a:t>기준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1262E"/>
                          </a:solidFill>
                        </a:rPr>
                        <a:t>항목 B (강조 행)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1262E"/>
                          </a:solidFill>
                        </a:rPr>
                        <a:t>설명 문구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1262E"/>
                          </a:solidFill>
                        </a:rPr>
                        <a:t>0.000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1262E"/>
                          </a:solidFill>
                        </a:rPr>
                        <a:t>항목 C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1262E"/>
                          </a:solidFill>
                        </a:rPr>
                        <a:t>설명 문구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1262E"/>
                          </a:solidFill>
                        </a:rPr>
                        <a:t>0.000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1262E"/>
                          </a:solidFill>
                        </a:rPr>
                        <a:t>항목 D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1262E"/>
                          </a:solidFill>
                        </a:rPr>
                        <a:t>설명 문구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1262E"/>
                          </a:solidFill>
                        </a:rPr>
                        <a:t>0.000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9235440" y="1417320"/>
            <a:ext cx="2395728" cy="1417320"/>
          </a:xfrm>
          <a:prstGeom prst="roundRect">
            <a:avLst>
              <a:gd name="adj" fmla="val 5161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0306C"/>
                </a:solidFill>
              </a:rPr>
              <a:t>00%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1262E"/>
                </a:solidFill>
              </a:rPr>
              <a:t>표와 짝을 이루는 수치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977639"/>
            <a:ext cx="11055096" cy="1188720"/>
          </a:xfrm>
          <a:prstGeom prst="roundRect">
            <a:avLst>
              <a:gd name="adj" fmla="val 6153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 Same Side Corner Rectangle 28"/>
          <p:cNvSpPr/>
          <p:nvPr/>
        </p:nvSpPr>
        <p:spPr>
          <a:xfrm>
            <a:off x="566928" y="3977639"/>
            <a:ext cx="11055096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06C"/>
                </a:solidFill>
              </a:rPr>
              <a:t>해석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379976"/>
            <a:ext cx="11055096" cy="786384"/>
          </a:xfrm>
          <a:prstGeom prst="rect">
            <a:avLst/>
          </a:prstGeom>
          <a:noFill/>
        </p:spPr>
        <p:txBody>
          <a:bodyPr wrap="square" lIns="182880" tIns="80467" rIns="146304" bIns="65836" anchor="ctr">
            <a:spAutoFit/>
          </a:bodyPr>
          <a:lstStyle/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30" b="0">
                <a:solidFill>
                  <a:srgbClr val="21262E"/>
                </a:solidFill>
              </a:rPr>
              <a:t>표가 보여주는 사실에서 끌어낸 주장 한두 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355080"/>
            <a:ext cx="1219196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8288" rIns="228600" bIns="18288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buNone/>
            </a:pPr>
            <a:r>
              <a:rPr sz="1250" b="1">
                <a:solidFill>
                  <a:srgbClr val="FFFFFF"/>
                </a:solidFill>
              </a:rPr>
              <a:t>표는 네이비 헤더와 짝수 행 배경, 강조 행은 파란 톤으로 구분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6355080"/>
            <a:ext cx="301752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8FACD0"/>
                </a:solidFill>
              </a:rPr>
              <a:t>00  섹션 이름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355080"/>
            <a:ext cx="548640" cy="5029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rIns="0" anchor="ctr"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lang="en-US" sz="1000" b="0">
                <a:solidFill>
                  <a:srgbClr val="FFFFFF"/>
                </a:solidFill>
              </a:r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 wrap="square"/>
          <a:lstStyle/>
          <a:p>
            <a:r>
              <a:t>단계 흐름도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1463040"/>
            <a:ext cx="2530602" cy="1188720"/>
          </a:xfrm>
          <a:prstGeom prst="roundRect">
            <a:avLst>
              <a:gd name="adj" fmla="val 6153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306C"/>
                </a:solidFill>
              </a:rPr>
              <a:t>1단계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1262E"/>
                </a:solidFill>
              </a:rPr>
              <a:t>단계 설명
두 줄까지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08426" y="1463040"/>
            <a:ext cx="2530602" cy="1188720"/>
          </a:xfrm>
          <a:prstGeom prst="roundRect">
            <a:avLst>
              <a:gd name="adj" fmla="val 6153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306C"/>
                </a:solidFill>
              </a:rPr>
              <a:t>2단계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1262E"/>
                </a:solidFill>
              </a:rPr>
              <a:t>단계 설명
두 줄까지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143250" y="2057400"/>
            <a:ext cx="219456" cy="0"/>
          </a:xfrm>
          <a:prstGeom prst="line">
            <a:avLst/>
          </a:prstGeom>
          <a:ln w="22225">
            <a:solidFill>
              <a:srgbClr val="9AA3A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249924" y="1463040"/>
            <a:ext cx="2530602" cy="1188720"/>
          </a:xfrm>
          <a:prstGeom prst="roundRect">
            <a:avLst>
              <a:gd name="adj" fmla="val 6153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306C"/>
                </a:solidFill>
              </a:rPr>
              <a:t>3단계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1262E"/>
                </a:solidFill>
              </a:rPr>
              <a:t>단계 설명
두 줄까지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84748" y="2057400"/>
            <a:ext cx="219456" cy="0"/>
          </a:xfrm>
          <a:prstGeom prst="line">
            <a:avLst/>
          </a:prstGeom>
          <a:ln w="22225">
            <a:solidFill>
              <a:srgbClr val="9AA3A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091422" y="1463040"/>
            <a:ext cx="2530602" cy="1188720"/>
          </a:xfrm>
          <a:prstGeom prst="roundRect">
            <a:avLst>
              <a:gd name="adj" fmla="val 6153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306C"/>
                </a:solidFill>
              </a:rPr>
              <a:t>4단계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1262E"/>
                </a:solidFill>
              </a:rPr>
              <a:t>단계 설명
두 줄까지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826246" y="2057400"/>
            <a:ext cx="219455" cy="0"/>
          </a:xfrm>
          <a:prstGeom prst="line">
            <a:avLst/>
          </a:prstGeom>
          <a:ln w="22225">
            <a:solidFill>
              <a:srgbClr val="9AA3A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66928" y="3154680"/>
            <a:ext cx="5413248" cy="2377440"/>
          </a:xfrm>
          <a:prstGeom prst="roundRect">
            <a:avLst>
              <a:gd name="adj" fmla="val 3076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 Same Side Corner Rectangle 33"/>
          <p:cNvSpPr/>
          <p:nvPr/>
        </p:nvSpPr>
        <p:spPr>
          <a:xfrm>
            <a:off x="566928" y="3154680"/>
            <a:ext cx="5413248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06C"/>
                </a:solidFill>
              </a:rPr>
              <a:t>왼쪽 보충 카드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557016"/>
            <a:ext cx="5413248" cy="1975104"/>
          </a:xfrm>
          <a:prstGeom prst="rect">
            <a:avLst/>
          </a:prstGeom>
          <a:noFill/>
        </p:spPr>
        <p:txBody>
          <a:bodyPr wrap="square" lIns="182880" tIns="80467" rIns="146304" bIns="65836" anchor="ctr">
            <a:spAutoFit/>
          </a:bodyPr>
          <a:lstStyle/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20" b="0">
                <a:solidFill>
                  <a:srgbClr val="21262E"/>
                </a:solidFill>
              </a:rPr>
              <a:t>흐름의 규칙이나 전제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08776" y="3154680"/>
            <a:ext cx="5413248" cy="2377440"/>
          </a:xfrm>
          <a:prstGeom prst="roundRect">
            <a:avLst>
              <a:gd name="adj" fmla="val 3076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 Same Side Corner Rectangle 36"/>
          <p:cNvSpPr/>
          <p:nvPr/>
        </p:nvSpPr>
        <p:spPr>
          <a:xfrm>
            <a:off x="6208776" y="3154680"/>
            <a:ext cx="5413248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D6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06C"/>
                </a:solidFill>
              </a:rPr>
              <a:t>오른쪽 보충 카드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8776" y="3557016"/>
            <a:ext cx="5413248" cy="1975104"/>
          </a:xfrm>
          <a:prstGeom prst="rect">
            <a:avLst/>
          </a:prstGeom>
          <a:noFill/>
        </p:spPr>
        <p:txBody>
          <a:bodyPr wrap="square" lIns="182880" tIns="80467" rIns="146304" bIns="65836" anchor="ctr">
            <a:spAutoFit/>
          </a:bodyPr>
          <a:lstStyle/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20" b="0">
                <a:solidFill>
                  <a:srgbClr val="21262E"/>
                </a:solidFill>
              </a:rPr>
              <a:t>흐름의 결과나 산출물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355080"/>
            <a:ext cx="1219196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8288" rIns="228600" bIns="18288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buNone/>
            </a:pPr>
            <a:r>
              <a:rPr sz="1250" b="1">
                <a:solidFill>
                  <a:srgbClr val="FFFFFF"/>
                </a:solidFill>
              </a:rPr>
              <a:t>단계 상자는 같은 폭·같은 높이, 화살표는 회색 1.75pt로 통일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6355080"/>
            <a:ext cx="301752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8FACD0"/>
                </a:solidFill>
              </a:rPr>
              <a:t>00  섹션 이름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355080"/>
            <a:ext cx="548640" cy="5029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rIns="0" anchor="ctr"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lang="en-US" sz="1000" b="0">
                <a:solidFill>
                  <a:srgbClr val="FFFFFF"/>
                </a:solidFill>
              </a:r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 wrap="square"/>
          <a:lstStyle/>
          <a:p>
            <a:r>
              <a:t>항목별 크기 비교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1325880"/>
            <a:ext cx="5212080" cy="420624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 Same Side Corner Rectangle 26"/>
          <p:cNvSpPr/>
          <p:nvPr/>
        </p:nvSpPr>
        <p:spPr>
          <a:xfrm>
            <a:off x="566928" y="1325880"/>
            <a:ext cx="5212080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06C"/>
                </a:solidFill>
              </a:rPr>
              <a:t>분포 · 트랙형 막대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1956816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262E"/>
                </a:solidFill>
              </a:rPr>
              <a:t>항목 A   </a:t>
            </a:r>
            <a:r>
              <a:rPr sz="1050" b="0">
                <a:solidFill>
                  <a:srgbClr val="5D6773"/>
                </a:solidFill>
              </a:rPr>
              <a:t>항목 설명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" y="2240280"/>
            <a:ext cx="4059936" cy="237744"/>
          </a:xfrm>
          <a:prstGeom prst="roundRect">
            <a:avLst>
              <a:gd name="adj" fmla="val 46153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86384" y="2240280"/>
            <a:ext cx="4059936" cy="237744"/>
          </a:xfrm>
          <a:prstGeom prst="roundRect">
            <a:avLst>
              <a:gd name="adj" fmla="val 46153"/>
            </a:avLst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37760" y="2231136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306C"/>
                </a:solidFill>
              </a:rPr>
              <a:t>19건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2706624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262E"/>
                </a:solidFill>
              </a:rPr>
              <a:t>항목 B   </a:t>
            </a:r>
            <a:r>
              <a:rPr sz="1050" b="0">
                <a:solidFill>
                  <a:srgbClr val="5D6773"/>
                </a:solidFill>
              </a:rPr>
              <a:t>항목 설명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" y="2990088"/>
            <a:ext cx="4059936" cy="237744"/>
          </a:xfrm>
          <a:prstGeom prst="roundRect">
            <a:avLst>
              <a:gd name="adj" fmla="val 46153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86384" y="2990088"/>
            <a:ext cx="1709446" cy="237744"/>
          </a:xfrm>
          <a:prstGeom prst="roundRect">
            <a:avLst>
              <a:gd name="adj" fmla="val 46153"/>
            </a:avLst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37760" y="2980944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306C"/>
                </a:solidFill>
              </a:rPr>
              <a:t>8건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3456432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262E"/>
                </a:solidFill>
              </a:rPr>
              <a:t>항목 C   </a:t>
            </a:r>
            <a:r>
              <a:rPr sz="1050" b="0">
                <a:solidFill>
                  <a:srgbClr val="5D6773"/>
                </a:solidFill>
              </a:rPr>
              <a:t>항목 설명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6384" y="3739896"/>
            <a:ext cx="4059936" cy="237744"/>
          </a:xfrm>
          <a:prstGeom prst="roundRect">
            <a:avLst>
              <a:gd name="adj" fmla="val 46153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86384" y="3739896"/>
            <a:ext cx="854723" cy="237744"/>
          </a:xfrm>
          <a:prstGeom prst="roundRect">
            <a:avLst>
              <a:gd name="adj" fmla="val 46153"/>
            </a:avLst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37760" y="3730752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306C"/>
                </a:solidFill>
              </a:rPr>
              <a:t>4건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" y="420624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262E"/>
                </a:solidFill>
              </a:rPr>
              <a:t>항목 D   </a:t>
            </a:r>
            <a:r>
              <a:rPr sz="1050" b="0">
                <a:solidFill>
                  <a:srgbClr val="5D6773"/>
                </a:solidFill>
              </a:rPr>
              <a:t>항목 설명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6384" y="4489703"/>
            <a:ext cx="4059936" cy="237744"/>
          </a:xfrm>
          <a:prstGeom prst="roundRect">
            <a:avLst>
              <a:gd name="adj" fmla="val 46153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86384" y="4489703"/>
            <a:ext cx="213680" cy="237744"/>
          </a:xfrm>
          <a:prstGeom prst="roundRect">
            <a:avLst>
              <a:gd name="adj" fmla="val 50000"/>
            </a:avLst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37760" y="4480559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306C"/>
                </a:solidFill>
              </a:rPr>
              <a:t>1건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" y="50292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773"/>
                </a:solidFill>
              </a:rPr>
              <a:t>집계 기준이나 제외 항목은 회색 한 줄로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89320" y="1325880"/>
            <a:ext cx="5632704" cy="420624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 Same Side Corner Rectangle 45"/>
          <p:cNvSpPr/>
          <p:nvPr/>
        </p:nvSpPr>
        <p:spPr>
          <a:xfrm>
            <a:off x="5989320" y="1325880"/>
            <a:ext cx="5632704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06C"/>
                </a:solidFill>
              </a:rPr>
              <a:t>오른쪽 해설 카드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89320" y="1728216"/>
            <a:ext cx="5632704" cy="3803903"/>
          </a:xfrm>
          <a:prstGeom prst="rect">
            <a:avLst/>
          </a:prstGeom>
          <a:noFill/>
        </p:spPr>
        <p:txBody>
          <a:bodyPr wrap="square" lIns="182880" tIns="80467" rIns="146304" bIns="65836" anchor="ctr">
            <a:spAutoFit/>
          </a:bodyPr>
          <a:lstStyle/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00" b="0">
                <a:solidFill>
                  <a:srgbClr val="21262E"/>
                </a:solidFill>
              </a:rPr>
              <a:t>같은 눈금 위에서 같은 시작점으로 비교</a:t>
            </a:r>
          </a:p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00" b="0">
                <a:solidFill>
                  <a:srgbClr val="21262E"/>
                </a:solidFill>
              </a:rPr>
              <a:t>막대에는 범례 대신 이름을 직접 표기</a:t>
            </a:r>
          </a:p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00" b="0">
                <a:solidFill>
                  <a:srgbClr val="21262E"/>
                </a:solidFill>
              </a:rPr>
              <a:t>값 라벨은 막대 끝에 네이비 볼드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355080"/>
            <a:ext cx="1219196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8288" rIns="228600" bIns="18288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buNone/>
            </a:pPr>
            <a:r>
              <a:rPr sz="1250" b="1">
                <a:solidFill>
                  <a:srgbClr val="FFFFFF"/>
                </a:solidFill>
              </a:rPr>
              <a:t>크기 비교는 트랙 위 막대와 직접 라벨로, 범례 없이 표현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79" y="6355080"/>
            <a:ext cx="301752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8FACD0"/>
                </a:solidFill>
              </a:rPr>
              <a:t>00  섹션 이름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355080"/>
            <a:ext cx="548640" cy="5029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rIns="0" anchor="ctr"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lang="en-US" sz="1000" b="0">
                <a:solidFill>
                  <a:srgbClr val="FFFFFF"/>
                </a:solidFill>
              </a:r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 wrap="square"/>
          <a:lstStyle/>
          <a:p>
            <a:r>
              <a:t>전후 비교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1417320"/>
            <a:ext cx="5413248" cy="2331720"/>
          </a:xfrm>
          <a:prstGeom prst="roundRect">
            <a:avLst>
              <a:gd name="adj" fmla="val 3137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 Same Side Corner Rectangle 26"/>
          <p:cNvSpPr/>
          <p:nvPr/>
        </p:nvSpPr>
        <p:spPr>
          <a:xfrm>
            <a:off x="566928" y="1417320"/>
            <a:ext cx="5413248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83A3A"/>
                </a:solidFill>
              </a:rPr>
              <a:t>✕  </a:t>
            </a:r>
            <a:r>
              <a:rPr sz="1250" b="1">
                <a:solidFill>
                  <a:srgbClr val="00306C"/>
                </a:solidFill>
              </a:rPr>
              <a:t>기존 방식의 문제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1819656"/>
            <a:ext cx="5413248" cy="1929384"/>
          </a:xfrm>
          <a:prstGeom prst="rect">
            <a:avLst/>
          </a:prstGeom>
          <a:noFill/>
        </p:spPr>
        <p:txBody>
          <a:bodyPr wrap="square" lIns="182880" tIns="80467" rIns="146304" bIns="65836" anchor="ctr">
            <a:spAutoFit/>
          </a:bodyPr>
          <a:lstStyle/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30" b="0">
                <a:solidFill>
                  <a:srgbClr val="21262E"/>
                </a:solidFill>
              </a:rPr>
              <a:t>문제 상황을 수치·사례로 서술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200"/>
              </a:spcAft>
            </a:pPr>
            <a:r>
              <a:rPr sz="1050" b="1">
                <a:solidFill>
                  <a:srgbClr val="B83A3A"/>
                </a:solidFill>
              </a:rPr>
              <a:t>한계를 요약하는 강조 한 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1417320"/>
            <a:ext cx="5413248" cy="2331720"/>
          </a:xfrm>
          <a:prstGeom prst="roundRect">
            <a:avLst>
              <a:gd name="adj" fmla="val 3137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 Same Side Corner Rectangle 29"/>
          <p:cNvSpPr/>
          <p:nvPr/>
        </p:nvSpPr>
        <p:spPr>
          <a:xfrm>
            <a:off x="6208776" y="1417320"/>
            <a:ext cx="5413248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7A46"/>
                </a:solidFill>
              </a:rPr>
              <a:t>✓  </a:t>
            </a:r>
            <a:r>
              <a:rPr sz="1250" b="1">
                <a:solidFill>
                  <a:srgbClr val="00306C"/>
                </a:solidFill>
              </a:rPr>
              <a:t>제안 방식의 해결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8776" y="1819656"/>
            <a:ext cx="5413248" cy="1929384"/>
          </a:xfrm>
          <a:prstGeom prst="rect">
            <a:avLst/>
          </a:prstGeom>
          <a:noFill/>
        </p:spPr>
        <p:txBody>
          <a:bodyPr wrap="square" lIns="182880" tIns="80467" rIns="146304" bIns="65836" anchor="ctr">
            <a:spAutoFit/>
          </a:bodyPr>
          <a:lstStyle/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30" b="0">
                <a:solidFill>
                  <a:srgbClr val="21262E"/>
                </a:solidFill>
              </a:rPr>
              <a:t>해결 방법을 같은 구조로 서술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200"/>
              </a:spcAft>
            </a:pPr>
            <a:r>
              <a:rPr sz="1050" b="1">
                <a:solidFill>
                  <a:srgbClr val="00306C"/>
                </a:solidFill>
              </a:rPr>
              <a:t>효과를 요약하는 강조 한 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977639"/>
            <a:ext cx="11055096" cy="1554480"/>
          </a:xfrm>
          <a:prstGeom prst="roundRect">
            <a:avLst>
              <a:gd name="adj" fmla="val 4705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 Same Side Corner Rectangle 32"/>
          <p:cNvSpPr/>
          <p:nvPr/>
        </p:nvSpPr>
        <p:spPr>
          <a:xfrm>
            <a:off x="566928" y="3977639"/>
            <a:ext cx="11055096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D6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06C"/>
                </a:solidFill>
              </a:rPr>
              <a:t>관점 전환 · 3열 강조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4617720"/>
            <a:ext cx="34107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0306C"/>
                </a:solidFill>
              </a:rPr>
              <a:t>핵심 문구 1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1262E"/>
                </a:solidFill>
              </a:rPr>
              <a:t>한 줄 부연 설명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617720"/>
            <a:ext cx="34107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0306C"/>
                </a:solidFill>
              </a:rPr>
              <a:t>핵심 문구 2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1262E"/>
                </a:solidFill>
              </a:rPr>
              <a:t>한 줄 부연 설명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82712" y="4617720"/>
            <a:ext cx="34107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0306C"/>
                </a:solidFill>
              </a:rPr>
              <a:t>핵심 문구 3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1262E"/>
                </a:solidFill>
              </a:rPr>
              <a:t>한 줄 부연 설명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355080"/>
            <a:ext cx="1219196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8288" rIns="228600" bIns="18288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buNone/>
            </a:pPr>
            <a:r>
              <a:rPr sz="1250" b="1">
                <a:solidFill>
                  <a:srgbClr val="FFFFFF"/>
                </a:solidFill>
              </a:rPr>
              <a:t>좌측 문제와 우측 해결을 같은 높이로 놓는 것이 기본 비교 구조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6355080"/>
            <a:ext cx="301752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8FACD0"/>
                </a:solidFill>
              </a:rPr>
              <a:t>00  섹션 이름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355080"/>
            <a:ext cx="548640" cy="5029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rIns="0" anchor="ctr"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lang="en-US" sz="1000" b="0">
                <a:solidFill>
                  <a:srgbClr val="FFFFFF"/>
                </a:solidFill>
              </a:r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 wrap="square"/>
          <a:lstStyle/>
          <a:p>
            <a:r>
              <a:t>원형 스테퍼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672437" y="2276856"/>
            <a:ext cx="8844077" cy="0"/>
          </a:xfrm>
          <a:prstGeom prst="line">
            <a:avLst/>
          </a:prstGeom>
          <a:ln w="27940">
            <a:solidFill>
              <a:srgbClr val="D9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498701" y="2103120"/>
            <a:ext cx="347472" cy="347472"/>
          </a:xfrm>
          <a:prstGeom prst="ellipse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2606039"/>
            <a:ext cx="210129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21262E"/>
                </a:solidFill>
              </a:rPr>
              <a:t>단계 이름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BC6"/>
                </a:solidFill>
              </a:rPr>
              <a:t>YYYY.MM ~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3291839"/>
            <a:ext cx="2101291" cy="1572768"/>
          </a:xfrm>
          <a:prstGeom prst="roundRect">
            <a:avLst>
              <a:gd name="adj" fmla="val 4651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5338" rIns="146304" bIns="80467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5D6773"/>
                </a:solidFill>
              </a:rPr>
              <a:t>단계에서 수행한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5D6773"/>
                </a:solidFill>
              </a:rPr>
              <a:t>핵심 활동을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5D6773"/>
                </a:solidFill>
              </a:rPr>
              <a:t>세 줄 이내로</a:t>
            </a:r>
          </a:p>
        </p:txBody>
      </p:sp>
      <p:sp>
        <p:nvSpPr>
          <p:cNvPr id="30" name="Oval 29"/>
          <p:cNvSpPr/>
          <p:nvPr/>
        </p:nvSpPr>
        <p:spPr>
          <a:xfrm>
            <a:off x="3709720" y="2103120"/>
            <a:ext cx="347472" cy="347472"/>
          </a:xfrm>
          <a:prstGeom prst="ellipse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2811" y="2606039"/>
            <a:ext cx="210129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21262E"/>
                </a:solidFill>
              </a:rPr>
              <a:t>단계 이름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BC6"/>
                </a:solidFill>
              </a:rPr>
              <a:t>YYYY.MM ~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2811" y="3291839"/>
            <a:ext cx="2101291" cy="1572768"/>
          </a:xfrm>
          <a:prstGeom prst="roundRect">
            <a:avLst>
              <a:gd name="adj" fmla="val 4651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5338" rIns="146304" bIns="80467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5D6773"/>
                </a:solidFill>
              </a:rPr>
              <a:t>단계에서 수행한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5D6773"/>
                </a:solidFill>
              </a:rPr>
              <a:t>핵심 활동을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5D6773"/>
                </a:solidFill>
              </a:rPr>
              <a:t>세 줄 이내로</a:t>
            </a:r>
          </a:p>
        </p:txBody>
      </p:sp>
      <p:sp>
        <p:nvSpPr>
          <p:cNvPr id="33" name="Oval 32"/>
          <p:cNvSpPr/>
          <p:nvPr/>
        </p:nvSpPr>
        <p:spPr>
          <a:xfrm>
            <a:off x="5920740" y="2103120"/>
            <a:ext cx="347472" cy="347472"/>
          </a:xfrm>
          <a:prstGeom prst="ellipse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3830" y="2606039"/>
            <a:ext cx="210129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21262E"/>
                </a:solidFill>
              </a:rPr>
              <a:t>단계 이름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BC6"/>
                </a:solidFill>
              </a:rPr>
              <a:t>YYYY.MM ~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43830" y="3291839"/>
            <a:ext cx="2101291" cy="1572768"/>
          </a:xfrm>
          <a:prstGeom prst="roundRect">
            <a:avLst>
              <a:gd name="adj" fmla="val 4651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5338" rIns="146304" bIns="80467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5D6773"/>
                </a:solidFill>
              </a:rPr>
              <a:t>단계에서 수행한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5D6773"/>
                </a:solidFill>
              </a:rPr>
              <a:t>핵심 활동을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5D6773"/>
                </a:solidFill>
              </a:rPr>
              <a:t>세 줄 이내로</a:t>
            </a:r>
          </a:p>
        </p:txBody>
      </p:sp>
      <p:sp>
        <p:nvSpPr>
          <p:cNvPr id="36" name="Oval 35"/>
          <p:cNvSpPr/>
          <p:nvPr/>
        </p:nvSpPr>
        <p:spPr>
          <a:xfrm>
            <a:off x="8131759" y="2103120"/>
            <a:ext cx="347472" cy="347472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54849" y="2606039"/>
            <a:ext cx="210129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21262E"/>
                </a:solidFill>
              </a:rPr>
              <a:t>단계 이름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BC6"/>
                </a:solidFill>
              </a:rPr>
              <a:t>YYYY.MM ~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54849" y="3291839"/>
            <a:ext cx="2101291" cy="1572768"/>
          </a:xfrm>
          <a:prstGeom prst="roundRect">
            <a:avLst>
              <a:gd name="adj" fmla="val 4651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5338" rIns="146304" bIns="80467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5D6773"/>
                </a:solidFill>
              </a:rPr>
              <a:t>단계에서 수행한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5D6773"/>
                </a:solidFill>
              </a:rPr>
              <a:t>핵심 활동을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5D6773"/>
                </a:solidFill>
              </a:rPr>
              <a:t>세 줄 이내로</a:t>
            </a:r>
          </a:p>
        </p:txBody>
      </p:sp>
      <p:sp>
        <p:nvSpPr>
          <p:cNvPr id="39" name="Oval 38"/>
          <p:cNvSpPr/>
          <p:nvPr/>
        </p:nvSpPr>
        <p:spPr>
          <a:xfrm>
            <a:off x="10342778" y="2103120"/>
            <a:ext cx="347472" cy="347472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5868" y="2606039"/>
            <a:ext cx="210129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21262E"/>
                </a:solidFill>
              </a:rPr>
              <a:t>단계 이름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BC6"/>
                </a:solidFill>
              </a:rPr>
              <a:t>YYYY.MM ~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65868" y="3291839"/>
            <a:ext cx="2101291" cy="1572768"/>
          </a:xfrm>
          <a:prstGeom prst="roundRect">
            <a:avLst>
              <a:gd name="adj" fmla="val 4651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5338" rIns="146304" bIns="80467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5D6773"/>
                </a:solidFill>
              </a:rPr>
              <a:t>단계에서 수행한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5D6773"/>
                </a:solidFill>
              </a:rPr>
              <a:t>핵심 활동을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>
                <a:solidFill>
                  <a:srgbClr val="5D6773"/>
                </a:solidFill>
              </a:rPr>
              <a:t>세 줄 이내로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355080"/>
            <a:ext cx="1219196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8288" rIns="228600" bIns="18288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buNone/>
            </a:pPr>
            <a:r>
              <a:rPr sz="1250" b="1">
                <a:solidFill>
                  <a:srgbClr val="FFFFFF"/>
                </a:solidFill>
              </a:rPr>
              <a:t>완료 단계는 네이비, 진행 전 단계는 블루로 시점을 구분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6355080"/>
            <a:ext cx="301752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8FACD0"/>
                </a:solidFill>
              </a:rPr>
              <a:t>00  섹션 이름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355080"/>
            <a:ext cx="548640" cy="5029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rIns="0" anchor="ctr"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lang="en-US" sz="1000" b="0">
                <a:solidFill>
                  <a:srgbClr val="FFFFFF"/>
                </a:solidFill>
              </a:rPr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 wrap="square"/>
          <a:lstStyle/>
          <a:p>
            <a:r>
              <a:t>순번 리스트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1371600"/>
            <a:ext cx="11055096" cy="73152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5338" rIns="146304" bIns="80467"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04672" y="1563624"/>
            <a:ext cx="347472" cy="347472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1371600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262E"/>
                </a:solidFill>
              </a:rPr>
              <a:t>항목 제목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1371600"/>
            <a:ext cx="6903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5D6773"/>
                </a:solidFill>
              </a:rPr>
              <a:t>항목에 대한 설명을 회색 본문으로 한 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2231136"/>
            <a:ext cx="11055096" cy="73152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5338" rIns="146304" bIns="80467"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04672" y="2423160"/>
            <a:ext cx="347472" cy="347472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2231136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262E"/>
                </a:solidFill>
              </a:rPr>
              <a:t>항목 제목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4568" y="2231136"/>
            <a:ext cx="6903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5D6773"/>
                </a:solidFill>
              </a:rPr>
              <a:t>항목에 대한 설명을 회색 본문으로 한 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3090672"/>
            <a:ext cx="11055096" cy="73152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5338" rIns="146304" bIns="80467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04672" y="3282696"/>
            <a:ext cx="347472" cy="347472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090672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262E"/>
                </a:solidFill>
              </a:rPr>
              <a:t>항목 제목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4568" y="3090672"/>
            <a:ext cx="6903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5D6773"/>
                </a:solidFill>
              </a:rPr>
              <a:t>항목에 대한 설명을 회색 본문으로 한 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3950208"/>
            <a:ext cx="11055096" cy="73152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5338" rIns="146304" bIns="80467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04672" y="4142232"/>
            <a:ext cx="347472" cy="347472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3950208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262E"/>
                </a:solidFill>
              </a:rPr>
              <a:t>항목 제목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44568" y="3950208"/>
            <a:ext cx="6903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5D6773"/>
                </a:solidFill>
              </a:rPr>
              <a:t>항목에 대한 설명을 회색 본문으로 한 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4809744"/>
            <a:ext cx="11055096" cy="73152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5338" rIns="146304" bIns="80467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04672" y="5001768"/>
            <a:ext cx="347472" cy="347472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4809744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262E"/>
                </a:solidFill>
              </a:rPr>
              <a:t>항목 제목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4568" y="4809744"/>
            <a:ext cx="6903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5D6773"/>
                </a:solidFill>
              </a:rPr>
              <a:t>항목에 대한 설명을 회색 본문으로 한 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355080"/>
            <a:ext cx="1219196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8288" rIns="228600" bIns="18288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buNone/>
            </a:pPr>
            <a:r>
              <a:rPr sz="1250" b="1">
                <a:solidFill>
                  <a:srgbClr val="FFFFFF"/>
                </a:solidFill>
              </a:rPr>
              <a:t>번호 원 · 제목 열 · 설명 열의 가로 위치를 전 행에서 고정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79" y="6355080"/>
            <a:ext cx="301752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8FACD0"/>
                </a:solidFill>
              </a:rPr>
              <a:t>00  섹션 이름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355080"/>
            <a:ext cx="548640" cy="5029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rIns="0" anchor="ctr"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lang="en-US" sz="1000" b="0">
                <a:solidFill>
                  <a:srgbClr val="FFFFFF"/>
                </a:solidFill>
              </a:rPr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 wrap="square"/>
          <a:lstStyle/>
          <a:p>
            <a:r>
              <a:t>다이어그램 부품 모음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1371600"/>
            <a:ext cx="5413248" cy="416052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 Same Side Corner Rectangle 26"/>
          <p:cNvSpPr/>
          <p:nvPr/>
        </p:nvSpPr>
        <p:spPr>
          <a:xfrm>
            <a:off x="566928" y="1371600"/>
            <a:ext cx="5413248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06C"/>
                </a:solidFill>
              </a:rPr>
              <a:t>노드 · 화살표 · 라벨</a:t>
            </a:r>
          </a:p>
        </p:txBody>
      </p:sp>
      <p:sp>
        <p:nvSpPr>
          <p:cNvPr id="28" name="Oval 27"/>
          <p:cNvSpPr/>
          <p:nvPr/>
        </p:nvSpPr>
        <p:spPr>
          <a:xfrm>
            <a:off x="1005840" y="2103120"/>
            <a:ext cx="475488" cy="475488"/>
          </a:xfrm>
          <a:prstGeom prst="ellipse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9" name="Oval 28"/>
          <p:cNvSpPr/>
          <p:nvPr/>
        </p:nvSpPr>
        <p:spPr>
          <a:xfrm>
            <a:off x="2377440" y="2103120"/>
            <a:ext cx="475488" cy="475488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</a:rPr>
              <a:t>B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517904" y="2340864"/>
            <a:ext cx="822960" cy="0"/>
          </a:xfrm>
          <a:prstGeom prst="line">
            <a:avLst/>
          </a:prstGeom>
          <a:ln w="22225">
            <a:solidFill>
              <a:srgbClr val="9AA3A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417320" y="2651760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D6773"/>
                </a:solidFill>
              </a:rPr>
              <a:t>기본 연결 · 회색 화살표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05840" y="3246120"/>
            <a:ext cx="1847088" cy="0"/>
          </a:xfrm>
          <a:prstGeom prst="line">
            <a:avLst/>
          </a:prstGeom>
          <a:ln w="38100">
            <a:solidFill>
              <a:srgbClr val="007BC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05840" y="333756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7BC6"/>
                </a:solidFill>
              </a:rPr>
              <a:t>강조 연결 · 파랑 두껍게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05840" y="3840480"/>
            <a:ext cx="1847088" cy="0"/>
          </a:xfrm>
          <a:prstGeom prst="line">
            <a:avLst/>
          </a:prstGeom>
          <a:ln w="15875">
            <a:solidFill>
              <a:srgbClr val="9AA3A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05840" y="393192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D6773"/>
                </a:solidFill>
              </a:rPr>
              <a:t>점선 · 보조/순환 관계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66160" y="2121408"/>
            <a:ext cx="1097280" cy="384048"/>
          </a:xfrm>
          <a:prstGeom prst="roundRect">
            <a:avLst>
              <a:gd name="adj" fmla="val 48780"/>
            </a:avLst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상태 배지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66160" y="2651760"/>
            <a:ext cx="1234440" cy="384048"/>
          </a:xfrm>
          <a:prstGeom prst="roundRect">
            <a:avLst>
              <a:gd name="adj" fmla="val 48780"/>
            </a:avLst>
          </a:prstGeom>
          <a:solidFill>
            <a:srgbClr val="B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REJECT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3182112"/>
            <a:ext cx="1188720" cy="384048"/>
          </a:xfrm>
          <a:prstGeom prst="roundRect">
            <a:avLst>
              <a:gd name="adj" fmla="val 48780"/>
            </a:avLst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60" y="3794760"/>
            <a:ext cx="859536" cy="310896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A 0.4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25696" y="3794760"/>
            <a:ext cx="752094" cy="310896"/>
          </a:xfrm>
          <a:prstGeom prst="rect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B 0.35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77790" y="3794760"/>
            <a:ext cx="537210" cy="310896"/>
          </a:xfrm>
          <a:prstGeom prst="rect">
            <a:avLst/>
          </a:prstGeom>
          <a:solidFill>
            <a:srgbClr val="00B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C 0.25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416052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D6773"/>
                </a:solidFill>
              </a:rPr>
              <a:t>가중치 구간 막대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08776" y="1371600"/>
            <a:ext cx="5413248" cy="416052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 Same Side Corner Rectangle 43"/>
          <p:cNvSpPr/>
          <p:nvPr/>
        </p:nvSpPr>
        <p:spPr>
          <a:xfrm>
            <a:off x="6208776" y="1371600"/>
            <a:ext cx="5413248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06C"/>
                </a:solidFill>
              </a:rPr>
              <a:t>산포 도해 (임베딩 공간형)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46520" y="1965960"/>
            <a:ext cx="4937760" cy="2651760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541497" y="3924410"/>
            <a:ext cx="91440" cy="91440"/>
          </a:xfrm>
          <a:prstGeom prst="ellipse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730549" y="4107896"/>
            <a:ext cx="91440" cy="91440"/>
          </a:xfrm>
          <a:prstGeom prst="ellipse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669875" y="4089493"/>
            <a:ext cx="91440" cy="91440"/>
          </a:xfrm>
          <a:prstGeom prst="ellipse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889826" y="3671885"/>
            <a:ext cx="91440" cy="91440"/>
          </a:xfrm>
          <a:prstGeom prst="ellipse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7893126" y="3839542"/>
            <a:ext cx="91440" cy="91440"/>
          </a:xfrm>
          <a:prstGeom prst="ellipse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7846540" y="3349635"/>
            <a:ext cx="91440" cy="91440"/>
          </a:xfrm>
          <a:prstGeom prst="ellipse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7372700" y="3471586"/>
            <a:ext cx="91440" cy="91440"/>
          </a:xfrm>
          <a:prstGeom prst="ellipse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7454657" y="3770931"/>
            <a:ext cx="91440" cy="91440"/>
          </a:xfrm>
          <a:prstGeom prst="ellipse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476031" y="2398822"/>
            <a:ext cx="91440" cy="91440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719598" y="2910604"/>
            <a:ext cx="91440" cy="91440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0164219" y="2357033"/>
            <a:ext cx="91440" cy="91440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0192951" y="2341791"/>
            <a:ext cx="91440" cy="91440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0028638" y="2332963"/>
            <a:ext cx="91440" cy="91440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465662" y="2877729"/>
            <a:ext cx="91440" cy="91440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812280" y="297180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D6773"/>
                </a:solidFill>
              </a:rPr>
              <a:t>집단 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64040" y="20299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306C"/>
                </a:solidFill>
              </a:rPr>
              <a:t>집단 2</a:t>
            </a:r>
          </a:p>
        </p:txBody>
      </p:sp>
      <p:sp>
        <p:nvSpPr>
          <p:cNvPr id="62" name="Oval 61"/>
          <p:cNvSpPr/>
          <p:nvPr/>
        </p:nvSpPr>
        <p:spPr>
          <a:xfrm>
            <a:off x="8641080" y="3291840"/>
            <a:ext cx="164592" cy="16459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B8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3" name="Connector 62"/>
          <p:cNvCxnSpPr/>
          <p:nvPr/>
        </p:nvCxnSpPr>
        <p:spPr>
          <a:xfrm flipV="1">
            <a:off x="8833104" y="2788920"/>
            <a:ext cx="722376" cy="521208"/>
          </a:xfrm>
          <a:prstGeom prst="line">
            <a:avLst/>
          </a:prstGeom>
          <a:ln w="15875">
            <a:solidFill>
              <a:srgbClr val="B83A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092440" y="3520440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83A3A"/>
                </a:solidFill>
              </a:rPr>
              <a:t>주목 지점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46520" y="47091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773"/>
                </a:solidFill>
              </a:rPr>
              <a:t>색은 회색·네이비·블루만, 강조 1점만 빨강으로 제한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355080"/>
            <a:ext cx="1219196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8288" rIns="228600" bIns="18288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buNone/>
            </a:pPr>
            <a:r>
              <a:rPr sz="1250" b="1">
                <a:solidFill>
                  <a:srgbClr val="FFFFFF"/>
                </a:solidFill>
              </a:rPr>
              <a:t>모든 도식은 팔레트 4색 안에서, 강조색은 의미가 있을 때만 소량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83879" y="6355080"/>
            <a:ext cx="301752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8FACD0"/>
                </a:solidFill>
              </a:rPr>
              <a:t>00  섹션 이름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355080"/>
            <a:ext cx="548640" cy="5029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rIns="0" anchor="ctr"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lang="en-US" sz="1000" b="0">
                <a:solidFill>
                  <a:srgbClr val="FFFFFF"/>
                </a:solidFill>
              </a:rPr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연구와 과제 연계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35024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  <a:buNone/>
            </a:pPr>
            <a:r>
              <a:rPr sz="1050" b="1">
                <a:solidFill>
                  <a:srgbClr val="5D6773"/>
                </a:solidFill>
              </a:rPr>
              <a:t>연구 성과 요소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70448" y="1335024"/>
            <a:ext cx="4800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  <a:buNone/>
            </a:pPr>
            <a:r>
              <a:rPr sz="1050" b="1">
                <a:solidFill>
                  <a:srgbClr val="5D6773"/>
                </a:solidFill>
              </a:rPr>
              <a:t>과제 산출물 반영 지점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00784"/>
            <a:ext cx="4572000" cy="114300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0" rIns="146304" bIns="0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150"/>
              </a:spcAft>
              <a:buNone/>
            </a:pPr>
            <a:r>
              <a:rPr sz="1150" b="1">
                <a:solidFill>
                  <a:srgbClr val="00306C"/>
                </a:solidFill>
              </a:rPr>
              <a:t>방법 요소 이름</a:t>
            </a:r>
          </a:p>
          <a:p>
            <a:pPr algn="l">
              <a:lnSpc>
                <a:spcPct val="116000"/>
              </a:lnSpc>
              <a:spcAft>
                <a:spcPts val="200"/>
              </a:spcAft>
              <a:buNone/>
            </a:pPr>
            <a:r>
              <a:rPr sz="1000" b="0">
                <a:solidFill>
                  <a:srgbClr val="5D6773"/>
                </a:solidFill>
              </a:rPr>
              <a:t>핵심 동작을 한 줄로 부연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276088" y="2157984"/>
            <a:ext cx="457200" cy="237744"/>
          </a:xfrm>
          <a:prstGeom prst="rightArrow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870448" y="1700784"/>
            <a:ext cx="4800600" cy="114300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0" rIns="146304" bIns="0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150"/>
              </a:spcAft>
              <a:buNone/>
            </a:pPr>
            <a:r>
              <a:rPr sz="1150" b="1">
                <a:solidFill>
                  <a:srgbClr val="00306C"/>
                </a:solidFill>
              </a:rPr>
              <a:t>반영 지점 이름</a:t>
            </a:r>
          </a:p>
          <a:p>
            <a:pPr algn="l">
              <a:lnSpc>
                <a:spcPct val="116000"/>
              </a:lnSpc>
              <a:spcAft>
                <a:spcPts val="200"/>
              </a:spcAft>
              <a:buNone/>
            </a:pPr>
            <a:r>
              <a:rPr sz="1000" b="0">
                <a:solidFill>
                  <a:srgbClr val="5D6773"/>
                </a:solidFill>
              </a:rPr>
              <a:t>실제 반영 내용을 한 줄로 · 자리표시 문구 금지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08208" y="2116836"/>
            <a:ext cx="813816" cy="310896"/>
          </a:xfrm>
          <a:prstGeom prst="roundRect">
            <a:avLst>
              <a:gd name="adj" fmla="val 50000"/>
            </a:avLst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</a:rPr>
              <a:t>WP1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008376"/>
            <a:ext cx="4572000" cy="114300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0" rIns="146304" bIns="0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150"/>
              </a:spcAft>
              <a:buNone/>
            </a:pPr>
            <a:r>
              <a:rPr sz="1150" b="1">
                <a:solidFill>
                  <a:srgbClr val="00306C"/>
                </a:solidFill>
              </a:rPr>
              <a:t>방법 요소 이름</a:t>
            </a:r>
          </a:p>
          <a:p>
            <a:pPr algn="l">
              <a:lnSpc>
                <a:spcPct val="116000"/>
              </a:lnSpc>
              <a:spcAft>
                <a:spcPts val="200"/>
              </a:spcAft>
              <a:buNone/>
            </a:pPr>
            <a:r>
              <a:rPr sz="1000" b="0">
                <a:solidFill>
                  <a:srgbClr val="5D6773"/>
                </a:solidFill>
              </a:rPr>
              <a:t>핵심 동작을 한 줄로 부연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76088" y="3465576"/>
            <a:ext cx="457200" cy="237744"/>
          </a:xfrm>
          <a:prstGeom prst="rightArrow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870448" y="3008376"/>
            <a:ext cx="4800600" cy="114300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0" rIns="146304" bIns="0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150"/>
              </a:spcAft>
              <a:buNone/>
            </a:pPr>
            <a:r>
              <a:rPr sz="1150" b="1">
                <a:solidFill>
                  <a:srgbClr val="00306C"/>
                </a:solidFill>
              </a:rPr>
              <a:t>반영 지점 이름</a:t>
            </a:r>
          </a:p>
          <a:p>
            <a:pPr algn="l">
              <a:lnSpc>
                <a:spcPct val="116000"/>
              </a:lnSpc>
              <a:spcAft>
                <a:spcPts val="200"/>
              </a:spcAft>
              <a:buNone/>
            </a:pPr>
            <a:r>
              <a:rPr sz="1000" b="0">
                <a:solidFill>
                  <a:srgbClr val="5D6773"/>
                </a:solidFill>
              </a:rPr>
              <a:t>실제 반영 내용을 한 줄로 · 자리표시 문구 금지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08208" y="3424428"/>
            <a:ext cx="813816" cy="310896"/>
          </a:xfrm>
          <a:prstGeom prst="roundRect">
            <a:avLst>
              <a:gd name="adj" fmla="val 50000"/>
            </a:avLst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</a:rPr>
              <a:t>WP3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15968"/>
            <a:ext cx="4572000" cy="114300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0" rIns="146304" bIns="0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150"/>
              </a:spcAft>
              <a:buNone/>
            </a:pPr>
            <a:r>
              <a:rPr sz="1150" b="1">
                <a:solidFill>
                  <a:srgbClr val="00306C"/>
                </a:solidFill>
              </a:rPr>
              <a:t>방법 요소 이름</a:t>
            </a:r>
          </a:p>
          <a:p>
            <a:pPr algn="l">
              <a:lnSpc>
                <a:spcPct val="116000"/>
              </a:lnSpc>
              <a:spcAft>
                <a:spcPts val="200"/>
              </a:spcAft>
              <a:buNone/>
            </a:pPr>
            <a:r>
              <a:rPr sz="1000" b="0">
                <a:solidFill>
                  <a:srgbClr val="5D6773"/>
                </a:solidFill>
              </a:rPr>
              <a:t>핵심 동작을 한 줄로 부연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76088" y="4773168"/>
            <a:ext cx="457200" cy="237744"/>
          </a:xfrm>
          <a:prstGeom prst="rightArrow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870448" y="4315968"/>
            <a:ext cx="4800600" cy="114300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0" rIns="146304" bIns="0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150"/>
              </a:spcAft>
              <a:buNone/>
            </a:pPr>
            <a:r>
              <a:rPr sz="1150" b="1">
                <a:solidFill>
                  <a:srgbClr val="00306C"/>
                </a:solidFill>
              </a:rPr>
              <a:t>반영 지점 이름</a:t>
            </a:r>
          </a:p>
          <a:p>
            <a:pPr algn="l">
              <a:lnSpc>
                <a:spcPct val="116000"/>
              </a:lnSpc>
              <a:spcAft>
                <a:spcPts val="200"/>
              </a:spcAft>
              <a:buNone/>
            </a:pPr>
            <a:r>
              <a:rPr sz="1000" b="0">
                <a:solidFill>
                  <a:srgbClr val="5D6773"/>
                </a:solidFill>
              </a:rPr>
              <a:t>실제 반영 내용을 한 줄로 · 자리표시 문구 금지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08208" y="4732020"/>
            <a:ext cx="813816" cy="310896"/>
          </a:xfrm>
          <a:prstGeom prst="roundRect">
            <a:avLst>
              <a:gd name="adj" fmla="val 50000"/>
            </a:avLst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</a:rPr>
              <a:t>WP4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614416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  <a:buNone/>
            </a:pPr>
            <a:r>
              <a:rPr sz="950" b="0">
                <a:solidFill>
                  <a:srgbClr val="5D6773"/>
                </a:solidFill>
              </a:rPr>
              <a:t>행 수는 3 ~ 4개까지, 우측 부연에는 반영되는 내용 자체를 기재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55080"/>
            <a:ext cx="1219196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8288" rIns="228600" bIns="18288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buNone/>
            </a:pPr>
            <a:r>
              <a:rPr sz="1250" b="1">
                <a:solidFill>
                  <a:srgbClr val="FFFFFF"/>
                </a:solidFill>
              </a:rPr>
              <a:t>연구 요소와 과제 산출물을 행 단위로 대응, 우측 끝에 작업 패키지 배지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6355080"/>
            <a:ext cx="301752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8FACD0"/>
                </a:solidFill>
              </a:rPr>
              <a:t>00  섹션 이름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추진 체계 조직도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62856" y="1371600"/>
            <a:ext cx="3063240" cy="1051560"/>
          </a:xfrm>
          <a:prstGeom prst="roundRect">
            <a:avLst>
              <a:gd name="adj" fmla="val 2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0" rIns="146304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200"/>
              </a:spcAft>
              <a:buNone/>
            </a:pPr>
            <a:r>
              <a:rPr sz="1250" b="1">
                <a:solidFill>
                  <a:srgbClr val="00306C"/>
                </a:solidFill>
              </a:rPr>
              <a:t>주관기관 · 기관명</a:t>
            </a:r>
          </a:p>
          <a:p>
            <a:pPr algn="ctr">
              <a:lnSpc>
                <a:spcPct val="116000"/>
              </a:lnSpc>
              <a:spcAft>
                <a:spcPts val="200"/>
              </a:spcAft>
              <a:buNone/>
            </a:pPr>
            <a:r>
              <a:rPr sz="1000" b="0">
                <a:solidFill>
                  <a:srgbClr val="5D6773"/>
                </a:solidFill>
              </a:rPr>
              <a:t>연구책임자 이름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4476" y="2423160"/>
            <a:ext cx="0" cy="457200"/>
          </a:xfrm>
          <a:prstGeom prst="line">
            <a:avLst/>
          </a:prstGeom>
          <a:ln w="22225">
            <a:solidFill>
              <a:srgbClr val="0030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441448" y="2880360"/>
            <a:ext cx="7315200" cy="0"/>
          </a:xfrm>
          <a:prstGeom prst="line">
            <a:avLst/>
          </a:prstGeom>
          <a:ln w="22225">
            <a:solidFill>
              <a:srgbClr val="0030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41448" y="2880360"/>
            <a:ext cx="0" cy="274320"/>
          </a:xfrm>
          <a:prstGeom prst="line">
            <a:avLst/>
          </a:prstGeom>
          <a:ln w="22225">
            <a:solidFill>
              <a:srgbClr val="0030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9048" y="2880360"/>
            <a:ext cx="0" cy="274320"/>
          </a:xfrm>
          <a:prstGeom prst="line">
            <a:avLst/>
          </a:prstGeom>
          <a:ln w="22225">
            <a:solidFill>
              <a:srgbClr val="0030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56648" y="2880360"/>
            <a:ext cx="0" cy="274320"/>
          </a:xfrm>
          <a:prstGeom prst="line">
            <a:avLst/>
          </a:prstGeom>
          <a:ln w="22225">
            <a:solidFill>
              <a:srgbClr val="0030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9808" y="3154680"/>
            <a:ext cx="3383280" cy="169164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0" rIns="146304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  <a:buNone/>
            </a:pPr>
            <a:r>
              <a:rPr sz="1200" b="1">
                <a:solidFill>
                  <a:srgbClr val="00306C"/>
                </a:solidFill>
              </a:rPr>
              <a:t>참여기관 1 · 기관명</a:t>
            </a:r>
          </a:p>
          <a:p>
            <a:pPr algn="ctr">
              <a:lnSpc>
                <a:spcPct val="116000"/>
              </a:lnSpc>
              <a:spcAft>
                <a:spcPts val="200"/>
              </a:spcAft>
              <a:buNone/>
            </a:pPr>
            <a:r>
              <a:rPr sz="1000" b="0">
                <a:solidFill>
                  <a:srgbClr val="21262E"/>
                </a:solidFill>
              </a:rPr>
              <a:t>참여 연구 분야 한 줄</a:t>
            </a:r>
          </a:p>
          <a:p>
            <a:pPr algn="ctr">
              <a:lnSpc>
                <a:spcPct val="116000"/>
              </a:lnSpc>
              <a:spcAft>
                <a:spcPts val="200"/>
              </a:spcAft>
              <a:buNone/>
            </a:pPr>
            <a:r>
              <a:rPr sz="950" b="0">
                <a:solidFill>
                  <a:srgbClr val="5D6773"/>
                </a:solidFill>
              </a:rPr>
              <a:t>참여연구원 이름 교수 · 실무담당 이름 연구원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3154680"/>
            <a:ext cx="3383280" cy="169164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0" rIns="146304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  <a:buNone/>
            </a:pPr>
            <a:r>
              <a:rPr sz="1200" b="1">
                <a:solidFill>
                  <a:srgbClr val="00306C"/>
                </a:solidFill>
              </a:rPr>
              <a:t>참여기관 2 · 기관명</a:t>
            </a:r>
          </a:p>
          <a:p>
            <a:pPr algn="ctr">
              <a:lnSpc>
                <a:spcPct val="116000"/>
              </a:lnSpc>
              <a:spcAft>
                <a:spcPts val="200"/>
              </a:spcAft>
              <a:buNone/>
            </a:pPr>
            <a:r>
              <a:rPr sz="1000" b="0">
                <a:solidFill>
                  <a:srgbClr val="21262E"/>
                </a:solidFill>
              </a:rPr>
              <a:t>참여 연구 분야 한 줄</a:t>
            </a:r>
          </a:p>
          <a:p>
            <a:pPr algn="ctr">
              <a:lnSpc>
                <a:spcPct val="116000"/>
              </a:lnSpc>
              <a:spcAft>
                <a:spcPts val="200"/>
              </a:spcAft>
              <a:buNone/>
            </a:pPr>
            <a:r>
              <a:rPr sz="950" b="0">
                <a:solidFill>
                  <a:srgbClr val="5D6773"/>
                </a:solidFill>
              </a:rPr>
              <a:t>참여연구원 이름 교수 · 실무담당 이름 연구원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3154680"/>
            <a:ext cx="3383280" cy="169164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0" rIns="146304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300"/>
              </a:spcAft>
              <a:buNone/>
            </a:pPr>
            <a:r>
              <a:rPr sz="1200" b="1">
                <a:solidFill>
                  <a:srgbClr val="00306C"/>
                </a:solidFill>
              </a:rPr>
              <a:t>참여기관 3 · 기관명</a:t>
            </a:r>
          </a:p>
          <a:p>
            <a:pPr algn="ctr">
              <a:lnSpc>
                <a:spcPct val="116000"/>
              </a:lnSpc>
              <a:spcAft>
                <a:spcPts val="200"/>
              </a:spcAft>
              <a:buNone/>
            </a:pPr>
            <a:r>
              <a:rPr sz="1000" b="0">
                <a:solidFill>
                  <a:srgbClr val="21262E"/>
                </a:solidFill>
              </a:rPr>
              <a:t>참여 연구 분야 한 줄</a:t>
            </a:r>
          </a:p>
          <a:p>
            <a:pPr algn="ctr">
              <a:lnSpc>
                <a:spcPct val="116000"/>
              </a:lnSpc>
              <a:spcAft>
                <a:spcPts val="200"/>
              </a:spcAft>
              <a:buNone/>
            </a:pPr>
            <a:r>
              <a:rPr sz="950" b="0">
                <a:solidFill>
                  <a:srgbClr val="5D6773"/>
                </a:solidFill>
              </a:rPr>
              <a:t>참여연구원 이름 교수 · 실무담당 이름 연구원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12064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Aft>
                <a:spcPts val="200"/>
              </a:spcAft>
              <a:buNone/>
            </a:pPr>
            <a:r>
              <a:rPr sz="950" b="0">
                <a:solidFill>
                  <a:srgbClr val="5D6773"/>
                </a:solidFill>
              </a:rPr>
              <a:t>연결선은 상자 테두리에서 멈추는 네이비 직선 · 직책과 인력 구성은 이 슬라이드에서만 표기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55080"/>
            <a:ext cx="1219196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8288" rIns="228600" bIns="18288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buNone/>
            </a:pPr>
            <a:r>
              <a:rPr sz="1250" b="1">
                <a:solidFill>
                  <a:srgbClr val="FFFFFF"/>
                </a:solidFill>
              </a:rPr>
              <a:t>기관 사이 간격을 충분히 벌려 연결선이 보이는 조직도 기본형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6355080"/>
            <a:ext cx="301752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8FACD0"/>
                </a:solidFill>
              </a:rPr>
              <a:t>00  섹션 이름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연차별 계획 간트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66544" y="1444752"/>
            <a:ext cx="3093720" cy="310896"/>
          </a:xfrm>
          <a:prstGeom prst="roundRect">
            <a:avLst>
              <a:gd name="adj" fmla="val 5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00306C"/>
                </a:solidFill>
              </a:rPr>
              <a:t>1차년도 (YYYY)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69991" y="1444752"/>
            <a:ext cx="3093720" cy="310896"/>
          </a:xfrm>
          <a:prstGeom prst="roundRect">
            <a:avLst>
              <a:gd name="adj" fmla="val 5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00306C"/>
                </a:solidFill>
              </a:rPr>
              <a:t>2차년도 (YYYY)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73440" y="1444752"/>
            <a:ext cx="3093720" cy="310896"/>
          </a:xfrm>
          <a:prstGeom prst="roundRect">
            <a:avLst>
              <a:gd name="adj" fmla="val 5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00306C"/>
                </a:solidFill>
              </a:rPr>
              <a:t>3차년도 (YYYY)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215128" y="1883664"/>
            <a:ext cx="0" cy="3017520"/>
          </a:xfrm>
          <a:prstGeom prst="line">
            <a:avLst/>
          </a:prstGeom>
          <a:ln w="12700">
            <a:solidFill>
              <a:srgbClr val="D9E2E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418576" y="1883664"/>
            <a:ext cx="0" cy="3017520"/>
          </a:xfrm>
          <a:prstGeom prst="line">
            <a:avLst/>
          </a:prstGeom>
          <a:ln w="12700">
            <a:solidFill>
              <a:srgbClr val="D9E2E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2011680"/>
            <a:ext cx="135331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  <a:buNone/>
            </a:pPr>
            <a:r>
              <a:rPr sz="1100" b="1">
                <a:solidFill>
                  <a:srgbClr val="00306C"/>
                </a:solidFill>
              </a:rPr>
              <a:t>WP3 · 주 담당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011680"/>
            <a:ext cx="9610344" cy="658368"/>
          </a:xfrm>
          <a:prstGeom prst="roundRect">
            <a:avLst>
              <a:gd name="adj" fmla="val 6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03120" y="2148840"/>
            <a:ext cx="2860395" cy="384048"/>
          </a:xfrm>
          <a:prstGeom prst="roundRect">
            <a:avLst>
              <a:gd name="adj" fmla="val 35000"/>
            </a:avLst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950" b="1">
                <a:solidFill>
                  <a:srgbClr val="FFFFFF"/>
                </a:solidFill>
              </a:rPr>
              <a:t>설계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42499" y="2148840"/>
            <a:ext cx="3340912" cy="384048"/>
          </a:xfrm>
          <a:prstGeom prst="roundRect">
            <a:avLst>
              <a:gd name="adj" fmla="val 35000"/>
            </a:avLst>
          </a:prstGeom>
          <a:solidFill>
            <a:srgbClr val="117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950" b="1">
                <a:solidFill>
                  <a:srgbClr val="FFFFFF"/>
                </a:solidFill>
              </a:rPr>
              <a:t>구현 · 검증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0360" y="2148840"/>
            <a:ext cx="2636154" cy="384048"/>
          </a:xfrm>
          <a:prstGeom prst="roundRect">
            <a:avLst>
              <a:gd name="adj" fmla="val 35000"/>
            </a:avLst>
          </a:prstGeom>
          <a:solidFill>
            <a:srgbClr val="258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950" b="1">
                <a:solidFill>
                  <a:srgbClr val="FFFFFF"/>
                </a:solidFill>
              </a:rPr>
              <a:t>실증 · 고도화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98064"/>
            <a:ext cx="135331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  <a:buNone/>
            </a:pPr>
            <a:r>
              <a:rPr sz="1100" b="1">
                <a:solidFill>
                  <a:srgbClr val="00306C"/>
                </a:solidFill>
              </a:rPr>
              <a:t>WP1 · 참여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2798064"/>
            <a:ext cx="9610344" cy="658368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583637" y="2935224"/>
            <a:ext cx="3981602" cy="384048"/>
          </a:xfrm>
          <a:prstGeom prst="roundRect">
            <a:avLst>
              <a:gd name="adj" fmla="val 35000"/>
            </a:avLst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950" b="1">
                <a:solidFill>
                  <a:srgbClr val="FFFFFF"/>
                </a:solidFill>
              </a:rPr>
              <a:t>참여 과업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584448"/>
            <a:ext cx="135331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  <a:buNone/>
            </a:pPr>
            <a:r>
              <a:rPr sz="1100" b="1">
                <a:solidFill>
                  <a:srgbClr val="00306C"/>
                </a:solidFill>
              </a:rPr>
              <a:t>WP4 · 참여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3584448"/>
            <a:ext cx="9610344" cy="658368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47257" y="3721608"/>
            <a:ext cx="4782464" cy="384048"/>
          </a:xfrm>
          <a:prstGeom prst="roundRect">
            <a:avLst>
              <a:gd name="adj" fmla="val 35000"/>
            </a:avLst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950" b="1">
                <a:solidFill>
                  <a:srgbClr val="FFFFFF"/>
                </a:solidFill>
              </a:rPr>
              <a:t>참여 과업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370832"/>
            <a:ext cx="135331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  <a:buNone/>
            </a:pPr>
            <a:r>
              <a:rPr sz="1100" b="1">
                <a:solidFill>
                  <a:srgbClr val="00306C"/>
                </a:solidFill>
              </a:rPr>
              <a:t>보고 · 관리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4370832"/>
            <a:ext cx="9610344" cy="658368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103120" y="4507992"/>
            <a:ext cx="9427464" cy="384048"/>
          </a:xfrm>
          <a:prstGeom prst="roundRect">
            <a:avLst>
              <a:gd name="adj" fmla="val 35000"/>
            </a:avLst>
          </a:prstGeom>
          <a:solidFill>
            <a:srgbClr val="9AB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950" b="1">
                <a:solidFill>
                  <a:srgbClr val="FFFFFF"/>
                </a:solidFill>
              </a:rPr>
              <a:t>연차 보고 · 성과 관리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06467" y="504748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3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900" b="1">
                <a:solidFill>
                  <a:srgbClr val="00306C"/>
                </a:solidFill>
              </a:rPr>
              <a:t>M12 · 산출물 이름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09916" y="504748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3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900" b="1">
                <a:solidFill>
                  <a:srgbClr val="00306C"/>
                </a:solidFill>
              </a:rPr>
              <a:t>M24 · 산출물 이름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04704" y="504748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3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900" b="1">
                <a:solidFill>
                  <a:srgbClr val="00306C"/>
                </a:solidFill>
              </a:rPr>
              <a:t>M30 · 최종 산출물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46811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  <a:buNone/>
            </a:pPr>
            <a:r>
              <a:rPr sz="950" b="0">
                <a:solidFill>
                  <a:srgbClr val="5D6773"/>
                </a:solidFill>
              </a:rPr>
              <a:t>마일스톤은 연차 경계 아래에, 이름은 산출물로 표기 · 아직 없는 실적을 완료로 그리지 않음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355080"/>
            <a:ext cx="1219196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8288" rIns="228600" bIns="18288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buNone/>
            </a:pPr>
            <a:r>
              <a:rPr sz="1250" b="1">
                <a:solidFill>
                  <a:srgbClr val="FFFFFF"/>
                </a:solidFill>
              </a:rPr>
              <a:t>주 담당 행을 첫 자리에 강조 배경으로, 막대는 네이비 램프로 단계 구분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6355080"/>
            <a:ext cx="301752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8FACD0"/>
                </a:solidFill>
              </a:rPr>
              <a:t>00  섹션 이름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논문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  <a:buNone/>
            </a:pPr>
            <a:r>
              <a:rPr sz="1150" b="0">
                <a:solidFill>
                  <a:srgbClr val="5D6773"/>
                </a:solidFill>
              </a:rPr>
              <a:t>저자 외, </a:t>
            </a:r>
            <a:r>
              <a:rPr sz="1150" b="1">
                <a:solidFill>
                  <a:srgbClr val="5D6773"/>
                </a:solidFill>
              </a:rPr>
              <a:t>논문 제목</a:t>
            </a:r>
            <a:r>
              <a:rPr sz="1150" b="0">
                <a:solidFill>
                  <a:srgbClr val="5D6773"/>
                </a:solidFill>
              </a:rPr>
              <a:t>, 발표처 YYYY · 서지는 처음 소개하는 슬라이드에만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5989320" cy="4160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737360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Aft>
                <a:spcPts val="200"/>
              </a:spcAft>
              <a:buNone/>
            </a:pPr>
            <a:r>
              <a:rPr sz="1100" b="1">
                <a:solidFill>
                  <a:srgbClr val="5D6773"/>
                </a:solidFill>
              </a:rPr>
              <a:t>논문 메인 그림 자리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5568" y="2834640"/>
            <a:ext cx="1051560" cy="475488"/>
          </a:xfrm>
          <a:prstGeom prst="roundRect">
            <a:avLst>
              <a:gd name="adj" fmla="val 2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00306C"/>
                </a:solidFill>
              </a:rPr>
              <a:t>입력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35808" y="2834640"/>
            <a:ext cx="1051560" cy="475488"/>
          </a:xfrm>
          <a:prstGeom prst="roundRect">
            <a:avLst>
              <a:gd name="adj" fmla="val 2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00306C"/>
                </a:solidFill>
              </a:rPr>
              <a:t>모듈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6048" y="2834640"/>
            <a:ext cx="1051560" cy="475488"/>
          </a:xfrm>
          <a:prstGeom prst="roundRect">
            <a:avLst>
              <a:gd name="adj" fmla="val 2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00306C"/>
                </a:solidFill>
              </a:rPr>
              <a:t>출력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86000" y="2962656"/>
            <a:ext cx="658368" cy="219456"/>
          </a:xfrm>
          <a:prstGeom prst="rightArrow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4206240" y="2962656"/>
            <a:ext cx="658368" cy="219456"/>
          </a:xfrm>
          <a:prstGeom prst="rightArrow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703320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Aft>
                <a:spcPts val="200"/>
              </a:spcAft>
              <a:buNone/>
            </a:pPr>
            <a:r>
              <a:rPr sz="950" b="0">
                <a:solidFill>
                  <a:srgbClr val="5D6773"/>
                </a:solidFill>
              </a:rPr>
              <a:t>원본 그림을 얻지 못하면 같은 내용을 팔레트 벡터 도식으로 재구성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983480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Aft>
                <a:spcPts val="200"/>
              </a:spcAft>
              <a:buNone/>
            </a:pPr>
            <a:r>
              <a:rPr sz="950" b="0">
                <a:solidFill>
                  <a:srgbClr val="5D6773"/>
                </a:solidFill>
              </a:rPr>
              <a:t>캡션은 그림이 보여주는 구성을 설명 · 서지 반복 금지</a:t>
            </a:r>
          </a:p>
        </p:txBody>
      </p:sp>
      <p:sp>
        <p:nvSpPr>
          <p:cNvPr id="13" name="Oval 12"/>
          <p:cNvSpPr/>
          <p:nvPr/>
        </p:nvSpPr>
        <p:spPr>
          <a:xfrm>
            <a:off x="6784848" y="1554480"/>
            <a:ext cx="329184" cy="329184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463039"/>
            <a:ext cx="4352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Aft>
                <a:spcPts val="150"/>
              </a:spcAft>
              <a:buNone/>
            </a:pPr>
            <a:r>
              <a:rPr sz="1150" b="1">
                <a:solidFill>
                  <a:srgbClr val="00306C"/>
                </a:solidFill>
              </a:rPr>
              <a:t>단계 이름</a:t>
            </a:r>
          </a:p>
          <a:p>
            <a:pPr algn="l">
              <a:lnSpc>
                <a:spcPct val="116000"/>
              </a:lnSpc>
              <a:spcAft>
                <a:spcPts val="200"/>
              </a:spcAft>
              <a:buNone/>
            </a:pPr>
            <a:r>
              <a:rPr sz="1000" b="0">
                <a:solidFill>
                  <a:srgbClr val="5D6773"/>
                </a:solidFill>
              </a:rPr>
              <a:t>그림의 기호·용어와 1대1로 대응시켜 설명</a:t>
            </a:r>
          </a:p>
        </p:txBody>
      </p:sp>
      <p:sp>
        <p:nvSpPr>
          <p:cNvPr id="15" name="Oval 14"/>
          <p:cNvSpPr/>
          <p:nvPr/>
        </p:nvSpPr>
        <p:spPr>
          <a:xfrm>
            <a:off x="6784848" y="2560320"/>
            <a:ext cx="329184" cy="329184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468879"/>
            <a:ext cx="4352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Aft>
                <a:spcPts val="150"/>
              </a:spcAft>
              <a:buNone/>
            </a:pPr>
            <a:r>
              <a:rPr sz="1150" b="1">
                <a:solidFill>
                  <a:srgbClr val="00306C"/>
                </a:solidFill>
              </a:rPr>
              <a:t>단계 이름</a:t>
            </a:r>
          </a:p>
          <a:p>
            <a:pPr algn="l">
              <a:lnSpc>
                <a:spcPct val="116000"/>
              </a:lnSpc>
              <a:spcAft>
                <a:spcPts val="200"/>
              </a:spcAft>
              <a:buNone/>
            </a:pPr>
            <a:r>
              <a:rPr sz="1000" b="0">
                <a:solidFill>
                  <a:srgbClr val="5D6773"/>
                </a:solidFill>
              </a:rPr>
              <a:t>단계 산출물이 다음 단계 입력으로 이어지는지 확인</a:t>
            </a:r>
          </a:p>
        </p:txBody>
      </p:sp>
      <p:sp>
        <p:nvSpPr>
          <p:cNvPr id="17" name="Oval 16"/>
          <p:cNvSpPr/>
          <p:nvPr/>
        </p:nvSpPr>
        <p:spPr>
          <a:xfrm>
            <a:off x="6784848" y="3566160"/>
            <a:ext cx="329184" cy="329184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474720"/>
            <a:ext cx="4352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Aft>
                <a:spcPts val="150"/>
              </a:spcAft>
              <a:buNone/>
            </a:pPr>
            <a:r>
              <a:rPr sz="1150" b="1">
                <a:solidFill>
                  <a:srgbClr val="00306C"/>
                </a:solidFill>
              </a:rPr>
              <a:t>단계 이름</a:t>
            </a:r>
          </a:p>
          <a:p>
            <a:pPr algn="l">
              <a:lnSpc>
                <a:spcPct val="116000"/>
              </a:lnSpc>
              <a:spcAft>
                <a:spcPts val="200"/>
              </a:spcAft>
              <a:buNone/>
            </a:pPr>
            <a:r>
              <a:rPr sz="1000" b="0">
                <a:solidFill>
                  <a:srgbClr val="5D6773"/>
                </a:solidFill>
              </a:rPr>
              <a:t>수식 기호는 그림 표기와 같은 형태로 기재</a:t>
            </a:r>
          </a:p>
        </p:txBody>
      </p:sp>
      <p:sp>
        <p:nvSpPr>
          <p:cNvPr id="19" name="Oval 18"/>
          <p:cNvSpPr/>
          <p:nvPr/>
        </p:nvSpPr>
        <p:spPr>
          <a:xfrm>
            <a:off x="6784848" y="4572000"/>
            <a:ext cx="329184" cy="329184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4480560"/>
            <a:ext cx="4352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Aft>
                <a:spcPts val="150"/>
              </a:spcAft>
              <a:buNone/>
            </a:pPr>
            <a:r>
              <a:rPr sz="1150" b="1">
                <a:solidFill>
                  <a:srgbClr val="00306C"/>
                </a:solidFill>
              </a:rPr>
              <a:t>단계 이름</a:t>
            </a:r>
          </a:p>
          <a:p>
            <a:pPr algn="l">
              <a:lnSpc>
                <a:spcPct val="116000"/>
              </a:lnSpc>
              <a:spcAft>
                <a:spcPts val="200"/>
              </a:spcAft>
              <a:buNone/>
            </a:pPr>
            <a:r>
              <a:rPr sz="1000" b="0">
                <a:solidFill>
                  <a:srgbClr val="5D6773"/>
                </a:solidFill>
              </a:rPr>
              <a:t>결과 수치는 근거 문서에서 확인된 값만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55080"/>
            <a:ext cx="1219196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8288" rIns="228600" bIns="18288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buNone/>
            </a:pPr>
            <a:r>
              <a:rPr sz="1250" b="1">
                <a:solidFill>
                  <a:srgbClr val="FFFFFF"/>
                </a:solidFill>
              </a:rPr>
              <a:t>좌측 메인 그림 · 우측 번호 단계 설명, 기호는 그림과 1대1 대응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6355080"/>
            <a:ext cx="301752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8FACD0"/>
                </a:solidFill>
              </a:rPr>
              <a:t>00  섹션 이름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 wrap="square"/>
          <a:lstStyle/>
          <a:p>
            <a:r>
              <a:t>다크 콘솔 와이어프레임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1371600"/>
            <a:ext cx="5852160" cy="4160520"/>
          </a:xfrm>
          <a:prstGeom prst="roundRect">
            <a:avLst>
              <a:gd name="adj" fmla="val 2197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41248" y="1600200"/>
            <a:ext cx="1170432" cy="530352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" y="165506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B949E"/>
                </a:solidFill>
              </a:rPr>
              <a:t>지표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1837943"/>
            <a:ext cx="11704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EDF3"/>
                </a:solidFill>
              </a:rPr>
              <a:t>0,000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39696" y="1600200"/>
            <a:ext cx="1170432" cy="530352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139696" y="165506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B949E"/>
                </a:solidFill>
              </a:rPr>
              <a:t>지표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9696" y="1837943"/>
            <a:ext cx="11704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EDF3"/>
                </a:solidFill>
              </a:rPr>
              <a:t>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38144" y="1600200"/>
            <a:ext cx="1170432" cy="530352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38144" y="165506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B949E"/>
                </a:solidFill>
              </a:rPr>
              <a:t>상태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38144" y="1837943"/>
            <a:ext cx="11704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85149"/>
                </a:solidFill>
              </a:rPr>
              <a:t>HIGH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36592" y="1600200"/>
            <a:ext cx="1170432" cy="530352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36592" y="165506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B949E"/>
                </a:solidFill>
              </a:rPr>
              <a:t>지표 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36592" y="1837943"/>
            <a:ext cx="11704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EDF3"/>
                </a:solidFill>
              </a:rPr>
              <a:t>0.00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248" y="2377440"/>
            <a:ext cx="2103120" cy="41148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0120" y="246888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6EDF3"/>
                </a:solidFill>
              </a:rPr>
              <a:t>목록 항목 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" y="2880360"/>
            <a:ext cx="2103120" cy="41148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0120" y="297180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</a:rPr>
              <a:t>목록 항목 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" y="3383280"/>
            <a:ext cx="2103120" cy="41148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0120" y="34747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</a:rPr>
              <a:t>목록 항목 3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3291840" y="3611880"/>
            <a:ext cx="640080" cy="137159"/>
          </a:xfrm>
          <a:prstGeom prst="line">
            <a:avLst/>
          </a:prstGeom>
          <a:ln w="25400">
            <a:solidFill>
              <a:srgbClr val="58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931920" y="3291840"/>
            <a:ext cx="548640" cy="320040"/>
          </a:xfrm>
          <a:prstGeom prst="line">
            <a:avLst/>
          </a:prstGeom>
          <a:ln w="25400">
            <a:solidFill>
              <a:srgbClr val="58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480560" y="2834640"/>
            <a:ext cx="548640" cy="457200"/>
          </a:xfrm>
          <a:prstGeom prst="line">
            <a:avLst/>
          </a:prstGeom>
          <a:ln w="25400">
            <a:solidFill>
              <a:srgbClr val="58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029200" y="2560320"/>
            <a:ext cx="640080" cy="274320"/>
          </a:xfrm>
          <a:prstGeom prst="line">
            <a:avLst/>
          </a:prstGeom>
          <a:ln w="25400">
            <a:solidFill>
              <a:srgbClr val="58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41248" y="3977639"/>
            <a:ext cx="5148072" cy="0"/>
          </a:xfrm>
          <a:prstGeom prst="line">
            <a:avLst/>
          </a:prstGeom>
          <a:ln w="12700">
            <a:solidFill>
              <a:srgbClr val="3036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41248" y="4069080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B949E"/>
                </a:solidFill>
              </a:rPr>
              <a:t>그래프 영역 · 축과 곡선은 단순화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1248" y="4526280"/>
            <a:ext cx="777240" cy="310896"/>
          </a:xfrm>
          <a:prstGeom prst="roundRect">
            <a:avLst>
              <a:gd name="adj" fmla="val 23529"/>
            </a:avLst>
          </a:prstGeom>
          <a:noFill/>
          <a:ln w="952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FB950"/>
                </a:solidFill>
              </a:rPr>
              <a:t>확인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709928" y="4526280"/>
            <a:ext cx="777240" cy="310896"/>
          </a:xfrm>
          <a:prstGeom prst="roundRect">
            <a:avLst>
              <a:gd name="adj" fmla="val 23529"/>
            </a:avLst>
          </a:prstGeom>
          <a:noFill/>
          <a:ln w="9525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29922"/>
                </a:solidFill>
              </a:rPr>
              <a:t>보류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578608" y="4526280"/>
            <a:ext cx="777240" cy="310896"/>
          </a:xfrm>
          <a:prstGeom prst="roundRect">
            <a:avLst>
              <a:gd name="adj" fmla="val 23529"/>
            </a:avLst>
          </a:prstGeom>
          <a:noFill/>
          <a:ln w="9525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85149"/>
                </a:solidFill>
              </a:rPr>
              <a:t>거절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" y="530352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3AE"/>
                </a:solidFill>
              </a:rPr>
              <a:t>실제 화면의 구성을 단순화한 도식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47688" y="1371600"/>
            <a:ext cx="4983480" cy="1965960"/>
          </a:xfrm>
          <a:prstGeom prst="roundRect">
            <a:avLst>
              <a:gd name="adj" fmla="val 372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 Same Side Corner Rectangle 55"/>
          <p:cNvSpPr/>
          <p:nvPr/>
        </p:nvSpPr>
        <p:spPr>
          <a:xfrm>
            <a:off x="6647688" y="1371600"/>
            <a:ext cx="4983480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06C"/>
                </a:solidFill>
              </a:rPr>
              <a:t>구성 요소 설명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47688" y="1773936"/>
            <a:ext cx="4983480" cy="1563624"/>
          </a:xfrm>
          <a:prstGeom prst="rect">
            <a:avLst/>
          </a:prstGeom>
          <a:noFill/>
        </p:spPr>
        <p:txBody>
          <a:bodyPr wrap="square" lIns="182880" tIns="80467" rIns="146304" bIns="65836" anchor="ctr">
            <a:spAutoFit/>
          </a:bodyPr>
          <a:lstStyle/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080" b="0">
                <a:solidFill>
                  <a:srgbClr val="21262E"/>
                </a:solidFill>
              </a:rPr>
              <a:t>캔버스 0D1117 · 패널 161B22 · 테두리 30363D</a:t>
            </a:r>
          </a:p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080" b="0">
                <a:solidFill>
                  <a:srgbClr val="21262E"/>
                </a:solidFill>
              </a:rPr>
              <a:t>텍스트 E6EDF3 · 보조 8B949E · 포인트 58A6FF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47688" y="3566160"/>
            <a:ext cx="4983480" cy="1965960"/>
          </a:xfrm>
          <a:prstGeom prst="roundRect">
            <a:avLst>
              <a:gd name="adj" fmla="val 372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 Same Side Corner Rectangle 58"/>
          <p:cNvSpPr/>
          <p:nvPr/>
        </p:nvSpPr>
        <p:spPr>
          <a:xfrm>
            <a:off x="6647688" y="3566160"/>
            <a:ext cx="4983480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06C"/>
                </a:solidFill>
              </a:rPr>
              <a:t>사용 규칙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47688" y="3968496"/>
            <a:ext cx="4983480" cy="1563624"/>
          </a:xfrm>
          <a:prstGeom prst="rect">
            <a:avLst/>
          </a:prstGeom>
          <a:noFill/>
        </p:spPr>
        <p:txBody>
          <a:bodyPr wrap="square" lIns="182880" tIns="80467" rIns="146304" bIns="65836" anchor="ctr">
            <a:spAutoFit/>
          </a:bodyPr>
          <a:lstStyle/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080" b="0">
                <a:solidFill>
                  <a:srgbClr val="21262E"/>
                </a:solidFill>
              </a:rPr>
              <a:t>실물 화면이 없을 때만 도식으로 재구성</a:t>
            </a:r>
          </a:p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080" b="0">
                <a:solidFill>
                  <a:srgbClr val="21262E"/>
                </a:solidFill>
              </a:rPr>
              <a:t>도식 표시는 캔버스 안 회색 문구로 명시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355080"/>
            <a:ext cx="1219196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8288" rIns="228600" bIns="18288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buNone/>
            </a:pPr>
            <a:r>
              <a:rPr sz="1250" b="1">
                <a:solidFill>
                  <a:srgbClr val="FFFFFF"/>
                </a:solidFill>
              </a:rPr>
              <a:t>실물 화면 캡처가 없을 때 화면 구성을 정직하게 전달하는 형식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83879" y="6355080"/>
            <a:ext cx="301752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8FACD0"/>
                </a:solidFill>
              </a:rPr>
              <a:t>00  섹션 이름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355080"/>
            <a:ext cx="548640" cy="5029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rIns="0" anchor="ctr"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lang="en-US" sz="1000" b="0">
                <a:solidFill>
                  <a:srgbClr val="FFFFFF"/>
                </a:solidFill>
              </a:rPr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 wrap="square"/>
          <a:lstStyle/>
          <a:p>
            <a:r>
              <a:t>스타일 가이드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2468880"/>
            <a:ext cx="5413248" cy="3063240"/>
          </a:xfrm>
          <a:prstGeom prst="roundRect">
            <a:avLst>
              <a:gd name="adj" fmla="val 2388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 Same Side Corner Rectangle 32"/>
          <p:cNvSpPr/>
          <p:nvPr/>
        </p:nvSpPr>
        <p:spPr>
          <a:xfrm>
            <a:off x="566928" y="2468880"/>
            <a:ext cx="5413248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06C"/>
                </a:solidFill>
              </a:rPr>
              <a:t>문체 규칙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2871216"/>
            <a:ext cx="5413248" cy="2660904"/>
          </a:xfrm>
          <a:prstGeom prst="rect">
            <a:avLst/>
          </a:prstGeom>
          <a:noFill/>
        </p:spPr>
        <p:txBody>
          <a:bodyPr wrap="square" lIns="182880" tIns="80467" rIns="146304" bIns="65836" anchor="ctr">
            <a:spAutoFit/>
          </a:bodyPr>
          <a:lstStyle/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00" b="0">
                <a:solidFill>
                  <a:srgbClr val="21262E"/>
                </a:solidFill>
              </a:rPr>
              <a:t>본문은 개조식 명사형, 마침표 없이 종결</a:t>
            </a:r>
          </a:p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00" b="0">
                <a:solidFill>
                  <a:srgbClr val="21262E"/>
                </a:solidFill>
              </a:rPr>
              <a:t>하이픈·em dash 대신 가운뎃점과 어순 변경</a:t>
            </a:r>
          </a:p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00" b="0">
                <a:solidFill>
                  <a:srgbClr val="21262E"/>
                </a:solidFill>
              </a:rPr>
              <a:t>질문형 제목 금지, 평서형 명사구 사용</a:t>
            </a:r>
          </a:p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00" b="0">
                <a:solidFill>
                  <a:srgbClr val="21262E"/>
                </a:solidFill>
              </a:rPr>
              <a:t>수치는 근거 있는 값만, 배수 표현 우선</a:t>
            </a:r>
          </a:p>
          <a:p>
            <a:pPr marL="182880" indent="-182880" algn="l">
              <a:lnSpc>
                <a:spcPct val="116000"/>
              </a:lnSpc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30" b="0">
                <a:solidFill>
                  <a:srgbClr val="21262E"/>
                </a:solidFill>
              </a:rPr>
              <a:t>직역투·외래어 라벨은 통용되는 우리말로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08776" y="2468880"/>
            <a:ext cx="5413248" cy="3063240"/>
          </a:xfrm>
          <a:prstGeom prst="roundRect">
            <a:avLst>
              <a:gd name="adj" fmla="val 2388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 Same Side Corner Rectangle 35"/>
          <p:cNvSpPr/>
          <p:nvPr/>
        </p:nvSpPr>
        <p:spPr>
          <a:xfrm>
            <a:off x="6208776" y="2468880"/>
            <a:ext cx="5413248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06C"/>
                </a:solidFill>
              </a:rPr>
              <a:t>레이아웃 규칙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08776" y="2871216"/>
            <a:ext cx="5413248" cy="2660904"/>
          </a:xfrm>
          <a:prstGeom prst="rect">
            <a:avLst/>
          </a:prstGeom>
          <a:noFill/>
        </p:spPr>
        <p:txBody>
          <a:bodyPr wrap="square" lIns="182880" tIns="80467" rIns="146304" bIns="65836" anchor="ctr">
            <a:spAutoFit/>
          </a:bodyPr>
          <a:lstStyle/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00" b="0">
                <a:solidFill>
                  <a:srgbClr val="21262E"/>
                </a:solidFill>
              </a:rPr>
              <a:t>콘텐츠 폭 0.62 ~ 12.71인치, 하단 6.80인치 이내</a:t>
            </a:r>
          </a:p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00" b="0">
                <a:solidFill>
                  <a:srgbClr val="21262E"/>
                </a:solidFill>
              </a:rPr>
              <a:t>하단 네이비 밴드는 근거를 압축한 주장 한 문장</a:t>
            </a:r>
          </a:p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00" b="0">
                <a:solidFill>
                  <a:srgbClr val="21262E"/>
                </a:solidFill>
              </a:rPr>
              <a:t>카드 간격 0.25인치, 제목 띠 높이 0.44인치</a:t>
            </a:r>
          </a:p>
          <a:p>
            <a:pPr marL="182880" indent="-182880"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00" b="0">
                <a:solidFill>
                  <a:srgbClr val="21262E"/>
                </a:solidFill>
              </a:rPr>
              <a:t>제목 28pt · 카드 제목 12.5pt · 본문 10.5 ~ 11.5pt</a:t>
            </a:r>
          </a:p>
          <a:p>
            <a:pPr marL="182880" indent="-182880" algn="l">
              <a:lnSpc>
                <a:spcPct val="116000"/>
              </a:lnSpc>
              <a:spcAft>
                <a:spcPts val="200"/>
              </a:spcAft>
              <a:buClr>
                <a:srgbClr val="007BC6"/>
              </a:buClr>
              <a:buSzPct val="75000"/>
              <a:buFont typeface="Arial"/>
              <a:buChar char="•"/>
            </a:pPr>
            <a:r>
              <a:rPr sz="1130" b="0">
                <a:solidFill>
                  <a:srgbClr val="21262E"/>
                </a:solidFill>
              </a:rPr>
              <a:t>하단 밴드는 전폭 고정, 좌측 주장 문장과 우측 섹션·페이지 번호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55080"/>
            <a:ext cx="1219196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8288" rIns="228600" bIns="18288" rtlCol="0" anchor="ctr">
            <a:no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buNone/>
            </a:pPr>
            <a:r>
              <a:rPr sz="1250" b="1">
                <a:solidFill>
                  <a:srgbClr val="FFFFFF"/>
                </a:solidFill>
              </a:rPr>
              <a:t>이 템플릿의 모든 페이지는 위 규칙 안에서 조합해 사용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6355080"/>
            <a:ext cx="301752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8FACD0"/>
                </a:solidFill>
              </a:rPr>
              <a:t>00  섹션 이름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355080"/>
            <a:ext cx="548640" cy="5029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rIns="0" anchor="ctr"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lang="en-US" sz="1000" b="0">
                <a:solidFill>
                  <a:srgbClr val="FFFFFF"/>
                </a:solidFill>
              </a:rPr>
              <a:t>19</a:t>
            </a:fld>
            <a:endParaRPr lang="en-US"/>
          </a:p>
        </p:txBody>
      </p:sp>
      <p:sp>
        <p:nvSpPr>
          <p:cNvPr id="40" name="Rounded Rectangle 39"/>
          <p:cNvSpPr/>
          <p:nvPr/>
        </p:nvSpPr>
        <p:spPr>
          <a:xfrm>
            <a:off x="566928" y="1417320"/>
            <a:ext cx="1243584" cy="777240"/>
          </a:xfrm>
          <a:prstGeom prst="roundRect">
            <a:avLst>
              <a:gd name="adj" fmla="val 8000"/>
            </a:avLst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100"/>
              </a:spcAft>
              <a:buNone/>
            </a:pPr>
            <a:r>
              <a:rPr sz="1000" b="1">
                <a:solidFill>
                  <a:srgbClr val="FFFFFF"/>
                </a:solidFill>
              </a:rPr>
              <a:t>00306C</a:t>
            </a:r>
          </a:p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900" b="0">
                <a:solidFill>
                  <a:srgbClr val="FFFFFF"/>
                </a:solidFill>
              </a:rPr>
              <a:t>네이비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66874" y="1417320"/>
            <a:ext cx="1243584" cy="777240"/>
          </a:xfrm>
          <a:prstGeom prst="roundRect">
            <a:avLst>
              <a:gd name="adj" fmla="val 8000"/>
            </a:avLst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100"/>
              </a:spcAft>
              <a:buNone/>
            </a:pPr>
            <a:r>
              <a:rPr sz="1000" b="1">
                <a:solidFill>
                  <a:srgbClr val="FFFFFF"/>
                </a:solidFill>
              </a:rPr>
              <a:t>007BC6</a:t>
            </a:r>
          </a:p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900" b="0">
                <a:solidFill>
                  <a:srgbClr val="FFFFFF"/>
                </a:solidFill>
              </a:rPr>
              <a:t>블루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66820" y="1417320"/>
            <a:ext cx="1243584" cy="777240"/>
          </a:xfrm>
          <a:prstGeom prst="roundRect">
            <a:avLst>
              <a:gd name="adj" fmla="val 8000"/>
            </a:avLst>
          </a:prstGeom>
          <a:solidFill>
            <a:srgbClr val="00B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100"/>
              </a:spcAft>
              <a:buNone/>
            </a:pPr>
            <a:r>
              <a:rPr sz="1000" b="1">
                <a:solidFill>
                  <a:srgbClr val="FFFFFF"/>
                </a:solidFill>
              </a:rPr>
              <a:t>00B8EE</a:t>
            </a:r>
          </a:p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900" b="0">
                <a:solidFill>
                  <a:srgbClr val="FFFFFF"/>
                </a:solidFill>
              </a:rPr>
              <a:t>시안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66767" y="1417320"/>
            <a:ext cx="1243584" cy="77724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100"/>
              </a:spcAft>
              <a:buNone/>
            </a:pPr>
            <a:r>
              <a:rPr sz="1000" b="1">
                <a:solidFill>
                  <a:srgbClr val="00306C"/>
                </a:solidFill>
              </a:rPr>
              <a:t>F3F6FA</a:t>
            </a:r>
          </a:p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900" b="0">
                <a:solidFill>
                  <a:srgbClr val="00306C"/>
                </a:solidFill>
              </a:rPr>
              <a:t>카드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66713" y="1417320"/>
            <a:ext cx="1243584" cy="777240"/>
          </a:xfrm>
          <a:prstGeom prst="roundRect">
            <a:avLst>
              <a:gd name="adj" fmla="val 8000"/>
            </a:avLst>
          </a:prstGeom>
          <a:solidFill>
            <a:srgbClr val="E7F0F8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100"/>
              </a:spcAft>
              <a:buNone/>
            </a:pPr>
            <a:r>
              <a:rPr sz="1000" b="1">
                <a:solidFill>
                  <a:srgbClr val="00306C"/>
                </a:solidFill>
              </a:rPr>
              <a:t>E7F0F8</a:t>
            </a:r>
          </a:p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900" b="0">
                <a:solidFill>
                  <a:srgbClr val="00306C"/>
                </a:solidFill>
              </a:rPr>
              <a:t>강조 카드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566660" y="1417320"/>
            <a:ext cx="1243584" cy="777240"/>
          </a:xfrm>
          <a:prstGeom prst="roundRect">
            <a:avLst>
              <a:gd name="adj" fmla="val 8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100"/>
              </a:spcAft>
              <a:buNone/>
            </a:pPr>
            <a:r>
              <a:rPr sz="1000" b="1">
                <a:solidFill>
                  <a:srgbClr val="FFFFFF"/>
                </a:solidFill>
              </a:rPr>
              <a:t>1E7A46</a:t>
            </a:r>
          </a:p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900" b="0">
                <a:solidFill>
                  <a:srgbClr val="FFFFFF"/>
                </a:solidFill>
              </a:rPr>
              <a:t>확인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66606" y="1417320"/>
            <a:ext cx="1243584" cy="777240"/>
          </a:xfrm>
          <a:prstGeom prst="roundRect">
            <a:avLst>
              <a:gd name="adj" fmla="val 8000"/>
            </a:avLst>
          </a:prstGeom>
          <a:solidFill>
            <a:srgbClr val="B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>
            <a:noAutofit/>
          </a:bodyPr>
          <a:lstStyle/>
          <a:p>
            <a:pPr algn="ctr">
              <a:lnSpc>
                <a:spcPct val="116000"/>
              </a:lnSpc>
              <a:spcAft>
                <a:spcPts val="100"/>
              </a:spcAft>
              <a:buNone/>
            </a:pPr>
            <a:r>
              <a:rPr sz="1000" b="1">
                <a:solidFill>
                  <a:srgbClr val="FFFFFF"/>
                </a:solidFill>
              </a:rPr>
              <a:t>B83A3A</a:t>
            </a:r>
          </a:p>
          <a:p>
            <a:pPr algn="ctr">
              <a:lnSpc>
                <a:spcPct val="116000"/>
              </a:lnSpc>
              <a:spcAft>
                <a:spcPts val="0"/>
              </a:spcAft>
              <a:buNone/>
            </a:pPr>
            <a:r>
              <a:rPr sz="900" b="0">
                <a:solidFill>
                  <a:srgbClr val="FFFFFF"/>
                </a:solidFill>
              </a:rPr>
              <a:t>경고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366552" y="1417320"/>
            <a:ext cx="1243584" cy="77724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0476280" y="1527048"/>
            <a:ext cx="228600" cy="256032"/>
          </a:xfrm>
          <a:prstGeom prst="roundRect">
            <a:avLst>
              <a:gd name="adj" fmla="val 15000"/>
            </a:avLst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0732312" y="1527048"/>
            <a:ext cx="228600" cy="256032"/>
          </a:xfrm>
          <a:prstGeom prst="roundRect">
            <a:avLst>
              <a:gd name="adj" fmla="val 15000"/>
            </a:avLst>
          </a:prstGeom>
          <a:solidFill>
            <a:srgbClr val="0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10988344" y="1527048"/>
            <a:ext cx="228600" cy="256032"/>
          </a:xfrm>
          <a:prstGeom prst="roundRect">
            <a:avLst>
              <a:gd name="adj" fmla="val 15000"/>
            </a:avLst>
          </a:prstGeom>
          <a:solidFill>
            <a:srgbClr val="117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11244376" y="1527048"/>
            <a:ext cx="228600" cy="256032"/>
          </a:xfrm>
          <a:prstGeom prst="roundRect">
            <a:avLst>
              <a:gd name="adj" fmla="val 15000"/>
            </a:avLst>
          </a:prstGeom>
          <a:solidFill>
            <a:srgbClr val="258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66552" y="1883664"/>
            <a:ext cx="12435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spcAft>
                <a:spcPts val="200"/>
              </a:spcAft>
              <a:buNone/>
            </a:pPr>
            <a:r>
              <a:rPr sz="900" b="0">
                <a:solidFill>
                  <a:srgbClr val="21262E"/>
                </a:solidFill>
              </a:rPr>
              <a:t>단계 램프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 wrap="square"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3"/>
          </p:nvPr>
        </p:nvSpPr>
        <p:spPr/>
        <p:txBody>
          <a:bodyPr wrap="square"/>
          <a:lstStyle/>
          <a:p>
            <a:r>
              <a:t>이름 · email@kentech.ac.kr</a:t>
            </a:r>
          </a:p>
          <a:p>
            <a:r>
              <a:t>한국에너지공과대학교 (KENTECH)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NTECH">
      <a:dk1>
        <a:srgbClr val="21262E"/>
      </a:dk1>
      <a:lt1>
        <a:srgbClr val="FFFFFF"/>
      </a:lt1>
      <a:dk2>
        <a:srgbClr val="00306C"/>
      </a:dk2>
      <a:lt2>
        <a:srgbClr val="F3F6FA"/>
      </a:lt2>
      <a:accent1>
        <a:srgbClr val="007BC6"/>
      </a:accent1>
      <a:accent2>
        <a:srgbClr val="00B8EE"/>
      </a:accent2>
      <a:accent3>
        <a:srgbClr val="00306C"/>
      </a:accent3>
      <a:accent4>
        <a:srgbClr val="4DA3DC"/>
      </a:accent4>
      <a:accent5>
        <a:srgbClr val="5D6773"/>
      </a:accent5>
      <a:accent6>
        <a:srgbClr val="9AA3AE"/>
      </a:accent6>
      <a:hlink>
        <a:srgbClr val="007BC6"/>
      </a:hlink>
      <a:folHlink>
        <a:srgbClr val="5D6773"/>
      </a:folHlink>
    </a:clrScheme>
    <a:fontScheme name="KENTECH">
      <a:maj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ajorFont>
      <a:min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1457</Words>
  <Application>Microsoft Office PowerPoint</Application>
  <PresentationFormat>와이드스크린</PresentationFormat>
  <Paragraphs>387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Pretendard</vt:lpstr>
      <vt:lpstr>Arial</vt:lpstr>
      <vt:lpstr>Office Theme</vt:lpstr>
      <vt:lpstr>발표 제목 핵심 키워드 둘째 줄은 의미 단위로 줄바꿈</vt:lpstr>
      <vt:lpstr>목차</vt:lpstr>
      <vt:lpstr>섹션 제목을 입력</vt:lpstr>
      <vt:lpstr>기본 2카드</vt:lpstr>
      <vt:lpstr>3카드와 강조 카드</vt:lpstr>
      <vt:lpstr>핵심 수치와 구성비</vt:lpstr>
      <vt:lpstr>표와 보조 스탯</vt:lpstr>
      <vt:lpstr>단계 흐름도</vt:lpstr>
      <vt:lpstr>항목별 크기 비교</vt:lpstr>
      <vt:lpstr>전후 비교</vt:lpstr>
      <vt:lpstr>원형 스테퍼</vt:lpstr>
      <vt:lpstr>순번 리스트</vt:lpstr>
      <vt:lpstr>다이어그램 부품 모음</vt:lpstr>
      <vt:lpstr>연구와 과제 연계 매핑</vt:lpstr>
      <vt:lpstr>추진 체계 조직도</vt:lpstr>
      <vt:lpstr>연차별 계획 간트</vt:lpstr>
      <vt:lpstr>논문 소개</vt:lpstr>
      <vt:lpstr>다크 콘솔 와이어프레임</vt:lpstr>
      <vt:lpstr>스타일 가이드</vt:lpstr>
      <vt:lpstr>Thank You</vt:lpstr>
    </vt:vector>
  </TitlesOfParts>
  <Company>Korea Institute of Energy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KENTECH Presentation Template</dc:title>
  <dc:subject>PptxGenJS Presentation</dc:subject>
  <dc:creator>Seunghyun Yoon</dc:creator>
  <cp:lastModifiedBy>윤승현</cp:lastModifiedBy>
  <cp:revision>2</cp:revision>
  <dcterms:created xsi:type="dcterms:W3CDTF">2026-08-09T04:01:58Z</dcterms:created>
  <dcterms:modified xsi:type="dcterms:W3CDTF">2026-08-19T12:18:07Z</dcterms:modified>
</cp:coreProperties>
</file>