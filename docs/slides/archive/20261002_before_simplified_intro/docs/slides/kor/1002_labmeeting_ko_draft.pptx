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56" r:id="rId6"/>
    <p:sldId id="257" r:id="rId8"/>
    <p:sldId id="258" r:id="rId9"/>
    <p:sldId id="262" r:id="rId2"/>
    <p:sldId id="265" r:id="rId16"/>
    <p:sldId id="269" r:id="rId20"/>
    <p:sldId id="260" r:id="rId4"/>
    <p:sldId id="261" r:id="rId3"/>
    <p:sldId id="263" r:id="rId14"/>
    <p:sldId id="264" r:id="rId15"/>
    <p:sldId id="270"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8" y="1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6.xml"/><Relationship Id="rId6"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slide" Target="slides/slide5.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4.xml"/><Relationship Id="rId15" Type="http://schemas.openxmlformats.org/officeDocument/2006/relationships/slide" Target="slides/slide9.xml"/><Relationship Id="rId16" Type="http://schemas.openxmlformats.org/officeDocument/2006/relationships/slide" Target="slides/slide8.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7.xml"/><Relationship Id="rId20" Type="http://schemas.openxmlformats.org/officeDocument/2006/relationships/slide" Target="slides/slide10.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예측 혼동행렬이 아니라 동일 feature에서 복수 라벨이 관찰되는 비율</a:t>
            </a:r>
          </a:p>
          <a:p>
            <a:r>
              <a:t>분모는 원래 행 클래스의 모든 표본이며 정제 전 전체 데이터 기준</a:t>
            </a:r>
          </a:p>
          <a:p>
            <a:r>
              <a:t>A와 B가 서로 feature를 공유하더라도 클래스 크기가 달라 셀 비율은 비대칭</a:t>
            </a:r>
          </a:p>
          <a:p>
            <a:r>
              <a:t>한 행이 여러 다른 라벨과 공유되면 여러 셀에 집계되므로 행 합은 제거 비율이 아님</a:t>
            </a:r>
          </a:p>
          <a:p>
            <a:r>
              <a:t>Web attack: Benign만 1,335행, Infiltration만 3행, 양쪽 모두 429행, 겹침 없는 771행</a:t>
            </a:r>
          </a:p>
          <a:p>
            <a:r>
              <a:t>데이터 및 그림 원본: docs/slides/kor/1002_intro_assets/</a:t>
            </a:r>
          </a:p>
          <a:p>
            <a:r>
              <a:t>열 약어는 행의 전체 클래스명과 같은 순서</a:t>
            </a:r>
          </a:p>
          <a:p>
            <a:r>
              <a:t>행과 열 모두 정제 전 전체 클래스 표본 수 내림차순</a:t>
            </a:r>
          </a:p>
          <a:p>
            <a:r>
              <a:t>동일 feature의 상충 라벨은 관찰 사실이며 window 라벨링을 모든 상충의 원인으로 단정하지 않음</a:t>
            </a:r>
          </a:p>
          <a:p>
            <a:r>
              <a:t>서사 연결: 새 공격 반영 방식의 효과를 비교하기 위한 데이터 기반 점검. 라벨 상충의 원인을 모두 시간 구간 라벨링으로 단정하지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정제 전후 집계는 전체 train+validation+test이다. Test 열은 별도 부분집합이며 이를 정제 후 전체에 다시 더하지 않는다. 원본: clean split class_counts.csv와 EXP61 global_raw 클래스 support. 사용자 확정: tail은 고정 test 표본 수 기준으로 해석. 학습 샘플 배분이 균등하더라도 평가의 tail은 유지된다. 특정 tail threshold는 임의로 추가하지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구현한 구조는 Global/expert/route 풀을 분리하고, anchor+residual block으로 expert context를 구성하며 S/V를 별도 학습한다. TabPFN backbone이 고정이라는 말은 S/V까지 학습 없이 갱신된다는 뜻이 아니다. 순차 도입 EXP70에서는 이 구조의 기반인 XGB 대 Global TabPFN의 사례 갱신부터 검증하며, 완전판의 신규 공격 갱신 규칙과 비용은 후속 검증이다.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현재까지 시도한 context 구성 방법 중 하나로 제시</a:t>
            </a:r>
          </a:p>
          <a:p>
            <a:r>
              <a:t>Global 100,000행 context 및 anchor ID 고정, residual KMeans 군집 수만 2/4/6/8로 변경</a:t>
            </a:r>
          </a:p>
          <a:p>
            <a:r>
              <a:t>Residual에는 입력 표현, Global 예측 확률, 정답과 확률의 차이, 오류 크기가 포함</a:t>
            </a:r>
          </a:p>
          <a:p>
            <a:r>
              <a:t>Expert context에는 선택된 원래 feature와 label 쌍을 제공, residual을 추가 feature로 제공하지 않음</a:t>
            </a:r>
          </a:p>
          <a:p>
            <a:r>
              <a:t>Block은 Global이 틀린 행만으로 구성되지 않으며 다양성 선택을 포함</a:t>
            </a:r>
          </a:p>
          <a:p>
            <a:r>
              <a:t>각 block 상한 186,000행, 군집이 작으면 가능한 표본 사용</a:t>
            </a:r>
          </a:p>
          <a:p>
            <a:r>
              <a:t>K별 합계는 중복 anchor를 포함한 context 행 수의 합이며 고유 학습 표본 수와 다름</a:t>
            </a:r>
          </a:p>
          <a:p>
            <a:r>
              <a:t>K가 증가하면 총 context 크기도 달라지므로 고정 총예산 실험으로 해석하지 않음</a:t>
            </a:r>
          </a:p>
          <a:p>
            <a:r>
              <a:t>근거: docs/research/20260930/exp63_capability_report_data.json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EXP63 K=4 saved fitted bank 기준</a:t>
            </a:r>
          </a:p>
          <a:p>
            <a:r>
              <a:t>각 expert가 같은 전체 test를 분류한 raw multiclass F1, S/V 적용 전</a:t>
            </a:r>
          </a:p>
          <a:p>
            <a:r>
              <a:t>이 표는 정답 residual로 표본을 expert에 배정한 oracle 결과가 아님</a:t>
            </a:r>
          </a:p>
          <a:p>
            <a:r>
              <a:t>A/B는 expert별 평가 표본군이 달라 자체 역량의 두 관점으로 사용하지 않음</a:t>
            </a:r>
          </a:p>
          <a:p>
            <a:r>
              <a:t>파란 숫자는 소수 셋째 자리 표시값이 Global보다 클 때만 강조</a:t>
            </a:r>
          </a:p>
          <a:p>
            <a:r>
              <a:t>ToN Scanning은 K=2/4/6/8의 모든 expert에서 test·validation confirm F1 개선</a:t>
            </a:r>
          </a:p>
          <a:p>
            <a:r>
              <a:t>CIC2018 Infiltration은 모든 K에서 test F1 개선 expert 없음</a:t>
            </a:r>
          </a:p>
          <a:p>
            <a:r>
              <a:t>CIC2018 Web attack은 일부 test 개선이 있으나 동일 expert의 confirm 개선 없음</a:t>
            </a:r>
          </a:p>
          <a:p>
            <a:r>
              <a:t>같은 클래스에서 test와 confirm의 개선 방향을 확인하며 두 split의 F1 절대값 차이를 직접 일반화 격차로 해석하지 않음</a:t>
            </a:r>
          </a:p>
          <a:p>
            <a:r>
              <a:t>단일 클래스의 개선으로 expert 전체가 Global보다 우수하다고 해석하지 않음</a:t>
            </a:r>
          </a:p>
          <a:p>
            <a:r>
              <a:t>근거: 각 dataset_k4/diagnostics/expert_class_metrics.csv 및 EXP63 capability report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EXP63의 S1V0 설정 이름은 S와 V를 모두 학습한 현재 완전판이며 V 제거 ablation을 뜻하지 않음</a:t>
            </a:r>
          </a:p>
          <a:p>
            <a:r>
              <a:t>K=4는 기존 대표 설정이므로 다음 SOTA 표에도 사용, test 최고 K를 선택한 것이 아님</a:t>
            </a:r>
          </a:p>
          <a:p>
            <a:r>
              <a:t>CIC2018 모든 K: 선택된 정책에서 호출과 채택 모두 0</a:t>
            </a:r>
          </a:p>
          <a:p>
            <a:r>
              <a:t>ToN 모든 K: 정책상 모든 표본에 선택 expert 한 개 호출, 모든 K개 expert를 호출한다는 뜻은 아님</a:t>
            </a:r>
          </a:p>
          <a:p>
            <a:r>
              <a:t>호출과 verifier 채택은 다르며 채택된 출력이 Global과 같은 클래스일 수 있음</a:t>
            </a:r>
          </a:p>
          <a:p>
            <a:r>
              <a:t>실험은 모든 expert 예측을 미리 저장해 정책을 평가했으므로 호출 수는 논리적 호출 수</a:t>
            </a:r>
          </a:p>
          <a:p>
            <a:r>
              <a:t>현재 값으로 sparse online latency를 측정했다고 주장하지 않음</a:t>
            </a:r>
          </a:p>
          <a:p>
            <a:r>
              <a:t>CIC의 호출 부재를 V 하나의 원인으로 단정하지 않으며 이번 발표에서는 원인 분석을 확장하지 않음</a:t>
            </a:r>
          </a:p>
          <a:p>
            <a:r>
              <a:t>별도의 S 제거/V 제거 기여 분리 실험은 이번 표에 포함하지 않음</a:t>
            </a:r>
          </a:p>
          <a:p>
            <a:r>
              <a:t>근거: tabpfn/results/20260930_exp63_k_sweep_s43/*/summary.csv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수치는 완료된 EXP61/63, 대표 K4를 유지. EXP70의 부분 결과는 넣지 않는다. 제안 모델은 Global에 더해 Expert·Route 데이터로 학습하므로 같은 100k 정보 예산의 승리로 주장하지 않는다. EXP70의 Global 결과가 완료돼도 이를 제안 완전판 수치로 바꾸지 않는다. PFN backbones: Global/DistPFN v3, BoostPFN/LoCalPFN v1, LoCalPFN 미세조정 포함. SOTA 표는 현재 정적 성능을 보고하는 역할이며 연구 목표를 평균 F1 순위 경쟁으로 대체하지 않는다. 운영 비용은 부록의 측정 조건을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EXP61 측정 비용은 기존 SOTA 표의 실제 fit/predict/GPU 값을 그대로 사용</a:t>
            </a:r>
          </a:p>
          <a:p>
            <a:r>
              <a:t>단독 실행 latency 비교나 고유 속도 배수로 해석하지 않음</a:t>
            </a:r>
          </a:p>
          <a:p>
            <a:r>
              <a:t>GPU는 1초 간격 프로세스별 최대 사용량</a:t>
            </a:r>
          </a:p>
          <a:p>
            <a:r>
              <a:t>현재 모델은 offline으로 모든 expert 예측을 준비한 뒤 정책을 평가했으므로 실제 조건부 호출 비용은 미측정</a:t>
            </a:r>
          </a:p>
          <a:p>
            <a:r>
              <a:t>재사용 집계 작업의 3초 등은 모델의 학습·추론 시간으로 사용하지 않음</a:t>
            </a:r>
          </a:p>
          <a:p>
            <a:r>
              <a:t>ToN 100% 호출은 선택 expert 한 개를 호출하는 정책이며 4개 전부 호출이 아님</a:t>
            </a:r>
          </a:p>
          <a:p>
            <a:r>
              <a:t>근거: docs/research/20260930/exp61_report_data.json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후속 방법은 사용자 요청의 네 접근. 기존 EXP64–67 결과는 원본에 보존하되 이번 주장에 자동 채택하지 않는다. 세부 screening 조건과 방법 충실성 검토 후 사용 여부 판단. LITO: https://proceedings.iclr.cc/paper_files/paper/2024/file/5d54d2df6ec8f7b920aa0fec9a6d1b2e-Paper-Conference.pdf ; embedding: https://github.com/mlopezm/Supervised-contrastive-learning-over-prototype-label-embeddings ; ICD: https://arxiv.org/abs/2402.06971 (ICLR 2024 ME-FoMo workshop; not main conference). https://valthom.github.io/</a:t>
            </a:r>
          </a:p>
          <a:p>
            <a:r>
              <a:t>2026-10-02 후속 확정: 네 가지 방법은 연구 목적 자체가 아니라 새 공격 반영 및 기존 탐지 유지를 위한 구현 후보. 기존 상대사례 실험은 본문이나 부록에 추가하지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프로토콜: docs/research/20261002/exp70_protocol.md. 승인 배분대로 CIC 초기84820, ToN80712에서100000으로 누적. 클래스별 전체 test에서 평가하며 raw 시간 흐름 또는 실제 네트워크 환경 변화 재현으로 주장하지 않는다. 새 공격의 라벨 사례를 제공한 뒤 분류한다. Tail만 순차적으로 등장하는 설계가 아니다. EXP70은 Global 비교이고 expert·S/V 갱신까지 자동 검증된 것은 아니다. 결과를 채워 넣지 않아도 확정된 검증 설계로 완결된 장이다.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발표의 중심 질문은 사용자가 명시한 신규 공격 라벨 확보 이후의 context 확장 대 XGB 재학습 비교다. Tail/context 최적화나 평균 F1 순위가 발표의 중심을 대체하지 않게 설명한다. 라벨 확보 이전 미지 공격 인지는 본 평가와 별개의 후속 OOD 주제다. 기술적 갱신 메커니즘은 설명하되 성능·비용 우위를 이미 입증했다고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그림의 XGBoost는 본 비교에서 채택한 누적 데이터 전체 재학습 전략이다. XGBoost의 모든 사용 방식에 재학습만 가능하다는 주장이 아니다. TabPFN fit에는 전처리·캐시 구성이 있으며 first prediction 지연과 전체 추론 비용도 측정한다. EXP70은 Global TabPFN 비교이며 S/V 전체의 무학습 갱신을 검증한 실험은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EXP61 report_data and EXP63 K4 policy. K4 is the existing representative configuration, not test-best selection. Logical call rate applies the policy to cached expert predictions; it is not measured conditional latency. Full SOTA and per-expert class F1 are in the appendix. No claim that experts fail due solely to benign overlap or that a class is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피드백의 핵심을 마지막에 다시 강조: 실험마다 전체 F1 순위를 올리는 수치 경쟁이 연구의 목적이 아니다. 새로운 공격의 라벨 사례를 확보했을 때 이를 탐지기에 반영하는 방식의 성능과 운영 효용을 검증한다. Context 후보는 구현 수단이며 부록에 둔다. S/V 학습과 갱신을 포함한 완전판 비용은 별도 측정해야 한다. 이 장은 계획이므로 하단 밴드에 같은 슬로건을 반복하지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정확한 클래스별 배분은 tabpfn/configs/exp70_allocation.json. CIC 공격은Web450과나머지각4910. ToN Ransomware2151, Backdoor2857, 나머지각2856. 기존 실험에서Global풀이train의절반이었던 것과달리 전체cleantrain사용. 최종예산100000이며 신규클래스당100000이아니다. 같은날복수공격그룹은합산. 최초출현순서표이므로 클래스표본수정렬의예외다.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pic>
        <p:nvPicPr>
          <p:cNvPr id="2" name="Image 0" descr="assets/pattern_color.png"/>
          <p:cNvPicPr>
            <a:picLocks noChangeAspect="1"/>
          </p:cNvPicPr>
          <p:nvPr/>
        </p:nvPicPr>
        <p:blipFill>
          <a:blip r:embed="rId2"/>
          <a:stretch>
            <a:fillRect/>
          </a:stretch>
        </p:blipFill>
        <p:spPr>
          <a:xfrm>
            <a:off x="7783107" y="2011680"/>
            <a:ext cx="4408588" cy="4846320"/>
          </a:xfrm>
          <a:prstGeom prst="rect">
            <a:avLst/>
          </a:prstGeom>
        </p:spPr>
      </p:pic>
      <p:pic>
        <p:nvPicPr>
          <p:cNvPr id="3" name="Image 1" descr="assets/logo_color.png"/>
          <p:cNvPicPr>
            <a:picLocks noChangeAspect="1"/>
          </p:cNvPicPr>
          <p:nvPr/>
        </p:nvPicPr>
        <p:blipFill>
          <a:blip r:embed="rId3"/>
          <a:stretch>
            <a:fillRect/>
          </a:stretch>
        </p:blipFill>
        <p:spPr>
          <a:xfrm>
            <a:off x="685800" y="502920"/>
            <a:ext cx="1874520" cy="442621"/>
          </a:xfrm>
          <a:prstGeom prst="rect">
            <a:avLst/>
          </a:prstGeom>
        </p:spPr>
      </p:pic>
      <p:sp>
        <p:nvSpPr>
          <p:cNvPr id="4" name="Text 0"/>
          <p:cNvSpPr>
            <a:spLocks noGrp="1"/>
          </p:cNvSpPr>
          <p:nvPr>
            <p:ph type="title" idx="102" hasCustomPrompt="1"/>
          </p:nvPr>
        </p:nvSpPr>
        <p:spPr>
          <a:xfrm>
            <a:off x="685800" y="1828800"/>
            <a:ext cx="6858000" cy="1691640"/>
          </a:xfrm>
          <a:prstGeom prst="rect">
            <a:avLst/>
          </a:prstGeom>
          <a:noFill/>
          <a:ln/>
        </p:spPr>
        <p:txBody>
          <a:bodyPr wrap="square" rtlCol="0"/>
          <a:lstStyle>
            <a:lvl1pPr marL="0" indent="0" algn="l">
              <a:buNone/>
              <a:defRPr lang="en-US" sz="44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00306C"/>
                </a:solidFill>
                <a:latin typeface="Pretendard" pitchFamily="34" charset="0"/>
                <a:ea typeface="Pretendard" pitchFamily="34" charset="-122"/>
                <a:cs typeface="Pretendard" pitchFamily="34" charset="-120"/>
              </a:rPr>
              <a:t>발표 제목을 입력하세요</a:t>
            </a:r>
            <a:endParaRPr lang="en-US" sz="4400" dirty="0"/>
          </a:p>
        </p:txBody>
      </p:sp>
      <p:sp>
        <p:nvSpPr>
          <p:cNvPr id="5" name="Text 0"/>
          <p:cNvSpPr>
            <a:spLocks noGrp="1"/>
          </p:cNvSpPr>
          <p:nvPr>
            <p:ph type="body" idx="103" hasCustomPrompt="1"/>
          </p:nvPr>
        </p:nvSpPr>
        <p:spPr>
          <a:xfrm>
            <a:off x="685800" y="3703320"/>
            <a:ext cx="6583680" cy="502920"/>
          </a:xfrm>
          <a:prstGeom prst="rect">
            <a:avLst/>
          </a:prstGeom>
          <a:noFill/>
          <a:ln/>
        </p:spPr>
        <p:txBody>
          <a:bodyPr wrap="square" rtlCol="0"/>
          <a:lstStyle>
            <a:lvl1pPr marL="0" indent="0" algn="l">
              <a:buNone/>
              <a:defRPr lang="en-US" sz="15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500" dirty="0">
                <a:solidFill>
                  <a:srgbClr val="5D6773"/>
                </a:solidFill>
                <a:latin typeface="Pretendard" pitchFamily="34" charset="0"/>
                <a:ea typeface="Pretendard" pitchFamily="34" charset="-122"/>
                <a:cs typeface="Pretendard" pitchFamily="34" charset="-120"/>
              </a:rPr>
              <a:t>부제목 · 행사명 · 날짜</a:t>
            </a:r>
            <a:endParaRPr lang="en-US" sz="1500" dirty="0"/>
          </a:p>
        </p:txBody>
      </p:sp>
      <p:sp>
        <p:nvSpPr>
          <p:cNvPr id="6" name="Text 0"/>
          <p:cNvSpPr>
            <a:spLocks noGrp="1"/>
          </p:cNvSpPr>
          <p:nvPr>
            <p:ph type="body" idx="104" hasCustomPrompt="1"/>
          </p:nvPr>
        </p:nvSpPr>
        <p:spPr>
          <a:xfrm>
            <a:off x="685800" y="4709160"/>
            <a:ext cx="6217920" cy="1645920"/>
          </a:xfrm>
          <a:prstGeom prst="rect">
            <a:avLst/>
          </a:prstGeom>
          <a:noFill/>
          <a:ln/>
        </p:spPr>
        <p:txBody>
          <a:bodyPr wrap="square" rtlCol="0"/>
          <a:lstStyle>
            <a:lvl1pPr marL="0" indent="0" algn="l">
              <a:buNone/>
              <a:defRPr lang="en-US" sz="1300" dirty="0">
                <a:solidFill>
                  <a:srgbClr val="5D6773"/>
                </a:solidFill>
                <a:latin typeface="Pretendard" pitchFamily="34" charset="0"/>
                <a:ea typeface="Pretendard" pitchFamily="34" charset="-122"/>
                <a:cs typeface="Pretendard" pitchFamily="34" charset="-120"/>
              </a:defRPr>
            </a:lvl1pPr>
          </a:lstStyle>
          <a:p>
            <a:pPr marL="0" indent="0" algn="l">
              <a:buNone/>
            </a:pPr>
            <a:r>
              <a:rPr lang="en-US" sz="1300" dirty="0">
                <a:solidFill>
                  <a:srgbClr val="5D6773"/>
                </a:solidFill>
                <a:latin typeface="Pretendard" pitchFamily="34" charset="0"/>
                <a:ea typeface="Pretendard" pitchFamily="34" charset="-122"/>
                <a:cs typeface="Pretendard" pitchFamily="34" charset="-120"/>
              </a:rPr>
              <a:t>발표자 정보를 입력하세요</a:t>
            </a: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616746" y="1828800"/>
            <a:ext cx="4574950" cy="5029200"/>
          </a:xfrm>
          <a:prstGeom prst="rect">
            <a:avLst/>
          </a:prstGeom>
        </p:spPr>
      </p:pic>
      <p:pic>
        <p:nvPicPr>
          <p:cNvPr id="3" name="Image 1" descr="assets/logo_white.png"/>
          <p:cNvPicPr>
            <a:picLocks noChangeAspect="1"/>
          </p:cNvPicPr>
          <p:nvPr/>
        </p:nvPicPr>
        <p:blipFill>
          <a:blip r:embed="rId3"/>
          <a:stretch>
            <a:fillRect/>
          </a:stretch>
        </p:blipFill>
        <p:spPr>
          <a:xfrm>
            <a:off x="10417759" y="420624"/>
            <a:ext cx="1207008" cy="285005"/>
          </a:xfrm>
          <a:prstGeom prst="rect">
            <a:avLst/>
          </a:prstGeom>
        </p:spPr>
      </p:pic>
      <p:sp>
        <p:nvSpPr>
          <p:cNvPr id="4" name="Text 0"/>
          <p:cNvSpPr>
            <a:spLocks noGrp="1"/>
          </p:cNvSpPr>
          <p:nvPr>
            <p:ph type="title" idx="102" hasCustomPrompt="1"/>
          </p:nvPr>
        </p:nvSpPr>
        <p:spPr>
          <a:xfrm>
            <a:off x="685800" y="3017520"/>
            <a:ext cx="8778240" cy="914400"/>
          </a:xfrm>
          <a:prstGeom prst="rect">
            <a:avLst/>
          </a:prstGeom>
          <a:noFill/>
          <a:ln/>
        </p:spPr>
        <p:txBody>
          <a:bodyPr wrap="square" rtlCol="0"/>
          <a:lstStyle>
            <a:lvl1pPr marL="0" indent="0" algn="l">
              <a:buNone/>
              <a:defRPr lang="en-US" sz="36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3600" b="1" dirty="0">
                <a:solidFill>
                  <a:srgbClr val="FFFFFF"/>
                </a:solidFill>
                <a:latin typeface="Pretendard" pitchFamily="34" charset="0"/>
                <a:ea typeface="Pretendard" pitchFamily="34" charset="-122"/>
                <a:cs typeface="Pretendard" pitchFamily="34" charset="-120"/>
              </a:rPr>
              <a:t>섹션 제목을 입력하세요</a:t>
            </a:r>
            <a:endParaRPr lang="en-US" sz="3600" dirty="0"/>
          </a:p>
        </p:txBody>
      </p:sp>
      <p:sp>
        <p:nvSpPr>
          <p:cNvPr id="5" name="Text 0"/>
          <p:cNvSpPr>
            <a:spLocks noGrp="1"/>
          </p:cNvSpPr>
          <p:nvPr>
            <p:ph type="body" idx="103" hasCustomPrompt="1"/>
          </p:nvPr>
        </p:nvSpPr>
        <p:spPr>
          <a:xfrm>
            <a:off x="685800" y="4160520"/>
            <a:ext cx="8229600" cy="548640"/>
          </a:xfrm>
          <a:prstGeom prst="rect">
            <a:avLst/>
          </a:prstGeom>
          <a:noFill/>
          <a:ln/>
        </p:spPr>
        <p:txBody>
          <a:bodyPr wrap="square" rtlCol="0"/>
          <a:lstStyle>
            <a:lvl1pPr marL="0" indent="0" algn="l">
              <a:buNone/>
              <a:defRPr lang="en-US" sz="145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50" dirty="0">
                <a:solidFill>
                  <a:srgbClr val="C7D2E0"/>
                </a:solidFill>
                <a:latin typeface="Pretendard" pitchFamily="34" charset="0"/>
                <a:ea typeface="Pretendard" pitchFamily="34" charset="-122"/>
                <a:cs typeface="Pretendard" pitchFamily="34" charset="-120"/>
              </a:rPr>
              <a:t>섹션 설명 (선택)</a:t>
            </a:r>
            <a:endParaRPr lang="en-US" sz="14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11055096" cy="5074920"/>
          </a:xfrm>
          <a:prstGeom prst="rect">
            <a:avLst/>
          </a:prstGeom>
          <a:noFill/>
          <a:ln/>
        </p:spPr>
        <p:txBody>
          <a:bodyPr wrap="square" rtlCol="0"/>
          <a:lstStyle>
            <a:lvl1pPr marL="0" indent="0" algn="l">
              <a:buNone/>
              <a:defRPr lang="en-US" sz="150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500" dirty="0">
                <a:solidFill>
                  <a:srgbClr val="21262E"/>
                </a:solidFill>
                <a:latin typeface="Pretendard" pitchFamily="34" charset="0"/>
                <a:ea typeface="Pretendard" pitchFamily="34" charset="-122"/>
                <a:cs typeface="Pretendard" pitchFamily="34" charset="-120"/>
              </a:rPr>
              <a:t>내용을 입력하세요</a:t>
            </a:r>
            <a:endParaRPr lang="en-US" sz="15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4" name="Text 0"/>
          <p:cNvSpPr>
            <a:spLocks noGrp="1"/>
          </p:cNvSpPr>
          <p:nvPr>
            <p:ph type="body" idx="102" hasCustomPrompt="1"/>
          </p:nvPr>
        </p:nvSpPr>
        <p:spPr>
          <a:xfrm>
            <a:off x="566928"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왼쪽 내용을 입력하세요</a:t>
            </a:r>
            <a:endParaRPr lang="en-US" sz="1450" dirty="0"/>
          </a:p>
        </p:txBody>
      </p:sp>
      <p:sp>
        <p:nvSpPr>
          <p:cNvPr id="5" name="Text 0"/>
          <p:cNvSpPr>
            <a:spLocks noGrp="1"/>
          </p:cNvSpPr>
          <p:nvPr>
            <p:ph type="body" idx="103" hasCustomPrompt="1"/>
          </p:nvPr>
        </p:nvSpPr>
        <p:spPr>
          <a:xfrm>
            <a:off x="6208776" y="1188720"/>
            <a:ext cx="5413248" cy="5074920"/>
          </a:xfrm>
          <a:prstGeom prst="rect">
            <a:avLst/>
          </a:prstGeom>
          <a:noFill/>
          <a:ln/>
        </p:spPr>
        <p:txBody>
          <a:bodyPr wrap="square" rtlCol="0"/>
          <a:lstStyle>
            <a:lvl1pPr marL="0" indent="0" algn="l">
              <a:buNone/>
              <a:defRPr lang="en-US" sz="1450" dirty="0">
                <a:solidFill>
                  <a:srgbClr val="21262E"/>
                </a:solidFill>
                <a:latin typeface="Pretendard" pitchFamily="34" charset="0"/>
                <a:ea typeface="Pretendard" pitchFamily="34" charset="-122"/>
                <a:cs typeface="Pretendard" pitchFamily="34" charset="-120"/>
              </a:defRPr>
            </a:lvl1pPr>
          </a:lstStyle>
          <a:p>
            <a:pPr marL="0" indent="0" algn="l">
              <a:buNone/>
            </a:pPr>
            <a:r>
              <a:rPr lang="en-US" sz="1450" dirty="0">
                <a:solidFill>
                  <a:srgbClr val="21262E"/>
                </a:solidFill>
                <a:latin typeface="Pretendard" pitchFamily="34" charset="0"/>
                <a:ea typeface="Pretendard" pitchFamily="34" charset="-122"/>
                <a:cs typeface="Pretendard" pitchFamily="34" charset="-120"/>
              </a:rPr>
              <a:t>오른쪽 내용을 입력하세요</a:t>
            </a:r>
            <a:endParaRPr lang="en-US" sz="145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a:effectLst/>
      </p:bgPr>
    </p:bg>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66928" y="274320"/>
            <a:ext cx="9418320" cy="594360"/>
          </a:xfrm>
          <a:prstGeom prst="rect">
            <a:avLst/>
          </a:prstGeom>
          <a:noFill/>
          <a:ln/>
        </p:spPr>
        <p:txBody>
          <a:bodyPr wrap="square" rtlCol="0"/>
          <a:lstStyle>
            <a:lvl1pPr marL="0" indent="0" algn="l">
              <a:buNone/>
              <a:defRPr lang="en-US" sz="2800" b="1" dirty="0">
                <a:solidFill>
                  <a:srgbClr val="00306C"/>
                </a:solidFill>
                <a:latin typeface="Pretendard" pitchFamily="34" charset="0"/>
                <a:ea typeface="Pretendard" pitchFamily="34" charset="-122"/>
                <a:cs typeface="Pretendard" pitchFamily="34" charset="-120"/>
              </a:defRPr>
            </a:lvl1pPr>
          </a:lstStyle>
          <a:p>
            <a:pPr marL="0" indent="0" algn="l">
              <a:buNone/>
            </a:pPr>
            <a:r>
              <a:rPr lang="en-US" sz="2800" b="1" dirty="0">
                <a:solidFill>
                  <a:srgbClr val="00306C"/>
                </a:solidFill>
                <a:latin typeface="Pretendard" pitchFamily="34" charset="0"/>
                <a:ea typeface="Pretendard" pitchFamily="34" charset="-122"/>
                <a:cs typeface="Pretendard" pitchFamily="34" charset="-120"/>
              </a:rPr>
              <a:t>슬라이드 제목을 입력하세요</a:t>
            </a:r>
            <a:endParaRPr lang="en-US" sz="2800" dirty="0"/>
          </a:p>
        </p:txBody>
      </p:sp>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pic>
        <p:nvPicPr>
          <p:cNvPr id="2" name="Image 0" descr="assets/logo_color.png"/>
          <p:cNvPicPr>
            <a:picLocks noChangeAspect="1"/>
          </p:cNvPicPr>
          <p:nvPr/>
        </p:nvPicPr>
        <p:blipFill>
          <a:blip r:embed="rId2"/>
          <a:stretch>
            <a:fillRect/>
          </a:stretch>
        </p:blipFill>
        <p:spPr>
          <a:xfrm>
            <a:off x="10417759" y="420624"/>
            <a:ext cx="1207008" cy="285005"/>
          </a:xfrm>
          <a:prstGeom prst="rect">
            <a:avLst/>
          </a:prstGeom>
        </p:spPr>
      </p:pic>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rgbClr val="00306C"/>
        </a:solidFill>
        <a:effectLst/>
      </p:bgPr>
    </p:bg>
    <p:spTree>
      <p:nvGrpSpPr>
        <p:cNvPr id="1" name=""/>
        <p:cNvGrpSpPr/>
        <p:nvPr/>
      </p:nvGrpSpPr>
      <p:grpSpPr>
        <a:xfrm>
          <a:off x="0" y="0"/>
          <a:ext cx="0" cy="0"/>
          <a:chOff x="0" y="0"/>
          <a:chExt cx="0" cy="0"/>
        </a:xfrm>
      </p:grpSpPr>
      <p:pic>
        <p:nvPicPr>
          <p:cNvPr id="2" name="Image 0" descr="assets/pattern_ghost.png"/>
          <p:cNvPicPr>
            <a:picLocks noChangeAspect="1"/>
          </p:cNvPicPr>
          <p:nvPr/>
        </p:nvPicPr>
        <p:blipFill>
          <a:blip r:embed="rId2"/>
          <a:stretch>
            <a:fillRect/>
          </a:stretch>
        </p:blipFill>
        <p:spPr>
          <a:xfrm>
            <a:off x="7367203" y="1554480"/>
            <a:ext cx="4824492" cy="5303520"/>
          </a:xfrm>
          <a:prstGeom prst="rect">
            <a:avLst/>
          </a:prstGeom>
        </p:spPr>
      </p:pic>
      <p:pic>
        <p:nvPicPr>
          <p:cNvPr id="3" name="Image 1" descr="assets/logo_white.png"/>
          <p:cNvPicPr>
            <a:picLocks noChangeAspect="1"/>
          </p:cNvPicPr>
          <p:nvPr/>
        </p:nvPicPr>
        <p:blipFill>
          <a:blip r:embed="rId3"/>
          <a:stretch>
            <a:fillRect/>
          </a:stretch>
        </p:blipFill>
        <p:spPr>
          <a:xfrm>
            <a:off x="685800" y="502920"/>
            <a:ext cx="1828800" cy="431826"/>
          </a:xfrm>
          <a:prstGeom prst="rect">
            <a:avLst/>
          </a:prstGeom>
        </p:spPr>
      </p:pic>
      <p:sp>
        <p:nvSpPr>
          <p:cNvPr id="4" name="Text 0"/>
          <p:cNvSpPr>
            <a:spLocks noGrp="1"/>
          </p:cNvSpPr>
          <p:nvPr>
            <p:ph type="title" idx="102" hasCustomPrompt="1"/>
          </p:nvPr>
        </p:nvSpPr>
        <p:spPr>
          <a:xfrm>
            <a:off x="685800" y="2377440"/>
            <a:ext cx="7315200" cy="1097280"/>
          </a:xfrm>
          <a:prstGeom prst="rect">
            <a:avLst/>
          </a:prstGeom>
          <a:noFill/>
          <a:ln/>
        </p:spPr>
        <p:txBody>
          <a:bodyPr wrap="square" rtlCol="0"/>
          <a:lstStyle>
            <a:lvl1pPr marL="0" indent="0" algn="l">
              <a:buNone/>
              <a:defRPr lang="en-US" sz="4400" b="1" dirty="0">
                <a:solidFill>
                  <a:srgbClr val="FFFFFF"/>
                </a:solidFill>
                <a:latin typeface="Pretendard" pitchFamily="34" charset="0"/>
                <a:ea typeface="Pretendard" pitchFamily="34" charset="-122"/>
                <a:cs typeface="Pretendard" pitchFamily="34" charset="-120"/>
              </a:defRPr>
            </a:lvl1pPr>
          </a:lstStyle>
          <a:p>
            <a:pPr marL="0" indent="0" algn="l">
              <a:buNone/>
            </a:pPr>
            <a:r>
              <a:rPr lang="en-US" sz="4400" b="1" dirty="0">
                <a:solidFill>
                  <a:srgbClr val="FFFFFF"/>
                </a:solidFill>
                <a:latin typeface="Pretendard" pitchFamily="34" charset="0"/>
                <a:ea typeface="Pretendard" pitchFamily="34" charset="-122"/>
                <a:cs typeface="Pretendard" pitchFamily="34" charset="-120"/>
              </a:rPr>
              <a:t>Thank You</a:t>
            </a:r>
            <a:endParaRPr lang="en-US" sz="4400" dirty="0"/>
          </a:p>
        </p:txBody>
      </p:sp>
      <p:sp>
        <p:nvSpPr>
          <p:cNvPr id="5" name="Text 0"/>
          <p:cNvSpPr>
            <a:spLocks noGrp="1"/>
          </p:cNvSpPr>
          <p:nvPr>
            <p:ph type="body" idx="103" hasCustomPrompt="1"/>
          </p:nvPr>
        </p:nvSpPr>
        <p:spPr>
          <a:xfrm>
            <a:off x="685800" y="3749040"/>
            <a:ext cx="6858000" cy="1737360"/>
          </a:xfrm>
          <a:prstGeom prst="rect">
            <a:avLst/>
          </a:prstGeom>
          <a:noFill/>
          <a:ln/>
        </p:spPr>
        <p:txBody>
          <a:bodyPr wrap="square" rtlCol="0"/>
          <a:lstStyle>
            <a:lvl1pPr marL="0" indent="0" algn="l">
              <a:buNone/>
              <a:defRPr lang="en-US" sz="1400" dirty="0">
                <a:solidFill>
                  <a:srgbClr val="C7D2E0"/>
                </a:solidFill>
                <a:latin typeface="Pretendard" pitchFamily="34" charset="0"/>
                <a:ea typeface="Pretendard" pitchFamily="34" charset="-122"/>
                <a:cs typeface="Pretendard" pitchFamily="34" charset="-120"/>
              </a:defRPr>
            </a:lvl1pPr>
          </a:lstStyle>
          <a:p>
            <a:pPr marL="0" indent="0" algn="l">
              <a:buNone/>
            </a:pPr>
            <a:r>
              <a:rPr lang="en-US" sz="1400" dirty="0">
                <a:solidFill>
                  <a:srgbClr val="C7D2E0"/>
                </a:solidFill>
                <a:latin typeface="Pretendard" pitchFamily="34" charset="0"/>
                <a:ea typeface="Pretendard" pitchFamily="34" charset="-122"/>
                <a:cs typeface="Pretendard" pitchFamily="34" charset="-120"/>
              </a:rPr>
              <a:t>연락처 정보를 입력하세요</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AA3AE"/>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github.com/mlopezm/Supervised-contrastive-learning-over-prototype-label-embeddings" TargetMode="External"/><Relationship Id="rId4" Type="http://schemas.openxmlformats.org/officeDocument/2006/relationships/hyperlink" Target="https://arxiv.org/abs/2402.06971" TargetMode="External"/><Relationship Id="rId5" Type="http://schemas.openxmlformats.org/officeDocument/2006/relationships/hyperlink" Target="https://valthom.github.i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proceedings.iclr.cc/paper_files/paper/2024/file/5d54d2df6ec8f7b920aa0fec9a6d1b2e-Paper-Conference.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새로운 공격 사례를 반영하는 IDS</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01 연구 아이디어</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1</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공격 C의 라벨 사례 확보 이후 · 기존 공격과 새 공격을 함께 분류하는 탐지기 갱신</a:t>
            </a:r>
          </a:p>
        </p:txBody>
      </p:sp>
      <p:sp>
        <p:nvSpPr>
          <p:cNvPr id="7" name="Rounded Rectangle 6"/>
          <p:cNvSpPr/>
          <p:nvPr/>
        </p:nvSpPr>
        <p:spPr>
          <a:xfrm>
            <a:off x="566928" y="1627632"/>
            <a:ext cx="3429000" cy="15727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기존 탐지</a:t>
            </a:r>
          </a:p>
        </p:txBody>
      </p:sp>
      <p:sp>
        <p:nvSpPr>
          <p:cNvPr id="9" name="TextBox 8"/>
          <p:cNvSpPr txBox="1"/>
          <p:nvPr/>
        </p:nvSpPr>
        <p:spPr>
          <a:xfrm>
            <a:off x="704088" y="2249424"/>
            <a:ext cx="3154680" cy="8138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Benign · 공격 A · 공격 B</a:t>
            </a:r>
          </a:p>
          <a:p>
            <a:pPr algn="l">
              <a:lnSpc>
                <a:spcPct val="110000"/>
              </a:lnSpc>
              <a:spcBef>
                <a:spcPts val="0"/>
              </a:spcBef>
              <a:spcAft>
                <a:spcPts val="0"/>
              </a:spcAft>
              <a:buNone/>
            </a:pPr>
            <a:r>
              <a:rPr sz="1500" b="0" lang="ko-KR">
                <a:solidFill>
                  <a:srgbClr val="21262E"/>
                </a:solidFill>
                <a:latin typeface="Pretendard"/>
                <a:ea typeface="Pretendard"/>
                <a:cs typeface="Pretendard"/>
              </a:rPr>
              <a:t>기존 클래스 분류</a:t>
            </a:r>
          </a:p>
        </p:txBody>
      </p:sp>
      <p:sp>
        <p:nvSpPr>
          <p:cNvPr id="10" name="Rounded Rectangle 9"/>
          <p:cNvSpPr/>
          <p:nvPr/>
        </p:nvSpPr>
        <p:spPr>
          <a:xfrm>
            <a:off x="4379976" y="1627632"/>
            <a:ext cx="3429000" cy="15727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새 공격 사례 확보</a:t>
            </a:r>
          </a:p>
        </p:txBody>
      </p:sp>
      <p:sp>
        <p:nvSpPr>
          <p:cNvPr id="12" name="TextBox 11"/>
          <p:cNvSpPr txBox="1"/>
          <p:nvPr/>
        </p:nvSpPr>
        <p:spPr>
          <a:xfrm>
            <a:off x="4517136" y="2249424"/>
            <a:ext cx="3154680" cy="8138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분석·라벨링된 공격 C</a:t>
            </a:r>
          </a:p>
          <a:p>
            <a:pPr algn="l">
              <a:lnSpc>
                <a:spcPct val="110000"/>
              </a:lnSpc>
              <a:spcBef>
                <a:spcPts val="0"/>
              </a:spcBef>
              <a:spcAft>
                <a:spcPts val="0"/>
              </a:spcAft>
              <a:buNone/>
            </a:pPr>
            <a:r>
              <a:rPr sz="1500" b="0" lang="ko-KR">
                <a:solidFill>
                  <a:srgbClr val="21262E"/>
                </a:solidFill>
                <a:latin typeface="Pretendard"/>
                <a:ea typeface="Pretendard"/>
                <a:cs typeface="Pretendard"/>
              </a:rPr>
              <a:t>탐지기에 반영할 사례</a:t>
            </a:r>
          </a:p>
        </p:txBody>
      </p:sp>
      <p:sp>
        <p:nvSpPr>
          <p:cNvPr id="13" name="Rounded Rectangle 12"/>
          <p:cNvSpPr/>
          <p:nvPr/>
        </p:nvSpPr>
        <p:spPr>
          <a:xfrm>
            <a:off x="8193024" y="1627632"/>
            <a:ext cx="3429000" cy="15727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탐지기 갱신</a:t>
            </a:r>
          </a:p>
        </p:txBody>
      </p:sp>
      <p:sp>
        <p:nvSpPr>
          <p:cNvPr id="15" name="TextBox 14"/>
          <p:cNvSpPr txBox="1"/>
          <p:nvPr/>
        </p:nvSpPr>
        <p:spPr>
          <a:xfrm>
            <a:off x="8330184" y="2249424"/>
            <a:ext cx="3154680" cy="8138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Benign · 공격 A · B · C</a:t>
            </a:r>
          </a:p>
          <a:p>
            <a:pPr algn="l">
              <a:lnSpc>
                <a:spcPct val="110000"/>
              </a:lnSpc>
              <a:spcBef>
                <a:spcPts val="0"/>
              </a:spcBef>
              <a:spcAft>
                <a:spcPts val="0"/>
              </a:spcAft>
              <a:buNone/>
            </a:pPr>
            <a:r>
              <a:rPr sz="1500" b="0" lang="ko-KR">
                <a:solidFill>
                  <a:srgbClr val="21262E"/>
                </a:solidFill>
                <a:latin typeface="Pretendard"/>
                <a:ea typeface="Pretendard"/>
                <a:cs typeface="Pretendard"/>
              </a:rPr>
              <a:t>기존 탐지와 새 공격 대응</a:t>
            </a:r>
          </a:p>
        </p:txBody>
      </p:sp>
      <p:cxnSp>
        <p:nvCxnSpPr>
          <p:cNvPr id="16" name="Connector 15"/>
          <p:cNvCxnSpPr/>
          <p:nvPr/>
        </p:nvCxnSpPr>
        <p:spPr>
          <a:xfrm>
            <a:off x="4023360" y="2423160"/>
            <a:ext cx="320040"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36408" y="2423160"/>
            <a:ext cx="320040"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66928" y="3694176"/>
            <a:ext cx="11055096" cy="1691640"/>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867912"/>
            <a:ext cx="10579608" cy="130759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300" b="1" lang="ko-KR">
                <a:solidFill>
                  <a:srgbClr val="00306C"/>
                </a:solidFill>
                <a:latin typeface="Pretendard"/>
                <a:ea typeface="Pretendard"/>
                <a:cs typeface="Pretendard"/>
              </a:rPr>
              <a:t>새로운 공격의 라벨 사례가 확보됐을 때,</a:t>
            </a:r>
          </a:p>
          <a:p>
            <a:pPr algn="l">
              <a:lnSpc>
                <a:spcPct val="110000"/>
              </a:lnSpc>
              <a:spcBef>
                <a:spcPts val="0"/>
              </a:spcBef>
              <a:spcAft>
                <a:spcPts val="0"/>
              </a:spcAft>
              <a:buNone/>
            </a:pPr>
            <a:r>
              <a:rPr sz="2300" b="1" lang="ko-KR">
                <a:solidFill>
                  <a:srgbClr val="00306C"/>
                </a:solidFill>
                <a:latin typeface="Pretendard"/>
                <a:ea typeface="Pretendard"/>
                <a:cs typeface="Pretendard"/>
              </a:rPr>
              <a:t>TabPFN은 context 확장만으로 XGBoost 재학습보다</a:t>
            </a:r>
          </a:p>
          <a:p>
            <a:pPr algn="l">
              <a:lnSpc>
                <a:spcPct val="110000"/>
              </a:lnSpc>
              <a:spcBef>
                <a:spcPts val="0"/>
              </a:spcBef>
              <a:spcAft>
                <a:spcPts val="0"/>
              </a:spcAft>
              <a:buNone/>
            </a:pPr>
            <a:r>
              <a:rPr sz="2300" b="1" lang="ko-KR">
                <a:solidFill>
                  <a:srgbClr val="00306C"/>
                </a:solidFill>
                <a:latin typeface="Pretendard"/>
                <a:ea typeface="Pretendard"/>
                <a:cs typeface="Pretendard"/>
              </a:rPr>
              <a:t>효과적으로 새로운 공격을 분류할 수 있는가?</a:t>
            </a:r>
          </a:p>
        </p:txBody>
      </p:sp>
      <p:sp>
        <p:nvSpPr>
          <p:cNvPr id="20" name="TextBox 19"/>
          <p:cNvSpPr txBox="1"/>
          <p:nvPr/>
        </p:nvSpPr>
        <p:spPr>
          <a:xfrm>
            <a:off x="566928" y="5687568"/>
            <a:ext cx="11055096"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7BC6"/>
                </a:solidFill>
                <a:latin typeface="Pretendard"/>
                <a:ea typeface="Pretendard"/>
                <a:cs typeface="Pretendard"/>
              </a:rPr>
              <a:t>새 공격 분류 · 기존 탐지 유지 · 갱신과 추론에 드는 비용</a:t>
            </a:r>
          </a:p>
        </p:txBody>
      </p:sp>
      <p:sp>
        <p:nvSpPr>
          <p:cNvPr id="21" name="TextBox 20"/>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연구 대상: 새로운 공격 사례를 탐지기에 반영하는 방식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모델 재학습과 context 확장을 통한 갱신</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01 연구 아이디어</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2</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동일한 기존 사례와 신규 공격 사례 제공 · 갱신 방식의 차이에 대한 비교</a:t>
            </a:r>
          </a:p>
        </p:txBody>
      </p:sp>
      <p:sp>
        <p:nvSpPr>
          <p:cNvPr id="7" name="TextBox 6"/>
          <p:cNvSpPr txBox="1"/>
          <p:nvPr/>
        </p:nvSpPr>
        <p:spPr>
          <a:xfrm>
            <a:off x="566928" y="1645920"/>
            <a:ext cx="1417320"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000" b="1" lang="ko-KR">
                <a:solidFill>
                  <a:srgbClr val="00306C"/>
                </a:solidFill>
                <a:latin typeface="Pretendard"/>
                <a:ea typeface="Pretendard"/>
                <a:cs typeface="Pretendard"/>
              </a:rPr>
              <a:t>XGBoost</a:t>
            </a:r>
          </a:p>
        </p:txBody>
      </p:sp>
      <p:sp>
        <p:nvSpPr>
          <p:cNvPr id="8" name="Rounded Rectangle 7"/>
          <p:cNvSpPr/>
          <p:nvPr/>
        </p:nvSpPr>
        <p:spPr>
          <a:xfrm>
            <a:off x="2112264" y="1554480"/>
            <a:ext cx="2651760" cy="1408176"/>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49424" y="1673352"/>
            <a:ext cx="237744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동일한 누적 사례</a:t>
            </a:r>
          </a:p>
        </p:txBody>
      </p:sp>
      <p:sp>
        <p:nvSpPr>
          <p:cNvPr id="10" name="TextBox 9"/>
          <p:cNvSpPr txBox="1"/>
          <p:nvPr/>
        </p:nvSpPr>
        <p:spPr>
          <a:xfrm>
            <a:off x="2249424" y="2176272"/>
            <a:ext cx="2377440"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기존 사례 + 새 공격 사례</a:t>
            </a:r>
          </a:p>
        </p:txBody>
      </p:sp>
      <p:sp>
        <p:nvSpPr>
          <p:cNvPr id="11" name="Rounded Rectangle 10"/>
          <p:cNvSpPr/>
          <p:nvPr/>
        </p:nvSpPr>
        <p:spPr>
          <a:xfrm>
            <a:off x="5248656" y="1554480"/>
            <a:ext cx="3118104" cy="1408176"/>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85816" y="1673352"/>
            <a:ext cx="2843784"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누적 데이터로 재학습</a:t>
            </a:r>
          </a:p>
        </p:txBody>
      </p:sp>
      <p:sp>
        <p:nvSpPr>
          <p:cNvPr id="13" name="TextBox 12"/>
          <p:cNvSpPr txBox="1"/>
          <p:nvPr/>
        </p:nvSpPr>
        <p:spPr>
          <a:xfrm>
            <a:off x="5385816" y="2176272"/>
            <a:ext cx="2843784"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분류 규칙·모델 파라미터 갱신</a:t>
            </a:r>
          </a:p>
        </p:txBody>
      </p:sp>
      <p:sp>
        <p:nvSpPr>
          <p:cNvPr id="14" name="Rounded Rectangle 13"/>
          <p:cNvSpPr/>
          <p:nvPr/>
        </p:nvSpPr>
        <p:spPr>
          <a:xfrm>
            <a:off x="8842248" y="1554480"/>
            <a:ext cx="2779776" cy="1408176"/>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79408" y="1673352"/>
            <a:ext cx="2505456"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갱신된 XGB</a:t>
            </a:r>
          </a:p>
        </p:txBody>
      </p:sp>
      <p:sp>
        <p:nvSpPr>
          <p:cNvPr id="16" name="TextBox 15"/>
          <p:cNvSpPr txBox="1"/>
          <p:nvPr/>
        </p:nvSpPr>
        <p:spPr>
          <a:xfrm>
            <a:off x="8979408" y="2176272"/>
            <a:ext cx="2505456"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기존 공격 + 새 공격 분류</a:t>
            </a:r>
          </a:p>
        </p:txBody>
      </p:sp>
      <p:cxnSp>
        <p:nvCxnSpPr>
          <p:cNvPr id="17" name="Connector 16"/>
          <p:cNvCxnSpPr/>
          <p:nvPr/>
        </p:nvCxnSpPr>
        <p:spPr>
          <a:xfrm>
            <a:off x="4791456" y="2258568"/>
            <a:ext cx="411480"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394192" y="2258568"/>
            <a:ext cx="40233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3447288"/>
            <a:ext cx="1417320"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000" b="1" lang="ko-KR">
                <a:solidFill>
                  <a:srgbClr val="00306C"/>
                </a:solidFill>
                <a:latin typeface="Pretendard"/>
                <a:ea typeface="Pretendard"/>
                <a:cs typeface="Pretendard"/>
              </a:rPr>
              <a:t>TabPFN</a:t>
            </a:r>
          </a:p>
        </p:txBody>
      </p:sp>
      <p:sp>
        <p:nvSpPr>
          <p:cNvPr id="20" name="Rounded Rectangle 19"/>
          <p:cNvSpPr/>
          <p:nvPr/>
        </p:nvSpPr>
        <p:spPr>
          <a:xfrm>
            <a:off x="2112264" y="3355848"/>
            <a:ext cx="2651760" cy="1408176"/>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9424" y="3474720"/>
            <a:ext cx="237744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동일한 누적 사례</a:t>
            </a:r>
          </a:p>
        </p:txBody>
      </p:sp>
      <p:sp>
        <p:nvSpPr>
          <p:cNvPr id="22" name="TextBox 21"/>
          <p:cNvSpPr txBox="1"/>
          <p:nvPr/>
        </p:nvSpPr>
        <p:spPr>
          <a:xfrm>
            <a:off x="2249424" y="3977639"/>
            <a:ext cx="2377440"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기존 사례 + 새 공격 사례</a:t>
            </a:r>
          </a:p>
        </p:txBody>
      </p:sp>
      <p:sp>
        <p:nvSpPr>
          <p:cNvPr id="23" name="Rounded Rectangle 22"/>
          <p:cNvSpPr/>
          <p:nvPr/>
        </p:nvSpPr>
        <p:spPr>
          <a:xfrm>
            <a:off x="5248656" y="3355848"/>
            <a:ext cx="3118104" cy="1408176"/>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85816" y="3474720"/>
            <a:ext cx="2843784"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Context 확장</a:t>
            </a:r>
          </a:p>
        </p:txBody>
      </p:sp>
      <p:sp>
        <p:nvSpPr>
          <p:cNvPr id="25" name="TextBox 24"/>
          <p:cNvSpPr txBox="1"/>
          <p:nvPr/>
        </p:nvSpPr>
        <p:spPr>
          <a:xfrm>
            <a:off x="5385816" y="3977639"/>
            <a:ext cx="2843784"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Backbone 고정</a:t>
            </a:r>
          </a:p>
          <a:p>
            <a:pPr algn="l">
              <a:lnSpc>
                <a:spcPct val="110000"/>
              </a:lnSpc>
              <a:spcBef>
                <a:spcPts val="0"/>
              </a:spcBef>
              <a:spcAft>
                <a:spcPts val="0"/>
              </a:spcAft>
              <a:buNone/>
            </a:pPr>
            <a:r>
              <a:rPr sz="1500" b="0" lang="ko-KR">
                <a:solidFill>
                  <a:srgbClr val="21262E"/>
                </a:solidFill>
                <a:latin typeface="Pretendard"/>
                <a:ea typeface="Pretendard"/>
                <a:cs typeface="Pretendard"/>
              </a:rPr>
              <a:t>전처리·캐시 재구성</a:t>
            </a:r>
          </a:p>
        </p:txBody>
      </p:sp>
      <p:sp>
        <p:nvSpPr>
          <p:cNvPr id="26" name="Rounded Rectangle 25"/>
          <p:cNvSpPr/>
          <p:nvPr/>
        </p:nvSpPr>
        <p:spPr>
          <a:xfrm>
            <a:off x="8842248" y="3355848"/>
            <a:ext cx="2779776" cy="1408176"/>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79408" y="3474720"/>
            <a:ext cx="2505456"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동일한 TabPFN</a:t>
            </a:r>
          </a:p>
        </p:txBody>
      </p:sp>
      <p:sp>
        <p:nvSpPr>
          <p:cNvPr id="28" name="TextBox 27"/>
          <p:cNvSpPr txBox="1"/>
          <p:nvPr/>
        </p:nvSpPr>
        <p:spPr>
          <a:xfrm>
            <a:off x="8979408" y="3977639"/>
            <a:ext cx="2505456" cy="64922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확장된 context로 분류</a:t>
            </a:r>
          </a:p>
        </p:txBody>
      </p:sp>
      <p:cxnSp>
        <p:nvCxnSpPr>
          <p:cNvPr id="29" name="Connector 28"/>
          <p:cNvCxnSpPr/>
          <p:nvPr/>
        </p:nvCxnSpPr>
        <p:spPr>
          <a:xfrm>
            <a:off x="4791456" y="4059935"/>
            <a:ext cx="411480"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394192" y="4059935"/>
            <a:ext cx="40233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 y="5212080"/>
            <a:ext cx="11055096" cy="41148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TabPFN의 구조적 특성: backbone 가중치 재학습 없이 사례 구성 변경</a:t>
            </a:r>
          </a:p>
        </p:txBody>
      </p:sp>
      <p:sp>
        <p:nvSpPr>
          <p:cNvPr id="32" name="TextBox 31"/>
          <p:cNvSpPr txBox="1"/>
          <p:nvPr/>
        </p:nvSpPr>
        <p:spPr>
          <a:xfrm>
            <a:off x="566928" y="5705856"/>
            <a:ext cx="11055096" cy="31089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50" b="0" lang="ko-KR">
                <a:solidFill>
                  <a:srgbClr val="5D6773"/>
                </a:solidFill>
                <a:latin typeface="Pretendard"/>
                <a:ea typeface="Pretendard"/>
                <a:cs typeface="Pretendard"/>
              </a:rPr>
              <a:t>효용 검증: 새 공격 성능·기존 탐지 유지와 전처리·캐시·추론 비용의 동시 비교</a:t>
            </a:r>
          </a:p>
        </p:txBody>
      </p:sp>
      <p:sp>
        <p:nvSpPr>
          <p:cNvPr id="33" name="TextBox 3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가중치 재학습과 사례 갱신의 차이 · 실제 효용은 성능과 비용으로 검증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Context 기반 Global·expert 모델 구조</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ko-KR">
                <a:solidFill>
                  <a:srgbClr val="D6E4F3"/>
                </a:solidFill>
                <a:latin typeface="Pretendard"/>
                <a:ea typeface="Pretendard"/>
                <a:cs typeface="Pretendard"/>
              </a:rPr>
              <a:t>03 제안 구조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100" b="1" lang="ko-KR">
                <a:solidFill>
                  <a:srgbClr val="FFFFFF"/>
                </a:solidFill>
                <a:latin typeface="Pretendard"/>
                <a:ea typeface="Pretendard"/>
                <a:cs typeface="Pretendard"/>
              </a:rPr>
              <a:t>5</a:t>
            </a:r>
          </a:p>
        </p:txBody>
      </p:sp>
      <p:sp>
        <p:nvSpPr>
          <p:cNvPr id="6" name="TextBox 5"/>
          <p:cNvSpPr txBox="1"/>
          <p:nvPr/>
        </p:nvSpPr>
        <p:spPr>
          <a:xfrm>
            <a:off x="566928" y="932688"/>
            <a:ext cx="11055096" cy="283464"/>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공통 context와 전문 context 활용 · TabPFN backbone 고정 · Scorer·Verifier 별도 학습</a:t>
            </a:r>
          </a:p>
        </p:txBody>
      </p:sp>
      <p:sp>
        <p:nvSpPr>
          <p:cNvPr id="7" name="Rounded Rectangle 6"/>
          <p:cNvSpPr/>
          <p:nvPr/>
        </p:nvSpPr>
        <p:spPr>
          <a:xfrm>
            <a:off x="566928"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Global 풀 · 공통 context</a:t>
            </a:r>
          </a:p>
        </p:txBody>
      </p:sp>
      <p:sp>
        <p:nvSpPr>
          <p:cNvPr id="8" name="Rounded Rectangle 7"/>
          <p:cNvSpPr/>
          <p:nvPr/>
        </p:nvSpPr>
        <p:spPr>
          <a:xfrm>
            <a:off x="4325112"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Expert 풀 · residual과 expert</a:t>
            </a:r>
          </a:p>
        </p:txBody>
      </p:sp>
      <p:sp>
        <p:nvSpPr>
          <p:cNvPr id="9" name="Rounded Rectangle 8"/>
          <p:cNvSpPr/>
          <p:nvPr/>
        </p:nvSpPr>
        <p:spPr>
          <a:xfrm>
            <a:off x="8083296" y="1371600"/>
            <a:ext cx="3538728" cy="420624"/>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32004" bIns="32004">
            <a:noAutofit/>
          </a:bodyPr>
          <a:lstStyle/>
          <a:p>
            <a:pPr algn="ctr">
              <a:lnSpc>
                <a:spcPct val="110000"/>
              </a:lnSpc>
              <a:spcBef>
                <a:spcPts val="0"/>
              </a:spcBef>
              <a:spcAft>
                <a:spcPts val="0"/>
              </a:spcAft>
              <a:buNone/>
            </a:pPr>
            <a:r>
              <a:rPr sz="1200" b="1" lang="ko-KR">
                <a:solidFill>
                  <a:srgbClr val="00306C"/>
                </a:solidFill>
                <a:latin typeface="Pretendard"/>
                <a:ea typeface="Pretendard"/>
                <a:cs typeface="Pretendard"/>
              </a:rPr>
              <a:t>Route 풀 · S/V 학습</a:t>
            </a:r>
          </a:p>
        </p:txBody>
      </p:sp>
      <p:sp>
        <p:nvSpPr>
          <p:cNvPr id="10" name="TextBox 9"/>
          <p:cNvSpPr txBox="1"/>
          <p:nvPr/>
        </p:nvSpPr>
        <p:spPr>
          <a:xfrm>
            <a:off x="566928" y="199339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오프라인 · 모델 구성</a:t>
            </a:r>
          </a:p>
        </p:txBody>
      </p:sp>
      <p:sp>
        <p:nvSpPr>
          <p:cNvPr id="11" name="Rounded Rectangle 10"/>
          <p:cNvSpPr/>
          <p:nvPr/>
        </p:nvSpPr>
        <p:spPr>
          <a:xfrm>
            <a:off x="566928"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구성</a:t>
            </a:r>
          </a:p>
        </p:txBody>
      </p:sp>
      <p:sp>
        <p:nvSpPr>
          <p:cNvPr id="13" name="TextBox 12"/>
          <p:cNvSpPr txBox="1"/>
          <p:nvPr/>
        </p:nvSpPr>
        <p:spPr>
          <a:xfrm>
            <a:off x="640080"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context로</a:t>
            </a:r>
          </a:p>
          <a:p>
            <a:pPr algn="ctr">
              <a:lnSpc>
                <a:spcPct val="110000"/>
              </a:lnSpc>
              <a:spcBef>
                <a:spcPts val="0"/>
              </a:spcBef>
              <a:spcAft>
                <a:spcPts val="0"/>
              </a:spcAft>
              <a:buNone/>
            </a:pPr>
            <a:r>
              <a:rPr sz="1130" b="0" lang="ko-KR">
                <a:solidFill>
                  <a:srgbClr val="5D6773"/>
                </a:solidFill>
                <a:latin typeface="Pretendard"/>
                <a:ea typeface="Pretendard"/>
                <a:cs typeface="Pretendard"/>
              </a:rPr>
              <a:t>기본 분류기 구성</a:t>
            </a:r>
          </a:p>
        </p:txBody>
      </p:sp>
      <p:sp>
        <p:nvSpPr>
          <p:cNvPr id="14" name="Rounded Rectangle 13"/>
          <p:cNvSpPr/>
          <p:nvPr/>
        </p:nvSpPr>
        <p:spPr>
          <a:xfrm>
            <a:off x="2825496"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360"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계산</a:t>
            </a:r>
          </a:p>
        </p:txBody>
      </p:sp>
      <p:sp>
        <p:nvSpPr>
          <p:cNvPr id="16" name="TextBox 15"/>
          <p:cNvSpPr txBox="1"/>
          <p:nvPr/>
        </p:nvSpPr>
        <p:spPr>
          <a:xfrm>
            <a:off x="2898648"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입력 표현·예측 확률</a:t>
            </a:r>
          </a:p>
          <a:p>
            <a:pPr algn="ctr">
              <a:lnSpc>
                <a:spcPct val="110000"/>
              </a:lnSpc>
              <a:spcBef>
                <a:spcPts val="0"/>
              </a:spcBef>
              <a:spcAft>
                <a:spcPts val="0"/>
              </a:spcAft>
              <a:buNone/>
            </a:pPr>
            <a:r>
              <a:rPr sz="1130" b="0" lang="ko-KR">
                <a:solidFill>
                  <a:srgbClr val="5D6773"/>
                </a:solidFill>
                <a:latin typeface="Pretendard"/>
                <a:ea typeface="Pretendard"/>
                <a:cs typeface="Pretendard"/>
              </a:rPr>
              <a:t>정답과의 차이·오류 크기</a:t>
            </a:r>
          </a:p>
        </p:txBody>
      </p:sp>
      <p:sp>
        <p:nvSpPr>
          <p:cNvPr id="17" name="Rounded Rectangle 16"/>
          <p:cNvSpPr/>
          <p:nvPr/>
        </p:nvSpPr>
        <p:spPr>
          <a:xfrm>
            <a:off x="5084064"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7"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Residual 군집</a:t>
            </a:r>
          </a:p>
        </p:txBody>
      </p:sp>
      <p:sp>
        <p:nvSpPr>
          <p:cNvPr id="19" name="TextBox 18"/>
          <p:cNvSpPr txBox="1"/>
          <p:nvPr/>
        </p:nvSpPr>
        <p:spPr>
          <a:xfrm>
            <a:off x="5157216"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실패 특성에 따라</a:t>
            </a:r>
          </a:p>
          <a:p>
            <a:pPr algn="ctr">
              <a:lnSpc>
                <a:spcPct val="110000"/>
              </a:lnSpc>
              <a:spcBef>
                <a:spcPts val="0"/>
              </a:spcBef>
              <a:spcAft>
                <a:spcPts val="0"/>
              </a:spcAft>
              <a:buNone/>
            </a:pPr>
            <a:r>
              <a:rPr sz="1130" b="0" lang="ko-KR">
                <a:solidFill>
                  <a:srgbClr val="5D6773"/>
                </a:solidFill>
                <a:latin typeface="Pretendard"/>
                <a:ea typeface="Pretendard"/>
                <a:cs typeface="Pretendard"/>
              </a:rPr>
              <a:t>K개 군집으로 분할</a:t>
            </a:r>
          </a:p>
        </p:txBody>
      </p:sp>
      <p:sp>
        <p:nvSpPr>
          <p:cNvPr id="20" name="Rounded Rectangle 19"/>
          <p:cNvSpPr/>
          <p:nvPr/>
        </p:nvSpPr>
        <p:spPr>
          <a:xfrm>
            <a:off x="7342631"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7496"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구성</a:t>
            </a:r>
          </a:p>
        </p:txBody>
      </p:sp>
      <p:sp>
        <p:nvSpPr>
          <p:cNvPr id="22" name="TextBox 21"/>
          <p:cNvSpPr txBox="1"/>
          <p:nvPr/>
        </p:nvSpPr>
        <p:spPr>
          <a:xfrm>
            <a:off x="7415783"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공통 anchor</a:t>
            </a:r>
          </a:p>
          <a:p>
            <a:pPr algn="ctr">
              <a:lnSpc>
                <a:spcPct val="110000"/>
              </a:lnSpc>
              <a:spcBef>
                <a:spcPts val="0"/>
              </a:spcBef>
              <a:spcAft>
                <a:spcPts val="0"/>
              </a:spcAft>
              <a:buNone/>
            </a:pPr>
            <a:r>
              <a:rPr sz="1130" b="0" lang="ko-KR">
                <a:solidFill>
                  <a:srgbClr val="5D6773"/>
                </a:solidFill>
                <a:latin typeface="Pretendard"/>
                <a:ea typeface="Pretendard"/>
                <a:cs typeface="Pretendard"/>
              </a:rPr>
              <a:t>+ 군집별 특화 block</a:t>
            </a:r>
          </a:p>
        </p:txBody>
      </p:sp>
      <p:sp>
        <p:nvSpPr>
          <p:cNvPr id="23" name="Rounded Rectangle 22"/>
          <p:cNvSpPr/>
          <p:nvPr/>
        </p:nvSpPr>
        <p:spPr>
          <a:xfrm>
            <a:off x="9601200" y="2459736"/>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6064" y="2551176"/>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S/V 학습</a:t>
            </a:r>
          </a:p>
        </p:txBody>
      </p:sp>
      <p:sp>
        <p:nvSpPr>
          <p:cNvPr id="25" name="TextBox 24"/>
          <p:cNvSpPr txBox="1"/>
          <p:nvPr/>
        </p:nvSpPr>
        <p:spPr>
          <a:xfrm>
            <a:off x="9674352" y="2907791"/>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Global·expert의</a:t>
            </a:r>
          </a:p>
          <a:p>
            <a:pPr algn="ctr">
              <a:lnSpc>
                <a:spcPct val="110000"/>
              </a:lnSpc>
              <a:spcBef>
                <a:spcPts val="0"/>
              </a:spcBef>
              <a:spcAft>
                <a:spcPts val="0"/>
              </a:spcAft>
              <a:buNone/>
            </a:pPr>
            <a:r>
              <a:rPr sz="1130" b="0" lang="ko-KR">
                <a:solidFill>
                  <a:srgbClr val="5D6773"/>
                </a:solidFill>
                <a:latin typeface="Pretendard"/>
                <a:ea typeface="Pretendard"/>
                <a:cs typeface="Pretendard"/>
              </a:rPr>
              <a:t>교정·훼손 사례 학습</a:t>
            </a:r>
          </a:p>
        </p:txBody>
      </p:sp>
      <p:cxnSp>
        <p:nvCxnSpPr>
          <p:cNvPr id="26" name="Connector 25"/>
          <p:cNvCxnSpPr/>
          <p:nvPr/>
        </p:nvCxnSpPr>
        <p:spPr>
          <a:xfrm>
            <a:off x="2587752"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46320" y="2944368"/>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104888" y="2944368"/>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63455" y="2944368"/>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685032"/>
            <a:ext cx="11055096" cy="25603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1" lang="ko-KR">
                <a:solidFill>
                  <a:srgbClr val="5D6773"/>
                </a:solidFill>
                <a:latin typeface="Pretendard"/>
                <a:ea typeface="Pretendard"/>
                <a:cs typeface="Pretendard"/>
              </a:rPr>
              <a:t>온라인 · 입력별 예측</a:t>
            </a:r>
          </a:p>
        </p:txBody>
      </p:sp>
      <p:sp>
        <p:nvSpPr>
          <p:cNvPr id="31" name="Rounded Rectangle 30"/>
          <p:cNvSpPr/>
          <p:nvPr/>
        </p:nvSpPr>
        <p:spPr>
          <a:xfrm>
            <a:off x="566928"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Global 예측</a:t>
            </a:r>
          </a:p>
        </p:txBody>
      </p:sp>
      <p:sp>
        <p:nvSpPr>
          <p:cNvPr id="33" name="TextBox 32"/>
          <p:cNvSpPr txBox="1"/>
          <p:nvPr/>
        </p:nvSpPr>
        <p:spPr>
          <a:xfrm>
            <a:off x="640080"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기본 클래스 예측</a:t>
            </a:r>
          </a:p>
        </p:txBody>
      </p:sp>
      <p:sp>
        <p:nvSpPr>
          <p:cNvPr id="34" name="Rounded Rectangle 33"/>
          <p:cNvSpPr/>
          <p:nvPr/>
        </p:nvSpPr>
        <p:spPr>
          <a:xfrm>
            <a:off x="2825496"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Scorer</a:t>
            </a:r>
          </a:p>
        </p:txBody>
      </p:sp>
      <p:sp>
        <p:nvSpPr>
          <p:cNvPr id="36" name="TextBox 35"/>
          <p:cNvSpPr txBox="1"/>
          <p:nvPr/>
        </p:nvSpPr>
        <p:spPr>
          <a:xfrm>
            <a:off x="2898648"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선택</a:t>
            </a:r>
          </a:p>
          <a:p>
            <a:pPr algn="ctr">
              <a:lnSpc>
                <a:spcPct val="110000"/>
              </a:lnSpc>
              <a:spcBef>
                <a:spcPts val="0"/>
              </a:spcBef>
              <a:spcAft>
                <a:spcPts val="0"/>
              </a:spcAft>
              <a:buNone/>
            </a:pPr>
            <a:r>
              <a:rPr sz="1130" b="0" lang="ko-KR">
                <a:solidFill>
                  <a:srgbClr val="5D6773"/>
                </a:solidFill>
                <a:latin typeface="Pretendard"/>
                <a:ea typeface="Pretendard"/>
                <a:cs typeface="Pretendard"/>
              </a:rPr>
              <a:t>호출 여부 판단</a:t>
            </a:r>
          </a:p>
        </p:txBody>
      </p:sp>
      <p:sp>
        <p:nvSpPr>
          <p:cNvPr id="37" name="Rounded Rectangle 36"/>
          <p:cNvSpPr/>
          <p:nvPr/>
        </p:nvSpPr>
        <p:spPr>
          <a:xfrm>
            <a:off x="5084064"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38927"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Expert 추론</a:t>
            </a:r>
          </a:p>
        </p:txBody>
      </p:sp>
      <p:sp>
        <p:nvSpPr>
          <p:cNvPr id="39" name="TextBox 38"/>
          <p:cNvSpPr txBox="1"/>
          <p:nvPr/>
        </p:nvSpPr>
        <p:spPr>
          <a:xfrm>
            <a:off x="5157216"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선택한 context로 분류</a:t>
            </a:r>
          </a:p>
        </p:txBody>
      </p:sp>
      <p:sp>
        <p:nvSpPr>
          <p:cNvPr id="40" name="Rounded Rectangle 39"/>
          <p:cNvSpPr/>
          <p:nvPr/>
        </p:nvSpPr>
        <p:spPr>
          <a:xfrm>
            <a:off x="7342631" y="4142232"/>
            <a:ext cx="2020824" cy="969264"/>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97496"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Verifier</a:t>
            </a:r>
          </a:p>
        </p:txBody>
      </p:sp>
      <p:sp>
        <p:nvSpPr>
          <p:cNvPr id="42" name="TextBox 41"/>
          <p:cNvSpPr txBox="1"/>
          <p:nvPr/>
        </p:nvSpPr>
        <p:spPr>
          <a:xfrm>
            <a:off x="7415783"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Expert 예측의</a:t>
            </a:r>
          </a:p>
          <a:p>
            <a:pPr algn="ctr">
              <a:lnSpc>
                <a:spcPct val="110000"/>
              </a:lnSpc>
              <a:spcBef>
                <a:spcPts val="0"/>
              </a:spcBef>
              <a:spcAft>
                <a:spcPts val="0"/>
              </a:spcAft>
              <a:buNone/>
            </a:pPr>
            <a:r>
              <a:rPr sz="1130" b="0" lang="ko-KR">
                <a:solidFill>
                  <a:srgbClr val="5D6773"/>
                </a:solidFill>
                <a:latin typeface="Pretendard"/>
                <a:ea typeface="Pretendard"/>
                <a:cs typeface="Pretendard"/>
              </a:rPr>
              <a:t>채택 여부 판단</a:t>
            </a:r>
          </a:p>
        </p:txBody>
      </p:sp>
      <p:sp>
        <p:nvSpPr>
          <p:cNvPr id="43" name="Rounded Rectangle 42"/>
          <p:cNvSpPr/>
          <p:nvPr/>
        </p:nvSpPr>
        <p:spPr>
          <a:xfrm>
            <a:off x="9601200" y="4142232"/>
            <a:ext cx="2020824" cy="969264"/>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56064" y="4233672"/>
            <a:ext cx="1911095" cy="292608"/>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500" b="1" lang="ko-KR">
                <a:solidFill>
                  <a:srgbClr val="00306C"/>
                </a:solidFill>
                <a:latin typeface="Pretendard"/>
                <a:ea typeface="Pretendard"/>
                <a:cs typeface="Pretendard"/>
              </a:rPr>
              <a:t>최종 예측</a:t>
            </a:r>
          </a:p>
        </p:txBody>
      </p:sp>
      <p:sp>
        <p:nvSpPr>
          <p:cNvPr id="45" name="TextBox 44"/>
          <p:cNvSpPr txBox="1"/>
          <p:nvPr/>
        </p:nvSpPr>
        <p:spPr>
          <a:xfrm>
            <a:off x="9674352" y="4590288"/>
            <a:ext cx="1874519" cy="365760"/>
          </a:xfrm>
          <a:prstGeom prst="rect">
            <a:avLst/>
          </a:prstGeom>
          <a:noFill/>
        </p:spPr>
        <p:txBody>
          <a:bodyPr wrap="square" lIns="18288" rIns="18288" tIns="32004" bIns="32004" anchor="ctr">
            <a:noAutofit/>
          </a:bodyPr>
          <a:lstStyle/>
          <a:p>
            <a:pPr algn="ctr">
              <a:lnSpc>
                <a:spcPct val="110000"/>
              </a:lnSpc>
              <a:spcBef>
                <a:spcPts val="0"/>
              </a:spcBef>
              <a:spcAft>
                <a:spcPts val="0"/>
              </a:spcAft>
              <a:buNone/>
            </a:pPr>
            <a:r>
              <a:rPr sz="1130" b="0" lang="ko-KR">
                <a:solidFill>
                  <a:srgbClr val="5D6773"/>
                </a:solidFill>
                <a:latin typeface="Pretendard"/>
                <a:ea typeface="Pretendard"/>
                <a:cs typeface="Pretendard"/>
              </a:rPr>
              <a:t>채택 시 expert 예측</a:t>
            </a:r>
          </a:p>
        </p:txBody>
      </p:sp>
      <p:cxnSp>
        <p:nvCxnSpPr>
          <p:cNvPr id="46" name="Connector 45"/>
          <p:cNvCxnSpPr/>
          <p:nvPr/>
        </p:nvCxnSpPr>
        <p:spPr>
          <a:xfrm>
            <a:off x="2587752"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846320" y="4626864"/>
            <a:ext cx="237744"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104888" y="4626864"/>
            <a:ext cx="237743"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363455" y="4626864"/>
            <a:ext cx="237745" cy="0"/>
          </a:xfrm>
          <a:prstGeom prst="line">
            <a:avLst/>
          </a:prstGeom>
          <a:ln w="20320">
            <a:solidFill>
              <a:srgbClr val="007BC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835908"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353044" y="5111496"/>
            <a:ext cx="0" cy="466344"/>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835908" y="5577840"/>
            <a:ext cx="6775704" cy="0"/>
          </a:xfrm>
          <a:prstGeom prst="line">
            <a:avLst/>
          </a:prstGeom>
          <a:ln w="16510">
            <a:solidFill>
              <a:srgbClr val="8393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611612" y="5111496"/>
            <a:ext cx="0" cy="466344"/>
          </a:xfrm>
          <a:prstGeom prst="line">
            <a:avLst/>
          </a:prstGeom>
          <a:ln w="16510">
            <a:solidFill>
              <a:srgbClr val="8393A5"/>
            </a:solidFill>
            <a:tailEnd type="triangle" w="sm" len="sm"/>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66928" y="5733288"/>
            <a:ext cx="11055096" cy="2834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300" b="0" lang="ko-KR">
                <a:solidFill>
                  <a:srgbClr val="5D6773"/>
                </a:solidFill>
                <a:latin typeface="Pretendard"/>
                <a:ea typeface="Pretendard"/>
                <a:cs typeface="Pretendard"/>
              </a:rPr>
              <a:t>호출 또는 채택 조건 미충족 → Global 예측 유지</a:t>
            </a:r>
          </a:p>
        </p:txBody>
      </p:sp>
      <p:sp>
        <p:nvSpPr>
          <p:cNvPr id="55" name="TextBox 54"/>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100" b="1" lang="ko-KR">
                <a:solidFill>
                  <a:srgbClr val="FFFFFF"/>
                </a:solidFill>
                <a:latin typeface="Pretendard"/>
                <a:ea typeface="Pretendard"/>
                <a:cs typeface="Pretendard"/>
              </a:rPr>
              <a:t>공통·전문 사례로 분류기 구성 · S/V로 예측 교정 선택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입력·라벨 품질 검토 · 동일 feature의 상충 라벨</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ko-KR">
                <a:solidFill>
                  <a:srgbClr val="D6E4F3"/>
                </a:solidFill>
                <a:latin typeface="Pretendard"/>
                <a:ea typeface="Pretendard"/>
                <a:cs typeface="Pretendard"/>
              </a:rPr>
              <a:t>02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100" b="1" lang="ko-KR">
                <a:solidFill>
                  <a:srgbClr val="FFFFFF"/>
                </a:solidFill>
                <a:latin typeface="Pretendard"/>
                <a:ea typeface="Pretendard"/>
                <a:cs typeface="Pretendard"/>
              </a:rPr>
              <a:t>3</a:t>
            </a:r>
          </a:p>
        </p:txBody>
      </p:sp>
      <p:sp>
        <p:nvSpPr>
          <p:cNvPr id="6" name="TextBox 5"/>
          <p:cNvSpPr txBox="1"/>
          <p:nvPr/>
        </p:nvSpPr>
        <p:spPr>
          <a:xfrm>
            <a:off x="566928" y="923544"/>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행: 원래 라벨 · 열: 동일 feature의 다른 라벨 · 셀: 행 클래스 대비 비율 (%) · 정제 전 표본 수 내림차순</a:t>
            </a:r>
          </a:p>
        </p:txBody>
      </p:sp>
      <p:pic>
        <p:nvPicPr>
          <p:cNvPr id="7" name="Picture 6" descr="image.png"/>
          <p:cNvPicPr>
            <a:picLocks noChangeAspect="1"/>
          </p:cNvPicPr>
          <p:nvPr/>
        </p:nvPicPr>
        <p:blipFill>
          <a:blip r:embed="rId7"/>
          <a:stretch>
            <a:fillRect/>
          </a:stretch>
        </p:blipFill>
        <p:spPr>
          <a:xfrm>
            <a:off x="566928" y="1344168"/>
            <a:ext cx="5394960" cy="2057400"/>
          </a:xfrm>
          <a:prstGeom prst="rect">
            <a:avLst/>
          </a:prstGeom>
        </p:spPr>
      </p:pic>
      <p:pic>
        <p:nvPicPr>
          <p:cNvPr id="8" name="Picture 7" descr="image.png"/>
          <p:cNvPicPr>
            <a:picLocks noChangeAspect="1"/>
          </p:cNvPicPr>
          <p:nvPr/>
        </p:nvPicPr>
        <p:blipFill>
          <a:blip r:embed="rId8"/>
          <a:stretch>
            <a:fillRect/>
          </a:stretch>
        </p:blipFill>
        <p:spPr>
          <a:xfrm>
            <a:off x="6227064" y="1344168"/>
            <a:ext cx="5394960" cy="2057400"/>
          </a:xfrm>
          <a:prstGeom prst="rect">
            <a:avLst/>
          </a:prstGeom>
        </p:spPr>
      </p:pic>
      <p:pic>
        <p:nvPicPr>
          <p:cNvPr id="9" name="Picture 8" descr="image.png"/>
          <p:cNvPicPr>
            <a:picLocks noChangeAspect="1"/>
          </p:cNvPicPr>
          <p:nvPr/>
        </p:nvPicPr>
        <p:blipFill>
          <a:blip r:embed="rId9"/>
          <a:stretch>
            <a:fillRect/>
          </a:stretch>
        </p:blipFill>
        <p:spPr>
          <a:xfrm>
            <a:off x="566928" y="3557016"/>
            <a:ext cx="5394960" cy="2057400"/>
          </a:xfrm>
          <a:prstGeom prst="rect">
            <a:avLst/>
          </a:prstGeom>
        </p:spPr>
      </p:pic>
      <p:pic>
        <p:nvPicPr>
          <p:cNvPr id="10" name="Picture 9" descr="image.png"/>
          <p:cNvPicPr>
            <a:picLocks noChangeAspect="1"/>
          </p:cNvPicPr>
          <p:nvPr/>
        </p:nvPicPr>
        <p:blipFill>
          <a:blip r:embed="rId10"/>
          <a:stretch>
            <a:fillRect/>
          </a:stretch>
        </p:blipFill>
        <p:spPr>
          <a:xfrm>
            <a:off x="6227064" y="3557016"/>
            <a:ext cx="5394960" cy="2057400"/>
          </a:xfrm>
          <a:prstGeom prst="rect">
            <a:avLst/>
          </a:prstGeom>
        </p:spPr>
      </p:pic>
      <p:sp>
        <p:nvSpPr>
          <p:cNvPr id="11" name="TextBox 10"/>
          <p:cNvSpPr txBox="1"/>
          <p:nvPr/>
        </p:nvSpPr>
        <p:spPr>
          <a:xfrm>
            <a:off x="566928" y="5797296"/>
            <a:ext cx="6537960"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30" b="0" lang="ko-KR">
                <a:solidFill>
                  <a:srgbClr val="5D6773"/>
                </a:solidFill>
                <a:latin typeface="Pretendard"/>
                <a:ea typeface="Pretendard"/>
                <a:cs typeface="Pretendard"/>
              </a:rPr>
              <a:t>빈칸: 0%   ·: 1% 미만   회색: 동일 클래스   같은 행의 중복 집계로 합산 불가</a:t>
            </a:r>
          </a:p>
        </p:txBody>
      </p:sp>
      <p:sp>
        <p:nvSpPr>
          <p:cNvPr id="12" name="Rectangle 11"/>
          <p:cNvSpPr/>
          <p:nvPr/>
        </p:nvSpPr>
        <p:spPr>
          <a:xfrm>
            <a:off x="7699248" y="5843016"/>
            <a:ext cx="411480" cy="128016"/>
          </a:xfrm>
          <a:prstGeom prst="rect">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71816"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0</a:t>
            </a:r>
          </a:p>
        </p:txBody>
      </p:sp>
      <p:sp>
        <p:nvSpPr>
          <p:cNvPr id="14" name="Rectangle 13"/>
          <p:cNvSpPr/>
          <p:nvPr/>
        </p:nvSpPr>
        <p:spPr>
          <a:xfrm>
            <a:off x="8302752" y="5843016"/>
            <a:ext cx="411480" cy="128016"/>
          </a:xfrm>
          <a:prstGeom prst="rect">
            <a:avLst/>
          </a:prstGeom>
          <a:solidFill>
            <a:srgbClr val="9CC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25</a:t>
            </a:r>
          </a:p>
        </p:txBody>
      </p:sp>
      <p:sp>
        <p:nvSpPr>
          <p:cNvPr id="16" name="Rectangle 15"/>
          <p:cNvSpPr/>
          <p:nvPr/>
        </p:nvSpPr>
        <p:spPr>
          <a:xfrm>
            <a:off x="8906256" y="5843016"/>
            <a:ext cx="411480" cy="128016"/>
          </a:xfrm>
          <a:prstGeom prst="rect">
            <a:avLst/>
          </a:prstGeom>
          <a:solidFill>
            <a:srgbClr val="4B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78824"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50</a:t>
            </a:r>
          </a:p>
        </p:txBody>
      </p:sp>
      <p:sp>
        <p:nvSpPr>
          <p:cNvPr id="18" name="Rectangle 17"/>
          <p:cNvSpPr/>
          <p:nvPr/>
        </p:nvSpPr>
        <p:spPr>
          <a:xfrm>
            <a:off x="9509760" y="5843016"/>
            <a:ext cx="411480" cy="128016"/>
          </a:xfrm>
          <a:prstGeom prst="rect">
            <a:avLst/>
          </a:prstGeom>
          <a:solidFill>
            <a:srgbClr val="126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82328"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75</a:t>
            </a:r>
          </a:p>
        </p:txBody>
      </p:sp>
      <p:sp>
        <p:nvSpPr>
          <p:cNvPr id="20" name="Rectangle 19"/>
          <p:cNvSpPr/>
          <p:nvPr/>
        </p:nvSpPr>
        <p:spPr>
          <a:xfrm>
            <a:off x="10113264" y="5843016"/>
            <a:ext cx="411480" cy="128016"/>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85832" y="6007608"/>
            <a:ext cx="466344" cy="173736"/>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830" b="0" lang="ko-KR">
                <a:solidFill>
                  <a:srgbClr val="5D6773"/>
                </a:solidFill>
                <a:latin typeface="Pretendard"/>
                <a:ea typeface="Pretendard"/>
                <a:cs typeface="Pretendard"/>
              </a:rPr>
              <a:t>100</a:t>
            </a:r>
          </a:p>
        </p:txBody>
      </p:sp>
      <p:sp>
        <p:nvSpPr>
          <p:cNvPr id="22" name="TextBox 21"/>
          <p:cNvSpPr txBox="1"/>
          <p:nvPr/>
        </p:nvSpPr>
        <p:spPr>
          <a:xfrm>
            <a:off x="10799064" y="5815584"/>
            <a:ext cx="822960"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000" b="0" lang="ko-KR">
                <a:solidFill>
                  <a:srgbClr val="5D6773"/>
                </a:solidFill>
                <a:latin typeface="Pretendard"/>
                <a:ea typeface="Pretendard"/>
                <a:cs typeface="Pretendard"/>
              </a:rPr>
              <a:t>%</a:t>
            </a:r>
          </a:p>
        </p:txBody>
      </p:sp>
      <p:sp>
        <p:nvSpPr>
          <p:cNvPr id="23" name="TextBox 2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Web attack: 1,764 + 432 − 중복 429 = 1,767행 제거 · 771행 잔존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정제 이후 클래스 분포와 고정 test</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02 데이터 검토</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4</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정제 전후: 전체 데이터 · Test: 정제 후 평가 표본 · 정제 후 전체 표본 수 내림차순</a:t>
            </a:r>
          </a:p>
        </p:txBody>
      </p:sp>
      <p:sp>
        <p:nvSpPr>
          <p:cNvPr id="7" name="TextBox 6"/>
          <p:cNvSpPr txBox="1"/>
          <p:nvPr/>
        </p:nvSpPr>
        <p:spPr>
          <a:xfrm>
            <a:off x="566928"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819656"/>
          <a:ext cx="5394960" cy="3061404"/>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17,514,626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12,798,328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2,652,203</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1,324,350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1,316,025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262,680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207,703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41,542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302,966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197,415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39,483</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Brute force</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575,194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188,414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37,696</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188,152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46,761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8,742</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2,538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771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127</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20,115,529</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14,755,417</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3,042,473</a:t>
                      </a:r>
                    </a:p>
                  </a:txBody>
                  <a:tcPr marL="64008" marR="64008" marT="22860" marB="22860">
                    <a:solidFill>
                      <a:srgbClr val="E7F0F8"/>
                    </a:solidFill>
                  </a:tcPr>
                </a:tc>
              </a:tr>
            </a:tbl>
          </a:graphicData>
        </a:graphic>
      </p:graphicFrame>
      <p:sp>
        <p:nvSpPr>
          <p:cNvPr id="9" name="TextBox 8"/>
          <p:cNvSpPr txBox="1"/>
          <p:nvPr/>
        </p:nvSpPr>
        <p:spPr>
          <a:xfrm>
            <a:off x="6227064" y="1380744"/>
            <a:ext cx="539496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ToN</a:t>
            </a:r>
          </a:p>
        </p:txBody>
      </p:sp>
      <p:graphicFrame>
        <p:nvGraphicFramePr>
          <p:cNvPr id="10" name="Table 9"/>
          <p:cNvGraphicFramePr>
            <a:graphicFrameLocks noGrp="1"/>
          </p:cNvGraphicFramePr>
          <p:nvPr/>
        </p:nvGraphicFramePr>
        <p:xfrm>
          <a:off x="6227064" y="1819656"/>
          <a:ext cx="5394960" cy="4081872"/>
        </p:xfrm>
        <a:graphic>
          <a:graphicData uri="http://schemas.openxmlformats.org/drawingml/2006/table">
            <a:tbl>
              <a:tblPr>
                <a:tableStyleId>{5C22544A-7EE6-4342-B048-85BDC9FD1C3A}</a:tableStyleId>
              </a:tblPr>
              <a:tblGrid>
                <a:gridCol w="1289304"/>
                <a:gridCol w="1472184"/>
                <a:gridCol w="1417320"/>
                <a:gridCol w="1216152"/>
              </a:tblGrid>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정제 후 전체</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20" b="1" lang="ko-KR">
                          <a:solidFill>
                            <a:srgbClr val="FFFFFF"/>
                          </a:solidFill>
                          <a:latin typeface="Pretendard"/>
                          <a:ea typeface="Pretendard"/>
                          <a:cs typeface="Pretendard"/>
                        </a:rPr>
                        <a:t>Test</a:t>
                      </a:r>
                    </a:p>
                  </a:txBody>
                  <a:tcPr marL="64008" marR="64008" marT="22860" marB="22860">
                    <a:solidFill>
                      <a:srgbClr val="00306C"/>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16,792,214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6,446,120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1,474,302</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2,834,435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1,670,497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343,854</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1,594,777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1,061,699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210,951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4,141,256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925,247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103,338</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Injection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381,777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341,263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68,891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Backdoor</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203,384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200,688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40,030</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203,456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113,655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22,458</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Scanning</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1,358,977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39,069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6,029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MitM</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6,013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5,446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1,161</a:t>
                      </a:r>
                    </a:p>
                  </a:txBody>
                  <a:tcPr marL="64008" marR="64008" marT="22860" marB="22860">
                    <a:solidFill>
                      <a:srgbClr val="FFFFFF"/>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21262E"/>
                          </a:solidFill>
                          <a:latin typeface="Pretendard"/>
                          <a:ea typeface="Pretendard"/>
                          <a:cs typeface="Pretendard"/>
                        </a:rPr>
                        <a:t>Ransomware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3,971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3,604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85" b="0" lang="ko-KR">
                          <a:solidFill>
                            <a:srgbClr val="21262E"/>
                          </a:solidFill>
                          <a:latin typeface="DejaVu Sans Mono"/>
                          <a:ea typeface="DejaVu Sans Mono"/>
                          <a:cs typeface="DejaVu Sans Mono"/>
                        </a:rPr>
                        <a:t>709</a:t>
                      </a:r>
                    </a:p>
                  </a:txBody>
                  <a:tcPr marL="64008" marR="64008" marT="22860" marB="22860">
                    <a:solidFill>
                      <a:srgbClr val="F3F6FA"/>
                    </a:solidFill>
                  </a:tcPr>
                </a:tc>
              </a:tr>
              <a:tr h="340156">
                <a:tc>
                  <a:txBody>
                    <a:bodyPr wrap="square" lIns="64008" rIns="64008" tIns="32004" bIns="32004" anchor="ctr">
                      <a:noAutofit/>
                    </a:bodyPr>
                    <a:lstStyle/>
                    <a:p>
                      <a:pPr algn="l">
                        <a:lnSpc>
                          <a:spcPct val="110000"/>
                        </a:lnSpc>
                        <a:spcBef>
                          <a:spcPts val="0"/>
                        </a:spcBef>
                        <a:spcAft>
                          <a:spcPts val="0"/>
                        </a:spcAft>
                        <a:buNone/>
                      </a:pPr>
                      <a:r>
                        <a:rPr sz="1120" b="1" lang="ko-KR">
                          <a:solidFill>
                            <a:srgbClr val="00306C"/>
                          </a:solidFill>
                          <a:latin typeface="Pretendard"/>
                          <a:ea typeface="Pretendard"/>
                          <a:cs typeface="Pretendard"/>
                        </a:rPr>
                        <a:t>합계</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27,520,260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10,807,288</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85" b="1" lang="ko-KR">
                          <a:solidFill>
                            <a:srgbClr val="00306C"/>
                          </a:solidFill>
                          <a:latin typeface="DejaVu Sans Mono"/>
                          <a:ea typeface="DejaVu Sans Mono"/>
                          <a:cs typeface="DejaVu Sans Mono"/>
                        </a:rPr>
                        <a:t>2,271,723</a:t>
                      </a:r>
                    </a:p>
                  </a:txBody>
                  <a:tcPr marL="64008" marR="64008" marT="22860" marB="22860">
                    <a:solidFill>
                      <a:srgbClr val="E7F0F8"/>
                    </a:solidFill>
                  </a:tcPr>
                </a:tc>
              </a:tr>
            </a:tbl>
          </a:graphicData>
        </a:graphic>
      </p:graphicFrame>
      <p:sp>
        <p:nvSpPr>
          <p:cNvPr id="11" name="Rounded Rectangle 10"/>
          <p:cNvSpPr/>
          <p:nvPr/>
        </p:nvSpPr>
        <p:spPr>
          <a:xfrm>
            <a:off x="566928" y="5202936"/>
            <a:ext cx="5394960" cy="731520"/>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5303520"/>
            <a:ext cx="5047488" cy="5120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Tail: 고정 test에서 표본 수가 적은 클래스</a:t>
            </a:r>
          </a:p>
          <a:p>
            <a:pPr algn="l">
              <a:lnSpc>
                <a:spcPct val="110000"/>
              </a:lnSpc>
              <a:spcBef>
                <a:spcPts val="0"/>
              </a:spcBef>
              <a:spcAft>
                <a:spcPts val="0"/>
              </a:spcAft>
              <a:buNone/>
            </a:pPr>
            <a:r>
              <a:rPr sz="1400" b="1" lang="ko-KR">
                <a:solidFill>
                  <a:srgbClr val="00306C"/>
                </a:solidFill>
                <a:latin typeface="Pretendard"/>
                <a:ea typeface="Pretendard"/>
                <a:cs typeface="Pretendard"/>
              </a:rPr>
              <a:t>Context에 제공한 학습 사례 수와 별도 표기</a:t>
            </a:r>
          </a:p>
        </p:txBody>
      </p:sp>
      <p:sp>
        <p:nvSpPr>
          <p:cNvPr id="13" name="TextBox 1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평가에서의 클래스 희소성과 context의 학습 사례 수 구분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첫 context 구성 실험 · 공통 anchor와 residual block</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04 현재 근거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6</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정제 CIC2018·ToN · seed 43 · Global 고정 · K = 2, 4, 6, 8</a:t>
            </a:r>
          </a:p>
        </p:txBody>
      </p:sp>
      <p:sp>
        <p:nvSpPr>
          <p:cNvPr id="7" name="Rounded Rectangle 6"/>
          <p:cNvSpPr/>
          <p:nvPr/>
        </p:nvSpPr>
        <p:spPr>
          <a:xfrm>
            <a:off x="566928" y="1481328"/>
            <a:ext cx="4864608" cy="4270248"/>
          </a:xfrm>
          <a:prstGeom prst="roundRect">
            <a:avLst>
              <a:gd name="adj" fmla="val 35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481328"/>
            <a:ext cx="4864608" cy="457200"/>
          </a:xfrm>
          <a:prstGeom prst="rect">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540764"/>
            <a:ext cx="4553712"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각 expert에 제공하는 context</a:t>
            </a:r>
          </a:p>
        </p:txBody>
      </p:sp>
      <p:sp>
        <p:nvSpPr>
          <p:cNvPr id="10" name="Rounded Rectangle 9"/>
          <p:cNvSpPr/>
          <p:nvPr/>
        </p:nvSpPr>
        <p:spPr>
          <a:xfrm>
            <a:off x="832104" y="2167128"/>
            <a:ext cx="4334256" cy="1024128"/>
          </a:xfrm>
          <a:prstGeom prst="roundRect">
            <a:avLst>
              <a:gd name="adj" fmla="val 3500"/>
            </a:avLst>
          </a:prstGeom>
          <a:solidFill>
            <a:srgbClr val="FFFFFF"/>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276856"/>
            <a:ext cx="4005072"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공통 anchor</a:t>
            </a:r>
          </a:p>
        </p:txBody>
      </p:sp>
      <p:sp>
        <p:nvSpPr>
          <p:cNvPr id="12" name="TextBox 11"/>
          <p:cNvSpPr txBox="1"/>
          <p:nvPr/>
        </p:nvSpPr>
        <p:spPr>
          <a:xfrm>
            <a:off x="996696" y="2688336"/>
            <a:ext cx="4005072"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20" b="0" lang="ko-KR">
                <a:solidFill>
                  <a:srgbClr val="5D6773"/>
                </a:solidFill>
                <a:latin typeface="Pretendard"/>
                <a:ea typeface="Pretendard"/>
                <a:cs typeface="Pretendard"/>
              </a:rPr>
              <a:t>모든 클래스의 기본 사례 · 클래스당 최대 2,000행</a:t>
            </a:r>
          </a:p>
        </p:txBody>
      </p:sp>
      <p:sp>
        <p:nvSpPr>
          <p:cNvPr id="13" name="TextBox 12"/>
          <p:cNvSpPr txBox="1"/>
          <p:nvPr/>
        </p:nvSpPr>
        <p:spPr>
          <a:xfrm>
            <a:off x="2542032" y="3310128"/>
            <a:ext cx="914400" cy="329184"/>
          </a:xfrm>
          <a:prstGeom prst="rect">
            <a:avLst/>
          </a:prstGeom>
          <a:noFill/>
        </p:spPr>
        <p:txBody>
          <a:bodyPr wrap="square" tIns="32004" bIns="32004" anchor="ctr">
            <a:noAutofit/>
          </a:bodyPr>
          <a:lstStyle/>
          <a:p>
            <a:pPr algn="ctr">
              <a:lnSpc>
                <a:spcPct val="110000"/>
              </a:lnSpc>
              <a:spcBef>
                <a:spcPts val="0"/>
              </a:spcBef>
              <a:spcAft>
                <a:spcPts val="0"/>
              </a:spcAft>
              <a:buNone/>
            </a:pPr>
            <a:r>
              <a:rPr sz="2300" b="1" lang="ko-KR">
                <a:solidFill>
                  <a:srgbClr val="007BC6"/>
                </a:solidFill>
                <a:latin typeface="Pretendard"/>
                <a:ea typeface="Pretendard"/>
                <a:cs typeface="Pretendard"/>
              </a:rPr>
              <a:t>+</a:t>
            </a:r>
          </a:p>
        </p:txBody>
      </p:sp>
      <p:sp>
        <p:nvSpPr>
          <p:cNvPr id="14" name="Rounded Rectangle 13"/>
          <p:cNvSpPr/>
          <p:nvPr/>
        </p:nvSpPr>
        <p:spPr>
          <a:xfrm>
            <a:off x="832104" y="3767328"/>
            <a:ext cx="4334256" cy="1024128"/>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6696" y="3877056"/>
            <a:ext cx="4005072"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Residual 군집별 특화 block</a:t>
            </a:r>
          </a:p>
        </p:txBody>
      </p:sp>
      <p:sp>
        <p:nvSpPr>
          <p:cNvPr id="16" name="TextBox 15"/>
          <p:cNvSpPr txBox="1"/>
          <p:nvPr/>
        </p:nvSpPr>
        <p:spPr>
          <a:xfrm>
            <a:off x="996696" y="4279392"/>
            <a:ext cx="4005072" cy="28346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10" b="0" lang="ko-KR">
                <a:solidFill>
                  <a:srgbClr val="5D6773"/>
                </a:solidFill>
                <a:latin typeface="Pretendard"/>
                <a:ea typeface="Pretendard"/>
                <a:cs typeface="Pretendard"/>
              </a:rPr>
              <a:t>Global 오류 양상과 입력 특성을 반영한 표본 선택</a:t>
            </a:r>
          </a:p>
        </p:txBody>
      </p:sp>
      <p:sp>
        <p:nvSpPr>
          <p:cNvPr id="17" name="TextBox 16"/>
          <p:cNvSpPr txBox="1"/>
          <p:nvPr/>
        </p:nvSpPr>
        <p:spPr>
          <a:xfrm>
            <a:off x="877824" y="5056632"/>
            <a:ext cx="4242816" cy="393192"/>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같은 TabPFN backbone · 서로 다른 context</a:t>
            </a:r>
          </a:p>
        </p:txBody>
      </p:sp>
      <p:sp>
        <p:nvSpPr>
          <p:cNvPr id="18" name="TextBox 17"/>
          <p:cNvSpPr txBox="1"/>
          <p:nvPr/>
        </p:nvSpPr>
        <p:spPr>
          <a:xfrm>
            <a:off x="5824728" y="1508760"/>
            <a:ext cx="5797296"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K에 따른 expert 구성과 context 행 수 합계</a:t>
            </a:r>
          </a:p>
        </p:txBody>
      </p:sp>
      <p:graphicFrame>
        <p:nvGraphicFramePr>
          <p:cNvPr id="19" name="Table 18"/>
          <p:cNvGraphicFramePr>
            <a:graphicFrameLocks noGrp="1"/>
          </p:cNvGraphicFramePr>
          <p:nvPr/>
        </p:nvGraphicFramePr>
        <p:xfrm>
          <a:off x="5824728" y="2048256"/>
          <a:ext cx="5797296" cy="2423160"/>
        </p:xfrm>
        <a:graphic>
          <a:graphicData uri="http://schemas.openxmlformats.org/drawingml/2006/table">
            <a:tbl>
              <a:tblPr>
                <a:tableStyleId>{5C22544A-7EE6-4342-B048-85BDC9FD1C3A}</a:tableStyleId>
              </a:tblPr>
              <a:tblGrid>
                <a:gridCol w="1170432"/>
                <a:gridCol w="2313432"/>
                <a:gridCol w="2313432"/>
              </a:tblGrid>
              <a:tr h="484632">
                <a:tc>
                  <a:txBody>
                    <a:bodyPr wrap="square" lIns="64008" rIns="64008" tIns="32004" bIns="32004" anchor="ctr">
                      <a:noAutofit/>
                    </a:bodyPr>
                    <a:lstStyle/>
                    <a:p>
                      <a:pPr algn="l">
                        <a:lnSpc>
                          <a:spcPct val="110000"/>
                        </a:lnSpc>
                        <a:spcBef>
                          <a:spcPts val="0"/>
                        </a:spcBef>
                        <a:spcAft>
                          <a:spcPts val="0"/>
                        </a:spcAft>
                        <a:buNone/>
                      </a:pPr>
                      <a:r>
                        <a:rPr sz="1400" b="1" lang="ko-KR">
                          <a:solidFill>
                            <a:srgbClr val="FFFFFF"/>
                          </a:solidFill>
                          <a:latin typeface="Pretendard"/>
                          <a:ea typeface="Pretendard"/>
                          <a:cs typeface="Pretendard"/>
                        </a:rPr>
                        <a:t>Expert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ToN</a:t>
                      </a:r>
                    </a:p>
                  </a:txBody>
                  <a:tcPr marL="64008" marR="64008" marT="22860" marB="22860">
                    <a:solidFill>
                      <a:srgbClr val="00306C"/>
                    </a:solidFill>
                  </a:tcPr>
                </a:tc>
              </a:tr>
              <a:tr h="48463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K = 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250,481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231,534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K = 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277,505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270,546</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K = 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328,037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338,908</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K = 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376,411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421,513</a:t>
                      </a:r>
                    </a:p>
                  </a:txBody>
                  <a:tcPr marL="64008" marR="64008" marT="22860" marB="22860">
                    <a:solidFill>
                      <a:srgbClr val="F3F6FA"/>
                    </a:solidFill>
                  </a:tcPr>
                </a:tc>
              </a:tr>
            </a:tbl>
          </a:graphicData>
        </a:graphic>
      </p:graphicFrame>
      <p:graphicFrame>
        <p:nvGraphicFramePr>
          <p:cNvPr id="20" name="Table 19"/>
          <p:cNvGraphicFramePr>
            <a:graphicFrameLocks noGrp="1"/>
          </p:cNvGraphicFramePr>
          <p:nvPr/>
        </p:nvGraphicFramePr>
        <p:xfrm>
          <a:off x="5824728" y="4764024"/>
          <a:ext cx="5797296" cy="786384"/>
        </p:xfrm>
        <a:graphic>
          <a:graphicData uri="http://schemas.openxmlformats.org/drawingml/2006/table">
            <a:tbl>
              <a:tblPr>
                <a:tableStyleId>{5C22544A-7EE6-4342-B048-85BDC9FD1C3A}</a:tableStyleId>
              </a:tblPr>
              <a:tblGrid>
                <a:gridCol w="1938528"/>
                <a:gridCol w="1929384"/>
                <a:gridCol w="1929384"/>
              </a:tblGrid>
              <a:tr h="393192">
                <a:tc>
                  <a:txBody>
                    <a:bodyPr wrap="square" lIns="64008" rIns="64008" tIns="32004" bIns="32004" anchor="ctr">
                      <a:noAutofit/>
                    </a:bodyPr>
                    <a:lstStyle/>
                    <a:p>
                      <a:pPr algn="l">
                        <a:lnSpc>
                          <a:spcPct val="110000"/>
                        </a:lnSpc>
                        <a:spcBef>
                          <a:spcPts val="0"/>
                        </a:spcBef>
                        <a:spcAft>
                          <a:spcPts val="0"/>
                        </a:spcAft>
                        <a:buNone/>
                      </a:pPr>
                      <a:r>
                        <a:rPr sz="1300" b="1" lang="ko-KR">
                          <a:solidFill>
                            <a:srgbClr val="FFFFFF"/>
                          </a:solidFill>
                          <a:latin typeface="Pretendard"/>
                          <a:ea typeface="Pretendard"/>
                          <a:cs typeface="Pretendard"/>
                        </a:rPr>
                        <a:t>공통 anchor</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ToN</a:t>
                      </a:r>
                    </a:p>
                  </a:txBody>
                  <a:tcPr marL="64008" marR="64008" marT="22860" marB="22860">
                    <a:solidFill>
                      <a:srgbClr val="00306C"/>
                    </a:solidFill>
                  </a:tcPr>
                </a:tc>
              </a:tr>
              <a:tr h="393192">
                <a:tc>
                  <a:txBody>
                    <a:bodyPr wrap="square" lIns="64008" rIns="64008" tIns="32004" bIns="32004" anchor="ctr">
                      <a:noAutofit/>
                    </a:bodyPr>
                    <a:lstStyle/>
                    <a:p>
                      <a:pPr algn="l">
                        <a:lnSpc>
                          <a:spcPct val="110000"/>
                        </a:lnSpc>
                        <a:spcBef>
                          <a:spcPts val="0"/>
                        </a:spcBef>
                        <a:spcAft>
                          <a:spcPts val="0"/>
                        </a:spcAft>
                        <a:buNone/>
                      </a:pPr>
                      <a:r>
                        <a:rPr sz="1300" b="1" lang="ko-KR">
                          <a:solidFill>
                            <a:srgbClr val="21262E"/>
                          </a:solidFill>
                          <a:latin typeface="Pretendard"/>
                          <a:ea typeface="Pretendard"/>
                          <a:cs typeface="Pretendard"/>
                        </a:rPr>
                        <a:t>행 수</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12,224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18,717</a:t>
                      </a:r>
                    </a:p>
                  </a:txBody>
                  <a:tcPr marL="64008" marR="64008" marT="22860" marB="22860">
                    <a:solidFill>
                      <a:srgbClr val="FFFFFF"/>
                    </a:solidFill>
                  </a:tcPr>
                </a:tc>
              </a:tr>
            </a:tbl>
          </a:graphicData>
        </a:graphic>
      </p:graphicFrame>
      <p:sp>
        <p:nvSpPr>
          <p:cNvPr id="21" name="TextBox 20"/>
          <p:cNvSpPr txBox="1"/>
          <p:nvPr/>
        </p:nvSpPr>
        <p:spPr>
          <a:xfrm>
            <a:off x="5824728" y="5660136"/>
            <a:ext cx="5797296" cy="3840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50" b="0" lang="ko-KR">
                <a:solidFill>
                  <a:srgbClr val="5D6773"/>
                </a:solidFill>
                <a:latin typeface="Pretendard"/>
                <a:ea typeface="Pretendard"/>
                <a:cs typeface="Pretendard"/>
              </a:rPr>
              <a:t>합계에 expert별 anchor 반복 포함 · K별 총예산 상이</a:t>
            </a:r>
          </a:p>
        </p:txBody>
      </p:sp>
      <p:sp>
        <p:nvSpPr>
          <p:cNvPr id="22" name="TextBox 21"/>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Residual block + anchor를 context 구성의 첫 비교 기준으로 사용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현재 근거 · residual context는 일부 공격에서 효과</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04 현재 근거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7</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정제 데이터 · 고정 test · seed 43 · 대표 K = 4 · 순차 공격 도입 시나리오는 아직 설계 단계</a:t>
            </a:r>
          </a:p>
        </p:txBody>
      </p:sp>
      <p:graphicFrame>
        <p:nvGraphicFramePr>
          <p:cNvPr id="7" name="Table 6"/>
          <p:cNvGraphicFramePr>
            <a:graphicFrameLocks noGrp="1"/>
          </p:cNvGraphicFramePr>
          <p:nvPr/>
        </p:nvGraphicFramePr>
        <p:xfrm>
          <a:off x="566928" y="1499616"/>
          <a:ext cx="11055093" cy="1645920"/>
        </p:xfrm>
        <a:graphic>
          <a:graphicData uri="http://schemas.openxmlformats.org/drawingml/2006/table">
            <a:tbl>
              <a:tblPr>
                <a:tableStyleId>{5C22544A-7EE6-4342-B048-85BDC9FD1C3A}</a:tableStyleId>
              </a:tblPr>
              <a:tblGrid>
                <a:gridCol w="1325880"/>
                <a:gridCol w="1911095"/>
                <a:gridCol w="1911095"/>
                <a:gridCol w="1911095"/>
                <a:gridCol w="2002536"/>
                <a:gridCol w="1993392"/>
              </a:tblGrid>
              <a:tr h="548640">
                <a:tc>
                  <a:txBody>
                    <a:bodyPr wrap="square" lIns="64008" rIns="64008" tIns="32004" bIns="32004" anchor="ctr">
                      <a:noAutofit/>
                    </a:bodyPr>
                    <a:lstStyle/>
                    <a:p>
                      <a:pPr algn="l">
                        <a:lnSpc>
                          <a:spcPct val="110000"/>
                        </a:lnSpc>
                        <a:spcBef>
                          <a:spcPts val="0"/>
                        </a:spcBef>
                        <a:spcAft>
                          <a:spcPts val="0"/>
                        </a:spcAft>
                        <a:buNone/>
                      </a:pPr>
                      <a:r>
                        <a:rPr sz="1300" b="1" lang="ko-KR">
                          <a:solidFill>
                            <a:srgbClr val="FFFFFF"/>
                          </a:solidFill>
                          <a:latin typeface="Pretendard"/>
                          <a:ea typeface="Pretendard"/>
                          <a:cs typeface="Pretendard"/>
                        </a:rPr>
                        <a:t>데이터</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XGB 100k F1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Global F1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현재 모델 F1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Expert 호출 (%)</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00" b="1" lang="ko-KR">
                          <a:solidFill>
                            <a:srgbClr val="FFFFFF"/>
                          </a:solidFill>
                          <a:latin typeface="Pretendard"/>
                          <a:ea typeface="Pretendard"/>
                          <a:cs typeface="Pretendard"/>
                        </a:rPr>
                        <a:t>출력 채택 (%)</a:t>
                      </a:r>
                    </a:p>
                  </a:txBody>
                  <a:tcPr marL="64008" marR="64008" marT="22860" marB="22860">
                    <a:solidFill>
                      <a:srgbClr val="00306C"/>
                    </a:solidFill>
                  </a:tcPr>
                </a:tc>
              </a:tr>
              <a:tr h="548640">
                <a:tc>
                  <a:txBody>
                    <a:bodyPr wrap="square" lIns="64008" rIns="64008" tIns="32004" bIns="32004" anchor="ctr">
                      <a:noAutofit/>
                    </a:bodyPr>
                    <a:lstStyle/>
                    <a:p>
                      <a:pPr algn="l">
                        <a:lnSpc>
                          <a:spcPct val="110000"/>
                        </a:lnSpc>
                        <a:spcBef>
                          <a:spcPts val="0"/>
                        </a:spcBef>
                        <a:spcAft>
                          <a:spcPts val="0"/>
                        </a:spcAft>
                        <a:buNone/>
                      </a:pPr>
                      <a:r>
                        <a:rPr sz="1300" b="1" lang="ko-KR">
                          <a:solidFill>
                            <a:srgbClr val="21262E"/>
                          </a:solidFill>
                          <a:latin typeface="Pretendard"/>
                          <a:ea typeface="Pretendard"/>
                          <a:cs typeface="Pretendard"/>
                        </a:rPr>
                        <a:t>CIC2018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0.7821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0.00</a:t>
                      </a:r>
                    </a:p>
                  </a:txBody>
                  <a:tcPr marL="64008" marR="64008" marT="22860" marB="22860">
                    <a:solidFill>
                      <a:srgbClr val="FFFFFF"/>
                    </a:solidFill>
                  </a:tcPr>
                </a:tc>
              </a:tr>
              <a:tr h="548640">
                <a:tc>
                  <a:txBody>
                    <a:bodyPr wrap="square" lIns="64008" rIns="64008" tIns="32004" bIns="32004" anchor="ctr">
                      <a:noAutofit/>
                    </a:bodyPr>
                    <a:lstStyle/>
                    <a:p>
                      <a:pPr algn="l">
                        <a:lnSpc>
                          <a:spcPct val="110000"/>
                        </a:lnSpc>
                        <a:spcBef>
                          <a:spcPts val="0"/>
                        </a:spcBef>
                        <a:spcAft>
                          <a:spcPts val="0"/>
                        </a:spcAft>
                        <a:buNone/>
                      </a:pPr>
                      <a:r>
                        <a:rPr sz="1300" b="1" lang="ko-KR">
                          <a:solidFill>
                            <a:srgbClr val="21262E"/>
                          </a:solidFill>
                          <a:latin typeface="Pretendard"/>
                          <a:ea typeface="Pretendard"/>
                          <a:cs typeface="Pretendard"/>
                        </a:rPr>
                        <a:t>ToN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0.6983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0.6796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0.7617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100.00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265" b="0" lang="ko-KR">
                          <a:solidFill>
                            <a:srgbClr val="21262E"/>
                          </a:solidFill>
                          <a:latin typeface="DejaVu Sans Mono"/>
                          <a:ea typeface="DejaVu Sans Mono"/>
                          <a:cs typeface="DejaVu Sans Mono"/>
                        </a:rPr>
                        <a:t>1.23</a:t>
                      </a:r>
                    </a:p>
                  </a:txBody>
                  <a:tcPr marL="64008" marR="64008" marT="22860" marB="22860">
                    <a:solidFill>
                      <a:srgbClr val="F3F6FA"/>
                    </a:solidFill>
                  </a:tcPr>
                </a:tc>
              </a:tr>
            </a:tbl>
          </a:graphicData>
        </a:graphic>
      </p:graphicFrame>
      <p:sp>
        <p:nvSpPr>
          <p:cNvPr id="8" name="TextBox 7"/>
          <p:cNvSpPr txBox="1"/>
          <p:nvPr/>
        </p:nvSpPr>
        <p:spPr>
          <a:xfrm>
            <a:off x="566928" y="3310128"/>
            <a:ext cx="11055096" cy="29260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0" lang="ko-KR">
                <a:solidFill>
                  <a:srgbClr val="5D6773"/>
                </a:solidFill>
                <a:latin typeface="Pretendard"/>
                <a:ea typeface="Pretendard"/>
                <a:cs typeface="Pretendard"/>
              </a:rPr>
              <a:t>F1은 Macro-F1 · 현재 모델은 expert/route 추가 학습 데이터 사용 · 같은 100k 예산의 우위 주장 불가</a:t>
            </a:r>
          </a:p>
        </p:txBody>
      </p:sp>
      <p:sp>
        <p:nvSpPr>
          <p:cNvPr id="9" name="Rounded Rectangle 8"/>
          <p:cNvSpPr/>
          <p:nvPr/>
        </p:nvSpPr>
        <p:spPr>
          <a:xfrm>
            <a:off x="566928" y="3822191"/>
            <a:ext cx="5394960" cy="1773936"/>
          </a:xfrm>
          <a:prstGeom prst="roundRect">
            <a:avLst>
              <a:gd name="adj" fmla="val 35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822191"/>
            <a:ext cx="5394960" cy="457200"/>
          </a:xfrm>
          <a:prstGeom prst="rect">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3881628"/>
            <a:ext cx="5084064"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관찰 · 무엇이 달라졌나</a:t>
            </a:r>
          </a:p>
        </p:txBody>
      </p:sp>
      <p:sp>
        <p:nvSpPr>
          <p:cNvPr id="12" name="TextBox 11"/>
          <p:cNvSpPr txBox="1"/>
          <p:nvPr/>
        </p:nvSpPr>
        <p:spPr>
          <a:xfrm>
            <a:off x="749808" y="4443984"/>
            <a:ext cx="5029200" cy="10058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50" b="0" lang="ko-KR">
                <a:solidFill>
                  <a:srgbClr val="21262E"/>
                </a:solidFill>
                <a:latin typeface="Pretendard"/>
                <a:ea typeface="Pretendard"/>
                <a:cs typeface="Pretendard"/>
              </a:rPr>
              <a:t>ToN Scanning F1: 0.0394 → 0.8587</a:t>
            </a:r>
          </a:p>
          <a:p>
            <a:pPr algn="l">
              <a:lnSpc>
                <a:spcPct val="110000"/>
              </a:lnSpc>
              <a:spcBef>
                <a:spcPts val="0"/>
              </a:spcBef>
              <a:spcAft>
                <a:spcPts val="0"/>
              </a:spcAft>
              <a:buNone/>
            </a:pPr>
            <a:r>
              <a:rPr sz="1450" b="0" lang="ko-KR">
                <a:solidFill>
                  <a:srgbClr val="21262E"/>
                </a:solidFill>
                <a:latin typeface="Pretendard"/>
                <a:ea typeface="Pretendard"/>
                <a:cs typeface="Pretendard"/>
              </a:rPr>
              <a:t>CIC2018: 호출 0건으로 Global 예측 유지</a:t>
            </a:r>
          </a:p>
          <a:p>
            <a:pPr algn="l">
              <a:lnSpc>
                <a:spcPct val="110000"/>
              </a:lnSpc>
              <a:spcBef>
                <a:spcPts val="0"/>
              </a:spcBef>
              <a:spcAft>
                <a:spcPts val="0"/>
              </a:spcAft>
              <a:buNone/>
            </a:pPr>
            <a:r>
              <a:rPr sz="1450" b="0" lang="ko-KR">
                <a:solidFill>
                  <a:srgbClr val="21262E"/>
                </a:solidFill>
                <a:latin typeface="Pretendard"/>
                <a:ea typeface="Pretendard"/>
                <a:cs typeface="Pretendard"/>
              </a:rPr>
              <a:t>모든 tail의 개선을 확인한 상태는 아님</a:t>
            </a:r>
          </a:p>
        </p:txBody>
      </p:sp>
      <p:sp>
        <p:nvSpPr>
          <p:cNvPr id="13" name="Rounded Rectangle 12"/>
          <p:cNvSpPr/>
          <p:nvPr/>
        </p:nvSpPr>
        <p:spPr>
          <a:xfrm>
            <a:off x="6227064" y="3822191"/>
            <a:ext cx="5394960" cy="1773936"/>
          </a:xfrm>
          <a:prstGeom prst="roundRect">
            <a:avLst>
              <a:gd name="adj" fmla="val 35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27064" y="3822191"/>
            <a:ext cx="5394960" cy="457200"/>
          </a:xfrm>
          <a:prstGeom prst="rect">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3881628"/>
            <a:ext cx="5084064"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다음 질문 · 어떤 정보가 필요한가</a:t>
            </a:r>
          </a:p>
        </p:txBody>
      </p:sp>
      <p:sp>
        <p:nvSpPr>
          <p:cNvPr id="16" name="TextBox 15"/>
          <p:cNvSpPr txBox="1"/>
          <p:nvPr/>
        </p:nvSpPr>
        <p:spPr>
          <a:xfrm>
            <a:off x="6409944" y="4443984"/>
            <a:ext cx="5029200" cy="10058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50" b="0" lang="ko-KR">
                <a:solidFill>
                  <a:srgbClr val="21262E"/>
                </a:solidFill>
                <a:latin typeface="Pretendard"/>
                <a:ea typeface="Pretendard"/>
                <a:cs typeface="Pretendard"/>
              </a:rPr>
              <a:t>공통·전문 사례의 구성으로 얻은 개선인가?</a:t>
            </a:r>
          </a:p>
          <a:p>
            <a:pPr algn="l">
              <a:lnSpc>
                <a:spcPct val="110000"/>
              </a:lnSpc>
              <a:spcBef>
                <a:spcPts val="0"/>
              </a:spcBef>
              <a:spcAft>
                <a:spcPts val="0"/>
              </a:spcAft>
              <a:buNone/>
            </a:pPr>
            <a:r>
              <a:rPr sz="1450" b="0" lang="ko-KR">
                <a:solidFill>
                  <a:srgbClr val="21262E"/>
                </a:solidFill>
                <a:latin typeface="Pretendard"/>
                <a:ea typeface="Pretendard"/>
                <a:cs typeface="Pretendard"/>
              </a:rPr>
              <a:t>라벨이 적은 다른 공격에도 효과가 있는가?</a:t>
            </a:r>
          </a:p>
          <a:p>
            <a:pPr algn="l">
              <a:lnSpc>
                <a:spcPct val="110000"/>
              </a:lnSpc>
              <a:spcBef>
                <a:spcPts val="0"/>
              </a:spcBef>
              <a:spcAft>
                <a:spcPts val="0"/>
              </a:spcAft>
              <a:buNone/>
            </a:pPr>
            <a:r>
              <a:rPr sz="1450" b="0" lang="ko-KR">
                <a:solidFill>
                  <a:srgbClr val="21262E"/>
                </a:solidFill>
                <a:latin typeface="Pretendard"/>
                <a:ea typeface="Pretendard"/>
                <a:cs typeface="Pretendard"/>
              </a:rPr>
              <a:t>Benign 오탐과 구성·추론 비용의 변화는?</a:t>
            </a:r>
          </a:p>
        </p:txBody>
      </p:sp>
      <p:sp>
        <p:nvSpPr>
          <p:cNvPr id="17" name="TextBox 16"/>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현재 결과는 context 구성 연구의 출발점 · 희소 공격 전반의 개선은 추가 검증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신규 공격의 순차 도입을 통한 검증</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05 갱신 방식 검증</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7</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EXP70 실행 중 · XGBoost 재학습과 Global TabPFN context 확장 · 동일한 누적 사례 제공</a:t>
            </a:r>
          </a:p>
        </p:txBody>
      </p:sp>
      <p:sp>
        <p:nvSpPr>
          <p:cNvPr id="7" name="TextBox 6"/>
          <p:cNvSpPr txBox="1"/>
          <p:nvPr/>
        </p:nvSpPr>
        <p:spPr>
          <a:xfrm>
            <a:off x="566928" y="139903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CIC2018 · 2018년</a:t>
            </a:r>
          </a:p>
        </p:txBody>
      </p:sp>
      <p:sp>
        <p:nvSpPr>
          <p:cNvPr id="8" name="Rounded Rectangle 7"/>
          <p:cNvSpPr/>
          <p:nvPr/>
        </p:nvSpPr>
        <p:spPr>
          <a:xfrm>
            <a:off x="566928" y="1847088"/>
            <a:ext cx="2079345"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2/14~16</a:t>
            </a:r>
          </a:p>
        </p:txBody>
      </p:sp>
      <p:sp>
        <p:nvSpPr>
          <p:cNvPr id="10" name="TextBox 9"/>
          <p:cNvSpPr txBox="1"/>
          <p:nvPr/>
        </p:nvSpPr>
        <p:spPr>
          <a:xfrm>
            <a:off x="65836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Brute force · DoS</a:t>
            </a:r>
          </a:p>
        </p:txBody>
      </p:sp>
      <p:cxnSp>
        <p:nvCxnSpPr>
          <p:cNvPr id="11" name="Connector 10"/>
          <p:cNvCxnSpPr/>
          <p:nvPr/>
        </p:nvCxnSpPr>
        <p:spPr>
          <a:xfrm>
            <a:off x="2664561"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0865"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02305"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2/20~21</a:t>
            </a:r>
          </a:p>
        </p:txBody>
      </p:sp>
      <p:sp>
        <p:nvSpPr>
          <p:cNvPr id="14" name="TextBox 13"/>
          <p:cNvSpPr txBox="1"/>
          <p:nvPr/>
        </p:nvSpPr>
        <p:spPr>
          <a:xfrm>
            <a:off x="2902305"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15" name="Connector 14"/>
          <p:cNvCxnSpPr/>
          <p:nvPr/>
        </p:nvCxnSpPr>
        <p:spPr>
          <a:xfrm>
            <a:off x="4908499"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4803"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46243"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2/22</a:t>
            </a:r>
          </a:p>
        </p:txBody>
      </p:sp>
      <p:sp>
        <p:nvSpPr>
          <p:cNvPr id="18" name="TextBox 17"/>
          <p:cNvSpPr txBox="1"/>
          <p:nvPr/>
        </p:nvSpPr>
        <p:spPr>
          <a:xfrm>
            <a:off x="5146243"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Web attack</a:t>
            </a:r>
          </a:p>
        </p:txBody>
      </p:sp>
      <p:cxnSp>
        <p:nvCxnSpPr>
          <p:cNvPr id="19" name="Connector 18"/>
          <p:cNvCxnSpPr/>
          <p:nvPr/>
        </p:nvCxnSpPr>
        <p:spPr>
          <a:xfrm>
            <a:off x="7152436"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98740"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0180"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2/28</a:t>
            </a:r>
          </a:p>
        </p:txBody>
      </p:sp>
      <p:sp>
        <p:nvSpPr>
          <p:cNvPr id="22" name="TextBox 21"/>
          <p:cNvSpPr txBox="1"/>
          <p:nvPr/>
        </p:nvSpPr>
        <p:spPr>
          <a:xfrm>
            <a:off x="7390180"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Infiltration</a:t>
            </a:r>
          </a:p>
        </p:txBody>
      </p:sp>
      <p:cxnSp>
        <p:nvCxnSpPr>
          <p:cNvPr id="23" name="Connector 22"/>
          <p:cNvCxnSpPr/>
          <p:nvPr/>
        </p:nvCxnSpPr>
        <p:spPr>
          <a:xfrm>
            <a:off x="9396374" y="234086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542678" y="1847088"/>
            <a:ext cx="2079345"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4118" y="1929384"/>
            <a:ext cx="1896465"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3/2</a:t>
            </a:r>
          </a:p>
        </p:txBody>
      </p:sp>
      <p:sp>
        <p:nvSpPr>
          <p:cNvPr id="26" name="TextBox 25"/>
          <p:cNvSpPr txBox="1"/>
          <p:nvPr/>
        </p:nvSpPr>
        <p:spPr>
          <a:xfrm>
            <a:off x="9634118" y="2231136"/>
            <a:ext cx="1896465"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Bot</a:t>
            </a:r>
          </a:p>
        </p:txBody>
      </p:sp>
      <p:sp>
        <p:nvSpPr>
          <p:cNvPr id="27" name="TextBox 26"/>
          <p:cNvSpPr txBox="1"/>
          <p:nvPr/>
        </p:nvSpPr>
        <p:spPr>
          <a:xfrm>
            <a:off x="566928" y="3090672"/>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ToN · 2019년</a:t>
            </a:r>
          </a:p>
        </p:txBody>
      </p:sp>
      <p:sp>
        <p:nvSpPr>
          <p:cNvPr id="28" name="Rounded Rectangle 27"/>
          <p:cNvSpPr/>
          <p:nvPr/>
        </p:nvSpPr>
        <p:spPr>
          <a:xfrm>
            <a:off x="566928" y="3538728"/>
            <a:ext cx="1705356" cy="987552"/>
          </a:xfrm>
          <a:prstGeom prst="roundRect">
            <a:avLst>
              <a:gd name="adj" fmla="val 3500"/>
            </a:avLst>
          </a:prstGeom>
          <a:solidFill>
            <a:srgbClr val="E7F0F8"/>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초기 · 4/23~24</a:t>
            </a:r>
          </a:p>
        </p:txBody>
      </p:sp>
      <p:sp>
        <p:nvSpPr>
          <p:cNvPr id="30" name="TextBox 29"/>
          <p:cNvSpPr txBox="1"/>
          <p:nvPr/>
        </p:nvSpPr>
        <p:spPr>
          <a:xfrm>
            <a:off x="658368"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Benign</a:t>
            </a:r>
          </a:p>
          <a:p>
            <a:pPr algn="ctr">
              <a:lnSpc>
                <a:spcPct val="110000"/>
              </a:lnSpc>
              <a:spcBef>
                <a:spcPts val="0"/>
              </a:spcBef>
              <a:spcAft>
                <a:spcPts val="0"/>
              </a:spcAft>
              <a:buNone/>
            </a:pPr>
            <a:r>
              <a:rPr sz="1400" b="1" lang="ko-KR">
                <a:solidFill>
                  <a:srgbClr val="00306C"/>
                </a:solidFill>
                <a:latin typeface="Pretendard"/>
                <a:ea typeface="Pretendard"/>
                <a:cs typeface="Pretendard"/>
              </a:rPr>
              <a:t>Scanning · DoS</a:t>
            </a:r>
          </a:p>
        </p:txBody>
      </p:sp>
      <p:cxnSp>
        <p:nvCxnSpPr>
          <p:cNvPr id="31" name="Connector 30"/>
          <p:cNvCxnSpPr/>
          <p:nvPr/>
        </p:nvCxnSpPr>
        <p:spPr>
          <a:xfrm>
            <a:off x="2290572"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2436876"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316"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4/25</a:t>
            </a:r>
          </a:p>
        </p:txBody>
      </p:sp>
      <p:sp>
        <p:nvSpPr>
          <p:cNvPr id="34" name="TextBox 33"/>
          <p:cNvSpPr txBox="1"/>
          <p:nvPr/>
        </p:nvSpPr>
        <p:spPr>
          <a:xfrm>
            <a:off x="2528316"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Injection</a:t>
            </a:r>
          </a:p>
          <a:p>
            <a:pPr algn="ctr">
              <a:lnSpc>
                <a:spcPct val="110000"/>
              </a:lnSpc>
              <a:spcBef>
                <a:spcPts val="0"/>
              </a:spcBef>
              <a:spcAft>
                <a:spcPts val="0"/>
              </a:spcAft>
              <a:buNone/>
            </a:pPr>
            <a:r>
              <a:rPr sz="1400" b="1" lang="ko-KR">
                <a:solidFill>
                  <a:srgbClr val="00306C"/>
                </a:solidFill>
                <a:latin typeface="Pretendard"/>
                <a:ea typeface="Pretendard"/>
                <a:cs typeface="Pretendard"/>
              </a:rPr>
              <a:t>DDoS</a:t>
            </a:r>
          </a:p>
        </p:txBody>
      </p:sp>
      <p:cxnSp>
        <p:nvCxnSpPr>
          <p:cNvPr id="35" name="Connector 34"/>
          <p:cNvCxnSpPr/>
          <p:nvPr/>
        </p:nvCxnSpPr>
        <p:spPr>
          <a:xfrm>
            <a:off x="4160520"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4306824"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98264"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4/26</a:t>
            </a:r>
          </a:p>
        </p:txBody>
      </p:sp>
      <p:sp>
        <p:nvSpPr>
          <p:cNvPr id="38" name="TextBox 37"/>
          <p:cNvSpPr txBox="1"/>
          <p:nvPr/>
        </p:nvSpPr>
        <p:spPr>
          <a:xfrm>
            <a:off x="4398264"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Password</a:t>
            </a:r>
          </a:p>
        </p:txBody>
      </p:sp>
      <p:cxnSp>
        <p:nvCxnSpPr>
          <p:cNvPr id="39" name="Connector 38"/>
          <p:cNvCxnSpPr/>
          <p:nvPr/>
        </p:nvCxnSpPr>
        <p:spPr>
          <a:xfrm>
            <a:off x="6030468"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176772"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8212"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4/27</a:t>
            </a:r>
          </a:p>
        </p:txBody>
      </p:sp>
      <p:sp>
        <p:nvSpPr>
          <p:cNvPr id="42" name="TextBox 41"/>
          <p:cNvSpPr txBox="1"/>
          <p:nvPr/>
        </p:nvSpPr>
        <p:spPr>
          <a:xfrm>
            <a:off x="6268212"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XSS</a:t>
            </a:r>
          </a:p>
        </p:txBody>
      </p:sp>
      <p:cxnSp>
        <p:nvCxnSpPr>
          <p:cNvPr id="43" name="Connector 42"/>
          <p:cNvCxnSpPr/>
          <p:nvPr/>
        </p:nvCxnSpPr>
        <p:spPr>
          <a:xfrm>
            <a:off x="7900415" y="4032504"/>
            <a:ext cx="128016"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046719"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38159"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4/28</a:t>
            </a:r>
          </a:p>
        </p:txBody>
      </p:sp>
      <p:sp>
        <p:nvSpPr>
          <p:cNvPr id="46" name="TextBox 45"/>
          <p:cNvSpPr txBox="1"/>
          <p:nvPr/>
        </p:nvSpPr>
        <p:spPr>
          <a:xfrm>
            <a:off x="8138159"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Ransomware</a:t>
            </a:r>
          </a:p>
          <a:p>
            <a:pPr algn="ctr">
              <a:lnSpc>
                <a:spcPct val="110000"/>
              </a:lnSpc>
              <a:spcBef>
                <a:spcPts val="0"/>
              </a:spcBef>
              <a:spcAft>
                <a:spcPts val="0"/>
              </a:spcAft>
              <a:buNone/>
            </a:pPr>
            <a:r>
              <a:rPr sz="1400" b="1" lang="ko-KR">
                <a:solidFill>
                  <a:srgbClr val="00306C"/>
                </a:solidFill>
                <a:latin typeface="Pretendard"/>
                <a:ea typeface="Pretendard"/>
                <a:cs typeface="Pretendard"/>
              </a:rPr>
              <a:t>Backdoor</a:t>
            </a:r>
          </a:p>
        </p:txBody>
      </p:sp>
      <p:cxnSp>
        <p:nvCxnSpPr>
          <p:cNvPr id="47" name="Connector 46"/>
          <p:cNvCxnSpPr/>
          <p:nvPr/>
        </p:nvCxnSpPr>
        <p:spPr>
          <a:xfrm>
            <a:off x="9770363" y="4032504"/>
            <a:ext cx="128017" cy="0"/>
          </a:xfrm>
          <a:prstGeom prst="line">
            <a:avLst/>
          </a:prstGeom>
          <a:ln w="21590">
            <a:solidFill>
              <a:srgbClr val="007BC6"/>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916667" y="3538728"/>
            <a:ext cx="1705356" cy="987552"/>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008107" y="3621024"/>
            <a:ext cx="1522476" cy="21031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4/29</a:t>
            </a:r>
          </a:p>
        </p:txBody>
      </p:sp>
      <p:sp>
        <p:nvSpPr>
          <p:cNvPr id="50" name="TextBox 49"/>
          <p:cNvSpPr txBox="1"/>
          <p:nvPr/>
        </p:nvSpPr>
        <p:spPr>
          <a:xfrm>
            <a:off x="10008107" y="3922776"/>
            <a:ext cx="1522476" cy="512064"/>
          </a:xfrm>
          <a:prstGeom prst="rect">
            <a:avLst/>
          </a:prstGeom>
          <a:noFill/>
        </p:spPr>
        <p:txBody>
          <a:bodyPr wrap="square" lIns="0" rIns="0"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MitM</a:t>
            </a:r>
          </a:p>
        </p:txBody>
      </p:sp>
      <p:sp>
        <p:nvSpPr>
          <p:cNvPr id="51" name="Rounded Rectangle 50"/>
          <p:cNvSpPr/>
          <p:nvPr/>
        </p:nvSpPr>
        <p:spPr>
          <a:xfrm>
            <a:off x="566928" y="4919472"/>
            <a:ext cx="11055096" cy="621792"/>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8096" y="5038344"/>
            <a:ext cx="10652760"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600" b="1" lang="ko-KR">
                <a:solidFill>
                  <a:srgbClr val="00306C"/>
                </a:solidFill>
                <a:latin typeface="Pretendard"/>
                <a:ea typeface="Pretendard"/>
                <a:cs typeface="Pretendard"/>
              </a:rPr>
              <a:t>최종 각 100,000행 · 등장 전 클래스 학습 제외 · 기존 test 유지 · Seed 43</a:t>
            </a:r>
          </a:p>
        </p:txBody>
      </p:sp>
      <p:sp>
        <p:nvSpPr>
          <p:cNvPr id="53" name="TextBox 52"/>
          <p:cNvSpPr txBox="1"/>
          <p:nvPr/>
        </p:nvSpPr>
        <p:spPr>
          <a:xfrm>
            <a:off x="566928" y="5788152"/>
            <a:ext cx="11055096"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원본의 클래스 최초 출현 순서 보존 · 확인 대상: 새 공격 분류 / 기존 탐지 유지 / 갱신·추론 비용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Context 구성의 후속 후보</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pPr>
            <a:r>
              <a:rPr sz="1000" b="0" lang="ko-KR">
                <a:solidFill>
                  <a:srgbClr val="D6E4F3"/>
                </a:solidFill>
                <a:latin typeface="Pretendard"/>
                <a:ea typeface="Pretendard"/>
                <a:cs typeface="Pretendard"/>
              </a:rPr>
              <a:t>부록 · 구현 후보</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100" b="1" lang="ko-KR">
                <a:solidFill>
                  <a:srgbClr val="FFFFFF"/>
                </a:solidFill>
                <a:latin typeface="Pretendard"/>
                <a:ea typeface="Pretendard"/>
                <a:cs typeface="Pretendard"/>
              </a:rPr>
              <a:t>12</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1300" b="0" lang="ko-KR">
                <a:solidFill>
                  <a:srgbClr val="5D6773"/>
                </a:solidFill>
                <a:latin typeface="Pretendard"/>
                <a:ea typeface="Pretendard"/>
                <a:cs typeface="Pretendard"/>
              </a:rPr>
              <a:t>새 공격 반영과 기존 탐지 유지를 위한 구성 후보 · 동일 정보량·context 예산에서 효과 분리</a:t>
            </a:r>
          </a:p>
        </p:txBody>
      </p:sp>
      <p:graphicFrame>
        <p:nvGraphicFramePr>
          <p:cNvPr id="7" name="Table 6"/>
          <p:cNvGraphicFramePr>
            <a:graphicFrameLocks noGrp="1"/>
          </p:cNvGraphicFramePr>
          <p:nvPr/>
        </p:nvGraphicFramePr>
        <p:xfrm>
          <a:off x="566928" y="1481328"/>
          <a:ext cx="11055096" cy="3383280"/>
        </p:xfrm>
        <a:graphic>
          <a:graphicData uri="http://schemas.openxmlformats.org/drawingml/2006/table">
            <a:tbl>
              <a:tblPr>
                <a:tableStyleId>{5C22544A-7EE6-4342-B048-85BDC9FD1C3A}</a:tableStyleId>
              </a:tblPr>
              <a:tblGrid>
                <a:gridCol w="2331720"/>
                <a:gridCol w="4069080"/>
                <a:gridCol w="4654296"/>
              </a:tblGrid>
              <a:tr h="676656">
                <a:tc>
                  <a:txBody>
                    <a:bodyPr wrap="square" lIns="64008" rIns="64008" tIns="32004" bIns="32004" anchor="ctr">
                      <a:noAutofit/>
                    </a:bodyPr>
                    <a:lstStyle/>
                    <a:p>
                      <a:pPr algn="l">
                        <a:lnSpc>
                          <a:spcPct val="110000"/>
                        </a:lnSpc>
                        <a:spcBef>
                          <a:spcPts val="0"/>
                        </a:spcBef>
                        <a:spcAft>
                          <a:spcPts val="0"/>
                        </a:spcAft>
                        <a:buNone/>
                      </a:pPr>
                      <a:r>
                        <a:rPr sz="1400" b="1" lang="ko-KR">
                          <a:solidFill>
                            <a:srgbClr val="FFFFFF"/>
                          </a:solidFill>
                          <a:latin typeface="Pretendard"/>
                          <a:ea typeface="Pretendard"/>
                          <a:cs typeface="Pretendard"/>
                        </a:rPr>
                        <a:t>접근</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검증할 가설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확인할 변화</a:t>
                      </a:r>
                    </a:p>
                  </a:txBody>
                  <a:tcPr marL="64008" marR="64008" marT="22860" marB="22860">
                    <a:solidFill>
                      <a:srgbClr val="00306C"/>
                    </a:solidFill>
                  </a:tcPr>
                </a:tc>
              </a:tr>
              <a:tr h="676656">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1  Benign 다양화</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정상 트래픽의 여러 동작을 대표</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공격 recall 유지 시 Benign 오탐 감소</a:t>
                      </a:r>
                    </a:p>
                  </a:txBody>
                  <a:tcPr marL="64008" marR="64008" marT="22860" marB="22860">
                    <a:solidFill>
                      <a:srgbClr val="FFFFFF"/>
                    </a:solidFill>
                  </a:tcPr>
                </a:tc>
              </a:tr>
              <a:tr h="676656">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2  Tail 합성</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희소 공격의 관측 범위를 보완</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동일 개수 실제 사례·단순 복제와 비교</a:t>
                      </a:r>
                    </a:p>
                  </a:txBody>
                  <a:tcPr marL="64008" marR="64008" marT="22860" marB="22860">
                    <a:solidFill>
                      <a:srgbClr val="F3F6FA"/>
                    </a:solidFill>
                  </a:tcPr>
                </a:tc>
              </a:tr>
              <a:tr h="676656">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3  표현 학습·임베딩</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유사한 입력에서도 클래스 구분 강화</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원본 feature 대비 분리력과 추가 학습 비용</a:t>
                      </a:r>
                    </a:p>
                  </a:txBody>
                  <a:tcPr marL="64008" marR="64008" marT="22860" marB="22860">
                    <a:solidFill>
                      <a:srgbClr val="FFFFFF"/>
                    </a:solidFill>
                  </a:tcPr>
                </a:tc>
              </a:tr>
              <a:tr h="676656">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4  Context 최적화</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적은 행에 유용한 정보를 집중</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동일 context 크기의 선택 방식과 비교</a:t>
                      </a:r>
                    </a:p>
                  </a:txBody>
                  <a:tcPr marL="64008" marR="64008" marT="22860" marB="22860">
                    <a:solidFill>
                      <a:srgbClr val="F3F6FA"/>
                    </a:solidFill>
                  </a:tcPr>
                </a:tc>
              </a:tr>
            </a:tbl>
          </a:graphicData>
        </a:graphic>
      </p:graphicFrame>
      <p:sp>
        <p:nvSpPr>
          <p:cNvPr id="8" name="TextBox 7"/>
          <p:cNvSpPr txBox="1"/>
          <p:nvPr/>
        </p:nvSpPr>
        <p:spPr>
          <a:xfrm>
            <a:off x="566928" y="5084064"/>
            <a:ext cx="11055096"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80" b="0" lang="ko-KR">
                <a:solidFill>
                  <a:srgbClr val="5D6773"/>
                </a:solidFill>
                <a:latin typeface="Pretendard"/>
                <a:ea typeface="Pretendard"/>
                <a:cs typeface="Pretendard"/>
              </a:rPr>
              <a:t>2  LITO (ICLR 2024)   ·   3  Supervised contrastive prototype embedding   ·   4  In-context data distillation</a:t>
            </a:r>
          </a:p>
        </p:txBody>
      </p:sp>
      <p:sp>
        <p:nvSpPr>
          <p:cNvPr id="9" name="TextBox 8"/>
          <p:cNvSpPr txBox="1"/>
          <p:nvPr/>
        </p:nvSpPr>
        <p:spPr>
          <a:xfrm>
            <a:off x="566928" y="5596128"/>
            <a:ext cx="11055096" cy="3840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1" lang="ko-KR">
                <a:solidFill>
                  <a:srgbClr val="00306C"/>
                </a:solidFill>
                <a:latin typeface="Pretendard"/>
                <a:ea typeface="Pretendard"/>
                <a:cs typeface="Pretendard"/>
              </a:rPr>
              <a:t>표현 학습·합성·최적화의 비용도 합산 · 성능이 오른 이유를 분리할 수 있는 비교 조건 설계</a:t>
            </a:r>
          </a:p>
        </p:txBody>
      </p:sp>
      <p:sp>
        <p:nvSpPr>
          <p:cNvPr id="10" name="TextBox 9"/>
          <p:cNvSpPr txBox="1"/>
          <p:nvPr/>
        </p:nvSpPr>
        <p:spPr>
          <a:xfrm>
            <a:off x="566928" y="6432804"/>
            <a:ext cx="7498079" cy="274320"/>
          </a:xfrm>
          <a:prstGeom prst="rect">
            <a:avLst/>
          </a:prstGeom>
          <a:noFill/>
        </p:spPr>
        <p:txBody>
          <a:bodyPr wrap="square" tIns="32004" bIns="32004" anchor="ctr">
            <a:noAutofit/>
          </a:bodyPr>
          <a:lstStyle/>
          <a:p>
            <a:pPr algn="l">
              <a:lnSpc>
                <a:spcPct val="110000"/>
              </a:lnSpc>
              <a:spcBef>
                <a:spcPts val="0"/>
              </a:spcBef>
              <a:spcAft>
                <a:spcPts val="0"/>
              </a:spcAft>
              <a:buNone/>
              <a:buNone/>
            </a:pPr>
            <a:r>
              <a:rPr sz="1100" b="0" lang="ko-KR">
                <a:solidFill>
                  <a:srgbClr val="21262E"/>
                </a:solidFill>
                <a:latin typeface="Pretendard"/>
                <a:ea typeface="Pretendard"/>
                <a:cs typeface="Pretendard"/>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후속 검증 · 새로운 공격을 반영하는 시스템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05 갱신 방식 검증</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8</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새 공격 사례를 반영하는 방식의 효용 확인 · 성능·기존 탐지 유지·운영 비용의 연결</a:t>
            </a:r>
          </a:p>
        </p:txBody>
      </p:sp>
      <p:sp>
        <p:nvSpPr>
          <p:cNvPr id="7" name="Rounded Rectangle 6"/>
          <p:cNvSpPr/>
          <p:nvPr/>
        </p:nvSpPr>
        <p:spPr>
          <a:xfrm>
            <a:off x="566928"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새 공격 반영</a:t>
            </a:r>
          </a:p>
        </p:txBody>
      </p:sp>
      <p:sp>
        <p:nvSpPr>
          <p:cNvPr id="9" name="TextBox 8"/>
          <p:cNvSpPr txBox="1"/>
          <p:nvPr/>
        </p:nvSpPr>
        <p:spPr>
          <a:xfrm>
            <a:off x="704088"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신규 사례 제공</a:t>
            </a:r>
          </a:p>
          <a:p>
            <a:pPr algn="l">
              <a:lnSpc>
                <a:spcPct val="110000"/>
              </a:lnSpc>
              <a:spcBef>
                <a:spcPts val="0"/>
              </a:spcBef>
              <a:spcAft>
                <a:spcPts val="0"/>
              </a:spcAft>
              <a:buNone/>
            </a:pPr>
            <a:r>
              <a:rPr sz="1500" b="0" lang="ko-KR">
                <a:solidFill>
                  <a:srgbClr val="21262E"/>
                </a:solidFill>
                <a:latin typeface="Pretendard"/>
                <a:ea typeface="Pretendard"/>
                <a:cs typeface="Pretendard"/>
              </a:rPr>
              <a:t>갱신 후 공격별 분류 성능</a:t>
            </a:r>
          </a:p>
          <a:p>
            <a:pPr algn="l">
              <a:lnSpc>
                <a:spcPct val="110000"/>
              </a:lnSpc>
              <a:spcBef>
                <a:spcPts val="0"/>
              </a:spcBef>
              <a:spcAft>
                <a:spcPts val="0"/>
              </a:spcAft>
              <a:buNone/>
            </a:pPr>
            <a:r>
              <a:rPr sz="1500" b="0" lang="ko-KR">
                <a:solidFill>
                  <a:srgbClr val="21262E"/>
                </a:solidFill>
                <a:latin typeface="Pretendard"/>
                <a:ea typeface="Pretendard"/>
                <a:cs typeface="Pretendard"/>
              </a:rPr>
              <a:t>희소 클래스의 탐지 변화</a:t>
            </a:r>
          </a:p>
        </p:txBody>
      </p:sp>
      <p:sp>
        <p:nvSpPr>
          <p:cNvPr id="10" name="Rounded Rectangle 9"/>
          <p:cNvSpPr/>
          <p:nvPr/>
        </p:nvSpPr>
        <p:spPr>
          <a:xfrm>
            <a:off x="4379976"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기존 탐지 유지</a:t>
            </a:r>
          </a:p>
        </p:txBody>
      </p:sp>
      <p:sp>
        <p:nvSpPr>
          <p:cNvPr id="12" name="TextBox 11"/>
          <p:cNvSpPr txBox="1"/>
          <p:nvPr/>
        </p:nvSpPr>
        <p:spPr>
          <a:xfrm>
            <a:off x="4517136"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동일한 기존 표본 비교</a:t>
            </a:r>
          </a:p>
          <a:p>
            <a:pPr algn="l">
              <a:lnSpc>
                <a:spcPct val="110000"/>
              </a:lnSpc>
              <a:spcBef>
                <a:spcPts val="0"/>
              </a:spcBef>
              <a:spcAft>
                <a:spcPts val="0"/>
              </a:spcAft>
              <a:buNone/>
            </a:pPr>
            <a:r>
              <a:rPr sz="1500" b="0" lang="ko-KR">
                <a:solidFill>
                  <a:srgbClr val="21262E"/>
                </a:solidFill>
                <a:latin typeface="Pretendard"/>
                <a:ea typeface="Pretendard"/>
                <a:cs typeface="Pretendard"/>
              </a:rPr>
              <a:t>교정·훼손과 정상 오탐</a:t>
            </a:r>
          </a:p>
          <a:p>
            <a:pPr algn="l">
              <a:lnSpc>
                <a:spcPct val="110000"/>
              </a:lnSpc>
              <a:spcBef>
                <a:spcPts val="0"/>
              </a:spcBef>
              <a:spcAft>
                <a:spcPts val="0"/>
              </a:spcAft>
              <a:buNone/>
            </a:pPr>
            <a:r>
              <a:rPr sz="1500" b="0" lang="ko-KR">
                <a:solidFill>
                  <a:srgbClr val="21262E"/>
                </a:solidFill>
                <a:latin typeface="Pretendard"/>
                <a:ea typeface="Pretendard"/>
                <a:cs typeface="Pretendard"/>
              </a:rPr>
              <a:t>Context 구성의 영향 확인</a:t>
            </a:r>
          </a:p>
        </p:txBody>
      </p:sp>
      <p:sp>
        <p:nvSpPr>
          <p:cNvPr id="13" name="Rounded Rectangle 12"/>
          <p:cNvSpPr/>
          <p:nvPr/>
        </p:nvSpPr>
        <p:spPr>
          <a:xfrm>
            <a:off x="8193024" y="1627632"/>
            <a:ext cx="3429000" cy="2029968"/>
          </a:xfrm>
          <a:prstGeom prst="roundRect">
            <a:avLst>
              <a:gd name="adj" fmla="val 3500"/>
            </a:avLst>
          </a:prstGeom>
          <a:solidFill>
            <a:srgbClr val="F3F6FA"/>
          </a:solidFill>
          <a:ln w="1016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1746504"/>
            <a:ext cx="3154680" cy="34747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운영 비용</a:t>
            </a:r>
          </a:p>
        </p:txBody>
      </p:sp>
      <p:sp>
        <p:nvSpPr>
          <p:cNvPr id="15" name="TextBox 14"/>
          <p:cNvSpPr txBox="1"/>
          <p:nvPr/>
        </p:nvSpPr>
        <p:spPr>
          <a:xfrm>
            <a:off x="8330184" y="2249424"/>
            <a:ext cx="3154680" cy="1271016"/>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500" b="0" lang="ko-KR">
                <a:solidFill>
                  <a:srgbClr val="21262E"/>
                </a:solidFill>
                <a:latin typeface="Pretendard"/>
                <a:ea typeface="Pretendard"/>
                <a:cs typeface="Pretendard"/>
              </a:rPr>
              <a:t>사례 추가 시 갱신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다음 갱신까지의 추론 비용</a:t>
            </a:r>
          </a:p>
          <a:p>
            <a:pPr algn="l">
              <a:lnSpc>
                <a:spcPct val="110000"/>
              </a:lnSpc>
              <a:spcBef>
                <a:spcPts val="0"/>
              </a:spcBef>
              <a:spcAft>
                <a:spcPts val="0"/>
              </a:spcAft>
              <a:buNone/>
            </a:pPr>
            <a:r>
              <a:rPr sz="1500" b="0" lang="ko-KR">
                <a:solidFill>
                  <a:srgbClr val="21262E"/>
                </a:solidFill>
                <a:latin typeface="Pretendard"/>
                <a:ea typeface="Pretendard"/>
                <a:cs typeface="Pretendard"/>
              </a:rPr>
              <a:t>처리량·메모리의 비교</a:t>
            </a:r>
          </a:p>
        </p:txBody>
      </p:sp>
      <p:sp>
        <p:nvSpPr>
          <p:cNvPr id="16" name="Rounded Rectangle 15"/>
          <p:cNvSpPr/>
          <p:nvPr/>
        </p:nvSpPr>
        <p:spPr>
          <a:xfrm>
            <a:off x="566928" y="4041648"/>
            <a:ext cx="11055096" cy="950976"/>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206240"/>
            <a:ext cx="10616184" cy="61264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100" b="1" lang="ko-KR">
                <a:solidFill>
                  <a:srgbClr val="00306C"/>
                </a:solidFill>
                <a:latin typeface="Pretendard"/>
                <a:ea typeface="Pretendard"/>
                <a:cs typeface="Pretendard"/>
              </a:rPr>
              <a:t>연구의 판단 기준: 새 공격을 얼마나 잘 반영하고,</a:t>
            </a:r>
          </a:p>
          <a:p>
            <a:pPr algn="l">
              <a:lnSpc>
                <a:spcPct val="110000"/>
              </a:lnSpc>
              <a:spcBef>
                <a:spcPts val="0"/>
              </a:spcBef>
              <a:spcAft>
                <a:spcPts val="0"/>
              </a:spcAft>
              <a:buNone/>
            </a:pPr>
            <a:r>
              <a:rPr sz="2100" b="1" lang="ko-KR">
                <a:solidFill>
                  <a:srgbClr val="00306C"/>
                </a:solidFill>
                <a:latin typeface="Pretendard"/>
                <a:ea typeface="Pretendard"/>
                <a:cs typeface="Pretendard"/>
              </a:rPr>
              <a:t>기존 탐지 성능을 어느 비용으로 유지하는가</a:t>
            </a:r>
          </a:p>
        </p:txBody>
      </p:sp>
      <p:sp>
        <p:nvSpPr>
          <p:cNvPr id="18" name="TextBox 17"/>
          <p:cNvSpPr txBox="1"/>
          <p:nvPr/>
        </p:nvSpPr>
        <p:spPr>
          <a:xfrm>
            <a:off x="566928" y="5376672"/>
            <a:ext cx="11055096"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7BC6"/>
                </a:solidFill>
                <a:latin typeface="Pretendard"/>
                <a:ea typeface="Pretendard"/>
                <a:cs typeface="Pretendard"/>
              </a:rPr>
              <a:t>Context 구성 개선 → Expert·S/V의 역할과 갱신 검증 → 운영 조건별 효과 확인</a:t>
            </a:r>
          </a:p>
        </p:txBody>
      </p:sp>
      <p:sp>
        <p:nvSpPr>
          <p:cNvPr id="19" name="TextBox 18"/>
          <p:cNvSpPr txBox="1"/>
          <p:nvPr/>
        </p:nvSpPr>
        <p:spPr>
          <a:xfrm>
            <a:off x="566928" y="5870448"/>
            <a:ext cx="11055096" cy="23774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F1은 시스템 효용을 확인하는 지표 중 하나 · 미지 공격 인지는 이후 OOD 확장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동일 test에서 비교한 Global과 expert의 분류 성능</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ko-KR">
                <a:solidFill>
                  <a:srgbClr val="D6E4F3"/>
                </a:solidFill>
                <a:latin typeface="Pretendard"/>
                <a:ea typeface="Pretendard"/>
                <a:cs typeface="Pretendard"/>
              </a:rPr>
              <a:t>부록 · 상세 근거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100" b="1" lang="ko-KR">
                <a:solidFill>
                  <a:srgbClr val="FFFFFF"/>
                </a:solidFill>
                <a:latin typeface="Pretendard"/>
                <a:ea typeface="Pretendard"/>
                <a:cs typeface="Pretendard"/>
              </a:rPr>
              <a:t>9</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40" b="0" lang="ko-KR">
                <a:solidFill>
                  <a:srgbClr val="5D6773"/>
                </a:solidFill>
                <a:latin typeface="Pretendard"/>
                <a:ea typeface="Pretendard"/>
                <a:cs typeface="Pretendard"/>
              </a:rPr>
              <a:t>K = 4 · 클래스별 F1 · test 표본 수 내림차순 · 파란 숫자: 표시값 기준 Global 대비 개선</a:t>
            </a:r>
          </a:p>
        </p:txBody>
      </p:sp>
      <p:sp>
        <p:nvSpPr>
          <p:cNvPr id="7" name="TextBox 6"/>
          <p:cNvSpPr txBox="1"/>
          <p:nvPr/>
        </p:nvSpPr>
        <p:spPr>
          <a:xfrm>
            <a:off x="566928" y="1389888"/>
            <a:ext cx="5394960"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828800"/>
          <a:ext cx="5394960" cy="2839212"/>
        </p:xfrm>
        <a:graphic>
          <a:graphicData uri="http://schemas.openxmlformats.org/drawingml/2006/table">
            <a:tbl>
              <a:tblPr>
                <a:tableStyleId>{5C22544A-7EE6-4342-B048-85BDC9FD1C3A}</a:tableStyleId>
              </a:tblPr>
              <a:tblGrid>
                <a:gridCol w="1280160"/>
                <a:gridCol w="1005840"/>
                <a:gridCol w="621792"/>
                <a:gridCol w="621792"/>
                <a:gridCol w="621792"/>
                <a:gridCol w="621792"/>
                <a:gridCol w="621792"/>
              </a:tblGrid>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표본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Global</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e2</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e3</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e4</a:t>
                      </a:r>
                    </a:p>
                  </a:txBody>
                  <a:tcPr marL="64008" marR="64008" marT="22860" marB="22860">
                    <a:solidFill>
                      <a:srgbClr val="00306C"/>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2,652,203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0.998</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0.795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0.875</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262,680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1.000</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1.000</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1.000</a:t>
                      </a:r>
                    </a:p>
                  </a:txBody>
                  <a:tcPr marL="64008" marR="64008" marT="22860" marB="22860">
                    <a:solidFill>
                      <a:srgbClr val="EEF5FB"/>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41,542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0.998</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39,483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0.986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0.996</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0.992</a:t>
                      </a:r>
                    </a:p>
                  </a:txBody>
                  <a:tcPr marL="64008" marR="64008" marT="22860" marB="22860">
                    <a:solidFill>
                      <a:srgbClr val="F3F6FA"/>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Brute force</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37,696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1.000</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8,742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0.288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0.229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0.027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0.018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0.023</a:t>
                      </a:r>
                    </a:p>
                  </a:txBody>
                  <a:tcPr marL="64008" marR="64008" marT="22860" marB="22860">
                    <a:solidFill>
                      <a:srgbClr val="F3F6FA"/>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127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0.210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0.353</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0.069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0.199</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00306C"/>
                          </a:solidFill>
                          <a:latin typeface="Pretendard"/>
                          <a:ea typeface="Pretendard"/>
                          <a:cs typeface="Pretendard"/>
                        </a:rPr>
                        <a:t>Macro-F1</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00306C"/>
                          </a:solidFill>
                          <a:latin typeface="Pretendard"/>
                          <a:ea typeface="Pretendard"/>
                          <a:cs typeface="Pretendard"/>
                        </a:rPr>
                        <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0.782</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0.794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0.710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0.698</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0.727</a:t>
                      </a:r>
                    </a:p>
                  </a:txBody>
                  <a:tcPr marL="64008" marR="64008" marT="22860" marB="22860">
                    <a:solidFill>
                      <a:srgbClr val="E7F0F8"/>
                    </a:solidFill>
                  </a:tcPr>
                </a:tc>
              </a:tr>
            </a:tbl>
          </a:graphicData>
        </a:graphic>
      </p:graphicFrame>
      <p:sp>
        <p:nvSpPr>
          <p:cNvPr id="9" name="TextBox 8"/>
          <p:cNvSpPr txBox="1"/>
          <p:nvPr/>
        </p:nvSpPr>
        <p:spPr>
          <a:xfrm>
            <a:off x="585216" y="4855464"/>
            <a:ext cx="5358384" cy="65836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00" b="0" lang="ko-KR">
                <a:solidFill>
                  <a:srgbClr val="5D6773"/>
                </a:solidFill>
                <a:latin typeface="Pretendard"/>
                <a:ea typeface="Pretendard"/>
                <a:cs typeface="Pretendard"/>
              </a:rPr>
              <a:t>Infiltration: 모든 expert에서 Global보다 낮은 F1</a:t>
            </a:r>
          </a:p>
          <a:p>
            <a:pPr algn="l">
              <a:lnSpc>
                <a:spcPct val="110000"/>
              </a:lnSpc>
              <a:spcBef>
                <a:spcPts val="0"/>
              </a:spcBef>
              <a:spcAft>
                <a:spcPts val="0"/>
              </a:spcAft>
              <a:buNone/>
            </a:pPr>
            <a:r>
              <a:rPr sz="1200" b="0" lang="ko-KR">
                <a:solidFill>
                  <a:srgbClr val="5D6773"/>
                </a:solidFill>
                <a:latin typeface="Pretendard"/>
                <a:ea typeface="Pretendard"/>
                <a:cs typeface="Pretendard"/>
              </a:rPr>
              <a:t>Web attack: e1의 test 개선, validation 확인에서는 미개선</a:t>
            </a:r>
          </a:p>
        </p:txBody>
      </p:sp>
      <p:sp>
        <p:nvSpPr>
          <p:cNvPr id="10" name="TextBox 9"/>
          <p:cNvSpPr txBox="1"/>
          <p:nvPr/>
        </p:nvSpPr>
        <p:spPr>
          <a:xfrm>
            <a:off x="6227064" y="1389888"/>
            <a:ext cx="5394960"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800" b="1" lang="ko-KR">
                <a:solidFill>
                  <a:srgbClr val="00306C"/>
                </a:solidFill>
                <a:latin typeface="Pretendard"/>
                <a:ea typeface="Pretendard"/>
                <a:cs typeface="Pretendard"/>
              </a:rPr>
              <a:t>ToN</a:t>
            </a:r>
          </a:p>
        </p:txBody>
      </p:sp>
      <p:graphicFrame>
        <p:nvGraphicFramePr>
          <p:cNvPr id="11" name="Table 10"/>
          <p:cNvGraphicFramePr>
            <a:graphicFrameLocks noGrp="1"/>
          </p:cNvGraphicFramePr>
          <p:nvPr/>
        </p:nvGraphicFramePr>
        <p:xfrm>
          <a:off x="6227064" y="1828800"/>
          <a:ext cx="5394960" cy="3785616"/>
        </p:xfrm>
        <a:graphic>
          <a:graphicData uri="http://schemas.openxmlformats.org/drawingml/2006/table">
            <a:tbl>
              <a:tblPr>
                <a:tableStyleId>{5C22544A-7EE6-4342-B048-85BDC9FD1C3A}</a:tableStyleId>
              </a:tblPr>
              <a:tblGrid>
                <a:gridCol w="1280160"/>
                <a:gridCol w="1005840"/>
                <a:gridCol w="621792"/>
                <a:gridCol w="621792"/>
                <a:gridCol w="621792"/>
                <a:gridCol w="621792"/>
                <a:gridCol w="621792"/>
              </a:tblGrid>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FFFFFF"/>
                          </a:solidFill>
                          <a:latin typeface="Pretendard"/>
                          <a:ea typeface="Pretendard"/>
                          <a:cs typeface="Pretendard"/>
                        </a:rPr>
                        <a:t>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표본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Global</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e2</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e3</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FFFFFF"/>
                          </a:solidFill>
                          <a:latin typeface="Pretendard"/>
                          <a:ea typeface="Pretendard"/>
                          <a:cs typeface="Pretendard"/>
                        </a:rPr>
                        <a:t>e4</a:t>
                      </a:r>
                    </a:p>
                  </a:txBody>
                  <a:tcPr marL="64008" marR="64008" marT="22860" marB="22860">
                    <a:solidFill>
                      <a:srgbClr val="00306C"/>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Benign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1,474,302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0.922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0.912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0.909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0.858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0.920</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343,854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0.830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0.825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0.850</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0.834</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0.850</a:t>
                      </a:r>
                    </a:p>
                  </a:txBody>
                  <a:tcPr marL="64008" marR="64008" marT="22860" marB="22860">
                    <a:solidFill>
                      <a:srgbClr val="EEF5FB"/>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210,951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0.891</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103,338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0.980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0.975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0.982</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0.968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0.971</a:t>
                      </a:r>
                    </a:p>
                  </a:txBody>
                  <a:tcPr marL="64008" marR="64008" marT="22860" marB="22860">
                    <a:solidFill>
                      <a:srgbClr val="F3F6FA"/>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Injection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68,891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0.903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0.850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0.935</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0.460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0.873</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Backdoor</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40,030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0.999</a:t>
                      </a:r>
                    </a:p>
                  </a:txBody>
                  <a:tcPr marL="64008" marR="64008" marT="22860" marB="22860">
                    <a:solidFill>
                      <a:srgbClr val="F3F6FA"/>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22,458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0.977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0.962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0.954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0.715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0.969</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Scanning</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6,029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0.039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0.616</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0.564</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0.761</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0.660</a:t>
                      </a:r>
                    </a:p>
                  </a:txBody>
                  <a:tcPr marL="64008" marR="64008" marT="22860" marB="22860">
                    <a:solidFill>
                      <a:srgbClr val="EEF5FB"/>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MitM</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1,161</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0.132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0.032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0.039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0.036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0.052</a:t>
                      </a:r>
                    </a:p>
                  </a:txBody>
                  <a:tcPr marL="64008" marR="64008" marT="22860" marB="22860">
                    <a:solidFill>
                      <a:srgbClr val="FFFFFF"/>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21262E"/>
                          </a:solidFill>
                          <a:latin typeface="Pretendard"/>
                          <a:ea typeface="Pretendard"/>
                          <a:cs typeface="Pretendard"/>
                        </a:rPr>
                        <a:t>Ransomware</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709</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0.121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0.094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0.106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7BC6"/>
                          </a:solidFill>
                          <a:latin typeface="DejaVu Sans Mono"/>
                          <a:ea typeface="DejaVu Sans Mono"/>
                          <a:cs typeface="DejaVu Sans Mono"/>
                        </a:rPr>
                        <a:t>0.132</a:t>
                      </a:r>
                    </a:p>
                  </a:txBody>
                  <a:tcPr marL="64008" marR="64008" marT="22860" marB="22860">
                    <a:solidFill>
                      <a:srgbClr val="EEF5FB"/>
                    </a:solidFill>
                  </a:tcPr>
                </a:tc>
                <a:tc>
                  <a:txBody>
                    <a:bodyPr wrap="square" lIns="64008" rIns="64008" tIns="32004" bIns="32004" anchor="ctr">
                      <a:noAutofit/>
                    </a:bodyPr>
                    <a:lstStyle/>
                    <a:p>
                      <a:pPr algn="r">
                        <a:lnSpc>
                          <a:spcPct val="110000"/>
                        </a:lnSpc>
                        <a:spcBef>
                          <a:spcPts val="0"/>
                        </a:spcBef>
                        <a:spcAft>
                          <a:spcPts val="0"/>
                        </a:spcAft>
                        <a:buNone/>
                      </a:pPr>
                      <a:r>
                        <a:rPr sz="1015" b="0" lang="ko-KR">
                          <a:solidFill>
                            <a:srgbClr val="21262E"/>
                          </a:solidFill>
                          <a:latin typeface="DejaVu Sans Mono"/>
                          <a:ea typeface="DejaVu Sans Mono"/>
                          <a:cs typeface="DejaVu Sans Mono"/>
                        </a:rPr>
                        <a:t>0.117</a:t>
                      </a:r>
                    </a:p>
                  </a:txBody>
                  <a:tcPr marL="64008" marR="64008" marT="22860" marB="22860">
                    <a:solidFill>
                      <a:srgbClr val="F3F6FA"/>
                    </a:solidFill>
                  </a:tcPr>
                </a:tc>
              </a:tr>
              <a:tr h="315468">
                <a:tc>
                  <a:txBody>
                    <a:bodyPr wrap="square" lIns="64008" rIns="64008" tIns="32004" bIns="32004" anchor="ctr">
                      <a:noAutofit/>
                    </a:bodyPr>
                    <a:lstStyle/>
                    <a:p>
                      <a:pPr algn="l">
                        <a:lnSpc>
                          <a:spcPct val="110000"/>
                        </a:lnSpc>
                        <a:spcBef>
                          <a:spcPts val="0"/>
                        </a:spcBef>
                        <a:spcAft>
                          <a:spcPts val="0"/>
                        </a:spcAft>
                        <a:buNone/>
                      </a:pPr>
                      <a:r>
                        <a:rPr sz="1050" b="1" lang="ko-KR">
                          <a:solidFill>
                            <a:srgbClr val="00306C"/>
                          </a:solidFill>
                          <a:latin typeface="Pretendard"/>
                          <a:ea typeface="Pretendard"/>
                          <a:cs typeface="Pretendard"/>
                        </a:rPr>
                        <a:t>Macro-F1</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pPr>
                      <a:r>
                        <a:rPr sz="1050" b="1" lang="ko-KR">
                          <a:solidFill>
                            <a:srgbClr val="00306C"/>
                          </a:solidFill>
                          <a:latin typeface="Pretendard"/>
                          <a:ea typeface="Pretendard"/>
                          <a:cs typeface="Pretendard"/>
                        </a:rPr>
                        <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0.680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0.715</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0.723</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0.665</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015" b="1" lang="ko-KR">
                          <a:solidFill>
                            <a:srgbClr val="00306C"/>
                          </a:solidFill>
                          <a:latin typeface="DejaVu Sans Mono"/>
                          <a:ea typeface="DejaVu Sans Mono"/>
                          <a:cs typeface="DejaVu Sans Mono"/>
                        </a:rPr>
                        <a:t>0.730</a:t>
                      </a:r>
                    </a:p>
                  </a:txBody>
                  <a:tcPr marL="64008" marR="64008" marT="22860" marB="22860">
                    <a:solidFill>
                      <a:srgbClr val="E7F0F8"/>
                    </a:solidFill>
                  </a:tcPr>
                </a:tc>
              </a:tr>
            </a:tbl>
          </a:graphicData>
        </a:graphic>
      </p:graphicFrame>
      <p:sp>
        <p:nvSpPr>
          <p:cNvPr id="12" name="TextBox 11"/>
          <p:cNvSpPr txBox="1"/>
          <p:nvPr/>
        </p:nvSpPr>
        <p:spPr>
          <a:xfrm>
            <a:off x="566928" y="5824728"/>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0" lang="ko-KR">
                <a:solidFill>
                  <a:srgbClr val="5D6773"/>
                </a:solidFill>
                <a:latin typeface="Pretendard"/>
                <a:ea typeface="Pretendard"/>
                <a:cs typeface="Pretendard"/>
              </a:rPr>
              <a:t>각 expert가 같은 전체 test를 분류 · 다른 클래스에서 발생한 FP까지 포함한 F1</a:t>
            </a:r>
          </a:p>
        </p:txBody>
      </p:sp>
      <p:sp>
        <p:nvSpPr>
          <p:cNvPr id="13" name="TextBox 12"/>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ToN Scanning은 e1~e4 모두 test와 validation 확인에서 Global 대비 개선</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S/V 적용 결과 · ToN 호출 활성화, CIC2018 호출 0건</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ko-KR">
                <a:solidFill>
                  <a:srgbClr val="D6E4F3"/>
                </a:solidFill>
                <a:latin typeface="Pretendard"/>
                <a:ea typeface="Pretendard"/>
                <a:cs typeface="Pretendard"/>
              </a:rPr>
              <a:t>부록 · 상세 근거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100" b="1" lang="ko-KR">
                <a:solidFill>
                  <a:srgbClr val="FFFFFF"/>
                </a:solidFill>
                <a:latin typeface="Pretendard"/>
                <a:ea typeface="Pretendard"/>
                <a:cs typeface="Pretendard"/>
              </a:rPr>
              <a:t>10</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Seed 43 · validation에서 호출·채택 기준 선택 · 전체 test 평가</a:t>
            </a:r>
          </a:p>
        </p:txBody>
      </p:sp>
      <p:sp>
        <p:nvSpPr>
          <p:cNvPr id="7" name="TextBox 6"/>
          <p:cNvSpPr txBox="1"/>
          <p:nvPr/>
        </p:nvSpPr>
        <p:spPr>
          <a:xfrm>
            <a:off x="566928" y="1453896"/>
            <a:ext cx="5394960"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984248"/>
          <a:ext cx="5394960" cy="2852928"/>
        </p:xfrm>
        <a:graphic>
          <a:graphicData uri="http://schemas.openxmlformats.org/drawingml/2006/table">
            <a:tbl>
              <a:tblPr>
                <a:tableStyleId>{5C22544A-7EE6-4342-B048-85BDC9FD1C3A}</a:tableStyleId>
              </a:tblPr>
              <a:tblGrid>
                <a:gridCol w="1097280"/>
                <a:gridCol w="1517904"/>
                <a:gridCol w="1389888"/>
                <a:gridCol w="1389888"/>
              </a:tblGrid>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FFFFFF"/>
                          </a:solidFill>
                          <a:latin typeface="Pretendard"/>
                          <a:ea typeface="Pretendard"/>
                          <a:cs typeface="Pretendard"/>
                        </a:rPr>
                        <a:t>구성</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Macro-F1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호출률 (%)</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채택률 (%)</a:t>
                      </a:r>
                    </a:p>
                  </a:txBody>
                  <a:tcPr marL="64008" marR="64008" marT="22860" marB="22860">
                    <a:solidFill>
                      <a:srgbClr val="00306C"/>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Global</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0.7824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3F6FA"/>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00306C"/>
                          </a:solidFill>
                          <a:latin typeface="Pretendard"/>
                          <a:ea typeface="Pretendard"/>
                          <a:cs typeface="Pretendard"/>
                        </a:rPr>
                        <a:t>K = 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0.7824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0.00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0.00</a:t>
                      </a:r>
                    </a:p>
                  </a:txBody>
                  <a:tcPr marL="64008" marR="64008" marT="22860" marB="22860">
                    <a:solidFill>
                      <a:srgbClr val="E7F0F8"/>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0.7824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3F6FA"/>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r>
            </a:tbl>
          </a:graphicData>
        </a:graphic>
      </p:graphicFrame>
      <p:sp>
        <p:nvSpPr>
          <p:cNvPr id="9" name="Rounded Rectangle 8"/>
          <p:cNvSpPr/>
          <p:nvPr/>
        </p:nvSpPr>
        <p:spPr>
          <a:xfrm>
            <a:off x="566928" y="5056632"/>
            <a:ext cx="5394960" cy="722376"/>
          </a:xfrm>
          <a:prstGeom prst="roundRect">
            <a:avLst>
              <a:gd name="adj" fmla="val 35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5184648"/>
            <a:ext cx="5102352" cy="42976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K = 2, 4, 6, 8 모두 Global 예측 유지</a:t>
            </a:r>
          </a:p>
        </p:txBody>
      </p:sp>
      <p:sp>
        <p:nvSpPr>
          <p:cNvPr id="11" name="TextBox 10"/>
          <p:cNvSpPr txBox="1"/>
          <p:nvPr/>
        </p:nvSpPr>
        <p:spPr>
          <a:xfrm>
            <a:off x="6227064" y="1453896"/>
            <a:ext cx="5394960"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ToN</a:t>
            </a:r>
          </a:p>
        </p:txBody>
      </p:sp>
      <p:graphicFrame>
        <p:nvGraphicFramePr>
          <p:cNvPr id="12" name="Table 11"/>
          <p:cNvGraphicFramePr>
            <a:graphicFrameLocks noGrp="1"/>
          </p:cNvGraphicFramePr>
          <p:nvPr/>
        </p:nvGraphicFramePr>
        <p:xfrm>
          <a:off x="6227064" y="1984248"/>
          <a:ext cx="5394960" cy="2852928"/>
        </p:xfrm>
        <a:graphic>
          <a:graphicData uri="http://schemas.openxmlformats.org/drawingml/2006/table">
            <a:tbl>
              <a:tblPr>
                <a:tableStyleId>{5C22544A-7EE6-4342-B048-85BDC9FD1C3A}</a:tableStyleId>
              </a:tblPr>
              <a:tblGrid>
                <a:gridCol w="1097280"/>
                <a:gridCol w="1517904"/>
                <a:gridCol w="1389888"/>
                <a:gridCol w="1389888"/>
              </a:tblGrid>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FFFFFF"/>
                          </a:solidFill>
                          <a:latin typeface="Pretendard"/>
                          <a:ea typeface="Pretendard"/>
                          <a:cs typeface="Pretendard"/>
                        </a:rPr>
                        <a:t>구성</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Macro-F1</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호출률 (%)</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350" b="1" lang="ko-KR">
                          <a:solidFill>
                            <a:srgbClr val="FFFFFF"/>
                          </a:solidFill>
                          <a:latin typeface="Pretendard"/>
                          <a:ea typeface="Pretendard"/>
                          <a:cs typeface="Pretendard"/>
                        </a:rPr>
                        <a:t>채택률 (%)</a:t>
                      </a:r>
                    </a:p>
                  </a:txBody>
                  <a:tcPr marL="64008" marR="64008" marT="22860" marB="22860">
                    <a:solidFill>
                      <a:srgbClr val="00306C"/>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Global</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0.6796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0.00</a:t>
                      </a:r>
                    </a:p>
                  </a:txBody>
                  <a:tcPr marL="64008" marR="64008" marT="22860" marB="22860">
                    <a:solidFill>
                      <a:srgbClr val="FFFFFF"/>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0.7636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100.00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5.26</a:t>
                      </a:r>
                    </a:p>
                  </a:txBody>
                  <a:tcPr marL="64008" marR="64008" marT="22860" marB="22860">
                    <a:solidFill>
                      <a:srgbClr val="F3F6FA"/>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00306C"/>
                          </a:solidFill>
                          <a:latin typeface="Pretendard"/>
                          <a:ea typeface="Pretendard"/>
                          <a:cs typeface="Pretendard"/>
                        </a:rPr>
                        <a:t>K = 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0.7617</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100.00</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15" b="1" lang="ko-KR">
                          <a:solidFill>
                            <a:srgbClr val="00306C"/>
                          </a:solidFill>
                          <a:latin typeface="DejaVu Sans Mono"/>
                          <a:ea typeface="DejaVu Sans Mono"/>
                          <a:cs typeface="DejaVu Sans Mono"/>
                        </a:rPr>
                        <a:t>1.23</a:t>
                      </a:r>
                    </a:p>
                  </a:txBody>
                  <a:tcPr marL="64008" marR="64008" marT="22860" marB="22860">
                    <a:solidFill>
                      <a:srgbClr val="E7F0F8"/>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0.7677</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100.00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4.09</a:t>
                      </a:r>
                    </a:p>
                  </a:txBody>
                  <a:tcPr marL="64008" marR="64008" marT="22860" marB="22860">
                    <a:solidFill>
                      <a:srgbClr val="F3F6FA"/>
                    </a:solidFill>
                  </a:tcPr>
                </a:tc>
              </a:tr>
              <a:tr h="475488">
                <a:tc>
                  <a:txBody>
                    <a:bodyPr wrap="square" lIns="64008" rIns="64008" tIns="32004" bIns="32004" anchor="ctr">
                      <a:noAutofit/>
                    </a:bodyPr>
                    <a:lstStyle/>
                    <a:p>
                      <a:pPr algn="l">
                        <a:lnSpc>
                          <a:spcPct val="110000"/>
                        </a:lnSpc>
                        <a:spcBef>
                          <a:spcPts val="0"/>
                        </a:spcBef>
                        <a:spcAft>
                          <a:spcPts val="0"/>
                        </a:spcAft>
                        <a:buNone/>
                      </a:pPr>
                      <a:r>
                        <a:rPr sz="1350" b="1" lang="ko-KR">
                          <a:solidFill>
                            <a:srgbClr val="21262E"/>
                          </a:solidFill>
                          <a:latin typeface="Pretendard"/>
                          <a:ea typeface="Pretendard"/>
                          <a:cs typeface="Pretendard"/>
                        </a:rPr>
                        <a:t>K = 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0.7463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100.00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15" b="0" lang="ko-KR">
                          <a:solidFill>
                            <a:srgbClr val="21262E"/>
                          </a:solidFill>
                          <a:latin typeface="DejaVu Sans Mono"/>
                          <a:ea typeface="DejaVu Sans Mono"/>
                          <a:cs typeface="DejaVu Sans Mono"/>
                        </a:rPr>
                        <a:t>0.69</a:t>
                      </a:r>
                    </a:p>
                  </a:txBody>
                  <a:tcPr marL="64008" marR="64008" marT="22860" marB="22860">
                    <a:solidFill>
                      <a:srgbClr val="FFFFFF"/>
                    </a:solidFill>
                  </a:tcPr>
                </a:tc>
              </a:tr>
            </a:tbl>
          </a:graphicData>
        </a:graphic>
      </p:graphicFrame>
      <p:sp>
        <p:nvSpPr>
          <p:cNvPr id="13" name="Rounded Rectangle 12"/>
          <p:cNvSpPr/>
          <p:nvPr/>
        </p:nvSpPr>
        <p:spPr>
          <a:xfrm>
            <a:off x="6227064" y="5056632"/>
            <a:ext cx="5394960" cy="722376"/>
          </a:xfrm>
          <a:prstGeom prst="roundRect">
            <a:avLst>
              <a:gd name="adj" fmla="val 35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5184648"/>
            <a:ext cx="5102352" cy="42976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K = 4 Scanning F1   0.0394 → 0.8587</a:t>
            </a:r>
          </a:p>
        </p:txBody>
      </p:sp>
      <p:sp>
        <p:nvSpPr>
          <p:cNvPr id="15" name="TextBox 14"/>
          <p:cNvSpPr txBox="1"/>
          <p:nvPr/>
        </p:nvSpPr>
        <p:spPr>
          <a:xfrm>
            <a:off x="566928" y="5907024"/>
            <a:ext cx="11055096"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10" b="0" lang="ko-KR">
                <a:solidFill>
                  <a:srgbClr val="5D6773"/>
                </a:solidFill>
                <a:latin typeface="Pretendard"/>
                <a:ea typeface="Pretendard"/>
                <a:cs typeface="Pretendard"/>
              </a:rPr>
              <a:t>호출률: 정책상 expert 호출 표본 비율 · 채택률: expert 출력 수락 표본 비율 · 분모는 전체 test</a:t>
            </a:r>
          </a:p>
        </p:txBody>
      </p:sp>
      <p:sp>
        <p:nvSpPr>
          <p:cNvPr id="16" name="TextBox 15"/>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현재 context 구성에서 데이터셋별 S/V 활성화 차이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정제 데이터의 현재 성능 · SOTA 비교</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04 현재 성능</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6</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전체 공격 클래스를 학습한 정적 조건 · 동일 정제 test · Seed 43 · Macro-F1 (%)</a:t>
            </a:r>
          </a:p>
        </p:txBody>
      </p:sp>
      <p:graphicFrame>
        <p:nvGraphicFramePr>
          <p:cNvPr id="7" name="Table 6"/>
          <p:cNvGraphicFramePr>
            <a:graphicFrameLocks noGrp="1"/>
          </p:cNvGraphicFramePr>
          <p:nvPr/>
        </p:nvGraphicFramePr>
        <p:xfrm>
          <a:off x="566928" y="1481328"/>
          <a:ext cx="11055096" cy="3511296"/>
        </p:xfrm>
        <a:graphic>
          <a:graphicData uri="http://schemas.openxmlformats.org/drawingml/2006/table">
            <a:tbl>
              <a:tblPr>
                <a:tableStyleId>{5C22544A-7EE6-4342-B048-85BDC9FD1C3A}</a:tableStyleId>
              </a:tblPr>
              <a:tblGrid>
                <a:gridCol w="3931920"/>
                <a:gridCol w="1417320"/>
                <a:gridCol w="1417320"/>
                <a:gridCol w="4288536"/>
              </a:tblGrid>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CIC2018</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ToN</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FFFFFF"/>
                          </a:solidFill>
                          <a:latin typeface="Pretendard"/>
                          <a:ea typeface="Pretendard"/>
                          <a:cs typeface="Pretendard"/>
                        </a:rPr>
                        <a:t>학습 정보</a:t>
                      </a:r>
                    </a:p>
                  </a:txBody>
                  <a:tcPr marL="64008" marR="64008" marT="22860" marB="22860">
                    <a:solidFill>
                      <a:srgbClr val="00306C"/>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67.96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78.21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69.83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71.48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58.66</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70.24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64.62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78.39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66.82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공통 100,000행</a:t>
                      </a:r>
                    </a:p>
                  </a:txBody>
                  <a:tcPr marL="64008" marR="64008" marT="22860" marB="22860">
                    <a:solidFill>
                      <a:srgbClr val="FFFFFF"/>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77.95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365" b="0" lang="ko-KR">
                          <a:solidFill>
                            <a:srgbClr val="21262E"/>
                          </a:solidFill>
                          <a:latin typeface="DejaVu Sans Mono"/>
                          <a:ea typeface="DejaVu Sans Mono"/>
                          <a:cs typeface="DejaVu Sans Mono"/>
                        </a:rPr>
                        <a:t>71.62</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400" b="0" lang="ko-KR">
                          <a:solidFill>
                            <a:srgbClr val="21262E"/>
                          </a:solidFill>
                          <a:latin typeface="Pretendard"/>
                          <a:ea typeface="Pretendard"/>
                          <a:cs typeface="Pretendard"/>
                        </a:rPr>
                        <a:t>전체 train</a:t>
                      </a:r>
                    </a:p>
                  </a:txBody>
                  <a:tcPr marL="64008" marR="64008" marT="22860" marB="22860">
                    <a:solidFill>
                      <a:srgbClr val="F3F6FA"/>
                    </a:solidFill>
                  </a:tcPr>
                </a:tc>
              </a:tr>
              <a:tr h="438912">
                <a:tc>
                  <a:txBody>
                    <a:bodyPr wrap="square" lIns="64008" rIns="64008" tIns="32004" bIns="32004" anchor="ctr">
                      <a:noAutofit/>
                    </a:bodyPr>
                    <a:lstStyle/>
                    <a:p>
                      <a:pPr algn="l">
                        <a:lnSpc>
                          <a:spcPct val="110000"/>
                        </a:lnSpc>
                        <a:spcBef>
                          <a:spcPts val="0"/>
                        </a:spcBef>
                        <a:spcAft>
                          <a:spcPts val="0"/>
                        </a:spcAft>
                        <a:buNone/>
                      </a:pPr>
                      <a:r>
                        <a:rPr sz="1400" b="1" lang="ko-KR">
                          <a:solidFill>
                            <a:srgbClr val="00306C"/>
                          </a:solidFill>
                          <a:latin typeface="Pretendard"/>
                          <a:ea typeface="Pretendard"/>
                          <a:cs typeface="Pretendard"/>
                        </a:rPr>
                        <a:t>제안 모델 · K = 4 · S/V</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78.24</a:t>
                      </a:r>
                    </a:p>
                  </a:txBody>
                  <a:tcPr marL="64008" marR="64008" marT="22860" marB="22860">
                    <a:solidFill>
                      <a:srgbClr val="E7F0F8"/>
                    </a:solidFill>
                  </a:tcPr>
                </a:tc>
                <a:tc>
                  <a:txBody>
                    <a:bodyPr wrap="square" lIns="64008" rIns="64008" tIns="32004" bIns="32004" anchor="ctr">
                      <a:noAutofit/>
                    </a:bodyPr>
                    <a:lstStyle/>
                    <a:p>
                      <a:pPr algn="r">
                        <a:lnSpc>
                          <a:spcPct val="110000"/>
                        </a:lnSpc>
                        <a:spcBef>
                          <a:spcPts val="0"/>
                        </a:spcBef>
                        <a:spcAft>
                          <a:spcPts val="0"/>
                        </a:spcAft>
                        <a:buNone/>
                      </a:pPr>
                      <a:r>
                        <a:rPr sz="1365" b="1" lang="ko-KR">
                          <a:solidFill>
                            <a:srgbClr val="00306C"/>
                          </a:solidFill>
                          <a:latin typeface="DejaVu Sans Mono"/>
                          <a:ea typeface="DejaVu Sans Mono"/>
                          <a:cs typeface="DejaVu Sans Mono"/>
                        </a:rPr>
                        <a:t>76.17</a:t>
                      </a:r>
                    </a:p>
                  </a:txBody>
                  <a:tcPr marL="64008" marR="64008" marT="22860" marB="22860">
                    <a:solidFill>
                      <a:srgbClr val="E7F0F8"/>
                    </a:solidFill>
                  </a:tcPr>
                </a:tc>
                <a:tc>
                  <a:txBody>
                    <a:bodyPr wrap="square" lIns="64008" rIns="64008" tIns="32004" bIns="32004" anchor="ctr">
                      <a:noAutofit/>
                    </a:bodyPr>
                    <a:lstStyle/>
                    <a:p>
                      <a:pPr algn="ctr">
                        <a:lnSpc>
                          <a:spcPct val="110000"/>
                        </a:lnSpc>
                        <a:spcBef>
                          <a:spcPts val="0"/>
                        </a:spcBef>
                        <a:spcAft>
                          <a:spcPts val="0"/>
                        </a:spcAft>
                        <a:buNone/>
                      </a:pPr>
                      <a:r>
                        <a:rPr sz="1400" b="1" lang="ko-KR">
                          <a:solidFill>
                            <a:srgbClr val="00306C"/>
                          </a:solidFill>
                          <a:latin typeface="Pretendard"/>
                          <a:ea typeface="Pretendard"/>
                          <a:cs typeface="Pretendard"/>
                        </a:rPr>
                        <a:t>Global + Expert·Route 풀</a:t>
                      </a:r>
                    </a:p>
                  </a:txBody>
                  <a:tcPr marL="64008" marR="64008" marT="22860" marB="22860">
                    <a:solidFill>
                      <a:srgbClr val="E7F0F8"/>
                    </a:solidFill>
                  </a:tcPr>
                </a:tc>
              </a:tr>
            </a:tbl>
          </a:graphicData>
        </a:graphic>
      </p:graphicFrame>
      <p:sp>
        <p:nvSpPr>
          <p:cNvPr id="8" name="TextBox 7"/>
          <p:cNvSpPr txBox="1"/>
          <p:nvPr/>
        </p:nvSpPr>
        <p:spPr>
          <a:xfrm>
            <a:off x="566928" y="514807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제안 모델: 기존 anchor + residual block 결과 · Expert·Route의 추가 학습 정보 사용</a:t>
            </a:r>
          </a:p>
        </p:txBody>
      </p:sp>
      <p:sp>
        <p:nvSpPr>
          <p:cNvPr id="9" name="TextBox 8"/>
          <p:cNvSpPr txBox="1"/>
          <p:nvPr/>
        </p:nvSpPr>
        <p:spPr>
          <a:xfrm>
            <a:off x="566928" y="5577840"/>
            <a:ext cx="11055096" cy="42976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700" b="1" lang="ko-KR">
                <a:solidFill>
                  <a:srgbClr val="00306C"/>
                </a:solidFill>
                <a:latin typeface="Pretendard"/>
                <a:ea typeface="Pretendard"/>
                <a:cs typeface="Pretendard"/>
              </a:rPr>
              <a:t>현재 성능 수준의 확인 · 신규 공격 반영 효과와 갱신·추론 비용은 순차 도입으로 검증</a:t>
            </a:r>
          </a:p>
        </p:txBody>
      </p:sp>
      <p:sp>
        <p:nvSpPr>
          <p:cNvPr id="10" name="TextBox 9"/>
          <p:cNvSpPr txBox="1"/>
          <p:nvPr/>
        </p:nvSpPr>
        <p:spPr>
          <a:xfrm>
            <a:off x="566928" y="6432804"/>
            <a:ext cx="7498079" cy="27432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100" b="1" lang="ko-KR">
                <a:solidFill>
                  <a:srgbClr val="FFFFFF"/>
                </a:solidFill>
                <a:latin typeface="Pretendard"/>
                <a:ea typeface="Pretendard"/>
                <a:cs typeface="Pretendard"/>
              </a:rPr>
              <a:t>정적 분류 성능의 현재 수준 · 신규 공격 반영 방식은 별도 검증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buNone/>
            </a:pPr>
            <a:r>
              <a:rPr sz="2800" b="1" lang="ko-KR">
                <a:solidFill>
                  <a:srgbClr val="00306C"/>
                </a:solidFill>
                <a:latin typeface="Pretendard"/>
                <a:ea typeface="Pretendard"/>
                <a:cs typeface="Pretendard"/>
              </a:rPr>
              <a:t>SOTA 측정 비용과 현재 모델의 호출</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buNone/>
              <a:buNone/>
            </a:pPr>
            <a:r>
              <a:rPr sz="1000" b="0" lang="ko-KR">
                <a:solidFill>
                  <a:srgbClr val="D6E4F3"/>
                </a:solidFill>
                <a:latin typeface="Pretendard"/>
                <a:ea typeface="Pretendard"/>
                <a:cs typeface="Pretendard"/>
              </a:rPr>
              <a:t>부록 · 상세 근거</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buNone/>
              <a:buNone/>
            </a:pPr>
            <a:r>
              <a:rPr sz="1100" b="1" lang="ko-KR">
                <a:solidFill>
                  <a:srgbClr val="FFFFFF"/>
                </a:solidFill>
                <a:latin typeface="Pretendard"/>
                <a:ea typeface="Pretendard"/>
                <a:cs typeface="Pretendard"/>
              </a:rPr>
              <a:t>11</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RTX 4090 24GB · 최대 2개 작업 병렬 · 자원 경합을 포함한 경과 시간</a:t>
            </a:r>
          </a:p>
        </p:txBody>
      </p:sp>
      <p:graphicFrame>
        <p:nvGraphicFramePr>
          <p:cNvPr id="7" name="Table 6"/>
          <p:cNvGraphicFramePr>
            <a:graphicFrameLocks noGrp="1"/>
          </p:cNvGraphicFramePr>
          <p:nvPr/>
        </p:nvGraphicFramePr>
        <p:xfrm>
          <a:off x="566928" y="1563624"/>
          <a:ext cx="11055096" cy="3392424"/>
        </p:xfrm>
        <a:graphic>
          <a:graphicData uri="http://schemas.openxmlformats.org/drawingml/2006/table">
            <a:tbl>
              <a:tblPr>
                <a:tableStyleId>{5C22544A-7EE6-4342-B048-85BDC9FD1C3A}</a:tableStyleId>
              </a:tblPr>
              <a:tblGrid>
                <a:gridCol w="2770632"/>
                <a:gridCol w="1408176"/>
                <a:gridCol w="1408176"/>
                <a:gridCol w="1408176"/>
                <a:gridCol w="1408176"/>
                <a:gridCol w="1325880"/>
                <a:gridCol w="1325880"/>
              </a:tblGrid>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FFFFFF"/>
                          </a:solidFill>
                          <a:latin typeface="Pretendard"/>
                          <a:ea typeface="Pretendard"/>
                          <a:cs typeface="Pretendard"/>
                        </a:rPr>
                        <a:t>방법</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학습</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학습</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추론</a:t>
                      </a:r>
                    </a:p>
                    <a:p>
                      <a:pPr algn="ctr">
                        <a:lnSpc>
                          <a:spcPct val="110000"/>
                        </a:lnSpc>
                        <a:spcBef>
                          <a:spcPts val="0"/>
                        </a:spcBef>
                        <a:spcAft>
                          <a:spcPts val="0"/>
                        </a:spcAft>
                        <a:buNone/>
                      </a:pPr>
                      <a:r>
                        <a:rPr sz="1210" b="1" lang="ko-KR">
                          <a:solidFill>
                            <a:srgbClr val="FFFFFF"/>
                          </a:solidFill>
                          <a:latin typeface="Pretendard"/>
                          <a:ea typeface="Pretendard"/>
                          <a:cs typeface="Pretendard"/>
                        </a:rPr>
                        <a:t>초</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CIC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210" b="1" lang="ko-KR">
                          <a:solidFill>
                            <a:srgbClr val="FFFFFF"/>
                          </a:solidFill>
                          <a:latin typeface="Pretendard"/>
                          <a:ea typeface="Pretendard"/>
                          <a:cs typeface="Pretendard"/>
                        </a:rPr>
                        <a:t>ToN GPU</a:t>
                      </a:r>
                    </a:p>
                    <a:p>
                      <a:pPr algn="ctr">
                        <a:lnSpc>
                          <a:spcPct val="110000"/>
                        </a:lnSpc>
                        <a:spcBef>
                          <a:spcPts val="0"/>
                        </a:spcBef>
                        <a:spcAft>
                          <a:spcPts val="0"/>
                        </a:spcAft>
                        <a:buNone/>
                      </a:pPr>
                      <a:r>
                        <a:rPr sz="1210" b="1" lang="ko-KR">
                          <a:solidFill>
                            <a:srgbClr val="FFFFFF"/>
                          </a:solidFill>
                          <a:latin typeface="Pretendard"/>
                          <a:ea typeface="Pretendard"/>
                          <a:cs typeface="Pretendard"/>
                        </a:rPr>
                        <a:t>GiB</a:t>
                      </a:r>
                    </a:p>
                  </a:txBody>
                  <a:tcPr marL="64008" marR="64008" marT="22860" marB="22860">
                    <a:solidFill>
                      <a:srgbClr val="00306C"/>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Global TabPFN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0.55</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0.53</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BoostPFN</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2,308.5</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97.8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1,737.6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0.89</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LoCalPFN · FT</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3,196.3</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17,300.8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5,783.1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11,144.8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7.54</a:t>
                      </a:r>
                    </a:p>
                  </a:txBody>
                  <a:tcPr marL="64008" marR="64008" marT="22860" marB="22860">
                    <a:solidFill>
                      <a:srgbClr val="F3F6FA"/>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DistPFN · v3</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1,099.4</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36.7</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821.9</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2.94</a:t>
                      </a:r>
                    </a:p>
                  </a:txBody>
                  <a:tcPr marL="64008" marR="64008" marT="22860" marB="22860">
                    <a:solidFill>
                      <a:srgbClr val="FFFFFF"/>
                    </a:solidFill>
                  </a:tcPr>
                </a:tc>
              </a:tr>
              <a:tr h="484632">
                <a:tc>
                  <a:txBody>
                    <a:bodyPr wrap="square" lIns="64008" rIns="64008" tIns="32004" bIns="32004" anchor="ctr">
                      <a:noAutofit/>
                    </a:bodyPr>
                    <a:lstStyle/>
                    <a:p>
                      <a:pPr algn="l">
                        <a:lnSpc>
                          <a:spcPct val="110000"/>
                        </a:lnSpc>
                        <a:spcBef>
                          <a:spcPts val="0"/>
                        </a:spcBef>
                        <a:spcAft>
                          <a:spcPts val="0"/>
                        </a:spcAft>
                        <a:buNone/>
                      </a:pPr>
                      <a:r>
                        <a:rPr sz="1210" b="1" lang="ko-KR">
                          <a:solidFill>
                            <a:srgbClr val="21262E"/>
                          </a:solidFill>
                          <a:latin typeface="Pretendard"/>
                          <a:ea typeface="Pretendard"/>
                          <a:cs typeface="Pretendard"/>
                        </a:rPr>
                        <a:t>XGBoost · 전체 train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107.8</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143.2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1.1</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2.20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75" b="0" lang="ko-KR">
                          <a:solidFill>
                            <a:srgbClr val="21262E"/>
                          </a:solidFill>
                          <a:latin typeface="DejaVu Sans Mono"/>
                          <a:ea typeface="DejaVu Sans Mono"/>
                          <a:cs typeface="DejaVu Sans Mono"/>
                        </a:rPr>
                        <a:t>1.59</a:t>
                      </a:r>
                    </a:p>
                  </a:txBody>
                  <a:tcPr marL="64008" marR="64008" marT="22860" marB="22860">
                    <a:solidFill>
                      <a:srgbClr val="F3F6FA"/>
                    </a:solidFill>
                  </a:tcPr>
                </a:tc>
              </a:tr>
            </a:tbl>
          </a:graphicData>
        </a:graphic>
      </p:graphicFrame>
      <p:sp>
        <p:nvSpPr>
          <p:cNvPr id="8" name="TextBox 7"/>
          <p:cNvSpPr txBox="1"/>
          <p:nvPr/>
        </p:nvSpPr>
        <p:spPr>
          <a:xfrm>
            <a:off x="566928" y="5102352"/>
            <a:ext cx="11055096" cy="301752"/>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00" b="0" lang="ko-KR">
                <a:solidFill>
                  <a:srgbClr val="5D6773"/>
                </a:solidFill>
                <a:latin typeface="Pretendard"/>
                <a:ea typeface="Pretendard"/>
                <a:cs typeface="Pretendard"/>
              </a:rPr>
              <a:t>LoCalPFN: 학습에 validation, 추론에 검색 포함 · DistPFN: Global 계산과 prior 보정 포함</a:t>
            </a:r>
          </a:p>
        </p:txBody>
      </p:sp>
      <p:sp>
        <p:nvSpPr>
          <p:cNvPr id="9" name="Rounded Rectangle 8"/>
          <p:cNvSpPr/>
          <p:nvPr/>
        </p:nvSpPr>
        <p:spPr>
          <a:xfrm>
            <a:off x="566928" y="5577840"/>
            <a:ext cx="11055096" cy="521207"/>
          </a:xfrm>
          <a:prstGeom prst="roundRect">
            <a:avLst>
              <a:gd name="adj" fmla="val 3500"/>
            </a:avLst>
          </a:prstGeom>
          <a:solidFill>
            <a:srgbClr val="E7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660136"/>
            <a:ext cx="10725912" cy="33832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250" b="1" lang="ko-KR">
                <a:solidFill>
                  <a:srgbClr val="00306C"/>
                </a:solidFill>
                <a:latin typeface="Pretendard"/>
                <a:ea typeface="Pretendard"/>
                <a:cs typeface="Pretendard"/>
              </a:rPr>
              <a:t>현재 모델 K = 4 · 정책상 호출률 CIC2018 0.00%, ToN 100.00% · 조건부 추론 시간 별도 측정 예정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5096" cy="5943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2800" b="1" lang="ko-KR">
                <a:solidFill>
                  <a:srgbClr val="00306C"/>
                </a:solidFill>
                <a:latin typeface="Pretendard"/>
                <a:ea typeface="Pretendard"/>
                <a:cs typeface="Pretendard"/>
              </a:rPr>
              <a:t>최종 100,000행의 단계별 배분</a:t>
            </a:r>
          </a:p>
        </p:txBody>
      </p:sp>
      <p:sp>
        <p:nvSpPr>
          <p:cNvPr id="3" name="Rectangle 2"/>
          <p:cNvSpPr/>
          <p:nvPr/>
        </p:nvSpPr>
        <p:spPr>
          <a:xfrm>
            <a:off x="0" y="6355080"/>
            <a:ext cx="12191999" cy="502920"/>
          </a:xfrm>
          <a:prstGeom prst="rect">
            <a:avLst/>
          </a:prstGeom>
          <a:solidFill>
            <a:srgbClr val="0030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75320" y="6428232"/>
            <a:ext cx="2743200" cy="274320"/>
          </a:xfrm>
          <a:prstGeom prst="rect">
            <a:avLst/>
          </a:prstGeom>
          <a:noFill/>
        </p:spPr>
        <p:txBody>
          <a:bodyPr wrap="square" tIns="32004" bIns="32004" anchor="ctr">
            <a:noAutofit/>
          </a:bodyPr>
          <a:lstStyle/>
          <a:p>
            <a:pPr algn="r">
              <a:lnSpc>
                <a:spcPct val="110000"/>
              </a:lnSpc>
              <a:spcBef>
                <a:spcPts val="0"/>
              </a:spcBef>
              <a:spcAft>
                <a:spcPts val="0"/>
              </a:spcAft>
              <a:buNone/>
            </a:pPr>
            <a:r>
              <a:rPr sz="1000" b="0" lang="ko-KR">
                <a:solidFill>
                  <a:srgbClr val="D6E4F3"/>
                </a:solidFill>
                <a:latin typeface="Pretendard"/>
                <a:ea typeface="Pretendard"/>
                <a:cs typeface="Pretendard"/>
              </a:rPr>
              <a:t>부록 · EXP70 조건</a:t>
            </a:r>
          </a:p>
        </p:txBody>
      </p:sp>
      <p:sp>
        <p:nvSpPr>
          <p:cNvPr id="5" name="TextBox 4"/>
          <p:cNvSpPr txBox="1"/>
          <p:nvPr/>
        </p:nvSpPr>
        <p:spPr>
          <a:xfrm>
            <a:off x="11183112" y="6409944"/>
            <a:ext cx="438912" cy="310896"/>
          </a:xfrm>
          <a:prstGeom prst="rect">
            <a:avLst/>
          </a:prstGeom>
          <a:noFill/>
        </p:spPr>
        <p:txBody>
          <a:bodyPr wrap="square" tIns="32004" bIns="32004" anchor="ctr">
            <a:noAutofit/>
          </a:bodyPr>
          <a:lstStyle/>
          <a:p>
            <a:pPr algn="r">
              <a:lnSpc>
                <a:spcPct val="110000"/>
              </a:lnSpc>
              <a:spcBef>
                <a:spcPts val="0"/>
              </a:spcBef>
              <a:spcAft>
                <a:spcPts val="0"/>
              </a:spcAft>
              <a:buNone/>
              <a:buNone/>
            </a:pPr>
            <a:r>
              <a:rPr sz="1100" b="1" lang="ko-KR">
                <a:solidFill>
                  <a:srgbClr val="FFFFFF"/>
                </a:solidFill>
                <a:latin typeface="Pretendard"/>
                <a:ea typeface="Pretendard"/>
                <a:cs typeface="Pretendard"/>
              </a:rPr>
              <a:t>13</a:t>
            </a:r>
          </a:p>
        </p:txBody>
      </p:sp>
      <p:sp>
        <p:nvSpPr>
          <p:cNvPr id="6" name="TextBox 5"/>
          <p:cNvSpPr txBox="1"/>
          <p:nvPr/>
        </p:nvSpPr>
        <p:spPr>
          <a:xfrm>
            <a:off x="566928" y="932688"/>
            <a:ext cx="11055096" cy="32004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Benign 75,000행 + 공격 25,000행 · 가용 수를 고려한 균등 배분 · 전체 clean train에서 추출</a:t>
            </a:r>
          </a:p>
        </p:txBody>
      </p:sp>
      <p:sp>
        <p:nvSpPr>
          <p:cNvPr id="7" name="TextBox 6"/>
          <p:cNvSpPr txBox="1"/>
          <p:nvPr/>
        </p:nvSpPr>
        <p:spPr>
          <a:xfrm>
            <a:off x="566928" y="1444752"/>
            <a:ext cx="5394960"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CIC2018</a:t>
            </a:r>
          </a:p>
        </p:txBody>
      </p:sp>
      <p:graphicFrame>
        <p:nvGraphicFramePr>
          <p:cNvPr id="8" name="Table 7"/>
          <p:cNvGraphicFramePr>
            <a:graphicFrameLocks noGrp="1"/>
          </p:cNvGraphicFramePr>
          <p:nvPr/>
        </p:nvGraphicFramePr>
        <p:xfrm>
          <a:off x="566928" y="1920240"/>
          <a:ext cx="5394960" cy="2798064"/>
        </p:xfrm>
        <a:graphic>
          <a:graphicData uri="http://schemas.openxmlformats.org/drawingml/2006/table">
            <a:tbl>
              <a:tblPr>
                <a:tableStyleId>{5C22544A-7EE6-4342-B048-85BDC9FD1C3A}</a:tableStyleId>
              </a:tblPr>
              <a:tblGrid>
                <a:gridCol w="475488"/>
                <a:gridCol w="2505456"/>
                <a:gridCol w="1143000"/>
                <a:gridCol w="1271016"/>
              </a:tblGrid>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FFFFFF"/>
                          </a:solidFill>
                          <a:latin typeface="Pretendard"/>
                          <a:ea typeface="Pretendard"/>
                          <a:cs typeface="Pretendard"/>
                        </a:rPr>
                        <a:t>단계</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추가 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추가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누적 수</a:t>
                      </a:r>
                    </a:p>
                  </a:txBody>
                  <a:tcPr marL="64008" marR="64008" marT="22860" marB="22860">
                    <a:solidFill>
                      <a:srgbClr val="00306C"/>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초기</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Benign · Brute force · 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84,820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84,820</a:t>
                      </a:r>
                    </a:p>
                  </a:txBody>
                  <a:tcPr marL="64008" marR="64008" marT="22860" marB="22860">
                    <a:solidFill>
                      <a:srgbClr val="FFFFFF"/>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1</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4,910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89,730</a:t>
                      </a:r>
                    </a:p>
                  </a:txBody>
                  <a:tcPr marL="64008" marR="64008" marT="22860" marB="22860">
                    <a:solidFill>
                      <a:srgbClr val="F3F6FA"/>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Web attack</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450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90,180</a:t>
                      </a:r>
                    </a:p>
                  </a:txBody>
                  <a:tcPr marL="64008" marR="64008" marT="22860" marB="22860">
                    <a:solidFill>
                      <a:srgbClr val="FFFFFF"/>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Infiltration</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4,910</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95,090</a:t>
                      </a:r>
                    </a:p>
                  </a:txBody>
                  <a:tcPr marL="64008" marR="64008" marT="22860" marB="22860">
                    <a:solidFill>
                      <a:srgbClr val="F3F6FA"/>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4</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Bot</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4,910</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100,000</a:t>
                      </a:r>
                    </a:p>
                  </a:txBody>
                  <a:tcPr marL="64008" marR="64008" marT="22860" marB="22860">
                    <a:solidFill>
                      <a:srgbClr val="FFFFFF"/>
                    </a:solidFill>
                  </a:tcPr>
                </a:tc>
              </a:tr>
            </a:tbl>
          </a:graphicData>
        </a:graphic>
      </p:graphicFrame>
      <p:sp>
        <p:nvSpPr>
          <p:cNvPr id="9" name="TextBox 8"/>
          <p:cNvSpPr txBox="1"/>
          <p:nvPr/>
        </p:nvSpPr>
        <p:spPr>
          <a:xfrm>
            <a:off x="6227064" y="1444752"/>
            <a:ext cx="5394960" cy="329184"/>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900" b="1" lang="ko-KR">
                <a:solidFill>
                  <a:srgbClr val="00306C"/>
                </a:solidFill>
                <a:latin typeface="Pretendard"/>
                <a:ea typeface="Pretendard"/>
                <a:cs typeface="Pretendard"/>
              </a:rPr>
              <a:t>ToN</a:t>
            </a:r>
          </a:p>
        </p:txBody>
      </p:sp>
      <p:graphicFrame>
        <p:nvGraphicFramePr>
          <p:cNvPr id="10" name="Table 9"/>
          <p:cNvGraphicFramePr>
            <a:graphicFrameLocks noGrp="1"/>
          </p:cNvGraphicFramePr>
          <p:nvPr/>
        </p:nvGraphicFramePr>
        <p:xfrm>
          <a:off x="6227064" y="1920240"/>
          <a:ext cx="5394960" cy="3264408"/>
        </p:xfrm>
        <a:graphic>
          <a:graphicData uri="http://schemas.openxmlformats.org/drawingml/2006/table">
            <a:tbl>
              <a:tblPr>
                <a:tableStyleId>{5C22544A-7EE6-4342-B048-85BDC9FD1C3A}</a:tableStyleId>
              </a:tblPr>
              <a:tblGrid>
                <a:gridCol w="475488"/>
                <a:gridCol w="2505456"/>
                <a:gridCol w="1143000"/>
                <a:gridCol w="1271016"/>
              </a:tblGrid>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FFFFFF"/>
                          </a:solidFill>
                          <a:latin typeface="Pretendard"/>
                          <a:ea typeface="Pretendard"/>
                          <a:cs typeface="Pretendard"/>
                        </a:rPr>
                        <a:t>단계</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추가 클래스</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추가 수</a:t>
                      </a:r>
                    </a:p>
                  </a:txBody>
                  <a:tcPr marL="64008" marR="64008" marT="22860" marB="22860">
                    <a:solidFill>
                      <a:srgbClr val="00306C"/>
                    </a:solidFill>
                  </a:tcPr>
                </a:tc>
                <a:tc>
                  <a:txBody>
                    <a:bodyPr wrap="square" lIns="64008" rIns="64008" tIns="32004" bIns="32004" anchor="ctr">
                      <a:noAutofit/>
                    </a:bodyPr>
                    <a:lstStyle/>
                    <a:p>
                      <a:pPr algn="ctr">
                        <a:lnSpc>
                          <a:spcPct val="110000"/>
                        </a:lnSpc>
                        <a:spcBef>
                          <a:spcPts val="0"/>
                        </a:spcBef>
                        <a:spcAft>
                          <a:spcPts val="0"/>
                        </a:spcAft>
                        <a:buNone/>
                      </a:pPr>
                      <a:r>
                        <a:rPr sz="1150" b="1" lang="ko-KR">
                          <a:solidFill>
                            <a:srgbClr val="FFFFFF"/>
                          </a:solidFill>
                          <a:latin typeface="Pretendard"/>
                          <a:ea typeface="Pretendard"/>
                          <a:cs typeface="Pretendard"/>
                        </a:rPr>
                        <a:t>누적 수</a:t>
                      </a:r>
                    </a:p>
                  </a:txBody>
                  <a:tcPr marL="64008" marR="64008" marT="22860" marB="22860">
                    <a:solidFill>
                      <a:srgbClr val="00306C"/>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초기</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Benign · Scanning · DoS</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80,712</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80,712</a:t>
                      </a:r>
                    </a:p>
                  </a:txBody>
                  <a:tcPr marL="64008" marR="64008" marT="22860" marB="22860">
                    <a:solidFill>
                      <a:srgbClr val="FFFFFF"/>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1</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Injection · DDoS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5,712</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86,424</a:t>
                      </a:r>
                    </a:p>
                  </a:txBody>
                  <a:tcPr marL="64008" marR="64008" marT="22860" marB="22860">
                    <a:solidFill>
                      <a:srgbClr val="F3F6FA"/>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2</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Password</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2,856</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89,280</a:t>
                      </a:r>
                    </a:p>
                  </a:txBody>
                  <a:tcPr marL="64008" marR="64008" marT="22860" marB="22860">
                    <a:solidFill>
                      <a:srgbClr val="FFFFFF"/>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3</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XSS</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2,856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92,136</a:t>
                      </a:r>
                    </a:p>
                  </a:txBody>
                  <a:tcPr marL="64008" marR="64008" marT="22860" marB="22860">
                    <a:solidFill>
                      <a:srgbClr val="F3F6FA"/>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4</a:t>
                      </a:r>
                    </a:p>
                  </a:txBody>
                  <a:tcPr marL="64008" marR="64008" marT="22860" marB="22860">
                    <a:solidFill>
                      <a:srgbClr val="FFFFFF"/>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Ransomware · Backdoor</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5,008</a:t>
                      </a:r>
                    </a:p>
                  </a:txBody>
                  <a:tcPr marL="64008" marR="64008" marT="22860" marB="22860">
                    <a:solidFill>
                      <a:srgbClr val="FFFFFF"/>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97,144</a:t>
                      </a:r>
                    </a:p>
                  </a:txBody>
                  <a:tcPr marL="64008" marR="64008" marT="22860" marB="22860">
                    <a:solidFill>
                      <a:srgbClr val="FFFFFF"/>
                    </a:solidFill>
                  </a:tcPr>
                </a:tc>
              </a:tr>
              <a:tr h="466344">
                <a:tc>
                  <a:txBody>
                    <a:bodyPr wrap="square" lIns="64008" rIns="64008" tIns="32004" bIns="32004" anchor="ctr">
                      <a:noAutofit/>
                    </a:bodyPr>
                    <a:lstStyle/>
                    <a:p>
                      <a:pPr algn="l">
                        <a:lnSpc>
                          <a:spcPct val="110000"/>
                        </a:lnSpc>
                        <a:spcBef>
                          <a:spcPts val="0"/>
                        </a:spcBef>
                        <a:spcAft>
                          <a:spcPts val="0"/>
                        </a:spcAft>
                        <a:buNone/>
                      </a:pPr>
                      <a:r>
                        <a:rPr sz="1150" b="1" lang="ko-KR">
                          <a:solidFill>
                            <a:srgbClr val="21262E"/>
                          </a:solidFill>
                          <a:latin typeface="Pretendard"/>
                          <a:ea typeface="Pretendard"/>
                          <a:cs typeface="Pretendard"/>
                        </a:rPr>
                        <a:t>5</a:t>
                      </a:r>
                    </a:p>
                  </a:txBody>
                  <a:tcPr marL="64008" marR="64008" marT="22860" marB="22860">
                    <a:solidFill>
                      <a:srgbClr val="F3F6FA"/>
                    </a:solidFill>
                  </a:tcPr>
                </a:tc>
                <a:tc>
                  <a:txBody>
                    <a:bodyPr wrap="square" lIns="64008" rIns="64008" tIns="32004" bIns="32004" anchor="ctr">
                      <a:noAutofit/>
                    </a:bodyPr>
                    <a:lstStyle/>
                    <a:p>
                      <a:pPr algn="ctr">
                        <a:lnSpc>
                          <a:spcPct val="110000"/>
                        </a:lnSpc>
                        <a:spcBef>
                          <a:spcPts val="0"/>
                        </a:spcBef>
                        <a:spcAft>
                          <a:spcPts val="0"/>
                        </a:spcAft>
                        <a:buNone/>
                      </a:pPr>
                      <a:r>
                        <a:rPr sz="1150" b="0" lang="ko-KR">
                          <a:solidFill>
                            <a:srgbClr val="21262E"/>
                          </a:solidFill>
                          <a:latin typeface="Pretendard"/>
                          <a:ea typeface="Pretendard"/>
                          <a:cs typeface="Pretendard"/>
                        </a:rPr>
                        <a:t>MitM</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2,856</a:t>
                      </a:r>
                    </a:p>
                  </a:txBody>
                  <a:tcPr marL="64008" marR="64008" marT="22860" marB="22860">
                    <a:solidFill>
                      <a:srgbClr val="F3F6FA"/>
                    </a:solidFill>
                  </a:tcPr>
                </a:tc>
                <a:tc>
                  <a:txBody>
                    <a:bodyPr wrap="square" lIns="64008" rIns="64008" tIns="32004" bIns="32004" anchor="ctr">
                      <a:noAutofit/>
                    </a:bodyPr>
                    <a:lstStyle/>
                    <a:p>
                      <a:pPr algn="r">
                        <a:lnSpc>
                          <a:spcPct val="110000"/>
                        </a:lnSpc>
                        <a:spcBef>
                          <a:spcPts val="0"/>
                        </a:spcBef>
                        <a:spcAft>
                          <a:spcPts val="0"/>
                        </a:spcAft>
                        <a:buNone/>
                      </a:pPr>
                      <a:r>
                        <a:rPr sz="1115" b="0" lang="ko-KR">
                          <a:solidFill>
                            <a:srgbClr val="21262E"/>
                          </a:solidFill>
                          <a:latin typeface="DejaVu Sans Mono"/>
                          <a:ea typeface="DejaVu Sans Mono"/>
                          <a:cs typeface="DejaVu Sans Mono"/>
                        </a:rPr>
                        <a:t>100,000</a:t>
                      </a:r>
                    </a:p>
                  </a:txBody>
                  <a:tcPr marL="64008" marR="64008" marT="22860" marB="22860">
                    <a:solidFill>
                      <a:srgbClr val="F3F6FA"/>
                    </a:solidFill>
                  </a:tcPr>
                </a:tc>
              </a:tr>
            </a:tbl>
          </a:graphicData>
        </a:graphic>
      </p:graphicFrame>
      <p:sp>
        <p:nvSpPr>
          <p:cNvPr id="11" name="TextBox 10"/>
          <p:cNvSpPr txBox="1"/>
          <p:nvPr/>
        </p:nvSpPr>
        <p:spPr>
          <a:xfrm>
            <a:off x="566928" y="5522976"/>
            <a:ext cx="11055096" cy="365760"/>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600" b="1" lang="ko-KR">
                <a:solidFill>
                  <a:srgbClr val="00306C"/>
                </a:solidFill>
                <a:latin typeface="Pretendard"/>
                <a:ea typeface="Pretendard"/>
                <a:cs typeface="Pretendard"/>
              </a:rPr>
              <a:t>Web attack 450행 · Ransomware 2,151행은 가용 사례 전체 사용</a:t>
            </a:r>
          </a:p>
        </p:txBody>
      </p:sp>
      <p:sp>
        <p:nvSpPr>
          <p:cNvPr id="12" name="TextBox 11"/>
          <p:cNvSpPr txBox="1"/>
          <p:nvPr/>
        </p:nvSpPr>
        <p:spPr>
          <a:xfrm>
            <a:off x="566928" y="5934456"/>
            <a:ext cx="11055096" cy="246888"/>
          </a:xfrm>
          <a:prstGeom prst="rect">
            <a:avLst/>
          </a:prstGeom>
          <a:noFill/>
        </p:spPr>
        <p:txBody>
          <a:bodyPr wrap="square" lIns="0" rIns="0" tIns="32004" bIns="32004" anchor="ctr">
            <a:noAutofit/>
          </a:bodyPr>
          <a:lstStyle/>
          <a:p>
            <a:pPr algn="l">
              <a:lnSpc>
                <a:spcPct val="110000"/>
              </a:lnSpc>
              <a:spcBef>
                <a:spcPts val="0"/>
              </a:spcBef>
              <a:spcAft>
                <a:spcPts val="0"/>
              </a:spcAft>
              <a:buNone/>
            </a:pPr>
            <a:r>
              <a:rPr sz="1300" b="0" lang="ko-KR">
                <a:solidFill>
                  <a:srgbClr val="5D6773"/>
                </a:solidFill>
                <a:latin typeface="Pretendard"/>
                <a:ea typeface="Pretendard"/>
                <a:cs typeface="Pretendard"/>
              </a:rPr>
              <a:t>XGB와 TabPFN에 동일한 사례 제공 · 이전 소규모 실험 사례를 포함해 증설 · Test 고정</a:t>
            </a:r>
          </a:p>
        </p:txBody>
      </p:sp>
    </p:spTree>
  </p:cSld>
  <p:clrMapOvr>
    <a:masterClrMapping/>
  </p:clrMapOvr>
</p:sld>
</file>

<file path=ppt/theme/theme1.xml><?xml version="1.0" encoding="utf-8"?>
<a:theme xmlns:a="http://schemas.openxmlformats.org/drawingml/2006/main" name="Office Theme">
  <a:themeElements>
    <a:clrScheme name="KENTECH">
      <a:dk1>
        <a:srgbClr val="21262E"/>
      </a:dk1>
      <a:lt1>
        <a:srgbClr val="FFFFFF"/>
      </a:lt1>
      <a:dk2>
        <a:srgbClr val="00306C"/>
      </a:dk2>
      <a:lt2>
        <a:srgbClr val="F3F6FA"/>
      </a:lt2>
      <a:accent1>
        <a:srgbClr val="007BC6"/>
      </a:accent1>
      <a:accent2>
        <a:srgbClr val="00B8EE"/>
      </a:accent2>
      <a:accent3>
        <a:srgbClr val="00306C"/>
      </a:accent3>
      <a:accent4>
        <a:srgbClr val="4DA3DC"/>
      </a:accent4>
      <a:accent5>
        <a:srgbClr val="5D6773"/>
      </a:accent5>
      <a:accent6>
        <a:srgbClr val="9AA3AE"/>
      </a:accent6>
      <a:hlink>
        <a:srgbClr val="007BC6"/>
      </a:hlink>
      <a:folHlink>
        <a:srgbClr val="5D6773"/>
      </a:folHlink>
    </a:clrScheme>
    <a:fontScheme name="KENTECH">
      <a:majorFont>
        <a:latin typeface="Pretendard"/>
        <a:ea typeface="Pretendard"/>
        <a:cs typeface=""/>
        <a:font script="Hang" typeface="Pretendard"/>
        <a:font script="Jpan" typeface="Yu Gothic"/>
        <a:font script="Hans" typeface="DengXian"/>
        <a:font script="Hant" typeface="新細明體"/>
      </a:majorFont>
      <a:minorFont>
        <a:latin typeface="Pretendard"/>
        <a:ea typeface="Pretendard"/>
        <a:cs typeface=""/>
        <a:font script="Hang" typeface="Pretendard"/>
        <a:font script="Jpan" typeface="Yu Gothic"/>
        <a:font script="Hans" typeface="DengXian"/>
        <a:font script="Hant" typeface="新細明體"/>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33</TotalTime>
  <Words>1251</Words>
  <Application>Microsoft Office PowerPoint</Application>
  <PresentationFormat>와이드스크린</PresentationFormat>
  <Paragraphs>283</Paragraphs>
  <Slides>8</Slides>
  <Notes>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Architecture</vt:lpstr>
      <vt:lpstr>TabPFN · 학습 데이터를 입력으로 읽는 표 형식 foundation model</vt:lpstr>
      <vt:lpstr>TabPFN 적합성 · 같은 컨텍스트 행으로 학습한 XGBoost와 비교</vt:lpstr>
      <vt:lpstr>SOTA 선정</vt:lpstr>
      <vt:lpstr>BoostPFN</vt:lpstr>
      <vt:lpstr>실험 예정</vt:lpstr>
      <vt:lpstr>Oracle과 실험결과</vt:lpstr>
      <vt:lpstr>100k 컨텍스트, benign 0.75, 공격 균등 · 클래스별 F1 (seed 42~45)</vt:lpstr>
    </vt:vector>
  </TitlesOfParts>
  <Company>Korea Institute of Energy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신규 공격 사례를 반영하는 context 기반 IDS</dc:title>
  <dc:subject>데이터 검토, anchor와 residual context, expert 및 S/V 결과, SOTA, 후속 context 접근</dc:subject>
  <dc:creator>Seunghyun Yoon</dc:creator>
  <cp:lastModifiedBy>박민서</cp:lastModifiedBy>
  <cp:revision>4</cp:revision>
  <dcterms:created xsi:type="dcterms:W3CDTF">2026-08-09T04:01:58Z</dcterms:created>
  <dcterms:modified xsi:type="dcterms:W3CDTF">2026-09-03T15:12:22Z</dcterms:modified>
  <dc:description>Korean only; 8 main + 5 appendix. Existing EXP61/63 static results; EXP70 protocol only. New-attack incorporation is the central research question.</dc:description>
</cp:coreProperties>
</file>