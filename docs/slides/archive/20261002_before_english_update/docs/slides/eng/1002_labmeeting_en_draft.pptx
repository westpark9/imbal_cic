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rows whose exact feature vector also appears under another label; not a model confusion matrix</a:t>
            </a:r>
          </a:p>
          <a:p>
            <a:r>
              <a:t>Denominator: all rows of the row class, over the full uncleaned data</a:t>
            </a:r>
          </a:p>
          <a:p>
            <a:r>
              <a:t>Even when A and B share vectors with each other, the cell shares are asymmetric because class sizes differ</a:t>
            </a:r>
          </a:p>
          <a:p>
            <a:r>
              <a:t>A row shared with several other labels counts in several cells, so row sums are not removal rates</a:t>
            </a:r>
          </a:p>
          <a:p>
            <a:r>
              <a:t>Web attack: 1,335 rows shared with Benign only, 3 with Infiltration only, 429 with both, 771 unshared</a:t>
            </a:r>
          </a:p>
          <a:p>
            <a:r>
              <a:t>Data and figure sources: docs/slides/kor/1002_intro_assets/ (English figures: docs/slides/eng/1002_intro_assets/)</a:t>
            </a:r>
          </a:p>
          <a:p>
            <a:r>
              <a:t>Column abbreviations follow the full class names in row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Per-class rows before/after cleaning are the train/val/test totals of the current fixed split class_counts.csv</a:t>
            </a:r>
          </a:p>
          <a:p>
            <a:r>
              <a:t>CIC2018 total 20,115,529 → 14,755,417; ToN total 27,520,260 → 10,807,288</a:t>
            </a:r>
          </a:p>
          <a:p>
            <a:r>
              <a:t>Share denominators are the total rows before and after cleaning, respectively</a:t>
            </a:r>
          </a:p>
          <a:p>
            <a:r>
              <a:t>CIC2018 Infiltration 188,152 → 46,761; Web attack 2,538 → 771</a:t>
            </a:r>
          </a:p>
          <a:p>
            <a:r>
              <a:t>Removal criteria omitted at the user's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Offline/online two-stage flow from the user-edited 0904 deck, restructured to match the current implementation</a:t>
            </a:r>
          </a:p>
          <a:p>
            <a:r>
              <a:t>Residuals are computed on the expert pool; contexts are not restricted to Global misclassifications</a:t>
            </a:r>
          </a:p>
          <a:p>
            <a:r>
              <a:t>Residuals use the input embedding, Global probabilities, the gap between truth and probabilities, and the error size</a:t>
            </a:r>
          </a:p>
          <a:p>
            <a:r>
              <a:t>A shared anchor supplies class examples; each expert adds a cluster-specific block</a:t>
            </a:r>
          </a:p>
          <a:p>
            <a:r>
              <a:t>The scorer selects an expert and decides whether to call it; the verifier decides whether to accept its prediction</a:t>
            </a:r>
          </a:p>
          <a:p>
            <a:r>
              <a:t>The current context comparisons do not yet apply the S/V of the new bank</a:t>
            </a:r>
          </a:p>
          <a:p>
            <a:r>
              <a:t>This slide introduces the overall design and claims neither active S/V nor a performance 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per-class F1 is the full-test result of the seed 43 Global confirmed in EXP59 and EXP61</a:t>
            </a:r>
          </a:p>
          <a:p>
            <a:r>
              <a:t>The existing e3 example uses the EXP59 residual context</a:t>
            </a:r>
          </a:p>
          <a:p>
            <a:r>
              <a:t>Own residual region: label-assisted diagnosis; input-nearest group: fixed assignment from input embedding and Global probabilities</a:t>
            </a:r>
          </a:p>
          <a:p>
            <a:r>
              <a:t>The two scopes contain different rows, so F1 is not compared across scopes</a:t>
            </a:r>
          </a:p>
          <a:p>
            <a:r>
              <a:t>CIC2018 e3 Infiltration: precision 12.4% in the input-nearest group despite high recall; ToN e3 Injection: precision 8.7%</a:t>
            </a:r>
          </a:p>
          <a:p>
            <a:r>
              <a:t>Direction: context composition that keeps the correction targets while reducing FP on other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EXP61 completed results, updated 2026-09-30</a:t>
            </a:r>
          </a:p>
          <a:p>
            <a:r>
              <a:t>Conflict-free fixed split and exactly the same 100,000 training IDs as the Global C0</a:t>
            </a:r>
          </a:p>
          <a:p>
            <a:r>
              <a:t>Test: CIC2018 3,042,473 rows, ToN 2,271,723 rows, full-test evaluation</a:t>
            </a:r>
          </a:p>
          <a:p>
            <a:r>
              <a:t>Full-train XGB: CIC2018 8,666,430 rows, ToN 4,669,119 rows, a separate training budget</a:t>
            </a:r>
          </a:p>
          <a:p>
            <a:r>
              <a:t>Global/DistPFN backbone v3, BoostPFN/LoCalPFN backbone v1</a:t>
            </a:r>
          </a:p>
          <a:p>
            <a:r>
              <a:t>LoCalPFN selects the fine-tuned checkpoint by validation AUC; validation CIC 30,194 / ToN 41,744 rows</a:t>
            </a:r>
          </a:p>
          <a:p>
            <a:r>
              <a:t>BoostPFN T=50, context 500; LoCalPFN context 1000, FT 21 epochs × 30 steps</a:t>
            </a:r>
          </a:p>
          <a:p>
            <a:r>
              <a:t>Same training IDs; backbones and validation usage are not identical</a:t>
            </a:r>
          </a:p>
          <a:p>
            <a:r>
              <a:t>Per-class best values are among the shared-100k methods, excluding full-train XGB</a:t>
            </a:r>
          </a:p>
          <a:p>
            <a:r>
              <a:t>The full proposed expert/S/V system is not included in this table</a:t>
            </a:r>
          </a:p>
          <a:p>
            <a:r>
              <a:t>Single seed; the current test is the already observed development holdout</a:t>
            </a:r>
          </a:p>
          <a:p>
            <a:r>
              <a:t>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Fit, full-test prediction and per-process GPU usage measured in the same EXP61 run</a:t>
            </a:r>
          </a:p>
          <a:p>
            <a:r>
              <a:t>Two workers share the GPU, so the numbers are not standalone speed ratios between models</a:t>
            </a:r>
          </a:p>
          <a:p>
            <a:r>
              <a:t>LoCalPFN validation is included in fit: CIC 3,129.97 s / ToN 5,694.41 s</a:t>
            </a:r>
          </a:p>
          <a:p>
            <a:r>
              <a:t>DistPFN fit/predict share the Global computation and are not counted twice</a:t>
            </a:r>
          </a:p>
          <a:p>
            <a:r>
              <a:t>Global uses the separately saved backbone predictions; DistPFN adds only about 0.19 s of prior post-processing</a:t>
            </a:r>
          </a:p>
          <a:p>
            <a:r>
              <a:t>Inference throughput, per-stage RAM and the input-loading peak are in the HTML detail tables and cost.json</a:t>
            </a:r>
          </a:p>
          <a:p>
            <a:r>
              <a:t>Model RAM covers preprocessing, model loading, fit, validation and predict, excluding raw PKL loading</a:t>
            </a:r>
          </a:p>
          <a:p>
            <a:r>
              <a:t>Actual single-GPU wall time is about 6.65 h, distinct from the sum of parallel job times</a:t>
            </a:r>
          </a:p>
          <a:p>
            <a:r>
              <a:t>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Body, numbers, figures and takeaway TBD</a:t>
            </a:r>
          </a:p>
          <a:p>
            <a:r>
              <a:t>Classification ability in own region and input-nearest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Body, numbers, figures and takeaway TBD</a:t>
            </a:r>
          </a:p>
          <a:p>
            <a:r>
              <a:t>Contribution of scorer and verifier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S/V ablation and final proposed-model results on the current seed 43, K=4 bank: TBD</a:t>
            </a:r>
          </a:p>
          <a:p>
            <a:r>
              <a:t>EXP61 baseline performance is on slide 5 and cost on slide 6</a:t>
            </a:r>
          </a:p>
          <a:p>
            <a:r>
              <a:t>Extra training labels for experts and routing are reported separately from the Global C0 100k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Body, numbers, figures and takeaway TBD</a:t>
            </a:r>
          </a:p>
          <a:p>
            <a:r>
              <a:t>Confirmed effects and next improvements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Classes sharing identical feature vectors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Data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Row: original label     Column: other label on the same feature vector     Cell: share of all rows in the row class (%)</a:t>
            </a:r>
          </a:p>
        </p:txBody>
      </p:sp>
      <p:pic>
        <p:nvPicPr>
          <p:cNvPr id="24" name="Picture 23" descr="cse_cic_ids2018_matri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1344168"/>
            <a:ext cx="5394960" cy="2057400"/>
          </a:xfrm>
          <a:prstGeom prst="rect">
            <a:avLst/>
          </a:prstGeom>
        </p:spPr>
      </p:pic>
      <p:pic>
        <p:nvPicPr>
          <p:cNvPr id="25" name="Picture 24" descr="ton_iot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344168"/>
            <a:ext cx="5394960" cy="2057400"/>
          </a:xfrm>
          <a:prstGeom prst="rect">
            <a:avLst/>
          </a:prstGeom>
        </p:spPr>
      </p:pic>
      <p:pic>
        <p:nvPicPr>
          <p:cNvPr id="26" name="Picture 25" descr="bot_iot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57016"/>
            <a:ext cx="5394960" cy="2057400"/>
          </a:xfrm>
          <a:prstGeom prst="rect">
            <a:avLst/>
          </a:prstGeom>
        </p:spPr>
      </p:pic>
      <p:pic>
        <p:nvPicPr>
          <p:cNvPr id="27" name="Picture 26" descr="unsw_nb15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3557016"/>
            <a:ext cx="539496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97296"/>
            <a:ext cx="6537960" cy="283464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Blank: 0%   ·: below 1%   Grey: same class   A row can count in several cells, so cells do not add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5843016"/>
            <a:ext cx="411480" cy="12801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6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2" y="5843016"/>
            <a:ext cx="411480" cy="128016"/>
          </a:xfrm>
          <a:prstGeom prst="rect">
            <a:avLst/>
          </a:prstGeom>
          <a:solidFill>
            <a:srgbClr val="9CC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5843016"/>
            <a:ext cx="411480" cy="128016"/>
          </a:xfrm>
          <a:prstGeom prst="rect">
            <a:avLst/>
          </a:prstGeom>
          <a:solidFill>
            <a:srgbClr val="4B9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5843016"/>
            <a:ext cx="411480" cy="128016"/>
          </a:xfrm>
          <a:prstGeom prst="rect">
            <a:avLst/>
          </a:prstGeom>
          <a:solidFill>
            <a:srgbClr val="12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4" y="5843016"/>
            <a:ext cx="411480" cy="128016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9064" y="5815584"/>
            <a:ext cx="822960" cy="246888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Web attack: 1,764 + 432 − 429 overlap = 1,767 rows removed · 771 remain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Class distribution after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Data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All data (train + validation + test) · row counts and within-dataset class share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56231"/>
          <a:ext cx="5394960" cy="2913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7592"/>
                <a:gridCol w="1261872"/>
                <a:gridCol w="1261872"/>
                <a:gridCol w="1563624"/>
              </a:tblGrid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Class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Before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After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Share before → after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17,514,626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12,798,328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87.07 → 86.74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1.03 → 1.41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575,194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188,414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2.86 → 1.28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1,324,350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1,316,025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6.58 → 8.92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302,966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197,415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1.51 → 1.34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188,152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46,761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0.94 → 0.32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2,538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0.013 → 0.005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Total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20,115,529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14,755,417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 → 100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74920"/>
            <a:ext cx="5394960" cy="6583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5129784"/>
            <a:ext cx="5084064" cy="5029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Infiltration down 75.1%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Web attack down 69.6% · 771 rows after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856231"/>
          <a:ext cx="5394960" cy="3884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7592"/>
                <a:gridCol w="1261872"/>
                <a:gridCol w="1261872"/>
                <a:gridCol w="1563624"/>
              </a:tblGrid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Class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Before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After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Share before → after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203,384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200,688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0.74 → 1.86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16,792,214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6,446,120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61.02 → 59.65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4,141,256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925,247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15.05 → 8.56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203,456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113,655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0.74 → 1.05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381,777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341,263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1.39 → 3.16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6,013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5,446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0.022 → 0.050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1,594,777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1,061,699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5.79 → 9.82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3,971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3,604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0.014 → 0.033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1,358,977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39,069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4.94 → 0.36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2,834,435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1,670,497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10.30 → 15.46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Total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27,520,260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10,807,288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 → 100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Imbalance remains after cleaning · CIC2018 Web attack 771 rows, ToN Scanning 39,069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model and residual expert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283464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Separate roles of the training data · Global construction / expert construction / S·V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pool · shared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pool · residuals and experts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Route pool · S/V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11055096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Offline · model construction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Build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Base classifier from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the shared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Compute residuals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Embedding · probabilities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gap to truth · error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Cluster residuals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Split into K clusters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by failure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Build 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Shared anchor +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cluster-specific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Train S/V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Learn from Global/expert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corrections and damage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87752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04888" y="2944368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63455" y="2944368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3685032"/>
            <a:ext cx="11055096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Online · per-input prediction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Base class prediction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25496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Scorer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Selects an expert,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decides whether to call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7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Classify with the selected context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42631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496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Verifier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3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Decides whether to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accept the expert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4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Final prediction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prediction if accepted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87752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46320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04888" y="4626864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63455" y="4626864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35908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53044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35908" y="5577840"/>
            <a:ext cx="6775704" cy="0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611612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5733288"/>
            <a:ext cx="11055096" cy="283464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Call or acceptance condition not met → keep the Global prediction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Backbone frozen · experts built from contexts · S/V decide whether to replace the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per-class performance and the expert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Cleaned data · seed 43 · diagnosis of the existing residual contexts · before S/V</a:t>
            </a:r>
          </a:p>
        </p:txBody>
      </p:sp>
      <p:pic>
        <p:nvPicPr>
          <p:cNvPr id="7" name="Picture 6" descr="cic2018_global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80744"/>
            <a:ext cx="539496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407408"/>
            <a:ext cx="5394960" cy="120700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480560"/>
            <a:ext cx="5120640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Existing e3 · Infiltration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809744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Own residual region F1  0.440 → 0.967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157216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Input-nearest group precision 12.4% · FP 7,935 → 21,535</a:t>
            </a:r>
          </a:p>
        </p:txBody>
      </p:sp>
      <p:pic>
        <p:nvPicPr>
          <p:cNvPr id="12" name="Picture 11" descr="toniot_global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380744"/>
            <a:ext cx="539496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27064" y="4407408"/>
            <a:ext cx="5394960" cy="120700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480560"/>
            <a:ext cx="5120640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Existing e3 ·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809744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Own residual region F1  0.159 → 0.939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157216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Input-nearest group precision 8.7% · FP 581 → 14,222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15584"/>
            <a:ext cx="11055096" cy="292608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Own region: assigned by true residual · Input-nearest group: assigned by input embedding and Global probabilities · Arrow: Global → Expert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Improve both: correcting own-region errors and separating similar rows of other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SOTA classification on cleaned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SOTA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55096" cy="31089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same C0 100,000 rows · CIC2018 test 3.04M rows / ToN test 2.27M rows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55096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2103120"/>
                <a:gridCol w="2103120"/>
                <a:gridCol w="3282696"/>
              </a:tblGrid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Method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 Macro-F1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Macro-F1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Training pool rows · CIC / ToN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0.7824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0.6796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0.7821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7B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0.6983</a:t>
                      </a:r>
                    </a:p>
                  </a:txBody>
                  <a:tcPr marL="109728" marR="109728" marT="54864" marB="54864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0.7148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0.5866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0.7024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0.6462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7B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0.7839</a:t>
                      </a:r>
                    </a:p>
                  </a:txBody>
                  <a:tcPr marL="109728" marR="109728" marT="54864" marB="54864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0.6682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full train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0.7795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0.7162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8.67M / 4.67M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36592"/>
            <a:ext cx="11055096" cy="32004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Full-train XGB: reference with extra training data · Global: base classifier before experts and S/V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294376"/>
            <a:ext cx="5394960" cy="89611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340096"/>
            <a:ext cx="5138928" cy="2194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 · per-class differences · shared 100k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623560"/>
            <a:ext cx="5138928" cy="4480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Best Infiltration F1 0.3055 · DistPFN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Best Web attack F1 0.3321 · XGB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5294376"/>
            <a:ext cx="5394960" cy="89611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5340096"/>
            <a:ext cx="5138928" cy="2194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 · per-class differences · shared 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5623560"/>
            <a:ext cx="5138928" cy="4480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Best MitM F1 0.2363 · XGB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en-US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Best Scanning F1 0.3281 · BoostPFN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Best Macro-F1 on the same 100k rows · CIC2018 DistPFN 0.7839 · ToN XGB 0.6983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SOTA training and inference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SOTA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55096" cy="32004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RTX 4090 24GB · up to 2 jobs in parallel · elapsed time including resource contention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99616"/>
          <a:ext cx="11055096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1508760"/>
                <a:gridCol w="1645920"/>
                <a:gridCol w="1508760"/>
                <a:gridCol w="1645920"/>
                <a:gridCol w="1956816"/>
              </a:tblGrid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Method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fit (s)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predict (s)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fit (s)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predict (s)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GiB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/ ToN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1,099.3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821.7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2.92 / 2.94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2.3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55.4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0.55 / 0.53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2,308.5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97.8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1,737.6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0.89 / 0.89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3,196.3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17,300.8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5,783.1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11,144.8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7.54 / 7.54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1,099.4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821.9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2.92 / 2.94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full train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107.8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143.2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2.20 / 1.59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928616"/>
            <a:ext cx="11055096" cy="3657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LoCalPFN fit includes validation · full-test inference includes kNN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04104"/>
            <a:ext cx="11055096" cy="3657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DistPFN shares the Global fit and inference · prior correction adds about 0.19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61304"/>
            <a:ext cx="11055096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GPU: per-process peak sampled every 1 s · not a standalone speed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LoCalPFN full-test inference · CIC2018 4.81 h · ToN 3.10 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ability: own region vs input-nearest group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80192" y="402336"/>
            <a:ext cx="941832" cy="2834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Draft · TBD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Expert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394960" cy="391363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80160"/>
            <a:ext cx="5394960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521208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View A · own residual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280160"/>
            <a:ext cx="5394960" cy="391363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280160"/>
            <a:ext cx="5394960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3" y="1307592"/>
            <a:ext cx="521208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View B · input-nearest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506577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Representative expert · class: TBD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423160"/>
          <a:ext cx="50657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936"/>
                <a:gridCol w="1645920"/>
                <a:gridCol w="1645920"/>
              </a:tblGrid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Metric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Precision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Recall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F1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4498848"/>
            <a:ext cx="242316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Corrections: TBD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498848"/>
            <a:ext cx="2459736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Damage: 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1865376"/>
            <a:ext cx="506577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Representative expert · class: TBD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91655" y="2423160"/>
          <a:ext cx="50657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936"/>
                <a:gridCol w="1645920"/>
                <a:gridCol w="1645920"/>
              </a:tblGrid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Metric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Precision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Recall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F1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91655" y="4498848"/>
            <a:ext cx="242316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Corrections: TBD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4498848"/>
            <a:ext cx="2459736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Damage: TBD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577840"/>
            <a:ext cx="1371600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927201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Contribution of scorer and verifier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80192" y="402336"/>
            <a:ext cx="941832" cy="2834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Draft · TBD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Component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25880"/>
          <a:ext cx="11055096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1256"/>
                <a:gridCol w="1828800"/>
                <a:gridCol w="1828800"/>
                <a:gridCol w="2103120"/>
                <a:gridCol w="2103120"/>
              </a:tblGrid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Configuration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ToN-IoT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Calls · accepted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Corrections · damage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 S·V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 only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 only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S+V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754880"/>
            <a:ext cx="11055096" cy="448056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809744"/>
            <a:ext cx="2743200" cy="32004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· gate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809744"/>
            <a:ext cx="7818120" cy="32004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577840"/>
            <a:ext cx="1371600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577840"/>
            <a:ext cx="927201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Final performance and cost of the proposed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Final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55096" cy="32004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Final comparison of the validated expert and S/V configuration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08760"/>
          <a:ext cx="11055096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1256"/>
                <a:gridCol w="2011680"/>
                <a:gridCol w="2011680"/>
                <a:gridCol w="1920240"/>
                <a:gridCol w="1920240"/>
              </a:tblGrid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Configuration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Training info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Call cost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no S/V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S only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en-US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V only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S+V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818888"/>
            <a:ext cx="11055096" cy="98755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28616"/>
            <a:ext cx="10725912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Baselines: SOTA performance (slide 5) · measured cost (slide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85816"/>
            <a:ext cx="10725912" cy="246888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US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Includes the extra training rows for experts and routing, and the conditional inference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Confirmed effects and next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80192" y="402336"/>
            <a:ext cx="941832" cy="2834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Draft · TBD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en-US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3538728" cy="197510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80160"/>
            <a:ext cx="3538728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3355848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37943"/>
            <a:ext cx="3209544" cy="127101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280160"/>
            <a:ext cx="3538728" cy="197510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280160"/>
            <a:ext cx="3538728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307592"/>
            <a:ext cx="3355848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discrimination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837943"/>
            <a:ext cx="3209544" cy="127101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280160"/>
            <a:ext cx="3538728" cy="197510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280160"/>
            <a:ext cx="3538728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307592"/>
            <a:ext cx="3355848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Final model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37943"/>
            <a:ext cx="3209544" cy="127101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38728"/>
            <a:ext cx="11055096" cy="166420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538728"/>
            <a:ext cx="11055096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66160"/>
            <a:ext cx="10872216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Next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96512"/>
            <a:ext cx="10725912" cy="9601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77840"/>
            <a:ext cx="1371600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577840"/>
            <a:ext cx="927201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October 2 lab meeting · English draft</dc:title>
  <dc:subject>Data review, context composition, expert capability, S/V, comparison with existing methods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Slides 1–6 written, 7–10 TBD pending model experiments; translated from the Korean draft</dc:description>
</cp:coreProperties>
</file>