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0">
                <a:solidFill>
                  <a:srgbClr val="5D6773"/>
                </a:solidFill>
              </a:rPr>
              <a:t>RACE-PFN · 오프라인 구성(위)과 온라인 추론(아래), 점선 상자는 학습형 게이트로 현재 보정 단계에서 닫혀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950" b="1">
                <a:solidFill>
                  <a:srgbClr val="5D6773"/>
                </a:solidFill>
              </a:rPr>
              <a:t>OFFLINE · 한 번 구성한 뒤 고정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Global TFM  F(C0, ·)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C0 = benign 0.75 · 공격 균등 · 100k행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208" y="16459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실패 서명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위치 φ(16d) · 방향 y − p · 심각도, held-out 오류만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6459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실패 영역 K개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서명 공간 k-means, 서로소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16459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전문가 은행 Cₖ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균형 anchor ∪ 영역 행(≤186k)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185416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상한(oracle)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라벨로 행별 최선을 고르면 macro 0.83~0.87 &gt; XGB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7568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held-out 오류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5546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군집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0430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컨텍스트화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3144" y="2002536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05088" y="1421892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>
                <a:solidFill>
                  <a:srgbClr val="5D6773"/>
                </a:solidFill>
              </a:rPr>
              <a:t>라벨로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1752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950" b="1">
                <a:solidFill>
                  <a:srgbClr val="5D6773"/>
                </a:solidFill>
              </a:rPr>
              <a:t>ONLINE · 입력마다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10128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1  Global 예측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모든 입력, 한 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331012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9AA3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5D6773"/>
                </a:solidFill>
              </a:rPr>
              <a:t>2  제안 게이트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P(이득 &gt; 0) &gt; τ_pre · 학습형 scorer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3208" y="3310128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3  top-1 전문가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호출 1회, 컨텍스트 Cₖ로 예측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3310128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5875">
            <a:solidFill>
              <a:srgbClr val="9AA3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5D6773"/>
                </a:solidFill>
              </a:rPr>
              <a:t>4  검증 게이트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이득 하한 &gt; τ_post · 학습형 verifier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3310128"/>
            <a:ext cx="1865376" cy="9144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교체 / 유지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어느 게이트든 "아니오"면 global 유지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8658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480974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05002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9473184" y="3666744"/>
            <a:ext cx="24688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526280"/>
            <a:ext cx="110550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학습되는 것은 컨텍스트 행 집합(C0, Cₖ)과 게이트 모델 2개, backbone θ는 한 번도 갱신하지 않음 · 전문가는 공격 이름이 아니라 global의 실패 서명에서 자동으로 나옴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>
          <a:xfrm>
            <a:off x="566928" y="274320"/>
            <a:ext cx="10842424" cy="594360"/>
          </a:xfrm>
        </p:spPr>
        <p:txBody>
          <a:bodyPr/>
          <a:lstStyle/>
          <a:p>
            <a:r>
              <a:rPr dirty="0" err="1"/>
              <a:t>TabPFN</a:t>
            </a:r>
            <a:r>
              <a:rPr dirty="0"/>
              <a:t> ·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입력으로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표 </a:t>
            </a:r>
            <a:r>
              <a:rPr dirty="0" err="1"/>
              <a:t>형식</a:t>
            </a:r>
            <a:r>
              <a:rPr dirty="0"/>
              <a:t> foundation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0">
                <a:solidFill>
                  <a:srgbClr val="5D6773"/>
                </a:solidFill>
              </a:rPr>
              <a:t>Hollmann 외, </a:t>
            </a:r>
            <a:r>
              <a:rPr sz="1150" b="1">
                <a:solidFill>
                  <a:srgbClr val="5D6773"/>
                </a:solidFill>
              </a:rPr>
              <a:t>Accurate predictions on small data with a tabular foundation model</a:t>
            </a:r>
            <a:r>
              <a:rPr sz="1150" b="0">
                <a:solidFill>
                  <a:srgbClr val="5D6773"/>
                </a:solidFill>
              </a:rPr>
              <a:t>, Nature 2025 · 1세대는 ICLR 2023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98932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컨텍스트</a:t>
            </a:r>
          </a:p>
          <a:p>
            <a:pPr algn="ctr">
              <a:spcBef>
                <a:spcPts val="0"/>
              </a:spcBef>
              <a:buNone/>
            </a:pPr>
            <a:r>
              <a:rPr sz="1000" b="0">
                <a:solidFill>
                  <a:srgbClr val="21262E"/>
                </a:solidFill>
              </a:rPr>
              <a:t>(x₁,y₁) … (xₙ,yₙ)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라벨 있는 행 n개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429000"/>
            <a:ext cx="1783080" cy="6858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질의 행 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15768" y="2377440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2715768" y="3675887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10128" y="2148840"/>
            <a:ext cx="1783080" cy="1965960"/>
          </a:xfrm>
          <a:prstGeom prst="roundRect">
            <a:avLst>
              <a:gd name="adj" fmla="val 8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트랜스포머</a:t>
            </a:r>
          </a:p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00B8EE"/>
                </a:solidFill>
              </a:rPr>
              <a:t>θ 고정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D6E4F3"/>
                </a:solidFill>
              </a:rPr>
              <a:t>합성 데이터로 1회 사전학습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84648" y="3026664"/>
            <a:ext cx="50292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79008" y="2560320"/>
            <a:ext cx="658368" cy="114300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p(y|x)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544068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00" b="1">
                <a:solidFill>
                  <a:srgbClr val="21262E"/>
                </a:solidFill>
              </a:rPr>
              <a:t>경사 갱신 없음 · 적합 없음 · 순전파 한 번으로 테스트 전체 예측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컨텍스트 행을 바꾸면 같은 θ로 다른 분류기가 됨, 전문화는 행 교체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155448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46304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1  사전학습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구조적 인과 모델(SCM) prior에서 뽑은 합성 데이터셋 약 1억 개로 트랜스포머를 한 번 학습, 실제 데이터는 쓰지 않음</a:t>
            </a:r>
          </a:p>
        </p:txBody>
      </p:sp>
      <p:sp>
        <p:nvSpPr>
          <p:cNvPr id="15" name="Oval 14"/>
          <p:cNvSpPr/>
          <p:nvPr/>
        </p:nvSpPr>
        <p:spPr>
          <a:xfrm>
            <a:off x="6784848" y="256032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2  in-context 추론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(학습 표본, 라벨) 시퀀스를 컨텍스트로 넣고 질의 행의 사후확률을 단일 순전파로 출력, 베이지안 추론 근사</a:t>
            </a:r>
          </a:p>
        </p:txBody>
      </p:sp>
      <p:sp>
        <p:nvSpPr>
          <p:cNvPr id="17" name="Oval 16"/>
          <p:cNvSpPr/>
          <p:nvPr/>
        </p:nvSpPr>
        <p:spPr>
          <a:xfrm>
            <a:off x="6784848" y="356616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47472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3  세대별 규모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1세대 1K행 · 2세대 10K행×500특징 · 2.5세대 50K×2K · 3세대(2026.05) 100만 행, 이 연구는 3세대 분류 체크포인트 사용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457200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48056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4  이 연구에서의 쓰임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컨텍스트 100k~1M행을 실험 변수로, RTX 4090에서 4.02M행 추론에 100k 컨텍스트 기준 약 100초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TabPFN 적합성 · 같은 컨텍스트 행으로 학습한 XGBoost와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12060"/>
              </p:ext>
            </p:extLst>
          </p:nvPr>
        </p:nvGraphicFramePr>
        <p:xfrm>
          <a:off x="566928" y="1325880"/>
          <a:ext cx="11055096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5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컨텍스트 구성 (= XGBoost 학습 행)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benign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공격 6종 (클래스당)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web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TabPFN-v3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자연 비율 · 250k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217,676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자연 (ddos 16,459 · inf 2,338)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32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0.7561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b="0" dirty="0">
                          <a:solidFill>
                            <a:srgbClr val="21262E"/>
                          </a:solidFill>
                        </a:rPr>
                        <a:t>0.6515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자연 배분 · 100k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75,000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자연 (ddos 12,730 · inf 1,809)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0.7572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 dirty="0">
                          <a:solidFill>
                            <a:srgbClr val="21262E"/>
                          </a:solidFill>
                        </a:rPr>
                        <a:t>0.7491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균등 · 100k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75,000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4,848씩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761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0.7562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균등 · 250k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187,500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12,348씩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761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0.7474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0.7513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 0.75 · 자연 배분 · 1M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750,000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자연 (ddos 127,298 · inf 18,085)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244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0.7430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전체 학습 풀 · 12.07M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10,508,775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전체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1,522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>
                          <a:solidFill>
                            <a:srgbClr val="21262E"/>
                          </a:solidFill>
                        </a:rPr>
                        <a:t>-</a:t>
                      </a:r>
                      <a:endParaRPr sz="1000" b="0" dirty="0">
                        <a:solidFill>
                          <a:srgbClr val="21262E"/>
                        </a:solidFill>
                      </a:endParaRP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359359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 sz="950" b="0" dirty="0">
              <a:solidFill>
                <a:srgbClr val="5D677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5404" y="3922777"/>
            <a:ext cx="11056620" cy="1132154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>
            <a:off x="566928" y="3922776"/>
            <a:ext cx="11055096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250" b="1" dirty="0" err="1">
                <a:solidFill>
                  <a:srgbClr val="00306C"/>
                </a:solidFill>
              </a:rPr>
              <a:t>TabPFN이</a:t>
            </a:r>
            <a:r>
              <a:rPr sz="1250" b="1" dirty="0">
                <a:solidFill>
                  <a:srgbClr val="00306C"/>
                </a:solidFill>
              </a:rPr>
              <a:t> </a:t>
            </a:r>
            <a:r>
              <a:rPr sz="1250" b="1" dirty="0" err="1">
                <a:solidFill>
                  <a:srgbClr val="00306C"/>
                </a:solidFill>
              </a:rPr>
              <a:t>구성에</a:t>
            </a:r>
            <a:r>
              <a:rPr sz="1250" b="1" dirty="0">
                <a:solidFill>
                  <a:srgbClr val="00306C"/>
                </a:solidFill>
              </a:rPr>
              <a:t> </a:t>
            </a:r>
            <a:r>
              <a:rPr sz="1250" b="1" dirty="0" err="1">
                <a:solidFill>
                  <a:srgbClr val="00306C"/>
                </a:solidFill>
              </a:rPr>
              <a:t>따라</a:t>
            </a:r>
            <a:r>
              <a:rPr sz="1250" b="1" dirty="0">
                <a:solidFill>
                  <a:srgbClr val="00306C"/>
                </a:solidFill>
              </a:rPr>
              <a:t> </a:t>
            </a:r>
            <a:r>
              <a:rPr sz="1250" b="1" dirty="0" err="1">
                <a:solidFill>
                  <a:srgbClr val="00306C"/>
                </a:solidFill>
              </a:rPr>
              <a:t>움직이는</a:t>
            </a:r>
            <a:r>
              <a:rPr sz="1250" b="1" dirty="0">
                <a:solidFill>
                  <a:srgbClr val="00306C"/>
                </a:solidFill>
              </a:rPr>
              <a:t> </a:t>
            </a:r>
            <a:r>
              <a:rPr sz="1250" b="1" dirty="0" err="1">
                <a:solidFill>
                  <a:srgbClr val="00306C"/>
                </a:solidFill>
              </a:rPr>
              <a:t>이유</a:t>
            </a:r>
            <a:r>
              <a:rPr sz="1250" b="1" dirty="0">
                <a:solidFill>
                  <a:srgbClr val="00306C"/>
                </a:solidFill>
              </a:rPr>
              <a:t> (0.65~0.76)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452" y="4325112"/>
            <a:ext cx="11055096" cy="654607"/>
          </a:xfrm>
          <a:prstGeom prst="rect">
            <a:avLst/>
          </a:prstGeom>
          <a:noFill/>
        </p:spPr>
        <p:txBody>
          <a:bodyPr wrap="square" lIns="182880" tIns="80467" rIns="146304" bIns="65836" anchor="t">
            <a:noAutofit/>
          </a:bodyPr>
          <a:lstStyle/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in-context </a:t>
            </a:r>
            <a:r>
              <a:rPr sz="1050" b="0" dirty="0" err="1">
                <a:solidFill>
                  <a:srgbClr val="21262E"/>
                </a:solidFill>
              </a:rPr>
              <a:t>학습은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컨텍스트의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클래스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비율을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prior로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lang="ko-KR" altLang="en-US" sz="1050" b="0" dirty="0">
                <a:solidFill>
                  <a:srgbClr val="21262E"/>
                </a:solidFill>
              </a:rPr>
              <a:t>읽음</a:t>
            </a:r>
            <a:endParaRPr sz="1050" b="0" dirty="0">
              <a:solidFill>
                <a:srgbClr val="21262E"/>
              </a:solidFill>
            </a:endParaRPr>
          </a:p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 err="1">
                <a:solidFill>
                  <a:srgbClr val="21262E"/>
                </a:solidFill>
              </a:rPr>
              <a:t>대가</a:t>
            </a:r>
            <a:r>
              <a:rPr sz="1050" b="0" dirty="0">
                <a:solidFill>
                  <a:srgbClr val="21262E"/>
                </a:solidFill>
              </a:rPr>
              <a:t> · </a:t>
            </a:r>
            <a:r>
              <a:rPr sz="1050" b="0" dirty="0" err="1">
                <a:solidFill>
                  <a:srgbClr val="21262E"/>
                </a:solidFill>
              </a:rPr>
              <a:t>호출당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추론이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무거움</a:t>
            </a:r>
            <a:r>
              <a:rPr sz="1050" b="0" dirty="0">
                <a:solidFill>
                  <a:srgbClr val="21262E"/>
                </a:solidFill>
              </a:rPr>
              <a:t>(4.02M행 100초 GPU), 1M </a:t>
            </a:r>
            <a:r>
              <a:rPr sz="1050" b="0" dirty="0" err="1">
                <a:solidFill>
                  <a:srgbClr val="21262E"/>
                </a:solidFill>
              </a:rPr>
              <a:t>컨텍스트는</a:t>
            </a:r>
            <a:r>
              <a:rPr sz="1050" b="0" dirty="0">
                <a:solidFill>
                  <a:srgbClr val="21262E"/>
                </a:solidFill>
              </a:rPr>
              <a:t> 19.5 </a:t>
            </a:r>
            <a:r>
              <a:rPr sz="1050" b="0" dirty="0" err="1">
                <a:solidFill>
                  <a:srgbClr val="21262E"/>
                </a:solidFill>
              </a:rPr>
              <a:t>GB이고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seed에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따라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불안정</a:t>
            </a:r>
            <a:endParaRPr sz="1050" b="0" dirty="0">
              <a:solidFill>
                <a:srgbClr val="2126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SOTA 선정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3310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비교군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계열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분리하는 질문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출처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XGBoost (전체 풀 12.07M행)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트리 부스팅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표 형식 데이터의 강한 기본 기준선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KDD 2016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TabPFN · 자연 비율 무작위 컨텍스트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동일 모델 대조군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구성 규칙(비중·배분) 자체의 효과를 분리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ICLR 2023 · Nature 2025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BoostPFN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PFN 부스팅 앙상블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잔차 기반 컨텍스트 앙상블이 단일 구성 컨텍스트를 넘는지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AISTATS 2025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LoCalPFN · TabPFN-kNN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질의별 검색 컨텍스트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검색형(kNN) 컨텍스트가 규칙형 배분을 넘는지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NeurIPS 2024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MixturePFN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클러스터 라우팅 컨텍스트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입력 공간 군집 라우팅이 실패 서명 군집(이 연구)과 어떻게 다른지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ICLR 2025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DistPFN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사후확률 라벨 시프트 보정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컨텍스트를 바꾸지 않고 보정만으로 같은 이득이 나는지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ICML 2026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Energy 기반 open-set flow 분류기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open-set NIDS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unseen 공격군 시나리오에서 energy 점수 기준선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Computers &amp; Security 2025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dirty="0" err="1"/>
              <a:t>BoostPFN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5D6773"/>
                </a:solidFill>
              </a:rPr>
              <a:t>Prior-Fitted Networks Scale to Larger Datasets When Treated as Weak Learners</a:t>
            </a:r>
            <a:r>
              <a:rPr sz="1150" b="0">
                <a:solidFill>
                  <a:srgbClr val="5D6773"/>
                </a:solidFill>
              </a:rPr>
              <a:t>, AISTATS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71600"/>
            <a:ext cx="598932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학습 데이터 D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표본 가중치 wₜ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020824"/>
            <a:ext cx="45720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44952" y="1691640"/>
            <a:ext cx="1783080" cy="86868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wₜ로 부분집합 추출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= 컨텍스트 Cₜ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01184" y="2020824"/>
            <a:ext cx="457200" cy="201168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31536" y="1691640"/>
            <a:ext cx="914400" cy="868680"/>
          </a:xfrm>
          <a:prstGeom prst="roundRect">
            <a:avLst>
              <a:gd name="adj" fmla="val 10000"/>
            </a:avLst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FFFFFF"/>
                </a:solidFill>
              </a:rPr>
              <a:t>PFN fₜ</a:t>
            </a:r>
          </a:p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D6E4F3"/>
                </a:solidFill>
              </a:rPr>
              <a:t>θ 고정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3063240"/>
            <a:ext cx="3300984" cy="7772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>
                <a:solidFill>
                  <a:srgbClr val="00306C"/>
                </a:solidFill>
              </a:rPr>
              <a:t>앙상블 Fₜ = Fₜ₋₁ + η·fₜ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잔차 rₜ = y − Fₜ(x) 계산</a:t>
            </a:r>
          </a:p>
        </p:txBody>
      </p:sp>
      <p:sp>
        <p:nvSpPr>
          <p:cNvPr id="11" name="Right Arrow 10"/>
          <p:cNvSpPr/>
          <p:nvPr/>
        </p:nvSpPr>
        <p:spPr>
          <a:xfrm rot="5400000">
            <a:off x="5788152" y="2651760"/>
            <a:ext cx="201168" cy="347472"/>
          </a:xfrm>
          <a:prstGeom prst="rightArrow">
            <a:avLst/>
          </a:prstGeom>
          <a:solidFill>
            <a:srgbClr val="007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3063240"/>
            <a:ext cx="1874519" cy="7772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가중치 갱신 wₜ₊₁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잔차 큰 표본 ↑</a:t>
            </a:r>
          </a:p>
        </p:txBody>
      </p:sp>
      <p:sp>
        <p:nvSpPr>
          <p:cNvPr id="13" name="Right Arrow 12"/>
          <p:cNvSpPr/>
          <p:nvPr/>
        </p:nvSpPr>
        <p:spPr>
          <a:xfrm rot="10800000">
            <a:off x="2788920" y="3355848"/>
            <a:ext cx="201168" cy="201168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 rot="16200000">
            <a:off x="1673352" y="2651760"/>
            <a:ext cx="201168" cy="347472"/>
          </a:xfrm>
          <a:prstGeom prst="rightArrow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069080"/>
            <a:ext cx="544068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약한 학습기 하나 = 부분집합 컨텍스트를 가진 PFN 한 번의 추론,</a:t>
            </a:r>
          </a:p>
          <a:p>
            <a:pPr algn="ctr">
              <a:spcBef>
                <a:spcPts val="0"/>
              </a:spcBef>
              <a:buNone/>
            </a:pPr>
            <a:r>
              <a:rPr sz="950" b="0">
                <a:solidFill>
                  <a:srgbClr val="5D6773"/>
                </a:solidFill>
              </a:rPr>
              <a:t>잔차가 큰 표본이 다음 컨텍스트에 더 뽑히는 순차 앙상블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155448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46304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1  PFN을 약한 학습기로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학습 데이터 부분집합을 컨텍스트로 갖는 PFN 하나가 부스팅의 약한 학습기, 파라미터 갱신 없음</a:t>
            </a:r>
          </a:p>
        </p:txBody>
      </p:sp>
      <p:sp>
        <p:nvSpPr>
          <p:cNvPr id="18" name="Oval 17"/>
          <p:cNvSpPr/>
          <p:nvPr/>
        </p:nvSpPr>
        <p:spPr>
          <a:xfrm>
            <a:off x="6784848" y="256032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6888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2  잔차가 다음 컨텍스트를 정함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현재 앙상블의 부스팅 잔차로 표본 가중치를 갱신하고 그 가중치로 새 컨텍스트를 추출해 순차 추가</a:t>
            </a:r>
          </a:p>
        </p:txBody>
      </p:sp>
      <p:sp>
        <p:nvSpPr>
          <p:cNvPr id="20" name="Oval 19"/>
          <p:cNvSpPr/>
          <p:nvPr/>
        </p:nvSpPr>
        <p:spPr>
          <a:xfrm>
            <a:off x="6784848" y="356616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47472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3  규모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사전학습 컨텍스트 한계의 50배 데이터까지 표준 PFN을 상회, GBDT·딥러닝·AutoML보다 짧은 학습 시간(논문 보고)</a:t>
            </a:r>
          </a:p>
        </p:txBody>
      </p:sp>
      <p:sp>
        <p:nvSpPr>
          <p:cNvPr id="22" name="Oval 21"/>
          <p:cNvSpPr/>
          <p:nvPr/>
        </p:nvSpPr>
        <p:spPr>
          <a:xfrm>
            <a:off x="6784848" y="4572000"/>
            <a:ext cx="329184" cy="329184"/>
          </a:xfrm>
          <a:prstGeom prst="ellipse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480560"/>
            <a:ext cx="4352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150" b="1">
                <a:solidFill>
                  <a:srgbClr val="00306C"/>
                </a:solidFill>
              </a:rPr>
              <a:t>4  이 연구와의 차이</a:t>
            </a:r>
          </a:p>
          <a:p>
            <a:pPr algn="l">
              <a:spcBef>
                <a:spcPts val="0"/>
              </a:spcBef>
              <a:buNone/>
            </a:pPr>
            <a:r>
              <a:rPr sz="1000" b="0">
                <a:solidFill>
                  <a:srgbClr val="5D6773"/>
                </a:solidFill>
              </a:rPr>
              <a:t>잔차를 쓰는 점은 같으나 BoostPFN은 모든 입력에 모든 약한 학습기를 더하는 앙상블, 이 연구는 실패 영역별 컨텍스트를 이득이 기대되는 입력에만 top-1 호출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실험 예정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71600"/>
          <a:ext cx="11055096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실험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E1  closed-set 분류 · 4 데이터셋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benign 0.75 · 균등 · 100k 규칙을 ton_iot · bot_iot · unsw_nb15에 재조정 없이 적용, 시간순 분할, 노브는 검증 split(D_cal)에서 선택 후 test 1회, seed 전부 표기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macro-F1 · tail-macro-F1 · 클래스별 recall · benign recall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E2  불균형 정도 sweep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컨텍스트 풀의 tail 클래스 표본을 IR 10²·10³·10⁴로 줄여 재구성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tail-F1 대 IR 곡선과 심각도 AUC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E3  unseen 공격군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시간순 zero-shot novelty(시나리오 A) · unseen 수 sweep(시나리오 D), 논문 초안 5.2절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AUROC · FPR95 · AUOSCR(같은 known macro-F1에서) · benign 유지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1262E"/>
                          </a:solidFill>
                        </a:rPr>
                        <a:t>E4  비용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컨텍스트 100k~1M, 추론 시간·GPU 메모리, 비교군도 같은 축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1262E"/>
                          </a:solidFill>
                        </a:rPr>
                        <a:t>초 · GB · macro-F1 대 컨텍스트 크기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Oracle과 실험결과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96112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 sz="1150" b="0" dirty="0">
              <a:solidFill>
                <a:srgbClr val="5D677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전문가 은행 상한 (oracle)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행마다 라벨로 global·전문가 중 최선을 고를 때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627632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31920" y="1627632"/>
            <a:ext cx="5748527" cy="256032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80447" y="1627632"/>
            <a:ext cx="999744" cy="256032"/>
          </a:xfrm>
          <a:prstGeom prst="rect">
            <a:avLst/>
          </a:prstGeom>
          <a:solidFill>
            <a:srgbClr val="7F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53344" y="16002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0.83~0.87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84831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XGBoost 전체 풀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12.07M행 학습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194560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31920" y="2194560"/>
            <a:ext cx="3869009" cy="256032"/>
          </a:xfrm>
          <a:prstGeom prst="rect">
            <a:avLst/>
          </a:prstGeom>
          <a:solidFill>
            <a:srgbClr val="9AA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74081" y="2167127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0.7548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 dirty="0" err="1">
                <a:solidFill>
                  <a:srgbClr val="21262E"/>
                </a:solidFill>
              </a:rPr>
              <a:t>제안</a:t>
            </a:r>
            <a:r>
              <a:rPr sz="1050" b="1" dirty="0">
                <a:solidFill>
                  <a:srgbClr val="21262E"/>
                </a:solidFill>
              </a:rPr>
              <a:t> · </a:t>
            </a:r>
            <a:r>
              <a:rPr sz="1050" b="1" dirty="0" err="1">
                <a:solidFill>
                  <a:srgbClr val="21262E"/>
                </a:solidFill>
              </a:rPr>
              <a:t>구성</a:t>
            </a:r>
            <a:r>
              <a:rPr sz="1050" b="1" dirty="0">
                <a:solidFill>
                  <a:srgbClr val="21262E"/>
                </a:solidFill>
              </a:rPr>
              <a:t> </a:t>
            </a:r>
            <a:r>
              <a:rPr sz="1050" b="1" dirty="0" err="1">
                <a:solidFill>
                  <a:srgbClr val="21262E"/>
                </a:solidFill>
              </a:rPr>
              <a:t>컨텍스트</a:t>
            </a:r>
            <a:r>
              <a:rPr sz="1050" b="1" dirty="0">
                <a:solidFill>
                  <a:srgbClr val="21262E"/>
                </a:solidFill>
              </a:rPr>
              <a:t> C0</a:t>
            </a:r>
          </a:p>
          <a:p>
            <a:pPr algn="l">
              <a:spcBef>
                <a:spcPts val="0"/>
              </a:spcBef>
              <a:buNone/>
            </a:pPr>
            <a:r>
              <a:rPr sz="900" b="0" dirty="0">
                <a:solidFill>
                  <a:srgbClr val="5D6773"/>
                </a:solidFill>
              </a:rPr>
              <a:t>benign 0.75 · </a:t>
            </a:r>
            <a:r>
              <a:rPr sz="900" b="0" dirty="0" err="1">
                <a:solidFill>
                  <a:srgbClr val="5D6773"/>
                </a:solidFill>
              </a:rPr>
              <a:t>균등</a:t>
            </a:r>
            <a:r>
              <a:rPr sz="900" b="0" dirty="0">
                <a:solidFill>
                  <a:srgbClr val="5D6773"/>
                </a:solidFill>
              </a:rPr>
              <a:t> · 100k, 4 seed </a:t>
            </a:r>
            <a:r>
              <a:rPr sz="900" b="0" dirty="0" err="1">
                <a:solidFill>
                  <a:srgbClr val="5D6773"/>
                </a:solidFill>
              </a:rPr>
              <a:t>평균</a:t>
            </a:r>
            <a:r>
              <a:rPr sz="900" b="0" dirty="0">
                <a:solidFill>
                  <a:srgbClr val="5D6773"/>
                </a:solidFill>
              </a:rPr>
              <a:t>, </a:t>
            </a:r>
            <a:r>
              <a:rPr sz="900" b="0" dirty="0" err="1">
                <a:solidFill>
                  <a:srgbClr val="5D6773"/>
                </a:solidFill>
              </a:rPr>
              <a:t>전문가</a:t>
            </a:r>
            <a:r>
              <a:rPr sz="900" b="0" dirty="0">
                <a:solidFill>
                  <a:srgbClr val="5D6773"/>
                </a:solidFill>
              </a:rPr>
              <a:t> </a:t>
            </a:r>
            <a:r>
              <a:rPr sz="900" b="0" dirty="0" err="1">
                <a:solidFill>
                  <a:srgbClr val="5D6773"/>
                </a:solidFill>
              </a:rPr>
              <a:t>호출</a:t>
            </a:r>
            <a:r>
              <a:rPr sz="900" b="0" dirty="0">
                <a:solidFill>
                  <a:srgbClr val="5D6773"/>
                </a:solidFill>
              </a:rPr>
              <a:t> 전 </a:t>
            </a:r>
            <a:r>
              <a:rPr sz="900" b="0" dirty="0" err="1">
                <a:solidFill>
                  <a:srgbClr val="5D6773"/>
                </a:solidFill>
              </a:rPr>
              <a:t>단계</a:t>
            </a:r>
            <a:endParaRPr sz="900" b="0" dirty="0">
              <a:solidFill>
                <a:srgbClr val="5D677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31920" y="2761488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761488"/>
            <a:ext cx="3849014" cy="256032"/>
          </a:xfrm>
          <a:prstGeom prst="rect">
            <a:avLst/>
          </a:prstGeom>
          <a:solidFill>
            <a:srgbClr val="1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54086" y="273405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0.7540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7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21262E"/>
                </a:solidFill>
              </a:rPr>
              <a:t>TabPFN · 1M 자연 컨텍스트 (구성 전)</a:t>
            </a:r>
          </a:p>
          <a:p>
            <a:pPr algn="l">
              <a:spcBef>
                <a:spcPts val="0"/>
              </a:spcBef>
              <a:buNone/>
            </a:pPr>
            <a:r>
              <a:rPr sz="900" b="0">
                <a:solidFill>
                  <a:srgbClr val="5D6773"/>
                </a:solidFill>
              </a:rPr>
              <a:t>benign 87%, seed 42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328415"/>
            <a:ext cx="7498079" cy="256032"/>
          </a:xfrm>
          <a:prstGeom prst="rect">
            <a:avLst/>
          </a:prstGeom>
          <a:solidFill>
            <a:srgbClr val="E4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31920" y="3328415"/>
            <a:ext cx="3029224" cy="256032"/>
          </a:xfrm>
          <a:prstGeom prst="rect">
            <a:avLst/>
          </a:prstGeom>
          <a:solidFill>
            <a:srgbClr val="258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34296" y="3300983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50" b="1">
                <a:solidFill>
                  <a:srgbClr val="00306C"/>
                </a:solidFill>
              </a:rPr>
              <a:t>0.7212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959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6319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385876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>
                <a:solidFill>
                  <a:srgbClr val="9AA3AE"/>
                </a:solidFill>
              </a:rPr>
              <a:t>0.90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>
          <a:xfrm>
            <a:off x="566927" y="274320"/>
            <a:ext cx="10580043" cy="594360"/>
          </a:xfrm>
        </p:spPr>
        <p:txBody>
          <a:bodyPr/>
          <a:lstStyle/>
          <a:p>
            <a:r>
              <a:t>100k 컨텍스트, benign 0.75, 공격 균등 · 클래스별 F1 (seed 42~45)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280160"/>
          <a:ext cx="11055096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클래스 F1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s42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s43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s44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s45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4-seed 평균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XGB 같은 100k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XGB 전체 풀</a:t>
                      </a:r>
                    </a:p>
                  </a:txBody>
                  <a:tcPr marL="82296" marR="64008" marT="18288" marB="18288" anchor="ctr">
                    <a:solidFill>
                      <a:srgbClr val="003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benign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0.9909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0.9878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0.9910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0.9943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bot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0.9983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0.9973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0.9978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brute_force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0.9159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ddos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0.9459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0.9588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B83A3A"/>
                          </a:solidFill>
                        </a:rPr>
                        <a:t>0.8879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0.9596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B83A3A"/>
                          </a:solidFill>
                        </a:rPr>
                        <a:t>0.9381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0.9994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0.9921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dos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0.7807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0.7822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infiltration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0.4201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0.4439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0.4045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0.4175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0.4215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0.3370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0.4291</a:t>
                      </a:r>
                    </a:p>
                  </a:txBody>
                  <a:tcPr marL="82296" marR="64008" marT="18288" marB="18288" anchor="ctr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web_attacks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0.2419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0.2333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0.2118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0.2322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0.2439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0.1724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macro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0.7562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0.7617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0.7442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0.7539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0.7540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0.7525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0.7548</a:t>
                      </a:r>
                    </a:p>
                  </a:txBody>
                  <a:tcPr marL="82296" marR="64008" marT="18288" marB="18288"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tail (dos·inf·web)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0.5534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0.5613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0.5454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0.5426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1">
                          <a:solidFill>
                            <a:srgbClr val="21262E"/>
                          </a:solidFill>
                        </a:rPr>
                        <a:t>0.5507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0.5260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 b="0">
                          <a:solidFill>
                            <a:srgbClr val="21262E"/>
                          </a:solidFill>
                        </a:rPr>
                        <a:t>0.5331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7" y="4242815"/>
            <a:ext cx="6376614" cy="1214088"/>
          </a:xfrm>
          <a:prstGeom prst="roundRect">
            <a:avLst>
              <a:gd name="adj" fmla="val 4072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>
            <a:off x="566927" y="4242815"/>
            <a:ext cx="6376613" cy="402336"/>
          </a:xfrm>
          <a:prstGeom prst="round2SameRect">
            <a:avLst>
              <a:gd name="adj1" fmla="val 18181"/>
              <a:gd name="adj2" fmla="val 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46304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00306C"/>
                </a:solidFill>
              </a:rPr>
              <a:t>결과</a:t>
            </a:r>
            <a:endParaRPr sz="1250" b="1" dirty="0">
              <a:solidFill>
                <a:srgbClr val="00306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7" y="4645151"/>
            <a:ext cx="6117041" cy="811752"/>
          </a:xfrm>
          <a:prstGeom prst="rect">
            <a:avLst/>
          </a:prstGeom>
          <a:noFill/>
        </p:spPr>
        <p:txBody>
          <a:bodyPr wrap="square" lIns="182880" tIns="80467" rIns="146304" bIns="65836" anchor="t">
            <a:noAutofit/>
          </a:bodyPr>
          <a:lstStyle/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macro 0.7540은 </a:t>
            </a:r>
            <a:r>
              <a:rPr sz="1050" b="0" dirty="0" err="1">
                <a:solidFill>
                  <a:srgbClr val="21262E"/>
                </a:solidFill>
              </a:rPr>
              <a:t>XGBoost</a:t>
            </a:r>
            <a:r>
              <a:rPr sz="1050" b="0" dirty="0">
                <a:solidFill>
                  <a:srgbClr val="21262E"/>
                </a:solidFill>
              </a:rPr>
              <a:t> 0.7548과 </a:t>
            </a:r>
            <a:r>
              <a:rPr sz="1050" b="0" dirty="0" err="1">
                <a:solidFill>
                  <a:srgbClr val="21262E"/>
                </a:solidFill>
              </a:rPr>
              <a:t>동률</a:t>
            </a:r>
            <a:r>
              <a:rPr sz="1050" b="0" dirty="0">
                <a:solidFill>
                  <a:srgbClr val="21262E"/>
                </a:solidFill>
              </a:rPr>
              <a:t>, tail(</a:t>
            </a:r>
            <a:r>
              <a:rPr sz="1050" b="0" dirty="0" err="1">
                <a:solidFill>
                  <a:srgbClr val="21262E"/>
                </a:solidFill>
              </a:rPr>
              <a:t>dos·inf·web</a:t>
            </a:r>
            <a:r>
              <a:rPr sz="1050" b="0" dirty="0">
                <a:solidFill>
                  <a:srgbClr val="21262E"/>
                </a:solidFill>
              </a:rPr>
              <a:t>) 0.551은 0.533을 4 seed </a:t>
            </a:r>
            <a:r>
              <a:rPr sz="1050" b="0" dirty="0" err="1">
                <a:solidFill>
                  <a:srgbClr val="21262E"/>
                </a:solidFill>
              </a:rPr>
              <a:t>모두</a:t>
            </a:r>
            <a:r>
              <a:rPr sz="1050" b="0" dirty="0">
                <a:solidFill>
                  <a:srgbClr val="21262E"/>
                </a:solidFill>
              </a:rPr>
              <a:t> </a:t>
            </a:r>
            <a:r>
              <a:rPr sz="1050" b="0" dirty="0" err="1">
                <a:solidFill>
                  <a:srgbClr val="21262E"/>
                </a:solidFill>
              </a:rPr>
              <a:t>상회</a:t>
            </a:r>
            <a:endParaRPr sz="1050" b="0" dirty="0">
              <a:solidFill>
                <a:srgbClr val="21262E"/>
              </a:solidFill>
            </a:endParaRPr>
          </a:p>
          <a:p>
            <a:pPr marL="182880" indent="-182880" algn="l">
              <a:spcBef>
                <a:spcPts val="0"/>
              </a:spcBef>
              <a:buClr>
                <a:srgbClr val="007BC6"/>
              </a:buClr>
              <a:buSzPct val="75000"/>
              <a:buFont typeface="Arial"/>
              <a:buChar char="•"/>
            </a:pPr>
            <a:r>
              <a:rPr sz="1050" b="0" dirty="0">
                <a:solidFill>
                  <a:srgbClr val="21262E"/>
                </a:solidFill>
              </a:rPr>
              <a:t>DDoS </a:t>
            </a:r>
            <a:r>
              <a:rPr lang="ko-KR" altLang="en-US" sz="1050" b="0" dirty="0">
                <a:solidFill>
                  <a:srgbClr val="21262E"/>
                </a:solidFill>
              </a:rPr>
              <a:t>열세나 아직 크게 개선되지 않은 </a:t>
            </a:r>
            <a:r>
              <a:rPr lang="en-US" altLang="ko-KR" sz="1050" b="0" dirty="0">
                <a:solidFill>
                  <a:srgbClr val="21262E"/>
                </a:solidFill>
              </a:rPr>
              <a:t>inf, web</a:t>
            </a:r>
            <a:r>
              <a:rPr lang="ko-KR" altLang="en-US" sz="1050" b="0" dirty="0">
                <a:solidFill>
                  <a:srgbClr val="21262E"/>
                </a:solidFill>
              </a:rPr>
              <a:t>에 대해서는 전문가 호출 게이트에 대한 추가 실험 필요</a:t>
            </a:r>
            <a:r>
              <a:rPr lang="en-US" altLang="ko-KR" sz="1050" b="0" dirty="0">
                <a:solidFill>
                  <a:srgbClr val="21262E"/>
                </a:solidFill>
              </a:rPr>
              <a:t>.</a:t>
            </a:r>
            <a:endParaRPr sz="1050" b="0" dirty="0">
              <a:solidFill>
                <a:srgbClr val="21262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18288" rIns="228600" bIns="18288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56848" y="6355080"/>
            <a:ext cx="548640" cy="5029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KENTECH Presentation Template</dc:title>
  <dc:subject>PptxGenJS Presentation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</cp:coreProperties>
</file>