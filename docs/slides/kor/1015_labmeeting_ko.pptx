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8"/>
    <p:sldId id="258" r:id="rId9"/>
    <p:sldId id="259" r:id="rId5"/>
    <p:sldId id="260" r:id="rId4"/>
    <p:sldId id="261" r:id="rId3"/>
    <p:sldId id="262" r:id="rId2"/>
    <p:sldId id="263" r:id="rId14"/>
    <p:sldId id="264" r:id="rId15"/>
    <p:sldId id="265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8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title. Rephrase the user intent into concise presentation language instead of copying their draft. Adaptation to changing networks motivates the research; current class-arrival tests do not establish network-drift robustness.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https://arxiv.org/pdf/2605.13986 §2.5, PDF page 10: more than 8 trillion tokens, not datasets. Official TabPFN 8.2.0: https://github.com/PriorLabs/TabPFN/blob/main/src/tabpfn/finetuning/finetuned_base.py. The archived initial-FT ablation in EXP77 uses AdamW, learning rate 1e-5, 10 fixed epochs, context/query cross-entropy; current displayed PFN results use no IDS FT. The v3 decoder weights context one-hot labels, so old-class examples remain necessary in the inference context. Validation is inside the 1000 revealed-label budget; no test 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Figure 5, https://arxiv.org/pdf/2605.13986#page=6. Native PPTX crop excludes the original caption. Labels and source remain in speaker notes. First three stages: feature grouping/cell embedding; target-aware column distribution embedding; row-level feature aggregation. Plain language deliberately omits implementation dimensions.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Figure 5, https://arxiv.org/pdf/2605.13986#page=6; no visible caption by user request. ICL attends to training/context keys; many-class decoder uses attention-weighted one-hot context labels. This is learned contextual relevance, not merely raw-feature nearest-neighbour distance. Context determines available class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Displayed XGB and no-FT PFN use the same released IDs as EXP76/77. XGB cumulatively retrains; PFN retains original pretrained weights and cumulative context. Initial and repeated IDS FT ablations remain in the experiment archive and are not shown. This small-label scenario supports slides6 and8; slide7 instead uses100000 training rows and separate proposed-model validation, detailed on pages9 and10. Stage order chronological, within-stage sample counts descending. Main score is the FINAL state on ALL held-out rows, not pooled stage predictions. Final evaluation convention: EXP81 seed43 permutation of test row indices independent of labels, query batch8192. PFN probabilities and DistPFN correction recomputed on all mixed batches. Row-wise XGB/proposed/Boost predictions retained only after exact mixed-query audit; any mismatching model is fully reevaluated. Budget10/20/50/200/400 PFN predictions checked with the same audit. Original-order results preserved in EXP77/78/79/80. No model tuning on test. Source: tabpfn/results/v7/exp81/20261016_025421_mixed_query_final_s43_b6ba1d34/results.json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EXP77 final-model full-test results: tabpfn/results/v7/exp77/20261015_230535_initialft10_finalfull_s43_2eb2237d/results.json. Two displayed methods: XGB cumulative retraining from scratch at every stage and original pretrained TabPFN with cumulative context, no IDS fine-tuning. Initial-FT results are retained in EXP77/EXP78, removed from slides 6 and 7 at user request. Slide 6 alone reports later-stage update cost: GPU-synchronized context selection + model construction + fit summed AFTER the initial stage; initial preparation and all inference excluded. Single seed 43. A separate EXP78 label-budget artifact covers 100/50/20/10 new examples per class, with initial 1000 fixed. Final evaluation convention: EXP81 seed43 permutation of test row indices independent of labels, query batch8192. PFN probabilities and DistPFN correction recomputed on all mixed batches. Row-wise XGB/proposed/Boost predictions retained only after exact mixed-query audit; any mismatching model is fully reevaluated. Budget10/20/50/200/400 PFN predictions checked with the same audit. Original-order results preserved in EXP77/78/79/80. No model tuning on test. Source: tabpfn/results/v7/exp81/20261016_025421_mixed_query_final_s43_b6ba1d34/results.json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User-requested replacement of the small-label SOTA comparison after EXP82 diagnosis. EXP79/81 final-stage models, same complete test as the small-data evaluation, mixed query convention, no retraining or threshold tuning for reevaluation. Every method uses a 100000-row training pool (75000 Benign +25000 attacks), with natural and availability-capped uniform attack allocations. Proposed Global context is approximately50000 rows; its separate validation is additional to the training pool. Exact stage and validation counts are on appendix pages9 and10. BoostPFN uses v1; other PFN methods use v3, no IDS weight FT. Results do not establish consistent superiority: proposed is highest at CIC2018 uniform79.00%, while XGB leads both ToN allocations. Improve expert construction and routing using held-out training/validation evidence. Small-label comparison was removed from presentation at user request, not invalidated: EXP82 reproduced52.89% and identical probabilities with the695-row Global-only control. tabpfn/results/v7/exp81/20261016_025421_mixed_query_final_s43_b6ba1d34/results.json Final evaluation convention: EXP81 seed43 permutation of test row indices independent of labels, query batch8192. PFN probabilities and DistPFN correction recomputed on all mixed batches. Row-wise XGB/proposed/Boost predictions retained only after exact mixed-query audit; any mismatching model is fully reevaluated. Budget10/20/50/200/400 PFN predictions checked with the same audit. Original-order results preserved in EXP77/78/79/80. No model tuning on test. Source: tabpfn/results/v7/exp81/20261016_025421_mixed_query_final_s43_b6ba1d34/results.json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EXP78 and EXP80. Initial 1000 fixed (Benign750 + two attacks125 each), seed43 once, no IDS FT. EXP80 preserves the original 100 incoming IDs and appends nested 200/400 samples; Web attacks availability 450 limits the shared budget. Final models predict the complete held-out test. EXP81 aligns query composition and audits row-wise prediction reuse. Varying new-class counts also changes class priors. Sources: tabpfn/results/v7/exp78/20261016_005435_noft_dist_new100_50_20_10_s43_52588487 and tabpfn/results/v7/exp80/20261016_022614_new200_400_noft_s43_c6f6ea24 Final evaluation convention: EXP81 seed43 permutation of test row indices independent of labels, query batch8192. PFN probabilities and DistPFN correction recomputed on all mixed batches. Row-wise XGB/proposed/Boost predictions retained only after exact mixed-query audit; any mismatching model is fully reevaluated. Budget10/20/50/200/400 PFN predictions checked with the same audit. Original-order results preserved in EXP77/78/79/80. No model tuning on test. Source: tabpfn/results/v7/exp81/20261016_025421_mixed_query_final_s43_b6ba1d34/results.json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EXP72/73 stage-wise data. Same attack introduction order as current small-data experiment, but Benign is also added each stage: 15000 CIC2018 /12500 ToN, reaching75000. Small-data Benign750 is initial-only. Natural and uniform each reach25000 attack rows; uniform respects class availability caps. Rows are chronological; classes within each stage sorted by NATURAL incoming count descending. Each numeric cell lists class-specific newly supplied samples in matching order; cumulative totals are separate columns. Separate validation is outside100k; tune40% selects residual temperature, cal60% selects expert gate thresholds. Original LoCalPFN uses validation checkpoint selection; XGB/TabPFN/BoostPFN/DistPFN do not use those labels. Small proposed validation is inside total1400/1700. Sources: tabpfn/results/v7/exp73/20261014_154250_replay_current_sota_100k_s43_b0f8a9dc and tabpfn/results/v7/exp72/20261014_134735_replay_100k_xgb_tabpfn_s43_de8b4a78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EXP72/73 stage-wise data. Same attack introduction order as current small-data experiment, but Benign is also added each stage: 15000 CIC2018 /12500 ToN, reaching75000. Small-data Benign750 is initial-only. Natural and uniform each reach25000 attack rows; uniform respects class availability caps. Rows are chronological; classes within each stage sorted by NATURAL incoming count descending. Each numeric cell lists class-specific newly supplied samples in matching order; cumulative totals are separate columns. Separate validation is outside100k; tune40% selects residual temperature, cal60% selects expert gate thresholds. Original LoCalPFN uses validation checkpoint selection; XGB/TabPFN/BoostPFN/DistPFN do not use those labels. Small proposed validation is inside total1400/1700. Sources: tabpfn/results/v7/exp73/20261014_154250_replay_current_sota_100k_s43_b0f8a9dc and tabpfn/results/v7/exp72/20261014_134735_replay_100k_xgb_tabpfn_s43_de8b4a78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107" y="2011680"/>
            <a:ext cx="4408588" cy="4846320"/>
          </a:xfrm>
          <a:prstGeom prst="rect">
            <a:avLst/>
          </a:prstGeom>
        </p:spPr>
      </p:pic>
      <p:pic>
        <p:nvPicPr>
          <p:cNvPr id="3" name="Image 1" descr="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1874520" cy="442621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1828800"/>
            <a:ext cx="685800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4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제목을 입력하세요</a:t>
            </a:r>
            <a:endParaRPr lang="en-US" sz="4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3703320"/>
            <a:ext cx="65836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부제목 · 행사명 · 날짜</a:t>
            </a:r>
            <a:endParaRPr lang="en-US" sz="15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685800" y="4709160"/>
            <a:ext cx="62179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발표자 정보를 입력하세요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03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gh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746" y="1828800"/>
            <a:ext cx="4574950" cy="5029200"/>
          </a:xfrm>
          <a:prstGeom prst="rect">
            <a:avLst/>
          </a:prstGeom>
        </p:spPr>
      </p:pic>
      <p:pic>
        <p:nvPicPr>
          <p:cNvPr id="3" name="Image 1" descr="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3017520"/>
            <a:ext cx="8778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제목을 입력하세요</a:t>
            </a:r>
            <a:endParaRPr lang="en-US" sz="36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설명 (선택)</a:t>
            </a:r>
            <a:endParaRPr lang="en-US" sz="14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66928" y="1188720"/>
            <a:ext cx="11055096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내용을 입력하세요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66928" y="1188720"/>
            <a:ext cx="5413248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왼쪽 내용을 입력하세요</a:t>
            </a:r>
            <a:endParaRPr lang="en-US" sz="145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208776" y="1188720"/>
            <a:ext cx="5413248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오른쪽 내용을 입력하세요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03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gh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203" y="1554480"/>
            <a:ext cx="4824492" cy="5303520"/>
          </a:xfrm>
          <a:prstGeom prst="rect">
            <a:avLst/>
          </a:prstGeom>
        </p:spPr>
      </p:pic>
      <p:pic>
        <p:nvPicPr>
          <p:cNvPr id="3" name="Image 1" descr="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1828800" cy="431826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237744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3749040"/>
            <a:ext cx="68580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0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연락처 정보를 입력하세요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600200"/>
            <a:ext cx="10497312" cy="128016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100" b="0">
                <a:solidFill>
                  <a:srgbClr val="21262E"/>
                </a:solidFill>
                <a:latin typeface="Pretendard"/>
                <a:ea typeface="Pretendard"/>
              </a:rPr>
              <a:t>고정된 환경의 분류 정확도를 넘어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100" b="0">
                <a:solidFill>
                  <a:srgbClr val="21262E"/>
                </a:solidFill>
                <a:latin typeface="Pretendard"/>
                <a:ea typeface="Pretendard"/>
              </a:rPr>
              <a:t>변화하는 네트워크에서의 적응성 평가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3822191"/>
            <a:ext cx="10497312" cy="128016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100" b="1">
                <a:solidFill>
                  <a:srgbClr val="007BC6"/>
                </a:solidFill>
                <a:latin typeface="Pretendard"/>
                <a:ea typeface="Pretendard"/>
              </a:rPr>
              <a:t>사전학습 TabPFN을 활용한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100" b="1">
                <a:solidFill>
                  <a:srgbClr val="007BC6"/>
                </a:solidFill>
                <a:latin typeface="Pretendard"/>
                <a:ea typeface="Pretendard"/>
              </a:rPr>
              <a:t>소량 라벨·저비용 탐지 모델 갱신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306C"/>
                </a:solidFill>
                <a:latin typeface="Pretendard"/>
                <a:ea typeface="Pretendard"/>
              </a:rPr>
              <a:t>TabPFN · 표 데이터 예측 규칙을 사전학습한 모델 (v3: arXiv, 2026)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2468880" cy="4572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200" b="1">
                <a:solidFill>
                  <a:srgbClr val="007BC6"/>
                </a:solidFill>
                <a:latin typeface="Pretendard"/>
                <a:ea typeface="Pretendard"/>
              </a:rPr>
              <a:t>사전학습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280160"/>
            <a:ext cx="8366760" cy="9144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합성 표 데이터의 8조 개 이상 토큰으로 학습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일부 행의 정답을 맞히며 표 데이터의 예측 규칙 습득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50592"/>
            <a:ext cx="2468880" cy="9144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200" b="1">
                <a:solidFill>
                  <a:srgbClr val="007BC6"/>
                </a:solidFill>
                <a:latin typeface="Pretendard"/>
                <a:ea typeface="Pretendard"/>
              </a:rPr>
              <a:t>In-context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450592"/>
            <a:ext cx="8366760" cy="9144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라벨된 사례(context)를 참고해 새 flow(query)의 라벨 예측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추론 중 모델 가중치는 그대로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21024"/>
            <a:ext cx="2468880" cy="4572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200" b="1">
                <a:solidFill>
                  <a:srgbClr val="007BC6"/>
                </a:solidFill>
                <a:latin typeface="Pretendard"/>
                <a:ea typeface="Pretendard"/>
              </a:rPr>
              <a:t>Fine-tuning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3621024"/>
            <a:ext cx="8366760" cy="9144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초기 IDS를 context와 query로 나눠 query의 정답 예측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예측 오류를 역전파해 모델 가중치를 IDS에 맞게 조정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983480"/>
            <a:ext cx="10899648" cy="1024128"/>
          </a:xfrm>
          <a:prstGeom prst="roundRect">
            <a:avLst>
              <a:gd name="adj" fmla="val 3000"/>
            </a:avLst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5074920"/>
            <a:ext cx="10515600" cy="32918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000" b="1">
                <a:solidFill>
                  <a:srgbClr val="00306C"/>
                </a:solidFill>
                <a:latin typeface="Pretendard"/>
                <a:ea typeface="Pretendard"/>
              </a:rPr>
              <a:t>갱신: 사전학습 가중치 유지 → 기존 클래스 사례 보존 + 신규 사례 누적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5541264"/>
            <a:ext cx="10515600" cy="310896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000" b="0">
                <a:solidFill>
                  <a:srgbClr val="007BC6"/>
                </a:solidFill>
                <a:latin typeface="Pretendard"/>
                <a:ea typeface="Pretendard"/>
              </a:rPr>
              <a:t>기대: 반복 재학습과 비슷한 탐지 품질을 더 적은 데이터·갱신 비용으로 달성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v3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3</a:t>
            </a:r>
          </a:p>
        </p:txBody>
      </p:sp>
      <p:pic>
        <p:nvPicPr>
          <p:cNvPr id="5" name="Picture 4" descr="v3_architecture_page.png"/>
          <p:cNvPicPr>
            <a:picLocks noChangeAspect="1"/>
          </p:cNvPicPr>
          <p:nvPr/>
        </p:nvPicPr>
        <p:blipFill>
          <a:blip r:embed="rId3"/>
          <a:srcRect l="20000" r="19000" t="8200" b="28500"/>
          <a:stretch>
            <a:fillRect/>
          </a:stretch>
        </p:blipFill>
        <p:spPr>
          <a:xfrm>
            <a:off x="621792" y="987552"/>
            <a:ext cx="3657600" cy="5349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81728" y="1280160"/>
            <a:ext cx="6876288" cy="4389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7BC6"/>
                </a:solidFill>
                <a:latin typeface="Pretendard"/>
                <a:ea typeface="Pretendard"/>
              </a:rPr>
              <a:t>① 입력 변환 · Cell embedding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0016" y="1819655"/>
            <a:ext cx="6839712" cy="77724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패킷 길이·지속시간 등의 값을 숫자 벡터로 변환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값이 비어 있는 위치도 함께 표시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2907792"/>
            <a:ext cx="6876288" cy="4389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7BC6"/>
                </a:solidFill>
                <a:latin typeface="Pretendard"/>
                <a:ea typeface="Pretendard"/>
              </a:rPr>
              <a:t>② 특징별 분포 파악 · Feature embedding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3447288"/>
            <a:ext cx="6839712" cy="77724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여러 flow를 살펴 각 특징의 값 분포를 요약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Context의 정상·공격 라벨도 함께 반영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4535424"/>
            <a:ext cx="6876288" cy="4389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7BC6"/>
                </a:solidFill>
                <a:latin typeface="Pretendard"/>
                <a:ea typeface="Pretendard"/>
              </a:rPr>
              <a:t>③ Flow별 정보 통합 · Feature aggregation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0016" y="5074920"/>
            <a:ext cx="6839712" cy="77724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한 flow의 여러 특징을 하나의 표현으로 통합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이 표현을 이용해 flow 사이의 관계 비교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v3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4</a:t>
            </a:r>
          </a:p>
        </p:txBody>
      </p:sp>
      <p:pic>
        <p:nvPicPr>
          <p:cNvPr id="5" name="Picture 4" descr="v3_architecture_page.png"/>
          <p:cNvPicPr>
            <a:picLocks noChangeAspect="1"/>
          </p:cNvPicPr>
          <p:nvPr/>
        </p:nvPicPr>
        <p:blipFill>
          <a:blip r:embed="rId3"/>
          <a:srcRect l="20000" r="19000" t="8200" b="28500"/>
          <a:stretch>
            <a:fillRect/>
          </a:stretch>
        </p:blipFill>
        <p:spPr>
          <a:xfrm>
            <a:off x="621792" y="987552"/>
            <a:ext cx="3657600" cy="5349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81728" y="1591056"/>
            <a:ext cx="6876288" cy="4389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7BC6"/>
                </a:solidFill>
                <a:latin typeface="Pretendard"/>
                <a:ea typeface="Pretendard"/>
              </a:rPr>
              <a:t>④ 사례 참조 · In-context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0016" y="2130552"/>
            <a:ext cx="6839712" cy="77724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새 flow(query)가 라벨된 기존 사례(context)를 참조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어떤 사례가 예측에 도움이 되는지 attention으로 계산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3794760"/>
            <a:ext cx="6876288" cy="4389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7BC6"/>
                </a:solidFill>
                <a:latin typeface="Pretendard"/>
                <a:ea typeface="Pretendard"/>
              </a:rPr>
              <a:t>⑤ 확률 출력 · Many-class decoder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4334256"/>
            <a:ext cx="6839712" cy="77724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관련성이 큰 사례의 라벨에 더 큰 가중치 부여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참고한 라벨을 모아 정상·공격별 확률 계산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0016" y="5431536"/>
            <a:ext cx="6839712" cy="585216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900" b="1">
                <a:solidFill>
                  <a:srgbClr val="007BC6"/>
                </a:solidFill>
                <a:latin typeface="Pretendard"/>
                <a:ea typeface="Pretendard"/>
              </a:rPr>
              <a:t>기존 클래스도 분류하려면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900" b="1">
                <a:solidFill>
                  <a:srgbClr val="007BC6"/>
                </a:solidFill>
                <a:latin typeface="Pretendard"/>
                <a:ea typeface="Pretendard"/>
              </a:rPr>
              <a:t>해당 라벨의 context 유지 필요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평가시나리오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32688"/>
            <a:ext cx="10972800" cy="34747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0">
                <a:solidFill>
                  <a:srgbClr val="65717D"/>
                </a:solidFill>
                <a:latin typeface="Pretendard"/>
                <a:ea typeface="Pretendard"/>
              </a:rPr>
              <a:t>초기 1,000개 · 신규 공격당 100개 누적 · 단계순, 단계 내 표본 수 내림차순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371600"/>
            <a:ext cx="5257800" cy="36576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200" b="1">
                <a:solidFill>
                  <a:srgbClr val="007BC6"/>
                </a:solidFill>
                <a:latin typeface="Pretendard"/>
                <a:ea typeface="Pretendard"/>
              </a:rPr>
              <a:t>CIC2018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837943"/>
          <a:ext cx="5175504" cy="3319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221992"/>
                <a:gridCol w="1115568"/>
                <a:gridCol w="1243584"/>
              </a:tblGrid>
              <a:tr h="39319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단계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신규 공개 클래스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클래스별 수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누적 수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</a:tr>
              <a:tr h="98755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Brute force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DoS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750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1,000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Web attacks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1,200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Infiltration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Bot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1,400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9360" y="1371600"/>
            <a:ext cx="5257800" cy="36576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200" b="1">
                <a:solidFill>
                  <a:srgbClr val="007BC6"/>
                </a:solidFill>
                <a:latin typeface="Pretendard"/>
                <a:ea typeface="Pretendard"/>
              </a:rPr>
              <a:t>ToN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1837943"/>
          <a:ext cx="5175504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221992"/>
                <a:gridCol w="1115568"/>
                <a:gridCol w="1243584"/>
              </a:tblGrid>
              <a:tr h="39319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단계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신규 공개 클래스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클래스별 수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누적 수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</a:tr>
              <a:tr h="98755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DoS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Scanning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750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1,000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6766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DDoS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Injection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Password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1,300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XSS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Backdoor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Ransomware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1,600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MitM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6108192"/>
            <a:ext cx="10927080" cy="24688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50" b="0">
                <a:solidFill>
                  <a:srgbClr val="65717D"/>
                </a:solidFill>
                <a:latin typeface="Pretendard"/>
                <a:ea typeface="Pretendard"/>
              </a:rPr>
              <a:t>전체 test: CIC2018 3,042,473개 / ToN 2,271,723개 · 최종 모델 · seed 43 혼합 순서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결과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50976"/>
            <a:ext cx="10972800" cy="32918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50" b="0">
                <a:solidFill>
                  <a:srgbClr val="65717D"/>
                </a:solidFill>
                <a:latin typeface="Pretendard"/>
                <a:ea typeface="Pretendard"/>
              </a:rPr>
              <a:t>최종 상태 전체 test 평가 · XGB: 누적 재학습 · TabPFN: FT 없이 누적 context 갱신</a:t>
            </a:r>
          </a:p>
        </p:txBody>
      </p:sp>
      <p:pic>
        <p:nvPicPr>
          <p:cNvPr id="6" name="Picture 5" descr="small_context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1344168"/>
            <a:ext cx="1165860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" y="6062472"/>
            <a:ext cx="1097280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0">
                <a:solidFill>
                  <a:srgbClr val="65717D"/>
                </a:solidFill>
                <a:latin typeface="Pretendard"/>
                <a:ea typeface="Pretendard"/>
              </a:rPr>
              <a:t>비용: 2단계 이후 갱신 합계 · 초기 준비·추론 제외 · 두 데이터셋 동일 비용 눈금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학습 10만 개 · 제안 모델·SOTA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41832"/>
            <a:ext cx="10972800" cy="32918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0">
                <a:solidFill>
                  <a:srgbClr val="65717D"/>
                </a:solidFill>
                <a:latin typeface="Pretendard"/>
                <a:ea typeface="Pretendard"/>
              </a:rPr>
              <a:t>Benign 75,000개 + 공격 25,000개 · 최종 모델 전체 test · Macro-F1 (%)</a:t>
            </a:r>
          </a:p>
        </p:txBody>
      </p:sp>
      <p:pic>
        <p:nvPicPr>
          <p:cNvPr id="6" name="Picture 5" descr="large_final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353312"/>
            <a:ext cx="11704320" cy="46908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" y="6099048"/>
            <a:ext cx="10972800" cy="219456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50" b="0">
                <a:solidFill>
                  <a:srgbClr val="65717D"/>
                </a:solidFill>
                <a:latin typeface="Pretendard"/>
                <a:ea typeface="Pretendard"/>
              </a:rPr>
              <a:t>제안 모델 Global 약 5만 개 + 별도 검증 · 표본 수: 부록 9·10 · BoostPFN v1, 나머지 PFN v3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6478524"/>
            <a:ext cx="10561320" cy="28346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50" b="0">
                <a:solidFill>
                  <a:srgbClr val="FFFFFF"/>
                </a:solidFill>
                <a:latin typeface="Pretendard"/>
                <a:ea typeface="Pretendard"/>
              </a:rPr>
              <a:t>CIC2018 균등 배분: 제안 모델 79.00% · ToN 두 배분 조건: XGB 우세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신규 공격 표본 수에 따른 성능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50976"/>
            <a:ext cx="10972800" cy="32918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50" b="0">
                <a:solidFill>
                  <a:srgbClr val="65717D"/>
                </a:solidFill>
                <a:latin typeface="Pretendard"/>
                <a:ea typeface="Pretendard"/>
              </a:rPr>
              <a:t>초기 1,000개 고정 · 신규 공격당 10·20·50·100·200·400개 · 최종 상태 전체 test · seed 43</a:t>
            </a:r>
          </a:p>
        </p:txBody>
      </p:sp>
      <p:pic>
        <p:nvPicPr>
          <p:cNvPr id="6" name="Picture 5" descr="label_budget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481328"/>
            <a:ext cx="11704320" cy="4069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" y="5650992"/>
            <a:ext cx="10881360" cy="502920"/>
          </a:xfrm>
          <a:prstGeom prst="roundRect">
            <a:avLst>
              <a:gd name="adj" fmla="val 3000"/>
            </a:avLst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696712"/>
            <a:ext cx="10515600" cy="36576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800" b="1">
                <a:solidFill>
                  <a:srgbClr val="00306C"/>
                </a:solidFill>
                <a:latin typeface="Pretendard"/>
                <a:ea typeface="Pretendard"/>
              </a:rPr>
              <a:t>신규 공격 400개 · XGB 대비 TabPFN 차이: CIC2018 +0.60%p · ToN +2.56%p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부록 · 학습 10만 개 시나리오 · CIC2018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41832"/>
            <a:ext cx="10972800" cy="32918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50" b="0">
                <a:solidFill>
                  <a:srgbClr val="65717D"/>
                </a:solidFill>
                <a:latin typeface="Pretendard"/>
                <a:ea typeface="Pretendard"/>
              </a:rPr>
              <a:t>동일 공격 순서 · 소규모: 신규 공격당 100개 · 대규모: Benign 매 단계 15,000개 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353312"/>
            <a:ext cx="3977639" cy="27432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007BC6"/>
                </a:solidFill>
                <a:latin typeface="Pretendard"/>
                <a:ea typeface="Pretendard"/>
              </a:rPr>
              <a:t>이번 단계 추가 수 (개)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353312"/>
            <a:ext cx="4389120" cy="27432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007BC6"/>
                </a:solidFill>
                <a:latin typeface="Pretendard"/>
                <a:ea typeface="Pretendard"/>
              </a:rPr>
              <a:t>누적 수 (개)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700784"/>
          <a:ext cx="10881360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920240"/>
                <a:gridCol w="1325880"/>
                <a:gridCol w="1325880"/>
                <a:gridCol w="1325880"/>
                <a:gridCol w="1463040"/>
                <a:gridCol w="1463040"/>
                <a:gridCol w="1463040"/>
              </a:tblGrid>
              <a:tr h="365760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단계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추가 클래스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소규모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10만 자연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10만 균등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소규모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10만 자연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10만 균등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</a:tr>
              <a:tr h="658368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DoS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Brute force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750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15,000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2,518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2,403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15,000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4,910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4,910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1,000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19,921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24,820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</a:tr>
              <a:tr h="4480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DDoS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16,780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15,000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4,910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15,000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1,100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51,701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44,730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Web attacks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15,000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9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15,000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450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1,200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66,710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60,180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</a:tr>
              <a:tr h="4480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Infiltration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15,000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641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15,000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4,910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1,300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82,351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80,090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Bot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15,000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2,649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15,000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4,910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1,400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100,000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100,000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</a:tr>
              <a:tr h="34747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별도 검증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8,211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8,047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0936" y="5852160"/>
            <a:ext cx="10972800" cy="23774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0">
                <a:solidFill>
                  <a:srgbClr val="65717D"/>
                </a:solidFill>
                <a:latin typeface="Pretendard"/>
                <a:ea typeface="Pretendard"/>
              </a:rPr>
              <a:t>별도 검증: 제안 모델의 잔차 확률 보정·expert 채택 기준 선택 · 소규모는 전체 예산 내 분할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6153912"/>
            <a:ext cx="10972800" cy="2103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50" b="0">
                <a:solidFill>
                  <a:srgbClr val="65717D"/>
                </a:solidFill>
                <a:latin typeface="Pretendard"/>
                <a:ea typeface="Pretendard"/>
              </a:rPr>
              <a:t>자연: 학습 공격 비율 · 균등: 공격별 균등, 표본 상한 반영 · 단계순, 단계 내 자연 추가 수 내림차순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부록 · 학습 10만 개 시나리오 · ToN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41832"/>
            <a:ext cx="10972800" cy="32918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50" b="0">
                <a:solidFill>
                  <a:srgbClr val="65717D"/>
                </a:solidFill>
                <a:latin typeface="Pretendard"/>
                <a:ea typeface="Pretendard"/>
              </a:rPr>
              <a:t>동일 공격 순서 · 소규모: 신규 공격당 100개 · 대규모: Benign 매 단계 12,500개 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353312"/>
            <a:ext cx="3977639" cy="27432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007BC6"/>
                </a:solidFill>
                <a:latin typeface="Pretendard"/>
                <a:ea typeface="Pretendard"/>
              </a:rPr>
              <a:t>이번 단계 추가 수 (개)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353312"/>
            <a:ext cx="4389120" cy="27432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007BC6"/>
                </a:solidFill>
                <a:latin typeface="Pretendard"/>
                <a:ea typeface="Pretendard"/>
              </a:rPr>
              <a:t>누적 수 (개)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700784"/>
          <a:ext cx="10881360" cy="4032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920240"/>
                <a:gridCol w="1325880"/>
                <a:gridCol w="1325880"/>
                <a:gridCol w="1325880"/>
                <a:gridCol w="1463040"/>
                <a:gridCol w="1463040"/>
                <a:gridCol w="1463040"/>
              </a:tblGrid>
              <a:tr h="365760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단계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추가 클래스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소규모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10만 자연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10만 균등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소규모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10만 자연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10만 균등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</a:tr>
              <a:tr h="658368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DoS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Scanning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750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644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168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2,856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2,856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1,000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13,312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18,212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</a:tr>
              <a:tr h="658368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DDoS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Injection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5,785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1,899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2,856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2,856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1,200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33,496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36,424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Password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6,009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2,856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1,300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52,005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51,780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</a:tr>
              <a:tr h="4480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XSS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9,308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2,856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1,400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73,813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67,136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Backdoor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Ransomware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1,136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2,857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2,151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1,600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87,469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84,644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</a:tr>
              <a:tr h="4480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6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MitM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31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2,856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1,700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100,000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100,000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별도 검증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8,668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8,605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0936" y="5852160"/>
            <a:ext cx="10972800" cy="23774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0">
                <a:solidFill>
                  <a:srgbClr val="65717D"/>
                </a:solidFill>
                <a:latin typeface="Pretendard"/>
                <a:ea typeface="Pretendard"/>
              </a:rPr>
              <a:t>별도 검증: 제안 모델의 잔차 확률 보정·expert 채택 기준 선택 · 소규모는 전체 예산 내 분할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6153912"/>
            <a:ext cx="10972800" cy="2103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50" b="0">
                <a:solidFill>
                  <a:srgbClr val="65717D"/>
                </a:solidFill>
                <a:latin typeface="Pretendard"/>
                <a:ea typeface="Pretendard"/>
              </a:rPr>
              <a:t>자연: 학습 공격 비율 · 균등: 공격별 균등, 표본 상한 반영 · 단계순, 단계 내 자연 추가 수 내림차순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ENTECH">
      <a:dk1>
        <a:srgbClr val="21262E"/>
      </a:dk1>
      <a:lt1>
        <a:srgbClr val="FFFFFF"/>
      </a:lt1>
      <a:dk2>
        <a:srgbClr val="00306C"/>
      </a:dk2>
      <a:lt2>
        <a:srgbClr val="F3F6FA"/>
      </a:lt2>
      <a:accent1>
        <a:srgbClr val="007BC6"/>
      </a:accent1>
      <a:accent2>
        <a:srgbClr val="00B8EE"/>
      </a:accent2>
      <a:accent3>
        <a:srgbClr val="00306C"/>
      </a:accent3>
      <a:accent4>
        <a:srgbClr val="4DA3DC"/>
      </a:accent4>
      <a:accent5>
        <a:srgbClr val="5D6773"/>
      </a:accent5>
      <a:accent6>
        <a:srgbClr val="9AA3AE"/>
      </a:accent6>
      <a:hlink>
        <a:srgbClr val="007BC6"/>
      </a:hlink>
      <a:folHlink>
        <a:srgbClr val="5D6773"/>
      </a:folHlink>
    </a:clrScheme>
    <a:fontScheme name="KENTECH">
      <a:majorFont>
        <a:latin typeface="Pretendard"/>
        <a:ea typeface="Pretendard"/>
        <a:cs typeface=""/>
        <a:font script="Hang" typeface="Pretendard"/>
        <a:font script="Jpan" typeface="Yu Gothic"/>
        <a:font script="Hans" typeface="DengXian"/>
        <a:font script="Hant" typeface="新細明體"/>
      </a:majorFont>
      <a:minorFont>
        <a:latin typeface="Pretendard"/>
        <a:ea typeface="Pretendard"/>
        <a:cs typeface=""/>
        <a:font script="Hang" typeface="Pretendard"/>
        <a:font script="Jpan" typeface="Yu Gothic"/>
        <a:font script="Hans" typeface="DengXian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1251</Words>
  <Application>Microsoft Office PowerPoint</Application>
  <PresentationFormat>와이드스크린</PresentationFormat>
  <Paragraphs>283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Pretendard</vt:lpstr>
      <vt:lpstr>Arial</vt:lpstr>
      <vt:lpstr>Office Theme</vt:lpstr>
      <vt:lpstr>Architecture</vt:lpstr>
      <vt:lpstr>TabPFN · 학습 데이터를 입력으로 읽는 표 형식 foundation model</vt:lpstr>
      <vt:lpstr>TabPFN 적합성 · 같은 컨텍스트 행으로 학습한 XGBoost와 비교</vt:lpstr>
      <vt:lpstr>SOTA 선정</vt:lpstr>
      <vt:lpstr>BoostPFN</vt:lpstr>
      <vt:lpstr>실험 예정</vt:lpstr>
      <vt:lpstr>Oracle과 실험결과</vt:lpstr>
      <vt:lpstr>100k 컨텍스트, benign 0.75, 공격 균등 · 클래스별 F1 (seed 42~45)</vt:lpstr>
    </vt:vector>
  </TitlesOfParts>
  <Company>Korea Institute of Energy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IDS 운영을 위한 TabPFN 활용</dc:title>
  <dc:subject>데이터 검토, anchor와 residual context, expert 및 S/V 결과, SOTA, 후속 context 접근</dc:subject>
  <dc:creator>Seunghyun Yoon</dc:creator>
  <cp:lastModifiedBy>박민서</cp:lastModifiedBy>
  <cp:revision>4</cp:revision>
  <dcterms:created xsi:type="dcterms:W3CDTF">2026-08-09T04:01:58Z</dcterms:created>
  <dcterms:modified xsi:type="dcterms:W3CDTF">2026-09-03T15:12:22Z</dcterms:modified>
  <dc:description>Korean only. Simplified motivation, arrival evidence near the opening, data cleaning, static model performance/cost, system-level follow-up.</dc:description>
</cp:coreProperties>
</file>