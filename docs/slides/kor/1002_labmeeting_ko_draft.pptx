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4.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1.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66" r:id="rId17"/>
    <p:sldId id="265" r:id="rId16"/>
    <p:sldId id="271" r:id="rId22"/>
    <p:sldId id="272" r:id="rId23"/>
    <p:sldId id="256" r:id="rId6"/>
    <p:sldId id="257" r:id="rId8"/>
    <p:sldId id="258" r:id="rId9"/>
    <p:sldId id="262" r:id="rId2"/>
    <p:sldId id="263" r:id="rId14"/>
    <p:sldId id="269" r:id="rId2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8" d="100"/>
          <a:sy n="108" d="100"/>
        </p:scale>
        <p:origin x="68" y="11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6.xml"/><Relationship Id="rId6" Type="http://schemas.openxmlformats.org/officeDocument/2006/relationships/slide" Target="slides/slide3.xml"/><Relationship Id="rId7" Type="http://schemas.openxmlformats.org/officeDocument/2006/relationships/notesMaster" Target="notesMasters/notesMaster1.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4" Type="http://schemas.openxmlformats.org/officeDocument/2006/relationships/slide" Target="slides/slide11.xml"/><Relationship Id="rId16" Type="http://schemas.openxmlformats.org/officeDocument/2006/relationships/slide" Target="slides/slide7.xml"/><Relationship Id="rId17" Type="http://schemas.openxmlformats.org/officeDocument/2006/relationships/slide" Target="slides/slide1.xml"/><Relationship Id="rId20" Type="http://schemas.openxmlformats.org/officeDocument/2006/relationships/slide" Target="slides/slide8.xml"/><Relationship Id="rId22" Type="http://schemas.openxmlformats.org/officeDocument/2006/relationships/slide" Target="slides/slide14.xml"/><Relationship Id="rId23"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모델의 예측 혼동행렬이 아니라 동일 feature에서 복수 라벨이 관찰되는 비율</a:t>
            </a:r>
          </a:p>
          <a:p>
            <a:r>
              <a:t>분모는 원래 행 클래스의 모든 표본이며 정제 전 전체 데이터 기준</a:t>
            </a:r>
          </a:p>
          <a:p>
            <a:r>
              <a:t>A와 B가 서로 feature를 공유하더라도 클래스 크기가 달라 셀 비율은 비대칭</a:t>
            </a:r>
          </a:p>
          <a:p>
            <a:r>
              <a:t>한 행이 여러 다른 라벨과 공유되면 여러 셀에 집계되므로 행 합은 제거 비율이 아님</a:t>
            </a:r>
          </a:p>
          <a:p>
            <a:r>
              <a:t>Web attack: Benign만 1,335행, Infiltration만 3행, 양쪽 모두 429행, 겹침 없는 771행</a:t>
            </a:r>
          </a:p>
          <a:p>
            <a:r>
              <a:t>데이터 및 그림 원본: docs/slides/kor/1002_intro_assets/</a:t>
            </a:r>
          </a:p>
          <a:p>
            <a:r>
              <a:t>열 약어는 행의 전체 클래스명과 같은 순서</a:t>
            </a:r>
          </a:p>
          <a:p>
            <a:r>
              <a:t>행과 열 모두 정제 전 전체 클래스 표본 수 내림차순</a:t>
            </a:r>
          </a:p>
          <a:p>
            <a:r>
              <a:t>동일 feature의 상충 라벨은 관찰 사실이며 window 라벨링을 모든 상충의 원인으로 단정하지 않음</a:t>
            </a:r>
          </a:p>
          <a:p>
            <a:r>
              <a:t>서사 연결: 새 공격 반영 방식의 효과를 비교하기 위한 데이터 기반 점검. 라벨 상충의 원인을 모두 시간 구간 라벨링으로 단정하지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정제 전후 집계는 전체 train+validation+test이다. Test 열은 별도 부분집합이며 이를 정제 후 전체에 다시 더하지 않는다. 원본: clean split class_counts.csv와 EXP61 global_raw 클래스 support. 사용자 확정: tail은 고정 test 표본 수 기준으로 해석. 학습 샘플 배분이 균등하더라도 평가의 tail은 유지된다. 특정 tail threshold는 임의로 추가하지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현재 구현한 구조는 Global/expert/route 풀을 분리하고, anchor+residual block으로 expert context를 구성하며 S/V를 별도 학습한다. TabPFN backbone이 고정이라는 말은 S/V까지 학습 없이 갱신된다는 뜻이 아니다. 순차 도입 EXP70에서는 이 구조의 기반인 XGB 대 Global TabPFN의 사례 갱신부터 검증하며, 완전판의 신규 공격 갱신 규칙과 비용은 후속 검증이다.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수치는 완료된 EXP61/63, 대표 K4를 유지. EXP70의 부분 결과는 넣지 않는다. 제안 모델은 Global에 더해 Expert·Route 데이터로 학습하므로 같은 100k 정보 예산의 승리로 주장하지 않는다. EXP70의 Global 결과가 완료돼도 이를 제안 완전판 수치로 바꾸지 않는다. PFN backbones: Global/DistPFN v3, BoostPFN/LoCalPFN v1, LoCalPFN 미세조정 포함. SOTA 표는 현재 정적 성능을 보고하는 역할이며 연구 목표를 평균 F1 순위 경쟁으로 대체하지 않는다. 운영 비용은 다음 장의 측정 조건과 함께 설명한다.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EXP61 측정 비용은 기존 SOTA 표의 실제 fit/predict/GPU 값을 그대로 사용</a:t>
            </a:r>
          </a:p>
          <a:p>
            <a:r>
              <a:t>단독 실행 latency 비교나 고유 속도 배수로 해석하지 않음</a:t>
            </a:r>
          </a:p>
          <a:p>
            <a:r>
              <a:t>GPU는 1초 간격 프로세스별 최대 사용량</a:t>
            </a:r>
          </a:p>
          <a:p>
            <a:r>
              <a:t>현재 모델은 offline으로 모든 expert 예측을 준비한 뒤 정책을 평가했으므로 실제 조건부 호출 비용은 미측정</a:t>
            </a:r>
          </a:p>
          <a:p>
            <a:r>
              <a:t>재사용 집계 작업의 3초 등은 모델의 학습·추론 시간으로 사용하지 않음</a:t>
            </a:r>
          </a:p>
          <a:p>
            <a:r>
              <a:t>ToN 100% 호출은 선택 expert 한 개를 호출하는 정책이며 4개 전부 호출이 아님</a:t>
            </a:r>
          </a:p>
          <a:p>
            <a:r>
              <a:t>근거: docs/research/20260930/exp61_report_data.json</a:t>
            </a:r>
          </a:p>
          <a:p>
            <a:r>
              <a:t>현재 정적 평가의 비용을 본문에 유지. TabPFN 학습·구성은 backbone 재학습이 아닌 전처리·cache 계산을 포함. EXP70 순차 GPU 비용과 기존 EXP61 병렬 작업 비용을 같은 실행 조건으로 비교하지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EXP70: 전체 raw 시간 순서 재현이 아니라 원본의 클래스 최초 출현 순서를 보존한 통제된 신규 공격 도입. 이미 도입한 클래스의 전체 기존 clean test로 평가하며 future 클래스는 제외. 단계 간 전체 Macro-F1은 클래스 수 변화의 영향을 받으므로 그대로 향상으로 해석하지 않는다. Global 갱신 비교이며 expert/S/V 완전판 결과와 구별. 프로토콜: docs/research/20261002/exp70_protocol.md . 완료 결과는 이 장 뒤에 데이터셋별로 삽입. 각 데이터셋의 두 방법 전체 단계 완료 확인 후 채택.</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사용자 요청: 복잡한 연구 질문 도식 대신 기존 F1 중심 평가, 실제 운영의 갱신 요구, TabPFN 활용 이유를 간단히 연결. 전체 데이터라는 말은 test까지 학습했다는 뜻이 아니라 전체 공격 유형을 포함한 기존 train을 뜻한다. 단순 분류 자체가 권장되지 않는다고 단정하지 않고 고정 test F1만으로 실사용 적합성을 판단하기 어렵다고 표현. 새로운 라벨·환경 변화는 갱신 필요성을 설명하는 운영 배경이며 EXP70이 실제 환경 변화를 재현한다는 뜻이 아니다. TabPFN backbone을 재학습하지 않아도 전처리·cache·추론 계산 비용은 발생. 소규모 데이터 능력의 문헌 근거: Hollmann et al., Nature 2025, https://www.nature.com/articles/s41586-024-08328-6 . 이 일반적 근거를 현재 IDS 성능·비용 우위로 단정하지 않는다. 날짜별 시나리오 근거: https://www.unb.ca/cic/datasets/ids-2018.html 및 EXP69의 NF-v3 timestamp 검증 기록.</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사용자 피드백의 핵심을 마지막에 다시 강조: 실험마다 전체 F1 순위를 올리는 수치 경쟁이 연구의 목적이 아니다. 새로운 공격의 라벨 사례를 확보했을 때 이를 탐지기에 반영하는 방식의 성능과 운영 효용을 검증한다. Context 후보는 구현 수단이며 부록에 둔다. S/V 학습과 갱신을 포함한 완전판 비용은 별도 측정해야 한다. 이 장은 계획이므로 하단 밴드에 같은 슬로건을 반복하지 않는다.</a:t>
            </a:r>
          </a:p>
          <a:p>
            <a:r>
              <a:t>EXP70 완료 후: CIC2018 최종 Macro-F1은 TabPFN이 높고 ToN은 XGB가 높다. 두 데이터셋 모두 현재 100k 배치 조건의 fit 및 추론 시간은 XGB가 짧다. 따라서 가중치 재학습 불필요를 실제 비용 우위로 대체하지 않는다. 후속 context 구성에서는 정상 대표성을 유지하며 오탐과 처리 비용을 함께 줄이는지 검증한다. 이는 다음 검증 가설이며 이번 결과가 개선 방법의 효능까지 입증한 것은 아니다.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EXP70 완료 결과. tabpfn/results/20261002_exp70_class_arrival_100k_s43/summary.csv 및 class_metrics.csv. 왼쪽은 신규 공격별 최초 도입 단계에서의 클래스 F1로 모든 신규 공격을 포함하며 test support 내림차순. 오른쪽은 최종 단계의 전체 test와 비용. 단계·평가 집합이 다른 수치를 직접 비교하지 않는다. 기존 공격의 보존은 별도 저장된 previous-class 및 transition 지표로 확인해야 하며 최종 정상 오탐률만으로 모두 유지됐다고 해석하지 않는다. 학습·구성 시간은 fit_context_or_retrain 경과 시간이며 모델 생성·적재 단계와 구별. TabPFN cache CPU 보관, ensemble 4, subsampling 없음. 비용은 현재 배치 조건의 실측이며 실시간 서비스 처리량의 직접 검증은 아님. 단일 seed와 개발 holdout 결과. ToN MitM 오탐은 최종 단계 confusion matrix에서 확인. 미탐보다 precision이 낮은 현상이 직접 관찰되지만 그 원인이 context 비율·다양성·feature 표현 중 무엇인지는 별도 비교 필요. 신규 공격 라벨 확보 후의 분류로, 라벨 없는 OOD 탐지와 구별. 결과 snapshot: docs/slides/kor/1002_operational_qa/result_snapshot.json, 2026-10-01T21:10:14.304327+00:00.</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EXP70 완료 결과. tabpfn/results/20261002_exp70_class_arrival_100k_s43/summary.csv 및 class_metrics.csv. 왼쪽은 신규 공격별 최초 도입 단계에서의 클래스 F1로 모든 신규 공격을 포함하며 test support 내림차순. 오른쪽은 최종 단계의 전체 test와 비용. 단계·평가 집합이 다른 수치를 직접 비교하지 않는다. 기존 공격의 보존은 별도 저장된 previous-class 및 transition 지표로 확인해야 하며 최종 정상 오탐률만으로 모두 유지됐다고 해석하지 않는다. 학습·구성 시간은 fit_context_or_retrain 경과 시간이며 모델 생성·적재 단계와 구별. TabPFN cache CPU 보관, ensemble 4, subsampling 없음. 비용은 현재 배치 조건의 실측이며 실시간 서비스 처리량의 직접 검증은 아님. 단일 seed와 개발 holdout 결과. ToN MitM 오탐은 최종 단계 confusion matrix에서 확인. 미탐보다 precision이 낮은 현상이 직접 관찰되지만 그 원인이 context 비율·다양성·feature 표현 중 무엇인지는 별도 비교 필요. 신규 공격 라벨 확보 후의 분류로, 라벨 없는 OOD 탐지와 구별. 결과 snapshot: docs/slides/kor/1002_operational_qa/result_snapshot.json, 2026-10-01T21:10:14.304327+00:00.</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SLIDE">
    <p:bg>
      <p:bgPr>
        <a:solidFill>
          <a:srgbClr val="FFFFFF"/>
        </a:solidFill>
        <a:effectLst/>
      </p:bgPr>
    </p:bg>
    <p:spTree>
      <p:nvGrpSpPr>
        <p:cNvPr id="1" name=""/>
        <p:cNvGrpSpPr/>
        <p:nvPr/>
      </p:nvGrpSpPr>
      <p:grpSpPr>
        <a:xfrm>
          <a:off x="0" y="0"/>
          <a:ext cx="0" cy="0"/>
          <a:chOff x="0" y="0"/>
          <a:chExt cx="0" cy="0"/>
        </a:xfrm>
      </p:grpSpPr>
      <p:pic>
        <p:nvPicPr>
          <p:cNvPr id="2" name="Image 0" descr="assets/pattern_color.png"/>
          <p:cNvPicPr>
            <a:picLocks noChangeAspect="1"/>
          </p:cNvPicPr>
          <p:nvPr/>
        </p:nvPicPr>
        <p:blipFill>
          <a:blip r:embed="rId2"/>
          <a:stretch>
            <a:fillRect/>
          </a:stretch>
        </p:blipFill>
        <p:spPr>
          <a:xfrm>
            <a:off x="7783107" y="2011680"/>
            <a:ext cx="4408588" cy="4846320"/>
          </a:xfrm>
          <a:prstGeom prst="rect">
            <a:avLst/>
          </a:prstGeom>
        </p:spPr>
      </p:pic>
      <p:pic>
        <p:nvPicPr>
          <p:cNvPr id="3" name="Image 1" descr="assets/logo_color.png"/>
          <p:cNvPicPr>
            <a:picLocks noChangeAspect="1"/>
          </p:cNvPicPr>
          <p:nvPr/>
        </p:nvPicPr>
        <p:blipFill>
          <a:blip r:embed="rId3"/>
          <a:stretch>
            <a:fillRect/>
          </a:stretch>
        </p:blipFill>
        <p:spPr>
          <a:xfrm>
            <a:off x="685800" y="502920"/>
            <a:ext cx="1874520" cy="442621"/>
          </a:xfrm>
          <a:prstGeom prst="rect">
            <a:avLst/>
          </a:prstGeom>
        </p:spPr>
      </p:pic>
      <p:sp>
        <p:nvSpPr>
          <p:cNvPr id="4" name="Text 0"/>
          <p:cNvSpPr>
            <a:spLocks noGrp="1"/>
          </p:cNvSpPr>
          <p:nvPr>
            <p:ph type="title" idx="102" hasCustomPrompt="1"/>
          </p:nvPr>
        </p:nvSpPr>
        <p:spPr>
          <a:xfrm>
            <a:off x="685800" y="1828800"/>
            <a:ext cx="6858000" cy="1691640"/>
          </a:xfrm>
          <a:prstGeom prst="rect">
            <a:avLst/>
          </a:prstGeom>
          <a:noFill/>
          <a:ln/>
        </p:spPr>
        <p:txBody>
          <a:bodyPr wrap="square" rtlCol="0"/>
          <a:lstStyle>
            <a:lvl1pPr marL="0" indent="0" algn="l">
              <a:buNone/>
              <a:defRPr lang="en-US" sz="4400" b="1" dirty="0">
                <a:solidFill>
                  <a:srgbClr val="00306C"/>
                </a:solidFill>
                <a:latin typeface="Pretendard" pitchFamily="34" charset="0"/>
                <a:ea typeface="Pretendard" pitchFamily="34" charset="-122"/>
                <a:cs typeface="Pretendard" pitchFamily="34" charset="-120"/>
              </a:defRPr>
            </a:lvl1pPr>
          </a:lstStyle>
          <a:p>
            <a:pPr marL="0" indent="0" algn="l">
              <a:buNone/>
            </a:pPr>
            <a:r>
              <a:rPr lang="en-US" sz="4400" b="1" dirty="0">
                <a:solidFill>
                  <a:srgbClr val="00306C"/>
                </a:solidFill>
                <a:latin typeface="Pretendard" pitchFamily="34" charset="0"/>
                <a:ea typeface="Pretendard" pitchFamily="34" charset="-122"/>
                <a:cs typeface="Pretendard" pitchFamily="34" charset="-120"/>
              </a:rPr>
              <a:t>발표 제목을 입력하세요</a:t>
            </a:r>
            <a:endParaRPr lang="en-US" sz="4400" dirty="0"/>
          </a:p>
        </p:txBody>
      </p:sp>
      <p:sp>
        <p:nvSpPr>
          <p:cNvPr id="5" name="Text 0"/>
          <p:cNvSpPr>
            <a:spLocks noGrp="1"/>
          </p:cNvSpPr>
          <p:nvPr>
            <p:ph type="body" idx="103" hasCustomPrompt="1"/>
          </p:nvPr>
        </p:nvSpPr>
        <p:spPr>
          <a:xfrm>
            <a:off x="685800" y="3703320"/>
            <a:ext cx="6583680" cy="502920"/>
          </a:xfrm>
          <a:prstGeom prst="rect">
            <a:avLst/>
          </a:prstGeom>
          <a:noFill/>
          <a:ln/>
        </p:spPr>
        <p:txBody>
          <a:bodyPr wrap="square" rtlCol="0"/>
          <a:lstStyle>
            <a:lvl1pPr marL="0" indent="0" algn="l">
              <a:buNone/>
              <a:defRPr lang="en-US" sz="1500" dirty="0">
                <a:solidFill>
                  <a:srgbClr val="5D6773"/>
                </a:solidFill>
                <a:latin typeface="Pretendard" pitchFamily="34" charset="0"/>
                <a:ea typeface="Pretendard" pitchFamily="34" charset="-122"/>
                <a:cs typeface="Pretendard" pitchFamily="34" charset="-120"/>
              </a:defRPr>
            </a:lvl1pPr>
          </a:lstStyle>
          <a:p>
            <a:pPr marL="0" indent="0" algn="l">
              <a:buNone/>
            </a:pPr>
            <a:r>
              <a:rPr lang="en-US" sz="1500" dirty="0">
                <a:solidFill>
                  <a:srgbClr val="5D6773"/>
                </a:solidFill>
                <a:latin typeface="Pretendard" pitchFamily="34" charset="0"/>
                <a:ea typeface="Pretendard" pitchFamily="34" charset="-122"/>
                <a:cs typeface="Pretendard" pitchFamily="34" charset="-120"/>
              </a:rPr>
              <a:t>부제목 · 행사명 · 날짜</a:t>
            </a:r>
            <a:endParaRPr lang="en-US" sz="1500" dirty="0"/>
          </a:p>
        </p:txBody>
      </p:sp>
      <p:sp>
        <p:nvSpPr>
          <p:cNvPr id="6" name="Text 0"/>
          <p:cNvSpPr>
            <a:spLocks noGrp="1"/>
          </p:cNvSpPr>
          <p:nvPr>
            <p:ph type="body" idx="104" hasCustomPrompt="1"/>
          </p:nvPr>
        </p:nvSpPr>
        <p:spPr>
          <a:xfrm>
            <a:off x="685800" y="4709160"/>
            <a:ext cx="6217920" cy="1645920"/>
          </a:xfrm>
          <a:prstGeom prst="rect">
            <a:avLst/>
          </a:prstGeom>
          <a:noFill/>
          <a:ln/>
        </p:spPr>
        <p:txBody>
          <a:bodyPr wrap="square" rtlCol="0"/>
          <a:lstStyle>
            <a:lvl1pPr marL="0" indent="0" algn="l">
              <a:buNone/>
              <a:defRPr lang="en-US" sz="1300" dirty="0">
                <a:solidFill>
                  <a:srgbClr val="5D6773"/>
                </a:solidFill>
                <a:latin typeface="Pretendard" pitchFamily="34" charset="0"/>
                <a:ea typeface="Pretendard" pitchFamily="34" charset="-122"/>
                <a:cs typeface="Pretendard" pitchFamily="34" charset="-120"/>
              </a:defRPr>
            </a:lvl1pPr>
          </a:lstStyle>
          <a:p>
            <a:pPr marL="0" indent="0" algn="l">
              <a:buNone/>
            </a:pPr>
            <a:r>
              <a:rPr lang="en-US" sz="1300" dirty="0">
                <a:solidFill>
                  <a:srgbClr val="5D6773"/>
                </a:solidFill>
                <a:latin typeface="Pretendard" pitchFamily="34" charset="0"/>
                <a:ea typeface="Pretendard" pitchFamily="34" charset="-122"/>
                <a:cs typeface="Pretendard" pitchFamily="34" charset="-120"/>
              </a:rPr>
              <a:t>발표자 정보를 입력하세요</a:t>
            </a:r>
            <a:endParaRPr lang="en-US" sz="13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rgbClr val="00306C"/>
        </a:solidFill>
        <a:effectLst/>
      </p:bgPr>
    </p:bg>
    <p:spTree>
      <p:nvGrpSpPr>
        <p:cNvPr id="1" name=""/>
        <p:cNvGrpSpPr/>
        <p:nvPr/>
      </p:nvGrpSpPr>
      <p:grpSpPr>
        <a:xfrm>
          <a:off x="0" y="0"/>
          <a:ext cx="0" cy="0"/>
          <a:chOff x="0" y="0"/>
          <a:chExt cx="0" cy="0"/>
        </a:xfrm>
      </p:grpSpPr>
      <p:pic>
        <p:nvPicPr>
          <p:cNvPr id="2" name="Image 0" descr="assets/pattern_ghost.png"/>
          <p:cNvPicPr>
            <a:picLocks noChangeAspect="1"/>
          </p:cNvPicPr>
          <p:nvPr/>
        </p:nvPicPr>
        <p:blipFill>
          <a:blip r:embed="rId2"/>
          <a:stretch>
            <a:fillRect/>
          </a:stretch>
        </p:blipFill>
        <p:spPr>
          <a:xfrm>
            <a:off x="7616746" y="1828800"/>
            <a:ext cx="4574950" cy="5029200"/>
          </a:xfrm>
          <a:prstGeom prst="rect">
            <a:avLst/>
          </a:prstGeom>
        </p:spPr>
      </p:pic>
      <p:pic>
        <p:nvPicPr>
          <p:cNvPr id="3" name="Image 1" descr="assets/logo_white.png"/>
          <p:cNvPicPr>
            <a:picLocks noChangeAspect="1"/>
          </p:cNvPicPr>
          <p:nvPr/>
        </p:nvPicPr>
        <p:blipFill>
          <a:blip r:embed="rId3"/>
          <a:stretch>
            <a:fillRect/>
          </a:stretch>
        </p:blipFill>
        <p:spPr>
          <a:xfrm>
            <a:off x="10417759" y="420624"/>
            <a:ext cx="1207008" cy="285005"/>
          </a:xfrm>
          <a:prstGeom prst="rect">
            <a:avLst/>
          </a:prstGeom>
        </p:spPr>
      </p:pic>
      <p:sp>
        <p:nvSpPr>
          <p:cNvPr id="4" name="Text 0"/>
          <p:cNvSpPr>
            <a:spLocks noGrp="1"/>
          </p:cNvSpPr>
          <p:nvPr>
            <p:ph type="title" idx="102" hasCustomPrompt="1"/>
          </p:nvPr>
        </p:nvSpPr>
        <p:spPr>
          <a:xfrm>
            <a:off x="685800" y="3017520"/>
            <a:ext cx="8778240" cy="914400"/>
          </a:xfrm>
          <a:prstGeom prst="rect">
            <a:avLst/>
          </a:prstGeom>
          <a:noFill/>
          <a:ln/>
        </p:spPr>
        <p:txBody>
          <a:bodyPr wrap="square" rtlCol="0"/>
          <a:lstStyle>
            <a:lvl1pPr marL="0" indent="0" algn="l">
              <a:buNone/>
              <a:defRPr lang="en-US" sz="3600" b="1" dirty="0">
                <a:solidFill>
                  <a:srgbClr val="FFFFFF"/>
                </a:solidFill>
                <a:latin typeface="Pretendard" pitchFamily="34" charset="0"/>
                <a:ea typeface="Pretendard" pitchFamily="34" charset="-122"/>
                <a:cs typeface="Pretendard" pitchFamily="34" charset="-120"/>
              </a:defRPr>
            </a:lvl1pPr>
          </a:lstStyle>
          <a:p>
            <a:pPr marL="0" indent="0" algn="l">
              <a:buNone/>
            </a:pPr>
            <a:r>
              <a:rPr lang="en-US" sz="3600" b="1" dirty="0">
                <a:solidFill>
                  <a:srgbClr val="FFFFFF"/>
                </a:solidFill>
                <a:latin typeface="Pretendard" pitchFamily="34" charset="0"/>
                <a:ea typeface="Pretendard" pitchFamily="34" charset="-122"/>
                <a:cs typeface="Pretendard" pitchFamily="34" charset="-120"/>
              </a:rPr>
              <a:t>섹션 제목을 입력하세요</a:t>
            </a:r>
            <a:endParaRPr lang="en-US" sz="3600" dirty="0"/>
          </a:p>
        </p:txBody>
      </p:sp>
      <p:sp>
        <p:nvSpPr>
          <p:cNvPr id="5" name="Text 0"/>
          <p:cNvSpPr>
            <a:spLocks noGrp="1"/>
          </p:cNvSpPr>
          <p:nvPr>
            <p:ph type="body" idx="103" hasCustomPrompt="1"/>
          </p:nvPr>
        </p:nvSpPr>
        <p:spPr>
          <a:xfrm>
            <a:off x="685800" y="4160520"/>
            <a:ext cx="8229600" cy="548640"/>
          </a:xfrm>
          <a:prstGeom prst="rect">
            <a:avLst/>
          </a:prstGeom>
          <a:noFill/>
          <a:ln/>
        </p:spPr>
        <p:txBody>
          <a:bodyPr wrap="square" rtlCol="0"/>
          <a:lstStyle>
            <a:lvl1pPr marL="0" indent="0" algn="l">
              <a:buNone/>
              <a:defRPr lang="en-US" sz="1450" dirty="0">
                <a:solidFill>
                  <a:srgbClr val="C7D2E0"/>
                </a:solidFill>
                <a:latin typeface="Pretendard" pitchFamily="34" charset="0"/>
                <a:ea typeface="Pretendard" pitchFamily="34" charset="-122"/>
                <a:cs typeface="Pretendard" pitchFamily="34" charset="-120"/>
              </a:defRPr>
            </a:lvl1pPr>
          </a:lstStyle>
          <a:p>
            <a:pPr marL="0" indent="0" algn="l">
              <a:buNone/>
            </a:pPr>
            <a:r>
              <a:rPr lang="en-US" sz="1450" dirty="0">
                <a:solidFill>
                  <a:srgbClr val="C7D2E0"/>
                </a:solidFill>
                <a:latin typeface="Pretendard" pitchFamily="34" charset="0"/>
                <a:ea typeface="Pretendard" pitchFamily="34" charset="-122"/>
                <a:cs typeface="Pretendard" pitchFamily="34" charset="-120"/>
              </a:rPr>
              <a:t>섹션 설명 (선택)</a:t>
            </a:r>
            <a:endParaRPr lang="en-US" sz="145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pic>
        <p:nvPicPr>
          <p:cNvPr id="2" name="Image 0" descr="assets/logo_color.png"/>
          <p:cNvPicPr>
            <a:picLocks noChangeAspect="1"/>
          </p:cNvPicPr>
          <p:nvPr/>
        </p:nvPicPr>
        <p:blipFill>
          <a:blip r:embed="rId2"/>
          <a:stretch>
            <a:fillRect/>
          </a:stretch>
        </p:blipFill>
        <p:spPr>
          <a:xfrm>
            <a:off x="10417759" y="420624"/>
            <a:ext cx="1207008" cy="285005"/>
          </a:xfrm>
          <a:prstGeom prst="rect">
            <a:avLst/>
          </a:prstGeom>
        </p:spPr>
      </p:pic>
      <p:sp>
        <p:nvSpPr>
          <p:cNvPr id="3" name="Text 0"/>
          <p:cNvSpPr>
            <a:spLocks noGrp="1"/>
          </p:cNvSpPr>
          <p:nvPr>
            <p:ph type="title" idx="101" hasCustomPrompt="1"/>
          </p:nvPr>
        </p:nvSpPr>
        <p:spPr>
          <a:xfrm>
            <a:off x="566928" y="274320"/>
            <a:ext cx="9418320" cy="594360"/>
          </a:xfrm>
          <a:prstGeom prst="rect">
            <a:avLst/>
          </a:prstGeom>
          <a:noFill/>
          <a:ln/>
        </p:spPr>
        <p:txBody>
          <a:bodyPr wrap="square" rtlCol="0"/>
          <a:lstStyle>
            <a:lvl1pPr marL="0" indent="0" algn="l">
              <a:buNone/>
              <a:defRPr lang="en-US" sz="2800" b="1" dirty="0">
                <a:solidFill>
                  <a:srgbClr val="00306C"/>
                </a:solidFill>
                <a:latin typeface="Pretendard" pitchFamily="34" charset="0"/>
                <a:ea typeface="Pretendard" pitchFamily="34" charset="-122"/>
                <a:cs typeface="Pretendard" pitchFamily="34" charset="-120"/>
              </a:defRPr>
            </a:lvl1pPr>
          </a:lstStyle>
          <a:p>
            <a:pPr marL="0" indent="0" algn="l">
              <a:buNone/>
            </a:pPr>
            <a:r>
              <a:rPr lang="en-US" sz="2800" b="1" dirty="0">
                <a:solidFill>
                  <a:srgbClr val="00306C"/>
                </a:solidFill>
                <a:latin typeface="Pretendard" pitchFamily="34" charset="0"/>
                <a:ea typeface="Pretendard" pitchFamily="34" charset="-122"/>
                <a:cs typeface="Pretendard" pitchFamily="34" charset="-120"/>
              </a:rPr>
              <a:t>슬라이드 제목을 입력하세요</a:t>
            </a:r>
            <a:endParaRPr lang="en-US" sz="2800" dirty="0"/>
          </a:p>
        </p:txBody>
      </p:sp>
      <p:sp>
        <p:nvSpPr>
          <p:cNvPr id="4" name="Text 0"/>
          <p:cNvSpPr>
            <a:spLocks noGrp="1"/>
          </p:cNvSpPr>
          <p:nvPr>
            <p:ph type="body" idx="102" hasCustomPrompt="1"/>
          </p:nvPr>
        </p:nvSpPr>
        <p:spPr>
          <a:xfrm>
            <a:off x="566928" y="1188720"/>
            <a:ext cx="11055096" cy="5074920"/>
          </a:xfrm>
          <a:prstGeom prst="rect">
            <a:avLst/>
          </a:prstGeom>
          <a:noFill/>
          <a:ln/>
        </p:spPr>
        <p:txBody>
          <a:bodyPr wrap="square" rtlCol="0"/>
          <a:lstStyle>
            <a:lvl1pPr marL="0" indent="0" algn="l">
              <a:buNone/>
              <a:defRPr lang="en-US" sz="1500" dirty="0">
                <a:solidFill>
                  <a:srgbClr val="21262E"/>
                </a:solidFill>
                <a:latin typeface="Pretendard" pitchFamily="34" charset="0"/>
                <a:ea typeface="Pretendard" pitchFamily="34" charset="-122"/>
                <a:cs typeface="Pretendard" pitchFamily="34" charset="-120"/>
              </a:defRPr>
            </a:lvl1pPr>
          </a:lstStyle>
          <a:p>
            <a:pPr marL="0" indent="0" algn="l">
              <a:buNone/>
            </a:pPr>
            <a:r>
              <a:rPr lang="en-US" sz="1500" dirty="0">
                <a:solidFill>
                  <a:srgbClr val="21262E"/>
                </a:solidFill>
                <a:latin typeface="Pretendard" pitchFamily="34" charset="0"/>
                <a:ea typeface="Pretendard" pitchFamily="34" charset="-122"/>
                <a:cs typeface="Pretendard" pitchFamily="34" charset="-120"/>
              </a:rPr>
              <a:t>내용을 입력하세요</a:t>
            </a:r>
            <a:endParaRPr lang="en-US" sz="1500" dirty="0"/>
          </a:p>
        </p:txBody>
      </p:sp>
      <p:sp>
        <p:nvSpPr>
          <p:cNvPr id="25" name="Slide Number Placeholder 0"/>
          <p:cNvSpPr>
            <a:spLocks noGrp="1"/>
          </p:cNvSpPr>
          <p:nvPr>
            <p:ph type="sldNum" sz="quarter" idx="4294967295"/>
          </p:nvPr>
        </p:nvSpPr>
        <p:spPr>
          <a:xfrm>
            <a:off x="11164824" y="644652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AA3AE"/>
                </a:solidFill>
                <a:latin typeface="Pretendard"/>
                <a:ea typeface="Pretendard"/>
                <a:cs typeface="Pretendard"/>
              </a:defRPr>
            </a:lvl1pPr>
          </a:lstStyle>
          <a:p>
            <a:pPr algn="r"/>
            <a:fld id="{F7021451-1387-4CA6-816F-3879F97B5CBC}" type="slidenum">
              <a:rPr lang="en-US" b="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WO_CONTENT">
    <p:bg>
      <p:bgPr>
        <a:solidFill>
          <a:srgbClr val="FFFFFF"/>
        </a:solidFill>
        <a:effectLst/>
      </p:bgPr>
    </p:bg>
    <p:spTree>
      <p:nvGrpSpPr>
        <p:cNvPr id="1" name=""/>
        <p:cNvGrpSpPr/>
        <p:nvPr/>
      </p:nvGrpSpPr>
      <p:grpSpPr>
        <a:xfrm>
          <a:off x="0" y="0"/>
          <a:ext cx="0" cy="0"/>
          <a:chOff x="0" y="0"/>
          <a:chExt cx="0" cy="0"/>
        </a:xfrm>
      </p:grpSpPr>
      <p:pic>
        <p:nvPicPr>
          <p:cNvPr id="2" name="Image 0" descr="assets/logo_color.png"/>
          <p:cNvPicPr>
            <a:picLocks noChangeAspect="1"/>
          </p:cNvPicPr>
          <p:nvPr/>
        </p:nvPicPr>
        <p:blipFill>
          <a:blip r:embed="rId2"/>
          <a:stretch>
            <a:fillRect/>
          </a:stretch>
        </p:blipFill>
        <p:spPr>
          <a:xfrm>
            <a:off x="10417759" y="420624"/>
            <a:ext cx="1207008" cy="285005"/>
          </a:xfrm>
          <a:prstGeom prst="rect">
            <a:avLst/>
          </a:prstGeom>
        </p:spPr>
      </p:pic>
      <p:sp>
        <p:nvSpPr>
          <p:cNvPr id="3" name="Text 0"/>
          <p:cNvSpPr>
            <a:spLocks noGrp="1"/>
          </p:cNvSpPr>
          <p:nvPr>
            <p:ph type="title" idx="101" hasCustomPrompt="1"/>
          </p:nvPr>
        </p:nvSpPr>
        <p:spPr>
          <a:xfrm>
            <a:off x="566928" y="274320"/>
            <a:ext cx="9418320" cy="594360"/>
          </a:xfrm>
          <a:prstGeom prst="rect">
            <a:avLst/>
          </a:prstGeom>
          <a:noFill/>
          <a:ln/>
        </p:spPr>
        <p:txBody>
          <a:bodyPr wrap="square" rtlCol="0"/>
          <a:lstStyle>
            <a:lvl1pPr marL="0" indent="0" algn="l">
              <a:buNone/>
              <a:defRPr lang="en-US" sz="2800" b="1" dirty="0">
                <a:solidFill>
                  <a:srgbClr val="00306C"/>
                </a:solidFill>
                <a:latin typeface="Pretendard" pitchFamily="34" charset="0"/>
                <a:ea typeface="Pretendard" pitchFamily="34" charset="-122"/>
                <a:cs typeface="Pretendard" pitchFamily="34" charset="-120"/>
              </a:defRPr>
            </a:lvl1pPr>
          </a:lstStyle>
          <a:p>
            <a:pPr marL="0" indent="0" algn="l">
              <a:buNone/>
            </a:pPr>
            <a:r>
              <a:rPr lang="en-US" sz="2800" b="1" dirty="0">
                <a:solidFill>
                  <a:srgbClr val="00306C"/>
                </a:solidFill>
                <a:latin typeface="Pretendard" pitchFamily="34" charset="0"/>
                <a:ea typeface="Pretendard" pitchFamily="34" charset="-122"/>
                <a:cs typeface="Pretendard" pitchFamily="34" charset="-120"/>
              </a:rPr>
              <a:t>슬라이드 제목을 입력하세요</a:t>
            </a:r>
            <a:endParaRPr lang="en-US" sz="2800" dirty="0"/>
          </a:p>
        </p:txBody>
      </p:sp>
      <p:sp>
        <p:nvSpPr>
          <p:cNvPr id="4" name="Text 0"/>
          <p:cNvSpPr>
            <a:spLocks noGrp="1"/>
          </p:cNvSpPr>
          <p:nvPr>
            <p:ph type="body" idx="102" hasCustomPrompt="1"/>
          </p:nvPr>
        </p:nvSpPr>
        <p:spPr>
          <a:xfrm>
            <a:off x="566928" y="1188720"/>
            <a:ext cx="5413248" cy="5074920"/>
          </a:xfrm>
          <a:prstGeom prst="rect">
            <a:avLst/>
          </a:prstGeom>
          <a:noFill/>
          <a:ln/>
        </p:spPr>
        <p:txBody>
          <a:bodyPr wrap="square" rtlCol="0"/>
          <a:lstStyle>
            <a:lvl1pPr marL="0" indent="0" algn="l">
              <a:buNone/>
              <a:defRPr lang="en-US" sz="1450" dirty="0">
                <a:solidFill>
                  <a:srgbClr val="21262E"/>
                </a:solidFill>
                <a:latin typeface="Pretendard" pitchFamily="34" charset="0"/>
                <a:ea typeface="Pretendard" pitchFamily="34" charset="-122"/>
                <a:cs typeface="Pretendard" pitchFamily="34" charset="-120"/>
              </a:defRPr>
            </a:lvl1pPr>
          </a:lstStyle>
          <a:p>
            <a:pPr marL="0" indent="0" algn="l">
              <a:buNone/>
            </a:pPr>
            <a:r>
              <a:rPr lang="en-US" sz="1450" dirty="0">
                <a:solidFill>
                  <a:srgbClr val="21262E"/>
                </a:solidFill>
                <a:latin typeface="Pretendard" pitchFamily="34" charset="0"/>
                <a:ea typeface="Pretendard" pitchFamily="34" charset="-122"/>
                <a:cs typeface="Pretendard" pitchFamily="34" charset="-120"/>
              </a:rPr>
              <a:t>왼쪽 내용을 입력하세요</a:t>
            </a:r>
            <a:endParaRPr lang="en-US" sz="1450" dirty="0"/>
          </a:p>
        </p:txBody>
      </p:sp>
      <p:sp>
        <p:nvSpPr>
          <p:cNvPr id="5" name="Text 0"/>
          <p:cNvSpPr>
            <a:spLocks noGrp="1"/>
          </p:cNvSpPr>
          <p:nvPr>
            <p:ph type="body" idx="103" hasCustomPrompt="1"/>
          </p:nvPr>
        </p:nvSpPr>
        <p:spPr>
          <a:xfrm>
            <a:off x="6208776" y="1188720"/>
            <a:ext cx="5413248" cy="5074920"/>
          </a:xfrm>
          <a:prstGeom prst="rect">
            <a:avLst/>
          </a:prstGeom>
          <a:noFill/>
          <a:ln/>
        </p:spPr>
        <p:txBody>
          <a:bodyPr wrap="square" rtlCol="0"/>
          <a:lstStyle>
            <a:lvl1pPr marL="0" indent="0" algn="l">
              <a:buNone/>
              <a:defRPr lang="en-US" sz="1450" dirty="0">
                <a:solidFill>
                  <a:srgbClr val="21262E"/>
                </a:solidFill>
                <a:latin typeface="Pretendard" pitchFamily="34" charset="0"/>
                <a:ea typeface="Pretendard" pitchFamily="34" charset="-122"/>
                <a:cs typeface="Pretendard" pitchFamily="34" charset="-120"/>
              </a:defRPr>
            </a:lvl1pPr>
          </a:lstStyle>
          <a:p>
            <a:pPr marL="0" indent="0" algn="l">
              <a:buNone/>
            </a:pPr>
            <a:r>
              <a:rPr lang="en-US" sz="1450" dirty="0">
                <a:solidFill>
                  <a:srgbClr val="21262E"/>
                </a:solidFill>
                <a:latin typeface="Pretendard" pitchFamily="34" charset="0"/>
                <a:ea typeface="Pretendard" pitchFamily="34" charset="-122"/>
                <a:cs typeface="Pretendard" pitchFamily="34" charset="-120"/>
              </a:rPr>
              <a:t>오른쪽 내용을 입력하세요</a:t>
            </a:r>
            <a:endParaRPr lang="en-US" sz="1450" dirty="0"/>
          </a:p>
        </p:txBody>
      </p:sp>
      <p:sp>
        <p:nvSpPr>
          <p:cNvPr id="25" name="Slide Number Placeholder 0"/>
          <p:cNvSpPr>
            <a:spLocks noGrp="1"/>
          </p:cNvSpPr>
          <p:nvPr>
            <p:ph type="sldNum" sz="quarter" idx="4294967295"/>
          </p:nvPr>
        </p:nvSpPr>
        <p:spPr>
          <a:xfrm>
            <a:off x="11164824" y="644652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AA3AE"/>
                </a:solidFill>
                <a:latin typeface="Pretendard"/>
                <a:ea typeface="Pretendard"/>
                <a:cs typeface="Pretendard"/>
              </a:defRPr>
            </a:lvl1pPr>
          </a:lstStyle>
          <a:p>
            <a:pPr algn="r"/>
            <a:fld id="{F7021451-1387-4CA6-816F-3879F97B5CBC}" type="slidenum">
              <a:rPr lang="en-US" b="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_ONLY">
    <p:bg>
      <p:bgPr>
        <a:solidFill>
          <a:srgbClr val="FFFFFF"/>
        </a:solidFill>
        <a:effectLst/>
      </p:bgPr>
    </p:bg>
    <p:spTree>
      <p:nvGrpSpPr>
        <p:cNvPr id="1" name=""/>
        <p:cNvGrpSpPr/>
        <p:nvPr/>
      </p:nvGrpSpPr>
      <p:grpSpPr>
        <a:xfrm>
          <a:off x="0" y="0"/>
          <a:ext cx="0" cy="0"/>
          <a:chOff x="0" y="0"/>
          <a:chExt cx="0" cy="0"/>
        </a:xfrm>
      </p:grpSpPr>
      <p:sp>
        <p:nvSpPr>
          <p:cNvPr id="3" name="Text 0"/>
          <p:cNvSpPr>
            <a:spLocks noGrp="1"/>
          </p:cNvSpPr>
          <p:nvPr>
            <p:ph type="title" idx="101" hasCustomPrompt="1"/>
          </p:nvPr>
        </p:nvSpPr>
        <p:spPr>
          <a:xfrm>
            <a:off x="566928" y="274320"/>
            <a:ext cx="9418320" cy="594360"/>
          </a:xfrm>
          <a:prstGeom prst="rect">
            <a:avLst/>
          </a:prstGeom>
          <a:noFill/>
          <a:ln/>
        </p:spPr>
        <p:txBody>
          <a:bodyPr wrap="square" rtlCol="0"/>
          <a:lstStyle>
            <a:lvl1pPr marL="0" indent="0" algn="l">
              <a:buNone/>
              <a:defRPr lang="en-US" sz="2800" b="1" dirty="0">
                <a:solidFill>
                  <a:srgbClr val="00306C"/>
                </a:solidFill>
                <a:latin typeface="Pretendard" pitchFamily="34" charset="0"/>
                <a:ea typeface="Pretendard" pitchFamily="34" charset="-122"/>
                <a:cs typeface="Pretendard" pitchFamily="34" charset="-120"/>
              </a:defRPr>
            </a:lvl1pPr>
          </a:lstStyle>
          <a:p>
            <a:pPr marL="0" indent="0" algn="l">
              <a:buNone/>
            </a:pPr>
            <a:r>
              <a:rPr lang="en-US" sz="2800" b="1" dirty="0">
                <a:solidFill>
                  <a:srgbClr val="00306C"/>
                </a:solidFill>
                <a:latin typeface="Pretendard" pitchFamily="34" charset="0"/>
                <a:ea typeface="Pretendard" pitchFamily="34" charset="-122"/>
                <a:cs typeface="Pretendard" pitchFamily="34" charset="-120"/>
              </a:rPr>
              <a:t>슬라이드 제목을 입력하세요</a:t>
            </a:r>
            <a:endParaRPr lang="en-US" sz="2800" dirty="0"/>
          </a:p>
        </p:txBody>
      </p:sp>
      <p:sp>
        <p:nvSpPr>
          <p:cNvPr id="25" name="Slide Number Placeholder 0"/>
          <p:cNvSpPr>
            <a:spLocks noGrp="1"/>
          </p:cNvSpPr>
          <p:nvPr>
            <p:ph type="sldNum" sz="quarter" idx="4294967295"/>
          </p:nvPr>
        </p:nvSpPr>
        <p:spPr>
          <a:xfrm>
            <a:off x="11164824" y="644652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AA3AE"/>
                </a:solidFill>
                <a:latin typeface="Pretendard"/>
                <a:ea typeface="Pretendard"/>
                <a:cs typeface="Pretendard"/>
              </a:defRPr>
            </a:lvl1pPr>
          </a:lstStyle>
          <a:p>
            <a:pPr algn="r"/>
            <a:fld id="{F7021451-1387-4CA6-816F-3879F97B5CBC}" type="slidenum">
              <a:rPr lang="en-US" b="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BLANK">
    <p:bg>
      <p:bgPr>
        <a:solidFill>
          <a:srgbClr val="FFFFFF"/>
        </a:solidFill>
        <a:effectLst/>
      </p:bgPr>
    </p:bg>
    <p:spTree>
      <p:nvGrpSpPr>
        <p:cNvPr id="1" name=""/>
        <p:cNvGrpSpPr/>
        <p:nvPr/>
      </p:nvGrpSpPr>
      <p:grpSpPr>
        <a:xfrm>
          <a:off x="0" y="0"/>
          <a:ext cx="0" cy="0"/>
          <a:chOff x="0" y="0"/>
          <a:chExt cx="0" cy="0"/>
        </a:xfrm>
      </p:grpSpPr>
      <p:pic>
        <p:nvPicPr>
          <p:cNvPr id="2" name="Image 0" descr="assets/logo_color.png"/>
          <p:cNvPicPr>
            <a:picLocks noChangeAspect="1"/>
          </p:cNvPicPr>
          <p:nvPr/>
        </p:nvPicPr>
        <p:blipFill>
          <a:blip r:embed="rId2"/>
          <a:stretch>
            <a:fillRect/>
          </a:stretch>
        </p:blipFill>
        <p:spPr>
          <a:xfrm>
            <a:off x="10417759" y="420624"/>
            <a:ext cx="1207008" cy="285005"/>
          </a:xfrm>
          <a:prstGeom prst="rect">
            <a:avLst/>
          </a:prstGeom>
        </p:spPr>
      </p:pic>
      <p:sp>
        <p:nvSpPr>
          <p:cNvPr id="25" name="Slide Number Placeholder 0"/>
          <p:cNvSpPr>
            <a:spLocks noGrp="1"/>
          </p:cNvSpPr>
          <p:nvPr>
            <p:ph type="sldNum" sz="quarter" idx="4294967295"/>
          </p:nvPr>
        </p:nvSpPr>
        <p:spPr>
          <a:xfrm>
            <a:off x="11164824" y="644652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AA3AE"/>
                </a:solidFill>
                <a:latin typeface="Pretendard"/>
                <a:ea typeface="Pretendard"/>
                <a:cs typeface="Pretendard"/>
              </a:defRPr>
            </a:lvl1pPr>
          </a:lstStyle>
          <a:p>
            <a:pPr algn="r"/>
            <a:fld id="{F7021451-1387-4CA6-816F-3879F97B5CBC}" type="slidenum">
              <a:rPr lang="en-US" b="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LOSING">
    <p:bg>
      <p:bgPr>
        <a:solidFill>
          <a:srgbClr val="00306C"/>
        </a:solidFill>
        <a:effectLst/>
      </p:bgPr>
    </p:bg>
    <p:spTree>
      <p:nvGrpSpPr>
        <p:cNvPr id="1" name=""/>
        <p:cNvGrpSpPr/>
        <p:nvPr/>
      </p:nvGrpSpPr>
      <p:grpSpPr>
        <a:xfrm>
          <a:off x="0" y="0"/>
          <a:ext cx="0" cy="0"/>
          <a:chOff x="0" y="0"/>
          <a:chExt cx="0" cy="0"/>
        </a:xfrm>
      </p:grpSpPr>
      <p:pic>
        <p:nvPicPr>
          <p:cNvPr id="2" name="Image 0" descr="assets/pattern_ghost.png"/>
          <p:cNvPicPr>
            <a:picLocks noChangeAspect="1"/>
          </p:cNvPicPr>
          <p:nvPr/>
        </p:nvPicPr>
        <p:blipFill>
          <a:blip r:embed="rId2"/>
          <a:stretch>
            <a:fillRect/>
          </a:stretch>
        </p:blipFill>
        <p:spPr>
          <a:xfrm>
            <a:off x="7367203" y="1554480"/>
            <a:ext cx="4824492" cy="5303520"/>
          </a:xfrm>
          <a:prstGeom prst="rect">
            <a:avLst/>
          </a:prstGeom>
        </p:spPr>
      </p:pic>
      <p:pic>
        <p:nvPicPr>
          <p:cNvPr id="3" name="Image 1" descr="assets/logo_white.png"/>
          <p:cNvPicPr>
            <a:picLocks noChangeAspect="1"/>
          </p:cNvPicPr>
          <p:nvPr/>
        </p:nvPicPr>
        <p:blipFill>
          <a:blip r:embed="rId3"/>
          <a:stretch>
            <a:fillRect/>
          </a:stretch>
        </p:blipFill>
        <p:spPr>
          <a:xfrm>
            <a:off x="685800" y="502920"/>
            <a:ext cx="1828800" cy="431826"/>
          </a:xfrm>
          <a:prstGeom prst="rect">
            <a:avLst/>
          </a:prstGeom>
        </p:spPr>
      </p:pic>
      <p:sp>
        <p:nvSpPr>
          <p:cNvPr id="4" name="Text 0"/>
          <p:cNvSpPr>
            <a:spLocks noGrp="1"/>
          </p:cNvSpPr>
          <p:nvPr>
            <p:ph type="title" idx="102" hasCustomPrompt="1"/>
          </p:nvPr>
        </p:nvSpPr>
        <p:spPr>
          <a:xfrm>
            <a:off x="685800" y="2377440"/>
            <a:ext cx="7315200" cy="1097280"/>
          </a:xfrm>
          <a:prstGeom prst="rect">
            <a:avLst/>
          </a:prstGeom>
          <a:noFill/>
          <a:ln/>
        </p:spPr>
        <p:txBody>
          <a:bodyPr wrap="square" rtlCol="0"/>
          <a:lstStyle>
            <a:lvl1pPr marL="0" indent="0" algn="l">
              <a:buNone/>
              <a:defRPr lang="en-US" sz="4400" b="1" dirty="0">
                <a:solidFill>
                  <a:srgbClr val="FFFFFF"/>
                </a:solidFill>
                <a:latin typeface="Pretendard" pitchFamily="34" charset="0"/>
                <a:ea typeface="Pretendard" pitchFamily="34" charset="-122"/>
                <a:cs typeface="Pretendard" pitchFamily="34" charset="-120"/>
              </a:defRPr>
            </a:lvl1pPr>
          </a:lstStyle>
          <a:p>
            <a:pPr marL="0" indent="0" algn="l">
              <a:buNone/>
            </a:pPr>
            <a:r>
              <a:rPr lang="en-US" sz="4400" b="1" dirty="0">
                <a:solidFill>
                  <a:srgbClr val="FFFFFF"/>
                </a:solidFill>
                <a:latin typeface="Pretendard" pitchFamily="34" charset="0"/>
                <a:ea typeface="Pretendard" pitchFamily="34" charset="-122"/>
                <a:cs typeface="Pretendard" pitchFamily="34" charset="-120"/>
              </a:rPr>
              <a:t>Thank You</a:t>
            </a:r>
            <a:endParaRPr lang="en-US" sz="4400" dirty="0"/>
          </a:p>
        </p:txBody>
      </p:sp>
      <p:sp>
        <p:nvSpPr>
          <p:cNvPr id="5" name="Text 0"/>
          <p:cNvSpPr>
            <a:spLocks noGrp="1"/>
          </p:cNvSpPr>
          <p:nvPr>
            <p:ph type="body" idx="103" hasCustomPrompt="1"/>
          </p:nvPr>
        </p:nvSpPr>
        <p:spPr>
          <a:xfrm>
            <a:off x="685800" y="3749040"/>
            <a:ext cx="6858000" cy="1737360"/>
          </a:xfrm>
          <a:prstGeom prst="rect">
            <a:avLst/>
          </a:prstGeom>
          <a:noFill/>
          <a:ln/>
        </p:spPr>
        <p:txBody>
          <a:bodyPr wrap="square" rtlCol="0"/>
          <a:lstStyle>
            <a:lvl1pPr marL="0" indent="0" algn="l">
              <a:buNone/>
              <a:defRPr lang="en-US" sz="1400" dirty="0">
                <a:solidFill>
                  <a:srgbClr val="C7D2E0"/>
                </a:solidFill>
                <a:latin typeface="Pretendard" pitchFamily="34" charset="0"/>
                <a:ea typeface="Pretendard" pitchFamily="34" charset="-122"/>
                <a:cs typeface="Pretendard" pitchFamily="34" charset="-120"/>
              </a:defRPr>
            </a:lvl1pPr>
          </a:lstStyle>
          <a:p>
            <a:pPr marL="0" indent="0" algn="l">
              <a:buNone/>
            </a:pPr>
            <a:r>
              <a:rPr lang="en-US" sz="1400" dirty="0">
                <a:solidFill>
                  <a:srgbClr val="C7D2E0"/>
                </a:solidFill>
                <a:latin typeface="Pretendard" pitchFamily="34" charset="0"/>
                <a:ea typeface="Pretendard" pitchFamily="34" charset="-122"/>
                <a:cs typeface="Pretendard" pitchFamily="34" charset="-120"/>
              </a:rPr>
              <a:t>연락처 정보를 입력하세요</a:t>
            </a:r>
            <a:endParaRPr lang="en-US" sz="1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64824" y="644652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AA3AE"/>
                </a:solidFill>
                <a:latin typeface="Pretendard"/>
                <a:ea typeface="Pretendard"/>
                <a:cs typeface="Pretendard"/>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image" Target="../media/image11.png"/><Relationship Id="rId8" Type="http://schemas.openxmlformats.org/officeDocument/2006/relationships/image" Target="../media/image12.png"/><Relationship Id="rId9" Type="http://schemas.openxmlformats.org/officeDocument/2006/relationships/image" Target="../media/image13.png"/><Relationship Id="rId10" Type="http://schemas.openxmlformats.org/officeDocument/2006/relationships/image" Target="../media/image1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hyperlink" Target="https://github.com/mlopezm/Supervised-contrastive-learning-over-prototype-label-embeddings" TargetMode="External"/><Relationship Id="rId4" Type="http://schemas.openxmlformats.org/officeDocument/2006/relationships/hyperlink" Target="https://arxiv.org/abs/2402.06971" TargetMode="External"/><Relationship Id="rId5" Type="http://schemas.openxmlformats.org/officeDocument/2006/relationships/hyperlink" Target="https://valthom.github.io/"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11055096" cy="594360"/>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2800" b="1" lang="ko-KR">
                <a:solidFill>
                  <a:srgbClr val="00306C"/>
                </a:solidFill>
                <a:latin typeface="Pretendard"/>
                <a:ea typeface="Pretendard"/>
                <a:cs typeface="Pretendard"/>
              </a:rPr>
              <a:t>IDS 운영을 위한 TabPFN 활용</a:t>
            </a:r>
          </a:p>
        </p:txBody>
      </p:sp>
      <p:sp>
        <p:nvSpPr>
          <p:cNvPr id="3" name="Rectangle 2"/>
          <p:cNvSpPr/>
          <p:nvPr/>
        </p:nvSpPr>
        <p:spPr>
          <a:xfrm>
            <a:off x="0" y="6355080"/>
            <a:ext cx="12191999" cy="502920"/>
          </a:xfrm>
          <a:prstGeom prst="rect">
            <a:avLst/>
          </a:prstGeom>
          <a:solidFill>
            <a:srgbClr val="0030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75320" y="6428232"/>
            <a:ext cx="2743200" cy="274320"/>
          </a:xfrm>
          <a:prstGeom prst="rect">
            <a:avLst/>
          </a:prstGeom>
          <a:noFill/>
        </p:spPr>
        <p:txBody>
          <a:bodyPr wrap="square" tIns="32004" bIns="32004" anchor="ctr">
            <a:noAutofit/>
          </a:bodyPr>
          <a:lstStyle/>
          <a:p>
            <a:pPr algn="r">
              <a:lnSpc>
                <a:spcPct val="110000"/>
              </a:lnSpc>
              <a:spcBef>
                <a:spcPts val="0"/>
              </a:spcBef>
              <a:spcAft>
                <a:spcPts val="0"/>
              </a:spcAft>
              <a:buNone/>
            </a:pPr>
            <a:r>
              <a:rPr sz="1000" b="0" lang="ko-KR">
                <a:solidFill>
                  <a:srgbClr val="D6E4F3"/>
                </a:solidFill>
                <a:latin typeface="Pretendard"/>
                <a:ea typeface="Pretendard"/>
                <a:cs typeface="Pretendard"/>
              </a:rPr>
              <a:t>01 연구 배경</a:t>
            </a:r>
          </a:p>
        </p:txBody>
      </p:sp>
      <p:sp>
        <p:nvSpPr>
          <p:cNvPr id="5" name="TextBox 4"/>
          <p:cNvSpPr txBox="1"/>
          <p:nvPr/>
        </p:nvSpPr>
        <p:spPr>
          <a:xfrm>
            <a:off x="11183112" y="6409944"/>
            <a:ext cx="438912" cy="310896"/>
          </a:xfrm>
          <a:prstGeom prst="rect">
            <a:avLst/>
          </a:prstGeom>
          <a:noFill/>
        </p:spPr>
        <p:txBody>
          <a:bodyPr wrap="square" tIns="32004" bIns="32004" anchor="ctr">
            <a:noAutofit/>
          </a:bodyPr>
          <a:lstStyle/>
          <a:p>
            <a:pPr algn="r">
              <a:lnSpc>
                <a:spcPct val="110000"/>
              </a:lnSpc>
              <a:spcBef>
                <a:spcPts val="0"/>
              </a:spcBef>
              <a:spcAft>
                <a:spcPts val="0"/>
              </a:spcAft>
              <a:buNone/>
              <a:buNone/>
            </a:pPr>
            <a:r>
              <a:rPr sz="1100" b="1" lang="ko-KR">
                <a:solidFill>
                  <a:srgbClr val="FFFFFF"/>
                </a:solidFill>
                <a:latin typeface="Pretendard"/>
                <a:ea typeface="Pretendard"/>
                <a:cs typeface="Pretendard"/>
              </a:rPr>
              <a:t>1</a:t>
            </a:r>
          </a:p>
        </p:txBody>
      </p:sp>
      <p:sp>
        <p:nvSpPr>
          <p:cNvPr id="6" name="TextBox 5"/>
          <p:cNvSpPr txBox="1"/>
          <p:nvPr/>
        </p:nvSpPr>
        <p:spPr>
          <a:xfrm>
            <a:off x="566928" y="1399032"/>
            <a:ext cx="1874519" cy="402336"/>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2100" b="1" lang="ko-KR">
                <a:solidFill>
                  <a:srgbClr val="007BC6"/>
                </a:solidFill>
                <a:latin typeface="Pretendard"/>
                <a:ea typeface="Pretendard"/>
                <a:cs typeface="Pretendard"/>
              </a:rPr>
              <a:t>기존 평가</a:t>
            </a:r>
          </a:p>
        </p:txBody>
      </p:sp>
      <p:sp>
        <p:nvSpPr>
          <p:cNvPr id="7" name="TextBox 6"/>
          <p:cNvSpPr txBox="1"/>
          <p:nvPr/>
        </p:nvSpPr>
        <p:spPr>
          <a:xfrm>
            <a:off x="2670048" y="1399032"/>
            <a:ext cx="8951976" cy="868680"/>
          </a:xfrm>
          <a:prstGeom prst="rect">
            <a:avLst/>
          </a:prstGeom>
          <a:noFill/>
        </p:spPr>
        <p:txBody>
          <a:bodyPr wrap="square" lIns="0" rIns="0" tIns="32004" bIns="32004" anchor="t">
            <a:noAutofit/>
          </a:bodyPr>
          <a:lstStyle/>
          <a:p>
            <a:pPr algn="l">
              <a:lnSpc>
                <a:spcPct val="110000"/>
              </a:lnSpc>
              <a:spcBef>
                <a:spcPts val="0"/>
              </a:spcBef>
              <a:spcAft>
                <a:spcPts val="0"/>
              </a:spcAft>
              <a:buNone/>
            </a:pPr>
            <a:r>
              <a:rPr sz="2000" b="0" lang="ko-KR">
                <a:solidFill>
                  <a:srgbClr val="21262E"/>
                </a:solidFill>
                <a:latin typeface="Pretendard"/>
                <a:ea typeface="Pretendard"/>
                <a:cs typeface="Pretendard"/>
              </a:rPr>
              <a:t>날짜별 공격 시나리오로 수집된 IDS 데이터</a:t>
            </a:r>
          </a:p>
          <a:p>
            <a:pPr algn="l">
              <a:lnSpc>
                <a:spcPct val="110000"/>
              </a:lnSpc>
              <a:spcBef>
                <a:spcPts val="0"/>
              </a:spcBef>
              <a:spcAft>
                <a:spcPts val="0"/>
              </a:spcAft>
              <a:buNone/>
            </a:pPr>
            <a:r>
              <a:rPr sz="2000" b="0" lang="ko-KR">
                <a:solidFill>
                  <a:srgbClr val="21262E"/>
                </a:solidFill>
                <a:latin typeface="Pretendard"/>
                <a:ea typeface="Pretendard"/>
                <a:cs typeface="Pretendard"/>
              </a:rPr>
              <a:t>전체 공격 유형을 포함해 학습하고, baseline 대비 F1 향상에 집중</a:t>
            </a:r>
          </a:p>
        </p:txBody>
      </p:sp>
      <p:sp>
        <p:nvSpPr>
          <p:cNvPr id="8" name="TextBox 7"/>
          <p:cNvSpPr txBox="1"/>
          <p:nvPr/>
        </p:nvSpPr>
        <p:spPr>
          <a:xfrm>
            <a:off x="566928" y="2779776"/>
            <a:ext cx="1874519" cy="402336"/>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2100" b="1" lang="ko-KR">
                <a:solidFill>
                  <a:srgbClr val="007BC6"/>
                </a:solidFill>
                <a:latin typeface="Pretendard"/>
                <a:ea typeface="Pretendard"/>
                <a:cs typeface="Pretendard"/>
              </a:rPr>
              <a:t>실제 운영</a:t>
            </a:r>
          </a:p>
        </p:txBody>
      </p:sp>
      <p:sp>
        <p:nvSpPr>
          <p:cNvPr id="9" name="TextBox 8"/>
          <p:cNvSpPr txBox="1"/>
          <p:nvPr/>
        </p:nvSpPr>
        <p:spPr>
          <a:xfrm>
            <a:off x="2670048" y="2779776"/>
            <a:ext cx="8951976" cy="868680"/>
          </a:xfrm>
          <a:prstGeom prst="rect">
            <a:avLst/>
          </a:prstGeom>
          <a:noFill/>
        </p:spPr>
        <p:txBody>
          <a:bodyPr wrap="square" lIns="0" rIns="0" tIns="32004" bIns="32004" anchor="t">
            <a:noAutofit/>
          </a:bodyPr>
          <a:lstStyle/>
          <a:p>
            <a:pPr algn="l">
              <a:lnSpc>
                <a:spcPct val="110000"/>
              </a:lnSpc>
              <a:spcBef>
                <a:spcPts val="0"/>
              </a:spcBef>
              <a:spcAft>
                <a:spcPts val="0"/>
              </a:spcAft>
              <a:buNone/>
            </a:pPr>
            <a:r>
              <a:rPr sz="2000" b="0" lang="ko-KR">
                <a:solidFill>
                  <a:srgbClr val="21262E"/>
                </a:solidFill>
                <a:latin typeface="Pretendard"/>
                <a:ea typeface="Pretendard"/>
                <a:cs typeface="Pretendard"/>
              </a:rPr>
              <a:t>새 공격 라벨의 추가·환경 변화에 따라 모델 갱신·재학습 필요</a:t>
            </a:r>
          </a:p>
          <a:p>
            <a:pPr algn="l">
              <a:lnSpc>
                <a:spcPct val="110000"/>
              </a:lnSpc>
              <a:spcBef>
                <a:spcPts val="0"/>
              </a:spcBef>
              <a:spcAft>
                <a:spcPts val="0"/>
              </a:spcAft>
              <a:buNone/>
            </a:pPr>
            <a:r>
              <a:rPr sz="2000" b="0" lang="ko-KR">
                <a:solidFill>
                  <a:srgbClr val="21262E"/>
                </a:solidFill>
                <a:latin typeface="Pretendard"/>
                <a:ea typeface="Pretendard"/>
                <a:cs typeface="Pretendard"/>
              </a:rPr>
              <a:t>고정 test의 F1만으로는 실제 운영 적합성을 판단하기 어려움</a:t>
            </a:r>
          </a:p>
        </p:txBody>
      </p:sp>
      <p:sp>
        <p:nvSpPr>
          <p:cNvPr id="10" name="TextBox 9"/>
          <p:cNvSpPr txBox="1"/>
          <p:nvPr/>
        </p:nvSpPr>
        <p:spPr>
          <a:xfrm>
            <a:off x="566928" y="4160520"/>
            <a:ext cx="1874519" cy="402336"/>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2100" b="1" lang="ko-KR">
                <a:solidFill>
                  <a:srgbClr val="007BC6"/>
                </a:solidFill>
                <a:latin typeface="Pretendard"/>
                <a:ea typeface="Pretendard"/>
                <a:cs typeface="Pretendard"/>
              </a:rPr>
              <a:t>TabPFN 활용</a:t>
            </a:r>
          </a:p>
        </p:txBody>
      </p:sp>
      <p:sp>
        <p:nvSpPr>
          <p:cNvPr id="11" name="TextBox 10"/>
          <p:cNvSpPr txBox="1"/>
          <p:nvPr/>
        </p:nvSpPr>
        <p:spPr>
          <a:xfrm>
            <a:off x="2670048" y="4160520"/>
            <a:ext cx="8951976" cy="868680"/>
          </a:xfrm>
          <a:prstGeom prst="rect">
            <a:avLst/>
          </a:prstGeom>
          <a:noFill/>
        </p:spPr>
        <p:txBody>
          <a:bodyPr wrap="square" lIns="0" rIns="0" tIns="32004" bIns="32004" anchor="t">
            <a:noAutofit/>
          </a:bodyPr>
          <a:lstStyle/>
          <a:p>
            <a:pPr algn="l">
              <a:lnSpc>
                <a:spcPct val="110000"/>
              </a:lnSpc>
              <a:spcBef>
                <a:spcPts val="0"/>
              </a:spcBef>
              <a:spcAft>
                <a:spcPts val="0"/>
              </a:spcAft>
              <a:buNone/>
            </a:pPr>
            <a:r>
              <a:rPr sz="2000" b="0" lang="ko-KR">
                <a:solidFill>
                  <a:srgbClr val="21262E"/>
                </a:solidFill>
                <a:latin typeface="Pretendard"/>
                <a:ea typeface="Pretendard"/>
                <a:cs typeface="Pretendard"/>
              </a:rPr>
              <a:t>사전학습된 tabular foundation model을 추론에 바로 활용</a:t>
            </a:r>
          </a:p>
          <a:p>
            <a:pPr algn="l">
              <a:lnSpc>
                <a:spcPct val="110000"/>
              </a:lnSpc>
              <a:spcBef>
                <a:spcPts val="0"/>
              </a:spcBef>
              <a:spcAft>
                <a:spcPts val="0"/>
              </a:spcAft>
              <a:buNone/>
            </a:pPr>
            <a:r>
              <a:rPr sz="2000" b="0" lang="ko-KR">
                <a:solidFill>
                  <a:srgbClr val="21262E"/>
                </a:solidFill>
                <a:latin typeface="Pretendard"/>
                <a:ea typeface="Pretendard"/>
                <a:cs typeface="Pretendard"/>
              </a:rPr>
              <a:t>소규모 데이터의 예측 능력과 가중치 재학습 없는 context 갱신 활용</a:t>
            </a:r>
          </a:p>
        </p:txBody>
      </p:sp>
      <p:sp>
        <p:nvSpPr>
          <p:cNvPr id="12" name="TextBox 11"/>
          <p:cNvSpPr txBox="1"/>
          <p:nvPr/>
        </p:nvSpPr>
        <p:spPr>
          <a:xfrm>
            <a:off x="566928" y="6432804"/>
            <a:ext cx="7498079" cy="274320"/>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100" b="1" lang="ko-KR">
                <a:solidFill>
                  <a:srgbClr val="FFFFFF"/>
                </a:solidFill>
                <a:latin typeface="Pretendard"/>
                <a:ea typeface="Pretendard"/>
                <a:cs typeface="Pretendard"/>
              </a:rPr>
              <a:t>새 공격 사례를 context에 반영하는 탐지기 갱신 방식 검증</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11055096" cy="594360"/>
          </a:xfrm>
          <a:prstGeom prst="rect">
            <a:avLst/>
          </a:prstGeom>
          <a:noFill/>
        </p:spPr>
        <p:txBody>
          <a:bodyPr wrap="square" lIns="0" rIns="0" tIns="32004" bIns="32004" anchor="ctr">
            <a:noAutofit/>
          </a:bodyPr>
          <a:lstStyle/>
          <a:p>
            <a:pPr algn="l">
              <a:lnSpc>
                <a:spcPct val="110000"/>
              </a:lnSpc>
              <a:spcBef>
                <a:spcPts val="0"/>
              </a:spcBef>
              <a:spcAft>
                <a:spcPts val="0"/>
              </a:spcAft>
              <a:buNone/>
              <a:buNone/>
              <a:buNone/>
            </a:pPr>
            <a:r>
              <a:rPr sz="2800" b="1" lang="ko-KR">
                <a:solidFill>
                  <a:srgbClr val="00306C"/>
                </a:solidFill>
                <a:latin typeface="Pretendard"/>
                <a:ea typeface="Pretendard"/>
                <a:cs typeface="Pretendard"/>
              </a:rPr>
              <a:t>데이터 검토: 동일 feature의 상충 라벨 삭제</a:t>
            </a:r>
          </a:p>
        </p:txBody>
      </p:sp>
      <p:sp>
        <p:nvSpPr>
          <p:cNvPr id="3" name="Rectangle 2"/>
          <p:cNvSpPr/>
          <p:nvPr/>
        </p:nvSpPr>
        <p:spPr>
          <a:xfrm>
            <a:off x="0" y="6355080"/>
            <a:ext cx="12191999" cy="502920"/>
          </a:xfrm>
          <a:prstGeom prst="rect">
            <a:avLst/>
          </a:prstGeom>
          <a:solidFill>
            <a:srgbClr val="0030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75320" y="6428232"/>
            <a:ext cx="2743200" cy="274320"/>
          </a:xfrm>
          <a:prstGeom prst="rect">
            <a:avLst/>
          </a:prstGeom>
          <a:noFill/>
        </p:spPr>
        <p:txBody>
          <a:bodyPr wrap="square" tIns="32004" bIns="32004" anchor="ctr">
            <a:noAutofit/>
          </a:bodyPr>
          <a:lstStyle/>
          <a:p>
            <a:pPr algn="r">
              <a:lnSpc>
                <a:spcPct val="110000"/>
              </a:lnSpc>
              <a:spcBef>
                <a:spcPts val="0"/>
              </a:spcBef>
              <a:spcAft>
                <a:spcPts val="0"/>
              </a:spcAft>
              <a:buNone/>
              <a:buNone/>
              <a:buNone/>
              <a:buNone/>
            </a:pPr>
            <a:r>
              <a:rPr sz="1000" b="0" lang="ko-KR">
                <a:solidFill>
                  <a:srgbClr val="D6E4F3"/>
                </a:solidFill>
                <a:latin typeface="Pretendard"/>
                <a:ea typeface="Pretendard"/>
                <a:cs typeface="Pretendard"/>
              </a:rPr>
              <a:t>03 데이터 검토</a:t>
            </a:r>
          </a:p>
        </p:txBody>
      </p:sp>
      <p:sp>
        <p:nvSpPr>
          <p:cNvPr id="5" name="TextBox 4"/>
          <p:cNvSpPr txBox="1"/>
          <p:nvPr/>
        </p:nvSpPr>
        <p:spPr>
          <a:xfrm>
            <a:off x="11183112" y="6409944"/>
            <a:ext cx="438912" cy="310896"/>
          </a:xfrm>
          <a:prstGeom prst="rect">
            <a:avLst/>
          </a:prstGeom>
          <a:noFill/>
        </p:spPr>
        <p:txBody>
          <a:bodyPr wrap="square" tIns="32004" bIns="32004" anchor="ctr">
            <a:noAutofit/>
          </a:bodyPr>
          <a:lstStyle/>
          <a:p>
            <a:pPr algn="r">
              <a:lnSpc>
                <a:spcPct val="110000"/>
              </a:lnSpc>
              <a:spcBef>
                <a:spcPts val="0"/>
              </a:spcBef>
              <a:spcAft>
                <a:spcPts val="0"/>
              </a:spcAft>
              <a:buNone/>
              <a:buNone/>
              <a:buNone/>
              <a:buNone/>
              <a:buNone/>
            </a:pPr>
            <a:r>
              <a:rPr sz="1100" b="1" lang="ko-KR">
                <a:solidFill>
                  <a:srgbClr val="FFFFFF"/>
                </a:solidFill>
                <a:latin typeface="Pretendard"/>
                <a:ea typeface="Pretendard"/>
                <a:cs typeface="Pretendard"/>
              </a:rPr>
              <a:t>5</a:t>
            </a:r>
          </a:p>
        </p:txBody>
      </p:sp>
      <p:sp>
        <p:nvSpPr>
          <p:cNvPr id="6" name="TextBox 5"/>
          <p:cNvSpPr txBox="1"/>
          <p:nvPr/>
        </p:nvSpPr>
        <p:spPr>
          <a:xfrm>
            <a:off x="566928" y="923544"/>
            <a:ext cx="11055096" cy="301752"/>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180" b="0" lang="ko-KR">
                <a:solidFill>
                  <a:srgbClr val="5D6773"/>
                </a:solidFill>
                <a:latin typeface="Pretendard"/>
                <a:ea typeface="Pretendard"/>
                <a:cs typeface="Pretendard"/>
              </a:rPr>
              <a:t>행: 원래 라벨 · 열: 동일 feature의 다른 라벨 · 셀: 행 클래스 대비 비율 (%) · 정제 전 표본 수 내림차순</a:t>
            </a:r>
          </a:p>
        </p:txBody>
      </p:sp>
      <p:pic>
        <p:nvPicPr>
          <p:cNvPr id="7" name="Picture 6" descr="image.png"/>
          <p:cNvPicPr>
            <a:picLocks noChangeAspect="1"/>
          </p:cNvPicPr>
          <p:nvPr/>
        </p:nvPicPr>
        <p:blipFill>
          <a:blip r:embed="rId7"/>
          <a:stretch>
            <a:fillRect/>
          </a:stretch>
        </p:blipFill>
        <p:spPr>
          <a:xfrm>
            <a:off x="566928" y="1344168"/>
            <a:ext cx="5394960" cy="2057400"/>
          </a:xfrm>
          <a:prstGeom prst="rect">
            <a:avLst/>
          </a:prstGeom>
        </p:spPr>
      </p:pic>
      <p:pic>
        <p:nvPicPr>
          <p:cNvPr id="8" name="Picture 7" descr="image.png"/>
          <p:cNvPicPr>
            <a:picLocks noChangeAspect="1"/>
          </p:cNvPicPr>
          <p:nvPr/>
        </p:nvPicPr>
        <p:blipFill>
          <a:blip r:embed="rId8"/>
          <a:stretch>
            <a:fillRect/>
          </a:stretch>
        </p:blipFill>
        <p:spPr>
          <a:xfrm>
            <a:off x="6227064" y="1344168"/>
            <a:ext cx="5394960" cy="2057400"/>
          </a:xfrm>
          <a:prstGeom prst="rect">
            <a:avLst/>
          </a:prstGeom>
        </p:spPr>
      </p:pic>
      <p:pic>
        <p:nvPicPr>
          <p:cNvPr id="9" name="Picture 8" descr="image.png"/>
          <p:cNvPicPr>
            <a:picLocks noChangeAspect="1"/>
          </p:cNvPicPr>
          <p:nvPr/>
        </p:nvPicPr>
        <p:blipFill>
          <a:blip r:embed="rId9"/>
          <a:stretch>
            <a:fillRect/>
          </a:stretch>
        </p:blipFill>
        <p:spPr>
          <a:xfrm>
            <a:off x="566928" y="3557016"/>
            <a:ext cx="5394960" cy="2057400"/>
          </a:xfrm>
          <a:prstGeom prst="rect">
            <a:avLst/>
          </a:prstGeom>
        </p:spPr>
      </p:pic>
      <p:pic>
        <p:nvPicPr>
          <p:cNvPr id="10" name="Picture 9" descr="image.png"/>
          <p:cNvPicPr>
            <a:picLocks noChangeAspect="1"/>
          </p:cNvPicPr>
          <p:nvPr/>
        </p:nvPicPr>
        <p:blipFill>
          <a:blip r:embed="rId10"/>
          <a:stretch>
            <a:fillRect/>
          </a:stretch>
        </p:blipFill>
        <p:spPr>
          <a:xfrm>
            <a:off x="6227064" y="3557016"/>
            <a:ext cx="5394960" cy="2057400"/>
          </a:xfrm>
          <a:prstGeom prst="rect">
            <a:avLst/>
          </a:prstGeom>
        </p:spPr>
      </p:pic>
      <p:sp>
        <p:nvSpPr>
          <p:cNvPr id="11" name="TextBox 10"/>
          <p:cNvSpPr txBox="1"/>
          <p:nvPr/>
        </p:nvSpPr>
        <p:spPr>
          <a:xfrm>
            <a:off x="566928" y="5797296"/>
            <a:ext cx="6537960" cy="283464"/>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030" b="0" lang="ko-KR">
                <a:solidFill>
                  <a:srgbClr val="5D6773"/>
                </a:solidFill>
                <a:latin typeface="Pretendard"/>
                <a:ea typeface="Pretendard"/>
                <a:cs typeface="Pretendard"/>
              </a:rPr>
              <a:t>빈칸: 0%   ·: 1% 미만   회색: 동일 클래스   같은 행의 중복 집계로 합산 불가</a:t>
            </a:r>
          </a:p>
        </p:txBody>
      </p:sp>
      <p:sp>
        <p:nvSpPr>
          <p:cNvPr id="12" name="Rectangle 11"/>
          <p:cNvSpPr/>
          <p:nvPr/>
        </p:nvSpPr>
        <p:spPr>
          <a:xfrm>
            <a:off x="7699248" y="5843016"/>
            <a:ext cx="411480" cy="128016"/>
          </a:xfrm>
          <a:prstGeom prst="rect">
            <a:avLst/>
          </a:prstGeom>
          <a:solidFill>
            <a:srgbClr val="F2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71816" y="6007608"/>
            <a:ext cx="466344" cy="173736"/>
          </a:xfrm>
          <a:prstGeom prst="rect">
            <a:avLst/>
          </a:prstGeom>
          <a:noFill/>
        </p:spPr>
        <p:txBody>
          <a:bodyPr wrap="square" lIns="0" rIns="0" tIns="32004" bIns="32004" anchor="ctr">
            <a:noAutofit/>
          </a:bodyPr>
          <a:lstStyle/>
          <a:p>
            <a:pPr algn="ctr">
              <a:lnSpc>
                <a:spcPct val="110000"/>
              </a:lnSpc>
              <a:spcBef>
                <a:spcPts val="0"/>
              </a:spcBef>
              <a:spcAft>
                <a:spcPts val="0"/>
              </a:spcAft>
              <a:buNone/>
            </a:pPr>
            <a:r>
              <a:rPr sz="830" b="0" lang="ko-KR">
                <a:solidFill>
                  <a:srgbClr val="5D6773"/>
                </a:solidFill>
                <a:latin typeface="Pretendard"/>
                <a:ea typeface="Pretendard"/>
                <a:cs typeface="Pretendard"/>
              </a:rPr>
              <a:t>0</a:t>
            </a:r>
          </a:p>
        </p:txBody>
      </p:sp>
      <p:sp>
        <p:nvSpPr>
          <p:cNvPr id="14" name="Rectangle 13"/>
          <p:cNvSpPr/>
          <p:nvPr/>
        </p:nvSpPr>
        <p:spPr>
          <a:xfrm>
            <a:off x="8302752" y="5843016"/>
            <a:ext cx="411480" cy="128016"/>
          </a:xfrm>
          <a:prstGeom prst="rect">
            <a:avLst/>
          </a:prstGeom>
          <a:solidFill>
            <a:srgbClr val="9CC6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75320" y="6007608"/>
            <a:ext cx="466344" cy="173736"/>
          </a:xfrm>
          <a:prstGeom prst="rect">
            <a:avLst/>
          </a:prstGeom>
          <a:noFill/>
        </p:spPr>
        <p:txBody>
          <a:bodyPr wrap="square" lIns="0" rIns="0" tIns="32004" bIns="32004" anchor="ctr">
            <a:noAutofit/>
          </a:bodyPr>
          <a:lstStyle/>
          <a:p>
            <a:pPr algn="ctr">
              <a:lnSpc>
                <a:spcPct val="110000"/>
              </a:lnSpc>
              <a:spcBef>
                <a:spcPts val="0"/>
              </a:spcBef>
              <a:spcAft>
                <a:spcPts val="0"/>
              </a:spcAft>
              <a:buNone/>
            </a:pPr>
            <a:r>
              <a:rPr sz="830" b="0" lang="ko-KR">
                <a:solidFill>
                  <a:srgbClr val="5D6773"/>
                </a:solidFill>
                <a:latin typeface="Pretendard"/>
                <a:ea typeface="Pretendard"/>
                <a:cs typeface="Pretendard"/>
              </a:rPr>
              <a:t>25</a:t>
            </a:r>
          </a:p>
        </p:txBody>
      </p:sp>
      <p:sp>
        <p:nvSpPr>
          <p:cNvPr id="16" name="Rectangle 15"/>
          <p:cNvSpPr/>
          <p:nvPr/>
        </p:nvSpPr>
        <p:spPr>
          <a:xfrm>
            <a:off x="8906256" y="5843016"/>
            <a:ext cx="411480" cy="128016"/>
          </a:xfrm>
          <a:prstGeom prst="rect">
            <a:avLst/>
          </a:prstGeom>
          <a:solidFill>
            <a:srgbClr val="4B95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878824" y="6007608"/>
            <a:ext cx="466344" cy="173736"/>
          </a:xfrm>
          <a:prstGeom prst="rect">
            <a:avLst/>
          </a:prstGeom>
          <a:noFill/>
        </p:spPr>
        <p:txBody>
          <a:bodyPr wrap="square" lIns="0" rIns="0" tIns="32004" bIns="32004" anchor="ctr">
            <a:noAutofit/>
          </a:bodyPr>
          <a:lstStyle/>
          <a:p>
            <a:pPr algn="ctr">
              <a:lnSpc>
                <a:spcPct val="110000"/>
              </a:lnSpc>
              <a:spcBef>
                <a:spcPts val="0"/>
              </a:spcBef>
              <a:spcAft>
                <a:spcPts val="0"/>
              </a:spcAft>
              <a:buNone/>
            </a:pPr>
            <a:r>
              <a:rPr sz="830" b="0" lang="ko-KR">
                <a:solidFill>
                  <a:srgbClr val="5D6773"/>
                </a:solidFill>
                <a:latin typeface="Pretendard"/>
                <a:ea typeface="Pretendard"/>
                <a:cs typeface="Pretendard"/>
              </a:rPr>
              <a:t>50</a:t>
            </a:r>
          </a:p>
        </p:txBody>
      </p:sp>
      <p:sp>
        <p:nvSpPr>
          <p:cNvPr id="18" name="Rectangle 17"/>
          <p:cNvSpPr/>
          <p:nvPr/>
        </p:nvSpPr>
        <p:spPr>
          <a:xfrm>
            <a:off x="9509760" y="5843016"/>
            <a:ext cx="411480" cy="128016"/>
          </a:xfrm>
          <a:prstGeom prst="rect">
            <a:avLst/>
          </a:prstGeom>
          <a:solidFill>
            <a:srgbClr val="1263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482328" y="6007608"/>
            <a:ext cx="466344" cy="173736"/>
          </a:xfrm>
          <a:prstGeom prst="rect">
            <a:avLst/>
          </a:prstGeom>
          <a:noFill/>
        </p:spPr>
        <p:txBody>
          <a:bodyPr wrap="square" lIns="0" rIns="0" tIns="32004" bIns="32004" anchor="ctr">
            <a:noAutofit/>
          </a:bodyPr>
          <a:lstStyle/>
          <a:p>
            <a:pPr algn="ctr">
              <a:lnSpc>
                <a:spcPct val="110000"/>
              </a:lnSpc>
              <a:spcBef>
                <a:spcPts val="0"/>
              </a:spcBef>
              <a:spcAft>
                <a:spcPts val="0"/>
              </a:spcAft>
              <a:buNone/>
            </a:pPr>
            <a:r>
              <a:rPr sz="830" b="0" lang="ko-KR">
                <a:solidFill>
                  <a:srgbClr val="5D6773"/>
                </a:solidFill>
                <a:latin typeface="Pretendard"/>
                <a:ea typeface="Pretendard"/>
                <a:cs typeface="Pretendard"/>
              </a:rPr>
              <a:t>75</a:t>
            </a:r>
          </a:p>
        </p:txBody>
      </p:sp>
      <p:sp>
        <p:nvSpPr>
          <p:cNvPr id="20" name="Rectangle 19"/>
          <p:cNvSpPr/>
          <p:nvPr/>
        </p:nvSpPr>
        <p:spPr>
          <a:xfrm>
            <a:off x="10113264" y="5843016"/>
            <a:ext cx="411480" cy="128016"/>
          </a:xfrm>
          <a:prstGeom prst="rect">
            <a:avLst/>
          </a:prstGeom>
          <a:solidFill>
            <a:srgbClr val="0030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085832" y="6007608"/>
            <a:ext cx="466344" cy="173736"/>
          </a:xfrm>
          <a:prstGeom prst="rect">
            <a:avLst/>
          </a:prstGeom>
          <a:noFill/>
        </p:spPr>
        <p:txBody>
          <a:bodyPr wrap="square" lIns="0" rIns="0" tIns="32004" bIns="32004" anchor="ctr">
            <a:noAutofit/>
          </a:bodyPr>
          <a:lstStyle/>
          <a:p>
            <a:pPr algn="ctr">
              <a:lnSpc>
                <a:spcPct val="110000"/>
              </a:lnSpc>
              <a:spcBef>
                <a:spcPts val="0"/>
              </a:spcBef>
              <a:spcAft>
                <a:spcPts val="0"/>
              </a:spcAft>
              <a:buNone/>
            </a:pPr>
            <a:r>
              <a:rPr sz="830" b="0" lang="ko-KR">
                <a:solidFill>
                  <a:srgbClr val="5D6773"/>
                </a:solidFill>
                <a:latin typeface="Pretendard"/>
                <a:ea typeface="Pretendard"/>
                <a:cs typeface="Pretendard"/>
              </a:rPr>
              <a:t>100</a:t>
            </a:r>
          </a:p>
        </p:txBody>
      </p:sp>
      <p:sp>
        <p:nvSpPr>
          <p:cNvPr id="22" name="TextBox 21"/>
          <p:cNvSpPr txBox="1"/>
          <p:nvPr/>
        </p:nvSpPr>
        <p:spPr>
          <a:xfrm>
            <a:off x="10799064" y="5815584"/>
            <a:ext cx="822960" cy="246888"/>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000" b="0" lang="ko-KR">
                <a:solidFill>
                  <a:srgbClr val="5D6773"/>
                </a:solidFill>
                <a:latin typeface="Pretendard"/>
                <a:ea typeface="Pretendard"/>
                <a:cs typeface="Pretendard"/>
              </a:rPr>
              <a:t>%</a:t>
            </a:r>
          </a:p>
        </p:txBody>
      </p:sp>
      <p:sp>
        <p:nvSpPr>
          <p:cNvPr id="23" name="TextBox 22"/>
          <p:cNvSpPr txBox="1"/>
          <p:nvPr/>
        </p:nvSpPr>
        <p:spPr>
          <a:xfrm>
            <a:off x="566928" y="6432804"/>
            <a:ext cx="7498079" cy="274320"/>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100" b="1" lang="ko-KR">
                <a:solidFill>
                  <a:srgbClr val="FFFFFF"/>
                </a:solidFill>
                <a:latin typeface="Pretendard"/>
                <a:ea typeface="Pretendard"/>
                <a:cs typeface="Pretendard"/>
              </a:rPr>
              <a:t>Web attack: 1,764 + 432 − 중복 429 = 1,767행 제거 · 771행 잔존</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11055096" cy="594360"/>
          </a:xfrm>
          <a:prstGeom prst="rect">
            <a:avLst/>
          </a:prstGeom>
          <a:noFill/>
        </p:spPr>
        <p:txBody>
          <a:bodyPr wrap="square" lIns="0" rIns="0" tIns="32004" bIns="32004" anchor="ctr">
            <a:noAutofit/>
          </a:bodyPr>
          <a:lstStyle/>
          <a:p>
            <a:pPr algn="l">
              <a:lnSpc>
                <a:spcPct val="110000"/>
              </a:lnSpc>
              <a:spcBef>
                <a:spcPts val="0"/>
              </a:spcBef>
              <a:spcAft>
                <a:spcPts val="0"/>
              </a:spcAft>
              <a:buNone/>
              <a:buNone/>
            </a:pPr>
            <a:r>
              <a:rPr sz="2800" b="1" lang="ko-KR">
                <a:solidFill>
                  <a:srgbClr val="00306C"/>
                </a:solidFill>
                <a:latin typeface="Pretendard"/>
                <a:ea typeface="Pretendard"/>
                <a:cs typeface="Pretendard"/>
              </a:rPr>
              <a:t>정제 이후 클래스 분포와 고정 test</a:t>
            </a:r>
          </a:p>
        </p:txBody>
      </p:sp>
      <p:sp>
        <p:nvSpPr>
          <p:cNvPr id="3" name="Rectangle 2"/>
          <p:cNvSpPr/>
          <p:nvPr/>
        </p:nvSpPr>
        <p:spPr>
          <a:xfrm>
            <a:off x="0" y="6355080"/>
            <a:ext cx="12191999" cy="502920"/>
          </a:xfrm>
          <a:prstGeom prst="rect">
            <a:avLst/>
          </a:prstGeom>
          <a:solidFill>
            <a:srgbClr val="0030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75320" y="6428232"/>
            <a:ext cx="2743200" cy="274320"/>
          </a:xfrm>
          <a:prstGeom prst="rect">
            <a:avLst/>
          </a:prstGeom>
          <a:noFill/>
        </p:spPr>
        <p:txBody>
          <a:bodyPr wrap="square" tIns="32004" bIns="32004" anchor="ctr">
            <a:noAutofit/>
          </a:bodyPr>
          <a:lstStyle/>
          <a:p>
            <a:pPr algn="r">
              <a:lnSpc>
                <a:spcPct val="110000"/>
              </a:lnSpc>
              <a:spcBef>
                <a:spcPts val="0"/>
              </a:spcBef>
              <a:spcAft>
                <a:spcPts val="0"/>
              </a:spcAft>
              <a:buNone/>
              <a:buNone/>
            </a:pPr>
            <a:r>
              <a:rPr sz="1000" b="0" lang="ko-KR">
                <a:solidFill>
                  <a:srgbClr val="D6E4F3"/>
                </a:solidFill>
                <a:latin typeface="Pretendard"/>
                <a:ea typeface="Pretendard"/>
                <a:cs typeface="Pretendard"/>
              </a:rPr>
              <a:t>03 데이터 검토</a:t>
            </a:r>
          </a:p>
        </p:txBody>
      </p:sp>
      <p:sp>
        <p:nvSpPr>
          <p:cNvPr id="5" name="TextBox 4"/>
          <p:cNvSpPr txBox="1"/>
          <p:nvPr/>
        </p:nvSpPr>
        <p:spPr>
          <a:xfrm>
            <a:off x="11183112" y="6409944"/>
            <a:ext cx="438912" cy="310896"/>
          </a:xfrm>
          <a:prstGeom prst="rect">
            <a:avLst/>
          </a:prstGeom>
          <a:noFill/>
        </p:spPr>
        <p:txBody>
          <a:bodyPr wrap="square" tIns="32004" bIns="32004" anchor="ctr">
            <a:noAutofit/>
          </a:bodyPr>
          <a:lstStyle/>
          <a:p>
            <a:pPr algn="r">
              <a:lnSpc>
                <a:spcPct val="110000"/>
              </a:lnSpc>
              <a:spcBef>
                <a:spcPts val="0"/>
              </a:spcBef>
              <a:spcAft>
                <a:spcPts val="0"/>
              </a:spcAft>
              <a:buNone/>
              <a:buNone/>
              <a:buNone/>
            </a:pPr>
            <a:r>
              <a:rPr sz="1100" b="1" lang="ko-KR">
                <a:solidFill>
                  <a:srgbClr val="FFFFFF"/>
                </a:solidFill>
                <a:latin typeface="Pretendard"/>
                <a:ea typeface="Pretendard"/>
                <a:cs typeface="Pretendard"/>
              </a:rPr>
              <a:t>6</a:t>
            </a:r>
          </a:p>
        </p:txBody>
      </p:sp>
      <p:sp>
        <p:nvSpPr>
          <p:cNvPr id="6" name="TextBox 5"/>
          <p:cNvSpPr txBox="1"/>
          <p:nvPr/>
        </p:nvSpPr>
        <p:spPr>
          <a:xfrm>
            <a:off x="566928" y="932688"/>
            <a:ext cx="11055096" cy="320040"/>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300" b="0" lang="ko-KR">
                <a:solidFill>
                  <a:srgbClr val="5D6773"/>
                </a:solidFill>
                <a:latin typeface="Pretendard"/>
                <a:ea typeface="Pretendard"/>
                <a:cs typeface="Pretendard"/>
              </a:rPr>
              <a:t>정제 전후: 전체 데이터 · Test: 정제 후 평가 표본 · 정제 후 전체 표본 수 내림차순</a:t>
            </a:r>
          </a:p>
        </p:txBody>
      </p:sp>
      <p:sp>
        <p:nvSpPr>
          <p:cNvPr id="7" name="TextBox 6"/>
          <p:cNvSpPr txBox="1"/>
          <p:nvPr/>
        </p:nvSpPr>
        <p:spPr>
          <a:xfrm>
            <a:off x="566928" y="1380744"/>
            <a:ext cx="5394960" cy="347472"/>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900" b="1" lang="ko-KR">
                <a:solidFill>
                  <a:srgbClr val="00306C"/>
                </a:solidFill>
                <a:latin typeface="Pretendard"/>
                <a:ea typeface="Pretendard"/>
                <a:cs typeface="Pretendard"/>
              </a:rPr>
              <a:t>CIC2018</a:t>
            </a:r>
          </a:p>
        </p:txBody>
      </p:sp>
      <p:graphicFrame>
        <p:nvGraphicFramePr>
          <p:cNvPr id="8" name="Table 7"/>
          <p:cNvGraphicFramePr>
            <a:graphicFrameLocks noGrp="1"/>
          </p:cNvGraphicFramePr>
          <p:nvPr/>
        </p:nvGraphicFramePr>
        <p:xfrm>
          <a:off x="566928" y="1819656"/>
          <a:ext cx="5394960" cy="3061404"/>
        </p:xfrm>
        <a:graphic>
          <a:graphicData uri="http://schemas.openxmlformats.org/drawingml/2006/table">
            <a:tbl>
              <a:tblPr>
                <a:tableStyleId>{5C22544A-7EE6-4342-B048-85BDC9FD1C3A}</a:tableStyleId>
              </a:tblPr>
              <a:tblGrid>
                <a:gridCol w="1289304"/>
                <a:gridCol w="1472184"/>
                <a:gridCol w="1417320"/>
                <a:gridCol w="1216152"/>
              </a:tblGrid>
              <a:tr h="340156">
                <a:tc>
                  <a:txBody>
                    <a:bodyPr wrap="square" lIns="64008" rIns="64008" tIns="32004" bIns="32004" anchor="ctr">
                      <a:noAutofit/>
                    </a:bodyPr>
                    <a:lstStyle/>
                    <a:p>
                      <a:pPr algn="l">
                        <a:lnSpc>
                          <a:spcPct val="110000"/>
                        </a:lnSpc>
                        <a:spcBef>
                          <a:spcPts val="0"/>
                        </a:spcBef>
                        <a:spcAft>
                          <a:spcPts val="0"/>
                        </a:spcAft>
                        <a:buNone/>
                      </a:pPr>
                      <a:r>
                        <a:rPr sz="1120" b="1" lang="ko-KR">
                          <a:solidFill>
                            <a:srgbClr val="FFFFFF"/>
                          </a:solidFill>
                          <a:latin typeface="Pretendard"/>
                          <a:ea typeface="Pretendard"/>
                          <a:cs typeface="Pretendard"/>
                        </a:rPr>
                        <a:t>클래스</a:t>
                      </a:r>
                    </a:p>
                  </a:txBody>
                  <a:tcPr marL="64008" marR="64008" marT="22860" marB="22860">
                    <a:solidFill>
                      <a:srgbClr val="00306C"/>
                    </a:solidFill>
                  </a:tcPr>
                </a:tc>
                <a:tc>
                  <a:txBody>
                    <a:bodyPr wrap="square" lIns="64008" rIns="64008" tIns="32004" bIns="32004" anchor="ctr">
                      <a:noAutofit/>
                    </a:bodyPr>
                    <a:lstStyle/>
                    <a:p>
                      <a:pPr algn="ctr">
                        <a:lnSpc>
                          <a:spcPct val="110000"/>
                        </a:lnSpc>
                        <a:spcBef>
                          <a:spcPts val="0"/>
                        </a:spcBef>
                        <a:spcAft>
                          <a:spcPts val="0"/>
                        </a:spcAft>
                        <a:buNone/>
                      </a:pPr>
                      <a:r>
                        <a:rPr sz="1120" b="1" lang="ko-KR">
                          <a:solidFill>
                            <a:srgbClr val="FFFFFF"/>
                          </a:solidFill>
                          <a:latin typeface="Pretendard"/>
                          <a:ea typeface="Pretendard"/>
                          <a:cs typeface="Pretendard"/>
                        </a:rPr>
                        <a:t>정제 전 전체</a:t>
                      </a:r>
                    </a:p>
                  </a:txBody>
                  <a:tcPr marL="64008" marR="64008" marT="22860" marB="22860">
                    <a:solidFill>
                      <a:srgbClr val="00306C"/>
                    </a:solidFill>
                  </a:tcPr>
                </a:tc>
                <a:tc>
                  <a:txBody>
                    <a:bodyPr wrap="square" lIns="64008" rIns="64008" tIns="32004" bIns="32004" anchor="ctr">
                      <a:noAutofit/>
                    </a:bodyPr>
                    <a:lstStyle/>
                    <a:p>
                      <a:pPr algn="ctr">
                        <a:lnSpc>
                          <a:spcPct val="110000"/>
                        </a:lnSpc>
                        <a:spcBef>
                          <a:spcPts val="0"/>
                        </a:spcBef>
                        <a:spcAft>
                          <a:spcPts val="0"/>
                        </a:spcAft>
                        <a:buNone/>
                      </a:pPr>
                      <a:r>
                        <a:rPr sz="1120" b="1" lang="ko-KR">
                          <a:solidFill>
                            <a:srgbClr val="FFFFFF"/>
                          </a:solidFill>
                          <a:latin typeface="Pretendard"/>
                          <a:ea typeface="Pretendard"/>
                          <a:cs typeface="Pretendard"/>
                        </a:rPr>
                        <a:t>정제 후 전체</a:t>
                      </a:r>
                    </a:p>
                  </a:txBody>
                  <a:tcPr marL="64008" marR="64008" marT="22860" marB="22860">
                    <a:solidFill>
                      <a:srgbClr val="00306C"/>
                    </a:solidFill>
                  </a:tcPr>
                </a:tc>
                <a:tc>
                  <a:txBody>
                    <a:bodyPr wrap="square" lIns="64008" rIns="64008" tIns="32004" bIns="32004" anchor="ctr">
                      <a:noAutofit/>
                    </a:bodyPr>
                    <a:lstStyle/>
                    <a:p>
                      <a:pPr algn="ctr">
                        <a:lnSpc>
                          <a:spcPct val="110000"/>
                        </a:lnSpc>
                        <a:spcBef>
                          <a:spcPts val="0"/>
                        </a:spcBef>
                        <a:spcAft>
                          <a:spcPts val="0"/>
                        </a:spcAft>
                        <a:buNone/>
                      </a:pPr>
                      <a:r>
                        <a:rPr sz="1120" b="1" lang="ko-KR">
                          <a:solidFill>
                            <a:srgbClr val="FFFFFF"/>
                          </a:solidFill>
                          <a:latin typeface="Pretendard"/>
                          <a:ea typeface="Pretendard"/>
                          <a:cs typeface="Pretendard"/>
                        </a:rPr>
                        <a:t>Test</a:t>
                      </a:r>
                    </a:p>
                  </a:txBody>
                  <a:tcPr marL="64008" marR="64008" marT="22860" marB="22860">
                    <a:solidFill>
                      <a:srgbClr val="00306C"/>
                    </a:solidFill>
                  </a:tcPr>
                </a:tc>
              </a:tr>
              <a:tr h="340156">
                <a:tc>
                  <a:txBody>
                    <a:bodyPr wrap="square" lIns="64008" rIns="64008" tIns="32004" bIns="32004" anchor="ctr">
                      <a:noAutofit/>
                    </a:bodyPr>
                    <a:lstStyle/>
                    <a:p>
                      <a:pPr algn="l">
                        <a:lnSpc>
                          <a:spcPct val="110000"/>
                        </a:lnSpc>
                        <a:spcBef>
                          <a:spcPts val="0"/>
                        </a:spcBef>
                        <a:spcAft>
                          <a:spcPts val="0"/>
                        </a:spcAft>
                        <a:buNone/>
                      </a:pPr>
                      <a:r>
                        <a:rPr sz="1120" b="1" lang="ko-KR">
                          <a:solidFill>
                            <a:srgbClr val="21262E"/>
                          </a:solidFill>
                          <a:latin typeface="Pretendard"/>
                          <a:ea typeface="Pretendard"/>
                          <a:cs typeface="Pretendard"/>
                        </a:rPr>
                        <a:t>Benign</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085" b="0" lang="ko-KR">
                          <a:solidFill>
                            <a:srgbClr val="21262E"/>
                          </a:solidFill>
                          <a:latin typeface="DejaVu Sans Mono"/>
                          <a:ea typeface="DejaVu Sans Mono"/>
                          <a:cs typeface="DejaVu Sans Mono"/>
                        </a:rPr>
                        <a:t>17,514,626</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085" b="0" lang="ko-KR">
                          <a:solidFill>
                            <a:srgbClr val="21262E"/>
                          </a:solidFill>
                          <a:latin typeface="DejaVu Sans Mono"/>
                          <a:ea typeface="DejaVu Sans Mono"/>
                          <a:cs typeface="DejaVu Sans Mono"/>
                        </a:rPr>
                        <a:t>12,798,328</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085" b="0" lang="ko-KR">
                          <a:solidFill>
                            <a:srgbClr val="21262E"/>
                          </a:solidFill>
                          <a:latin typeface="DejaVu Sans Mono"/>
                          <a:ea typeface="DejaVu Sans Mono"/>
                          <a:cs typeface="DejaVu Sans Mono"/>
                        </a:rPr>
                        <a:t>2,652,203</a:t>
                      </a:r>
                    </a:p>
                  </a:txBody>
                  <a:tcPr marL="64008" marR="64008" marT="22860" marB="22860">
                    <a:solidFill>
                      <a:srgbClr val="FFFFFF"/>
                    </a:solidFill>
                  </a:tcPr>
                </a:tc>
              </a:tr>
              <a:tr h="340156">
                <a:tc>
                  <a:txBody>
                    <a:bodyPr wrap="square" lIns="64008" rIns="64008" tIns="32004" bIns="32004" anchor="ctr">
                      <a:noAutofit/>
                    </a:bodyPr>
                    <a:lstStyle/>
                    <a:p>
                      <a:pPr algn="l">
                        <a:lnSpc>
                          <a:spcPct val="110000"/>
                        </a:lnSpc>
                        <a:spcBef>
                          <a:spcPts val="0"/>
                        </a:spcBef>
                        <a:spcAft>
                          <a:spcPts val="0"/>
                        </a:spcAft>
                        <a:buNone/>
                      </a:pPr>
                      <a:r>
                        <a:rPr sz="1120" b="1" lang="ko-KR">
                          <a:solidFill>
                            <a:srgbClr val="21262E"/>
                          </a:solidFill>
                          <a:latin typeface="Pretendard"/>
                          <a:ea typeface="Pretendard"/>
                          <a:cs typeface="Pretendard"/>
                        </a:rPr>
                        <a:t>DDoS</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085" b="0" lang="ko-KR">
                          <a:solidFill>
                            <a:srgbClr val="21262E"/>
                          </a:solidFill>
                          <a:latin typeface="DejaVu Sans Mono"/>
                          <a:ea typeface="DejaVu Sans Mono"/>
                          <a:cs typeface="DejaVu Sans Mono"/>
                        </a:rPr>
                        <a:t>1,324,350</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085" b="0" lang="ko-KR">
                          <a:solidFill>
                            <a:srgbClr val="21262E"/>
                          </a:solidFill>
                          <a:latin typeface="DejaVu Sans Mono"/>
                          <a:ea typeface="DejaVu Sans Mono"/>
                          <a:cs typeface="DejaVu Sans Mono"/>
                        </a:rPr>
                        <a:t>1,316,025</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085" b="0" lang="ko-KR">
                          <a:solidFill>
                            <a:srgbClr val="21262E"/>
                          </a:solidFill>
                          <a:latin typeface="DejaVu Sans Mono"/>
                          <a:ea typeface="DejaVu Sans Mono"/>
                          <a:cs typeface="DejaVu Sans Mono"/>
                        </a:rPr>
                        <a:t>262,680</a:t>
                      </a:r>
                    </a:p>
                  </a:txBody>
                  <a:tcPr marL="64008" marR="64008" marT="22860" marB="22860">
                    <a:solidFill>
                      <a:srgbClr val="F3F6FA"/>
                    </a:solidFill>
                  </a:tcPr>
                </a:tc>
              </a:tr>
              <a:tr h="340156">
                <a:tc>
                  <a:txBody>
                    <a:bodyPr wrap="square" lIns="64008" rIns="64008" tIns="32004" bIns="32004" anchor="ctr">
                      <a:noAutofit/>
                    </a:bodyPr>
                    <a:lstStyle/>
                    <a:p>
                      <a:pPr algn="l">
                        <a:lnSpc>
                          <a:spcPct val="110000"/>
                        </a:lnSpc>
                        <a:spcBef>
                          <a:spcPts val="0"/>
                        </a:spcBef>
                        <a:spcAft>
                          <a:spcPts val="0"/>
                        </a:spcAft>
                        <a:buNone/>
                      </a:pPr>
                      <a:r>
                        <a:rPr sz="1120" b="1" lang="ko-KR">
                          <a:solidFill>
                            <a:srgbClr val="21262E"/>
                          </a:solidFill>
                          <a:latin typeface="Pretendard"/>
                          <a:ea typeface="Pretendard"/>
                          <a:cs typeface="Pretendard"/>
                        </a:rPr>
                        <a:t>Bot</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085" b="0" lang="ko-KR">
                          <a:solidFill>
                            <a:srgbClr val="21262E"/>
                          </a:solidFill>
                          <a:latin typeface="DejaVu Sans Mono"/>
                          <a:ea typeface="DejaVu Sans Mono"/>
                          <a:cs typeface="DejaVu Sans Mono"/>
                        </a:rPr>
                        <a:t>207,703</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085" b="0" lang="ko-KR">
                          <a:solidFill>
                            <a:srgbClr val="21262E"/>
                          </a:solidFill>
                          <a:latin typeface="DejaVu Sans Mono"/>
                          <a:ea typeface="DejaVu Sans Mono"/>
                          <a:cs typeface="DejaVu Sans Mono"/>
                        </a:rPr>
                        <a:t>207,703</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085" b="0" lang="ko-KR">
                          <a:solidFill>
                            <a:srgbClr val="21262E"/>
                          </a:solidFill>
                          <a:latin typeface="DejaVu Sans Mono"/>
                          <a:ea typeface="DejaVu Sans Mono"/>
                          <a:cs typeface="DejaVu Sans Mono"/>
                        </a:rPr>
                        <a:t>41,542</a:t>
                      </a:r>
                    </a:p>
                  </a:txBody>
                  <a:tcPr marL="64008" marR="64008" marT="22860" marB="22860">
                    <a:solidFill>
                      <a:srgbClr val="FFFFFF"/>
                    </a:solidFill>
                  </a:tcPr>
                </a:tc>
              </a:tr>
              <a:tr h="340156">
                <a:tc>
                  <a:txBody>
                    <a:bodyPr wrap="square" lIns="64008" rIns="64008" tIns="32004" bIns="32004" anchor="ctr">
                      <a:noAutofit/>
                    </a:bodyPr>
                    <a:lstStyle/>
                    <a:p>
                      <a:pPr algn="l">
                        <a:lnSpc>
                          <a:spcPct val="110000"/>
                        </a:lnSpc>
                        <a:spcBef>
                          <a:spcPts val="0"/>
                        </a:spcBef>
                        <a:spcAft>
                          <a:spcPts val="0"/>
                        </a:spcAft>
                        <a:buNone/>
                      </a:pPr>
                      <a:r>
                        <a:rPr sz="1120" b="1" lang="ko-KR">
                          <a:solidFill>
                            <a:srgbClr val="21262E"/>
                          </a:solidFill>
                          <a:latin typeface="Pretendard"/>
                          <a:ea typeface="Pretendard"/>
                          <a:cs typeface="Pretendard"/>
                        </a:rPr>
                        <a:t>DoS</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085" b="0" lang="ko-KR">
                          <a:solidFill>
                            <a:srgbClr val="21262E"/>
                          </a:solidFill>
                          <a:latin typeface="DejaVu Sans Mono"/>
                          <a:ea typeface="DejaVu Sans Mono"/>
                          <a:cs typeface="DejaVu Sans Mono"/>
                        </a:rPr>
                        <a:t>302,966</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085" b="0" lang="ko-KR">
                          <a:solidFill>
                            <a:srgbClr val="21262E"/>
                          </a:solidFill>
                          <a:latin typeface="DejaVu Sans Mono"/>
                          <a:ea typeface="DejaVu Sans Mono"/>
                          <a:cs typeface="DejaVu Sans Mono"/>
                        </a:rPr>
                        <a:t>197,415</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085" b="0" lang="ko-KR">
                          <a:solidFill>
                            <a:srgbClr val="21262E"/>
                          </a:solidFill>
                          <a:latin typeface="DejaVu Sans Mono"/>
                          <a:ea typeface="DejaVu Sans Mono"/>
                          <a:cs typeface="DejaVu Sans Mono"/>
                        </a:rPr>
                        <a:t>39,483</a:t>
                      </a:r>
                    </a:p>
                  </a:txBody>
                  <a:tcPr marL="64008" marR="64008" marT="22860" marB="22860">
                    <a:solidFill>
                      <a:srgbClr val="F3F6FA"/>
                    </a:solidFill>
                  </a:tcPr>
                </a:tc>
              </a:tr>
              <a:tr h="340156">
                <a:tc>
                  <a:txBody>
                    <a:bodyPr wrap="square" lIns="64008" rIns="64008" tIns="32004" bIns="32004" anchor="ctr">
                      <a:noAutofit/>
                    </a:bodyPr>
                    <a:lstStyle/>
                    <a:p>
                      <a:pPr algn="l">
                        <a:lnSpc>
                          <a:spcPct val="110000"/>
                        </a:lnSpc>
                        <a:spcBef>
                          <a:spcPts val="0"/>
                        </a:spcBef>
                        <a:spcAft>
                          <a:spcPts val="0"/>
                        </a:spcAft>
                        <a:buNone/>
                      </a:pPr>
                      <a:r>
                        <a:rPr sz="1120" b="1" lang="ko-KR">
                          <a:solidFill>
                            <a:srgbClr val="21262E"/>
                          </a:solidFill>
                          <a:latin typeface="Pretendard"/>
                          <a:ea typeface="Pretendard"/>
                          <a:cs typeface="Pretendard"/>
                        </a:rPr>
                        <a:t>Brute force</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085" b="0" lang="ko-KR">
                          <a:solidFill>
                            <a:srgbClr val="21262E"/>
                          </a:solidFill>
                          <a:latin typeface="DejaVu Sans Mono"/>
                          <a:ea typeface="DejaVu Sans Mono"/>
                          <a:cs typeface="DejaVu Sans Mono"/>
                        </a:rPr>
                        <a:t>575,194</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085" b="0" lang="ko-KR">
                          <a:solidFill>
                            <a:srgbClr val="21262E"/>
                          </a:solidFill>
                          <a:latin typeface="DejaVu Sans Mono"/>
                          <a:ea typeface="DejaVu Sans Mono"/>
                          <a:cs typeface="DejaVu Sans Mono"/>
                        </a:rPr>
                        <a:t>188,414</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085" b="0" lang="ko-KR">
                          <a:solidFill>
                            <a:srgbClr val="21262E"/>
                          </a:solidFill>
                          <a:latin typeface="DejaVu Sans Mono"/>
                          <a:ea typeface="DejaVu Sans Mono"/>
                          <a:cs typeface="DejaVu Sans Mono"/>
                        </a:rPr>
                        <a:t>37,696</a:t>
                      </a:r>
                    </a:p>
                  </a:txBody>
                  <a:tcPr marL="64008" marR="64008" marT="22860" marB="22860">
                    <a:solidFill>
                      <a:srgbClr val="FFFFFF"/>
                    </a:solidFill>
                  </a:tcPr>
                </a:tc>
              </a:tr>
              <a:tr h="340156">
                <a:tc>
                  <a:txBody>
                    <a:bodyPr wrap="square" lIns="64008" rIns="64008" tIns="32004" bIns="32004" anchor="ctr">
                      <a:noAutofit/>
                    </a:bodyPr>
                    <a:lstStyle/>
                    <a:p>
                      <a:pPr algn="l">
                        <a:lnSpc>
                          <a:spcPct val="110000"/>
                        </a:lnSpc>
                        <a:spcBef>
                          <a:spcPts val="0"/>
                        </a:spcBef>
                        <a:spcAft>
                          <a:spcPts val="0"/>
                        </a:spcAft>
                        <a:buNone/>
                      </a:pPr>
                      <a:r>
                        <a:rPr sz="1120" b="1" lang="ko-KR">
                          <a:solidFill>
                            <a:srgbClr val="21262E"/>
                          </a:solidFill>
                          <a:latin typeface="Pretendard"/>
                          <a:ea typeface="Pretendard"/>
                          <a:cs typeface="Pretendard"/>
                        </a:rPr>
                        <a:t>Infiltration</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085" b="0" lang="ko-KR">
                          <a:solidFill>
                            <a:srgbClr val="21262E"/>
                          </a:solidFill>
                          <a:latin typeface="DejaVu Sans Mono"/>
                          <a:ea typeface="DejaVu Sans Mono"/>
                          <a:cs typeface="DejaVu Sans Mono"/>
                        </a:rPr>
                        <a:t>188,152</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085" b="0" lang="ko-KR">
                          <a:solidFill>
                            <a:srgbClr val="21262E"/>
                          </a:solidFill>
                          <a:latin typeface="DejaVu Sans Mono"/>
                          <a:ea typeface="DejaVu Sans Mono"/>
                          <a:cs typeface="DejaVu Sans Mono"/>
                        </a:rPr>
                        <a:t>46,761</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085" b="0" lang="ko-KR">
                          <a:solidFill>
                            <a:srgbClr val="21262E"/>
                          </a:solidFill>
                          <a:latin typeface="DejaVu Sans Mono"/>
                          <a:ea typeface="DejaVu Sans Mono"/>
                          <a:cs typeface="DejaVu Sans Mono"/>
                        </a:rPr>
                        <a:t>8,742</a:t>
                      </a:r>
                    </a:p>
                  </a:txBody>
                  <a:tcPr marL="64008" marR="64008" marT="22860" marB="22860">
                    <a:solidFill>
                      <a:srgbClr val="F3F6FA"/>
                    </a:solidFill>
                  </a:tcPr>
                </a:tc>
              </a:tr>
              <a:tr h="340156">
                <a:tc>
                  <a:txBody>
                    <a:bodyPr wrap="square" lIns="64008" rIns="64008" tIns="32004" bIns="32004" anchor="ctr">
                      <a:noAutofit/>
                    </a:bodyPr>
                    <a:lstStyle/>
                    <a:p>
                      <a:pPr algn="l">
                        <a:lnSpc>
                          <a:spcPct val="110000"/>
                        </a:lnSpc>
                        <a:spcBef>
                          <a:spcPts val="0"/>
                        </a:spcBef>
                        <a:spcAft>
                          <a:spcPts val="0"/>
                        </a:spcAft>
                        <a:buNone/>
                      </a:pPr>
                      <a:r>
                        <a:rPr sz="1120" b="1" lang="ko-KR">
                          <a:solidFill>
                            <a:srgbClr val="21262E"/>
                          </a:solidFill>
                          <a:latin typeface="Pretendard"/>
                          <a:ea typeface="Pretendard"/>
                          <a:cs typeface="Pretendard"/>
                        </a:rPr>
                        <a:t>Web attack</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085" b="0" lang="ko-KR">
                          <a:solidFill>
                            <a:srgbClr val="21262E"/>
                          </a:solidFill>
                          <a:latin typeface="DejaVu Sans Mono"/>
                          <a:ea typeface="DejaVu Sans Mono"/>
                          <a:cs typeface="DejaVu Sans Mono"/>
                        </a:rPr>
                        <a:t>2,538</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085" b="0" lang="ko-KR">
                          <a:solidFill>
                            <a:srgbClr val="21262E"/>
                          </a:solidFill>
                          <a:latin typeface="DejaVu Sans Mono"/>
                          <a:ea typeface="DejaVu Sans Mono"/>
                          <a:cs typeface="DejaVu Sans Mono"/>
                        </a:rPr>
                        <a:t>771</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085" b="0" lang="ko-KR">
                          <a:solidFill>
                            <a:srgbClr val="21262E"/>
                          </a:solidFill>
                          <a:latin typeface="DejaVu Sans Mono"/>
                          <a:ea typeface="DejaVu Sans Mono"/>
                          <a:cs typeface="DejaVu Sans Mono"/>
                        </a:rPr>
                        <a:t>127</a:t>
                      </a:r>
                    </a:p>
                  </a:txBody>
                  <a:tcPr marL="64008" marR="64008" marT="22860" marB="22860">
                    <a:solidFill>
                      <a:srgbClr val="FFFFFF"/>
                    </a:solidFill>
                  </a:tcPr>
                </a:tc>
              </a:tr>
              <a:tr h="340156">
                <a:tc>
                  <a:txBody>
                    <a:bodyPr wrap="square" lIns="64008" rIns="64008" tIns="32004" bIns="32004" anchor="ctr">
                      <a:noAutofit/>
                    </a:bodyPr>
                    <a:lstStyle/>
                    <a:p>
                      <a:pPr algn="l">
                        <a:lnSpc>
                          <a:spcPct val="110000"/>
                        </a:lnSpc>
                        <a:spcBef>
                          <a:spcPts val="0"/>
                        </a:spcBef>
                        <a:spcAft>
                          <a:spcPts val="0"/>
                        </a:spcAft>
                        <a:buNone/>
                      </a:pPr>
                      <a:r>
                        <a:rPr sz="1120" b="1" lang="ko-KR">
                          <a:solidFill>
                            <a:srgbClr val="00306C"/>
                          </a:solidFill>
                          <a:latin typeface="Pretendard"/>
                          <a:ea typeface="Pretendard"/>
                          <a:cs typeface="Pretendard"/>
                        </a:rPr>
                        <a:t>합계</a:t>
                      </a:r>
                    </a:p>
                  </a:txBody>
                  <a:tcPr marL="64008" marR="64008" marT="22860" marB="22860">
                    <a:solidFill>
                      <a:srgbClr val="E7F0F8"/>
                    </a:solidFill>
                  </a:tcPr>
                </a:tc>
                <a:tc>
                  <a:txBody>
                    <a:bodyPr wrap="square" lIns="64008" rIns="64008" tIns="32004" bIns="32004" anchor="ctr">
                      <a:noAutofit/>
                    </a:bodyPr>
                    <a:lstStyle/>
                    <a:p>
                      <a:pPr algn="r">
                        <a:lnSpc>
                          <a:spcPct val="110000"/>
                        </a:lnSpc>
                        <a:spcBef>
                          <a:spcPts val="0"/>
                        </a:spcBef>
                        <a:spcAft>
                          <a:spcPts val="0"/>
                        </a:spcAft>
                        <a:buNone/>
                      </a:pPr>
                      <a:r>
                        <a:rPr sz="1085" b="1" lang="ko-KR">
                          <a:solidFill>
                            <a:srgbClr val="00306C"/>
                          </a:solidFill>
                          <a:latin typeface="DejaVu Sans Mono"/>
                          <a:ea typeface="DejaVu Sans Mono"/>
                          <a:cs typeface="DejaVu Sans Mono"/>
                        </a:rPr>
                        <a:t>20,115,529</a:t>
                      </a:r>
                    </a:p>
                  </a:txBody>
                  <a:tcPr marL="64008" marR="64008" marT="22860" marB="22860">
                    <a:solidFill>
                      <a:srgbClr val="E7F0F8"/>
                    </a:solidFill>
                  </a:tcPr>
                </a:tc>
                <a:tc>
                  <a:txBody>
                    <a:bodyPr wrap="square" lIns="64008" rIns="64008" tIns="32004" bIns="32004" anchor="ctr">
                      <a:noAutofit/>
                    </a:bodyPr>
                    <a:lstStyle/>
                    <a:p>
                      <a:pPr algn="r">
                        <a:lnSpc>
                          <a:spcPct val="110000"/>
                        </a:lnSpc>
                        <a:spcBef>
                          <a:spcPts val="0"/>
                        </a:spcBef>
                        <a:spcAft>
                          <a:spcPts val="0"/>
                        </a:spcAft>
                        <a:buNone/>
                      </a:pPr>
                      <a:r>
                        <a:rPr sz="1085" b="1" lang="ko-KR">
                          <a:solidFill>
                            <a:srgbClr val="00306C"/>
                          </a:solidFill>
                          <a:latin typeface="DejaVu Sans Mono"/>
                          <a:ea typeface="DejaVu Sans Mono"/>
                          <a:cs typeface="DejaVu Sans Mono"/>
                        </a:rPr>
                        <a:t>14,755,417</a:t>
                      </a:r>
                    </a:p>
                  </a:txBody>
                  <a:tcPr marL="64008" marR="64008" marT="22860" marB="22860">
                    <a:solidFill>
                      <a:srgbClr val="E7F0F8"/>
                    </a:solidFill>
                  </a:tcPr>
                </a:tc>
                <a:tc>
                  <a:txBody>
                    <a:bodyPr wrap="square" lIns="64008" rIns="64008" tIns="32004" bIns="32004" anchor="ctr">
                      <a:noAutofit/>
                    </a:bodyPr>
                    <a:lstStyle/>
                    <a:p>
                      <a:pPr algn="r">
                        <a:lnSpc>
                          <a:spcPct val="110000"/>
                        </a:lnSpc>
                        <a:spcBef>
                          <a:spcPts val="0"/>
                        </a:spcBef>
                        <a:spcAft>
                          <a:spcPts val="0"/>
                        </a:spcAft>
                        <a:buNone/>
                      </a:pPr>
                      <a:r>
                        <a:rPr sz="1085" b="1" lang="ko-KR">
                          <a:solidFill>
                            <a:srgbClr val="00306C"/>
                          </a:solidFill>
                          <a:latin typeface="DejaVu Sans Mono"/>
                          <a:ea typeface="DejaVu Sans Mono"/>
                          <a:cs typeface="DejaVu Sans Mono"/>
                        </a:rPr>
                        <a:t>3,042,473</a:t>
                      </a:r>
                    </a:p>
                  </a:txBody>
                  <a:tcPr marL="64008" marR="64008" marT="22860" marB="22860">
                    <a:solidFill>
                      <a:srgbClr val="E7F0F8"/>
                    </a:solidFill>
                  </a:tcPr>
                </a:tc>
              </a:tr>
            </a:tbl>
          </a:graphicData>
        </a:graphic>
      </p:graphicFrame>
      <p:sp>
        <p:nvSpPr>
          <p:cNvPr id="9" name="TextBox 8"/>
          <p:cNvSpPr txBox="1"/>
          <p:nvPr/>
        </p:nvSpPr>
        <p:spPr>
          <a:xfrm>
            <a:off x="6227064" y="1380744"/>
            <a:ext cx="5394960" cy="347472"/>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900" b="1" lang="ko-KR">
                <a:solidFill>
                  <a:srgbClr val="00306C"/>
                </a:solidFill>
                <a:latin typeface="Pretendard"/>
                <a:ea typeface="Pretendard"/>
                <a:cs typeface="Pretendard"/>
              </a:rPr>
              <a:t>ToN</a:t>
            </a:r>
          </a:p>
        </p:txBody>
      </p:sp>
      <p:graphicFrame>
        <p:nvGraphicFramePr>
          <p:cNvPr id="10" name="Table 9"/>
          <p:cNvGraphicFramePr>
            <a:graphicFrameLocks noGrp="1"/>
          </p:cNvGraphicFramePr>
          <p:nvPr/>
        </p:nvGraphicFramePr>
        <p:xfrm>
          <a:off x="6227064" y="1819656"/>
          <a:ext cx="5394960" cy="4081872"/>
        </p:xfrm>
        <a:graphic>
          <a:graphicData uri="http://schemas.openxmlformats.org/drawingml/2006/table">
            <a:tbl>
              <a:tblPr>
                <a:tableStyleId>{5C22544A-7EE6-4342-B048-85BDC9FD1C3A}</a:tableStyleId>
              </a:tblPr>
              <a:tblGrid>
                <a:gridCol w="1289304"/>
                <a:gridCol w="1472184"/>
                <a:gridCol w="1417320"/>
                <a:gridCol w="1216152"/>
              </a:tblGrid>
              <a:tr h="340156">
                <a:tc>
                  <a:txBody>
                    <a:bodyPr wrap="square" lIns="64008" rIns="64008" tIns="32004" bIns="32004" anchor="ctr">
                      <a:noAutofit/>
                    </a:bodyPr>
                    <a:lstStyle/>
                    <a:p>
                      <a:pPr algn="l">
                        <a:lnSpc>
                          <a:spcPct val="110000"/>
                        </a:lnSpc>
                        <a:spcBef>
                          <a:spcPts val="0"/>
                        </a:spcBef>
                        <a:spcAft>
                          <a:spcPts val="0"/>
                        </a:spcAft>
                        <a:buNone/>
                      </a:pPr>
                      <a:r>
                        <a:rPr sz="1120" b="1" lang="ko-KR">
                          <a:solidFill>
                            <a:srgbClr val="FFFFFF"/>
                          </a:solidFill>
                          <a:latin typeface="Pretendard"/>
                          <a:ea typeface="Pretendard"/>
                          <a:cs typeface="Pretendard"/>
                        </a:rPr>
                        <a:t>클래스</a:t>
                      </a:r>
                    </a:p>
                  </a:txBody>
                  <a:tcPr marL="64008" marR="64008" marT="22860" marB="22860">
                    <a:solidFill>
                      <a:srgbClr val="00306C"/>
                    </a:solidFill>
                  </a:tcPr>
                </a:tc>
                <a:tc>
                  <a:txBody>
                    <a:bodyPr wrap="square" lIns="64008" rIns="64008" tIns="32004" bIns="32004" anchor="ctr">
                      <a:noAutofit/>
                    </a:bodyPr>
                    <a:lstStyle/>
                    <a:p>
                      <a:pPr algn="ctr">
                        <a:lnSpc>
                          <a:spcPct val="110000"/>
                        </a:lnSpc>
                        <a:spcBef>
                          <a:spcPts val="0"/>
                        </a:spcBef>
                        <a:spcAft>
                          <a:spcPts val="0"/>
                        </a:spcAft>
                        <a:buNone/>
                      </a:pPr>
                      <a:r>
                        <a:rPr sz="1120" b="1" lang="ko-KR">
                          <a:solidFill>
                            <a:srgbClr val="FFFFFF"/>
                          </a:solidFill>
                          <a:latin typeface="Pretendard"/>
                          <a:ea typeface="Pretendard"/>
                          <a:cs typeface="Pretendard"/>
                        </a:rPr>
                        <a:t>정제 전 전체</a:t>
                      </a:r>
                    </a:p>
                  </a:txBody>
                  <a:tcPr marL="64008" marR="64008" marT="22860" marB="22860">
                    <a:solidFill>
                      <a:srgbClr val="00306C"/>
                    </a:solidFill>
                  </a:tcPr>
                </a:tc>
                <a:tc>
                  <a:txBody>
                    <a:bodyPr wrap="square" lIns="64008" rIns="64008" tIns="32004" bIns="32004" anchor="ctr">
                      <a:noAutofit/>
                    </a:bodyPr>
                    <a:lstStyle/>
                    <a:p>
                      <a:pPr algn="ctr">
                        <a:lnSpc>
                          <a:spcPct val="110000"/>
                        </a:lnSpc>
                        <a:spcBef>
                          <a:spcPts val="0"/>
                        </a:spcBef>
                        <a:spcAft>
                          <a:spcPts val="0"/>
                        </a:spcAft>
                        <a:buNone/>
                      </a:pPr>
                      <a:r>
                        <a:rPr sz="1120" b="1" lang="ko-KR">
                          <a:solidFill>
                            <a:srgbClr val="FFFFFF"/>
                          </a:solidFill>
                          <a:latin typeface="Pretendard"/>
                          <a:ea typeface="Pretendard"/>
                          <a:cs typeface="Pretendard"/>
                        </a:rPr>
                        <a:t>정제 후 전체</a:t>
                      </a:r>
                    </a:p>
                  </a:txBody>
                  <a:tcPr marL="64008" marR="64008" marT="22860" marB="22860">
                    <a:solidFill>
                      <a:srgbClr val="00306C"/>
                    </a:solidFill>
                  </a:tcPr>
                </a:tc>
                <a:tc>
                  <a:txBody>
                    <a:bodyPr wrap="square" lIns="64008" rIns="64008" tIns="32004" bIns="32004" anchor="ctr">
                      <a:noAutofit/>
                    </a:bodyPr>
                    <a:lstStyle/>
                    <a:p>
                      <a:pPr algn="ctr">
                        <a:lnSpc>
                          <a:spcPct val="110000"/>
                        </a:lnSpc>
                        <a:spcBef>
                          <a:spcPts val="0"/>
                        </a:spcBef>
                        <a:spcAft>
                          <a:spcPts val="0"/>
                        </a:spcAft>
                        <a:buNone/>
                      </a:pPr>
                      <a:r>
                        <a:rPr sz="1120" b="1" lang="ko-KR">
                          <a:solidFill>
                            <a:srgbClr val="FFFFFF"/>
                          </a:solidFill>
                          <a:latin typeface="Pretendard"/>
                          <a:ea typeface="Pretendard"/>
                          <a:cs typeface="Pretendard"/>
                        </a:rPr>
                        <a:t>Test</a:t>
                      </a:r>
                    </a:p>
                  </a:txBody>
                  <a:tcPr marL="64008" marR="64008" marT="22860" marB="22860">
                    <a:solidFill>
                      <a:srgbClr val="00306C"/>
                    </a:solidFill>
                  </a:tcPr>
                </a:tc>
              </a:tr>
              <a:tr h="340156">
                <a:tc>
                  <a:txBody>
                    <a:bodyPr wrap="square" lIns="64008" rIns="64008" tIns="32004" bIns="32004" anchor="ctr">
                      <a:noAutofit/>
                    </a:bodyPr>
                    <a:lstStyle/>
                    <a:p>
                      <a:pPr algn="l">
                        <a:lnSpc>
                          <a:spcPct val="110000"/>
                        </a:lnSpc>
                        <a:spcBef>
                          <a:spcPts val="0"/>
                        </a:spcBef>
                        <a:spcAft>
                          <a:spcPts val="0"/>
                        </a:spcAft>
                        <a:buNone/>
                      </a:pPr>
                      <a:r>
                        <a:rPr sz="1120" b="1" lang="ko-KR">
                          <a:solidFill>
                            <a:srgbClr val="21262E"/>
                          </a:solidFill>
                          <a:latin typeface="Pretendard"/>
                          <a:ea typeface="Pretendard"/>
                          <a:cs typeface="Pretendard"/>
                        </a:rPr>
                        <a:t>Benign</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085" b="0" lang="ko-KR">
                          <a:solidFill>
                            <a:srgbClr val="21262E"/>
                          </a:solidFill>
                          <a:latin typeface="DejaVu Sans Mono"/>
                          <a:ea typeface="DejaVu Sans Mono"/>
                          <a:cs typeface="DejaVu Sans Mono"/>
                        </a:rPr>
                        <a:t>16,792,214</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085" b="0" lang="ko-KR">
                          <a:solidFill>
                            <a:srgbClr val="21262E"/>
                          </a:solidFill>
                          <a:latin typeface="DejaVu Sans Mono"/>
                          <a:ea typeface="DejaVu Sans Mono"/>
                          <a:cs typeface="DejaVu Sans Mono"/>
                        </a:rPr>
                        <a:t>6,446,120</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085" b="0" lang="ko-KR">
                          <a:solidFill>
                            <a:srgbClr val="21262E"/>
                          </a:solidFill>
                          <a:latin typeface="DejaVu Sans Mono"/>
                          <a:ea typeface="DejaVu Sans Mono"/>
                          <a:cs typeface="DejaVu Sans Mono"/>
                        </a:rPr>
                        <a:t>1,474,302</a:t>
                      </a:r>
                    </a:p>
                  </a:txBody>
                  <a:tcPr marL="64008" marR="64008" marT="22860" marB="22860">
                    <a:solidFill>
                      <a:srgbClr val="FFFFFF"/>
                    </a:solidFill>
                  </a:tcPr>
                </a:tc>
              </a:tr>
              <a:tr h="340156">
                <a:tc>
                  <a:txBody>
                    <a:bodyPr wrap="square" lIns="64008" rIns="64008" tIns="32004" bIns="32004" anchor="ctr">
                      <a:noAutofit/>
                    </a:bodyPr>
                    <a:lstStyle/>
                    <a:p>
                      <a:pPr algn="l">
                        <a:lnSpc>
                          <a:spcPct val="110000"/>
                        </a:lnSpc>
                        <a:spcBef>
                          <a:spcPts val="0"/>
                        </a:spcBef>
                        <a:spcAft>
                          <a:spcPts val="0"/>
                        </a:spcAft>
                        <a:buNone/>
                      </a:pPr>
                      <a:r>
                        <a:rPr sz="1120" b="1" lang="ko-KR">
                          <a:solidFill>
                            <a:srgbClr val="21262E"/>
                          </a:solidFill>
                          <a:latin typeface="Pretendard"/>
                          <a:ea typeface="Pretendard"/>
                          <a:cs typeface="Pretendard"/>
                        </a:rPr>
                        <a:t>XSS</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085" b="0" lang="ko-KR">
                          <a:solidFill>
                            <a:srgbClr val="21262E"/>
                          </a:solidFill>
                          <a:latin typeface="DejaVu Sans Mono"/>
                          <a:ea typeface="DejaVu Sans Mono"/>
                          <a:cs typeface="DejaVu Sans Mono"/>
                        </a:rPr>
                        <a:t>2,834,435</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085" b="0" lang="ko-KR">
                          <a:solidFill>
                            <a:srgbClr val="21262E"/>
                          </a:solidFill>
                          <a:latin typeface="DejaVu Sans Mono"/>
                          <a:ea typeface="DejaVu Sans Mono"/>
                          <a:cs typeface="DejaVu Sans Mono"/>
                        </a:rPr>
                        <a:t>1,670,497</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085" b="0" lang="ko-KR">
                          <a:solidFill>
                            <a:srgbClr val="21262E"/>
                          </a:solidFill>
                          <a:latin typeface="DejaVu Sans Mono"/>
                          <a:ea typeface="DejaVu Sans Mono"/>
                          <a:cs typeface="DejaVu Sans Mono"/>
                        </a:rPr>
                        <a:t>343,854</a:t>
                      </a:r>
                    </a:p>
                  </a:txBody>
                  <a:tcPr marL="64008" marR="64008" marT="22860" marB="22860">
                    <a:solidFill>
                      <a:srgbClr val="F3F6FA"/>
                    </a:solidFill>
                  </a:tcPr>
                </a:tc>
              </a:tr>
              <a:tr h="340156">
                <a:tc>
                  <a:txBody>
                    <a:bodyPr wrap="square" lIns="64008" rIns="64008" tIns="32004" bIns="32004" anchor="ctr">
                      <a:noAutofit/>
                    </a:bodyPr>
                    <a:lstStyle/>
                    <a:p>
                      <a:pPr algn="l">
                        <a:lnSpc>
                          <a:spcPct val="110000"/>
                        </a:lnSpc>
                        <a:spcBef>
                          <a:spcPts val="0"/>
                        </a:spcBef>
                        <a:spcAft>
                          <a:spcPts val="0"/>
                        </a:spcAft>
                        <a:buNone/>
                      </a:pPr>
                      <a:r>
                        <a:rPr sz="1120" b="1" lang="ko-KR">
                          <a:solidFill>
                            <a:srgbClr val="21262E"/>
                          </a:solidFill>
                          <a:latin typeface="Pretendard"/>
                          <a:ea typeface="Pretendard"/>
                          <a:cs typeface="Pretendard"/>
                        </a:rPr>
                        <a:t>Password</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085" b="0" lang="ko-KR">
                          <a:solidFill>
                            <a:srgbClr val="21262E"/>
                          </a:solidFill>
                          <a:latin typeface="DejaVu Sans Mono"/>
                          <a:ea typeface="DejaVu Sans Mono"/>
                          <a:cs typeface="DejaVu Sans Mono"/>
                        </a:rPr>
                        <a:t>1,594,777</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085" b="0" lang="ko-KR">
                          <a:solidFill>
                            <a:srgbClr val="21262E"/>
                          </a:solidFill>
                          <a:latin typeface="DejaVu Sans Mono"/>
                          <a:ea typeface="DejaVu Sans Mono"/>
                          <a:cs typeface="DejaVu Sans Mono"/>
                        </a:rPr>
                        <a:t>1,061,699</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085" b="0" lang="ko-KR">
                          <a:solidFill>
                            <a:srgbClr val="21262E"/>
                          </a:solidFill>
                          <a:latin typeface="DejaVu Sans Mono"/>
                          <a:ea typeface="DejaVu Sans Mono"/>
                          <a:cs typeface="DejaVu Sans Mono"/>
                        </a:rPr>
                        <a:t>210,951</a:t>
                      </a:r>
                    </a:p>
                  </a:txBody>
                  <a:tcPr marL="64008" marR="64008" marT="22860" marB="22860">
                    <a:solidFill>
                      <a:srgbClr val="FFFFFF"/>
                    </a:solidFill>
                  </a:tcPr>
                </a:tc>
              </a:tr>
              <a:tr h="340156">
                <a:tc>
                  <a:txBody>
                    <a:bodyPr wrap="square" lIns="64008" rIns="64008" tIns="32004" bIns="32004" anchor="ctr">
                      <a:noAutofit/>
                    </a:bodyPr>
                    <a:lstStyle/>
                    <a:p>
                      <a:pPr algn="l">
                        <a:lnSpc>
                          <a:spcPct val="110000"/>
                        </a:lnSpc>
                        <a:spcBef>
                          <a:spcPts val="0"/>
                        </a:spcBef>
                        <a:spcAft>
                          <a:spcPts val="0"/>
                        </a:spcAft>
                        <a:buNone/>
                      </a:pPr>
                      <a:r>
                        <a:rPr sz="1120" b="1" lang="ko-KR">
                          <a:solidFill>
                            <a:srgbClr val="21262E"/>
                          </a:solidFill>
                          <a:latin typeface="Pretendard"/>
                          <a:ea typeface="Pretendard"/>
                          <a:cs typeface="Pretendard"/>
                        </a:rPr>
                        <a:t>DDoS</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085" b="0" lang="ko-KR">
                          <a:solidFill>
                            <a:srgbClr val="21262E"/>
                          </a:solidFill>
                          <a:latin typeface="DejaVu Sans Mono"/>
                          <a:ea typeface="DejaVu Sans Mono"/>
                          <a:cs typeface="DejaVu Sans Mono"/>
                        </a:rPr>
                        <a:t>4,141,256</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085" b="0" lang="ko-KR">
                          <a:solidFill>
                            <a:srgbClr val="21262E"/>
                          </a:solidFill>
                          <a:latin typeface="DejaVu Sans Mono"/>
                          <a:ea typeface="DejaVu Sans Mono"/>
                          <a:cs typeface="DejaVu Sans Mono"/>
                        </a:rPr>
                        <a:t>925,247</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085" b="0" lang="ko-KR">
                          <a:solidFill>
                            <a:srgbClr val="21262E"/>
                          </a:solidFill>
                          <a:latin typeface="DejaVu Sans Mono"/>
                          <a:ea typeface="DejaVu Sans Mono"/>
                          <a:cs typeface="DejaVu Sans Mono"/>
                        </a:rPr>
                        <a:t>103,338</a:t>
                      </a:r>
                    </a:p>
                  </a:txBody>
                  <a:tcPr marL="64008" marR="64008" marT="22860" marB="22860">
                    <a:solidFill>
                      <a:srgbClr val="F3F6FA"/>
                    </a:solidFill>
                  </a:tcPr>
                </a:tc>
              </a:tr>
              <a:tr h="340156">
                <a:tc>
                  <a:txBody>
                    <a:bodyPr wrap="square" lIns="64008" rIns="64008" tIns="32004" bIns="32004" anchor="ctr">
                      <a:noAutofit/>
                    </a:bodyPr>
                    <a:lstStyle/>
                    <a:p>
                      <a:pPr algn="l">
                        <a:lnSpc>
                          <a:spcPct val="110000"/>
                        </a:lnSpc>
                        <a:spcBef>
                          <a:spcPts val="0"/>
                        </a:spcBef>
                        <a:spcAft>
                          <a:spcPts val="0"/>
                        </a:spcAft>
                        <a:buNone/>
                      </a:pPr>
                      <a:r>
                        <a:rPr sz="1120" b="1" lang="ko-KR">
                          <a:solidFill>
                            <a:srgbClr val="21262E"/>
                          </a:solidFill>
                          <a:latin typeface="Pretendard"/>
                          <a:ea typeface="Pretendard"/>
                          <a:cs typeface="Pretendard"/>
                        </a:rPr>
                        <a:t>Injection</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085" b="0" lang="ko-KR">
                          <a:solidFill>
                            <a:srgbClr val="21262E"/>
                          </a:solidFill>
                          <a:latin typeface="DejaVu Sans Mono"/>
                          <a:ea typeface="DejaVu Sans Mono"/>
                          <a:cs typeface="DejaVu Sans Mono"/>
                        </a:rPr>
                        <a:t>381,777</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085" b="0" lang="ko-KR">
                          <a:solidFill>
                            <a:srgbClr val="21262E"/>
                          </a:solidFill>
                          <a:latin typeface="DejaVu Sans Mono"/>
                          <a:ea typeface="DejaVu Sans Mono"/>
                          <a:cs typeface="DejaVu Sans Mono"/>
                        </a:rPr>
                        <a:t>341,263</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085" b="0" lang="ko-KR">
                          <a:solidFill>
                            <a:srgbClr val="21262E"/>
                          </a:solidFill>
                          <a:latin typeface="DejaVu Sans Mono"/>
                          <a:ea typeface="DejaVu Sans Mono"/>
                          <a:cs typeface="DejaVu Sans Mono"/>
                        </a:rPr>
                        <a:t>68,891</a:t>
                      </a:r>
                    </a:p>
                  </a:txBody>
                  <a:tcPr marL="64008" marR="64008" marT="22860" marB="22860">
                    <a:solidFill>
                      <a:srgbClr val="FFFFFF"/>
                    </a:solidFill>
                  </a:tcPr>
                </a:tc>
              </a:tr>
              <a:tr h="340156">
                <a:tc>
                  <a:txBody>
                    <a:bodyPr wrap="square" lIns="64008" rIns="64008" tIns="32004" bIns="32004" anchor="ctr">
                      <a:noAutofit/>
                    </a:bodyPr>
                    <a:lstStyle/>
                    <a:p>
                      <a:pPr algn="l">
                        <a:lnSpc>
                          <a:spcPct val="110000"/>
                        </a:lnSpc>
                        <a:spcBef>
                          <a:spcPts val="0"/>
                        </a:spcBef>
                        <a:spcAft>
                          <a:spcPts val="0"/>
                        </a:spcAft>
                        <a:buNone/>
                      </a:pPr>
                      <a:r>
                        <a:rPr sz="1120" b="1" lang="ko-KR">
                          <a:solidFill>
                            <a:srgbClr val="21262E"/>
                          </a:solidFill>
                          <a:latin typeface="Pretendard"/>
                          <a:ea typeface="Pretendard"/>
                          <a:cs typeface="Pretendard"/>
                        </a:rPr>
                        <a:t>Backdoor</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085" b="0" lang="ko-KR">
                          <a:solidFill>
                            <a:srgbClr val="21262E"/>
                          </a:solidFill>
                          <a:latin typeface="DejaVu Sans Mono"/>
                          <a:ea typeface="DejaVu Sans Mono"/>
                          <a:cs typeface="DejaVu Sans Mono"/>
                        </a:rPr>
                        <a:t>203,384</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085" b="0" lang="ko-KR">
                          <a:solidFill>
                            <a:srgbClr val="21262E"/>
                          </a:solidFill>
                          <a:latin typeface="DejaVu Sans Mono"/>
                          <a:ea typeface="DejaVu Sans Mono"/>
                          <a:cs typeface="DejaVu Sans Mono"/>
                        </a:rPr>
                        <a:t>200,688</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085" b="0" lang="ko-KR">
                          <a:solidFill>
                            <a:srgbClr val="21262E"/>
                          </a:solidFill>
                          <a:latin typeface="DejaVu Sans Mono"/>
                          <a:ea typeface="DejaVu Sans Mono"/>
                          <a:cs typeface="DejaVu Sans Mono"/>
                        </a:rPr>
                        <a:t>40,030</a:t>
                      </a:r>
                    </a:p>
                  </a:txBody>
                  <a:tcPr marL="64008" marR="64008" marT="22860" marB="22860">
                    <a:solidFill>
                      <a:srgbClr val="F3F6FA"/>
                    </a:solidFill>
                  </a:tcPr>
                </a:tc>
              </a:tr>
              <a:tr h="340156">
                <a:tc>
                  <a:txBody>
                    <a:bodyPr wrap="square" lIns="64008" rIns="64008" tIns="32004" bIns="32004" anchor="ctr">
                      <a:noAutofit/>
                    </a:bodyPr>
                    <a:lstStyle/>
                    <a:p>
                      <a:pPr algn="l">
                        <a:lnSpc>
                          <a:spcPct val="110000"/>
                        </a:lnSpc>
                        <a:spcBef>
                          <a:spcPts val="0"/>
                        </a:spcBef>
                        <a:spcAft>
                          <a:spcPts val="0"/>
                        </a:spcAft>
                        <a:buNone/>
                      </a:pPr>
                      <a:r>
                        <a:rPr sz="1120" b="1" lang="ko-KR">
                          <a:solidFill>
                            <a:srgbClr val="21262E"/>
                          </a:solidFill>
                          <a:latin typeface="Pretendard"/>
                          <a:ea typeface="Pretendard"/>
                          <a:cs typeface="Pretendard"/>
                        </a:rPr>
                        <a:t>DoS</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085" b="0" lang="ko-KR">
                          <a:solidFill>
                            <a:srgbClr val="21262E"/>
                          </a:solidFill>
                          <a:latin typeface="DejaVu Sans Mono"/>
                          <a:ea typeface="DejaVu Sans Mono"/>
                          <a:cs typeface="DejaVu Sans Mono"/>
                        </a:rPr>
                        <a:t>203,456</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085" b="0" lang="ko-KR">
                          <a:solidFill>
                            <a:srgbClr val="21262E"/>
                          </a:solidFill>
                          <a:latin typeface="DejaVu Sans Mono"/>
                          <a:ea typeface="DejaVu Sans Mono"/>
                          <a:cs typeface="DejaVu Sans Mono"/>
                        </a:rPr>
                        <a:t>113,655</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085" b="0" lang="ko-KR">
                          <a:solidFill>
                            <a:srgbClr val="21262E"/>
                          </a:solidFill>
                          <a:latin typeface="DejaVu Sans Mono"/>
                          <a:ea typeface="DejaVu Sans Mono"/>
                          <a:cs typeface="DejaVu Sans Mono"/>
                        </a:rPr>
                        <a:t>22,458</a:t>
                      </a:r>
                    </a:p>
                  </a:txBody>
                  <a:tcPr marL="64008" marR="64008" marT="22860" marB="22860">
                    <a:solidFill>
                      <a:srgbClr val="FFFFFF"/>
                    </a:solidFill>
                  </a:tcPr>
                </a:tc>
              </a:tr>
              <a:tr h="340156">
                <a:tc>
                  <a:txBody>
                    <a:bodyPr wrap="square" lIns="64008" rIns="64008" tIns="32004" bIns="32004" anchor="ctr">
                      <a:noAutofit/>
                    </a:bodyPr>
                    <a:lstStyle/>
                    <a:p>
                      <a:pPr algn="l">
                        <a:lnSpc>
                          <a:spcPct val="110000"/>
                        </a:lnSpc>
                        <a:spcBef>
                          <a:spcPts val="0"/>
                        </a:spcBef>
                        <a:spcAft>
                          <a:spcPts val="0"/>
                        </a:spcAft>
                        <a:buNone/>
                      </a:pPr>
                      <a:r>
                        <a:rPr sz="1120" b="1" lang="ko-KR">
                          <a:solidFill>
                            <a:srgbClr val="21262E"/>
                          </a:solidFill>
                          <a:latin typeface="Pretendard"/>
                          <a:ea typeface="Pretendard"/>
                          <a:cs typeface="Pretendard"/>
                        </a:rPr>
                        <a:t>Scanning</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085" b="0" lang="ko-KR">
                          <a:solidFill>
                            <a:srgbClr val="21262E"/>
                          </a:solidFill>
                          <a:latin typeface="DejaVu Sans Mono"/>
                          <a:ea typeface="DejaVu Sans Mono"/>
                          <a:cs typeface="DejaVu Sans Mono"/>
                        </a:rPr>
                        <a:t>1,358,977</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085" b="0" lang="ko-KR">
                          <a:solidFill>
                            <a:srgbClr val="21262E"/>
                          </a:solidFill>
                          <a:latin typeface="DejaVu Sans Mono"/>
                          <a:ea typeface="DejaVu Sans Mono"/>
                          <a:cs typeface="DejaVu Sans Mono"/>
                        </a:rPr>
                        <a:t>39,069</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085" b="0" lang="ko-KR">
                          <a:solidFill>
                            <a:srgbClr val="21262E"/>
                          </a:solidFill>
                          <a:latin typeface="DejaVu Sans Mono"/>
                          <a:ea typeface="DejaVu Sans Mono"/>
                          <a:cs typeface="DejaVu Sans Mono"/>
                        </a:rPr>
                        <a:t>6,029</a:t>
                      </a:r>
                    </a:p>
                  </a:txBody>
                  <a:tcPr marL="64008" marR="64008" marT="22860" marB="22860">
                    <a:solidFill>
                      <a:srgbClr val="F3F6FA"/>
                    </a:solidFill>
                  </a:tcPr>
                </a:tc>
              </a:tr>
              <a:tr h="340156">
                <a:tc>
                  <a:txBody>
                    <a:bodyPr wrap="square" lIns="64008" rIns="64008" tIns="32004" bIns="32004" anchor="ctr">
                      <a:noAutofit/>
                    </a:bodyPr>
                    <a:lstStyle/>
                    <a:p>
                      <a:pPr algn="l">
                        <a:lnSpc>
                          <a:spcPct val="110000"/>
                        </a:lnSpc>
                        <a:spcBef>
                          <a:spcPts val="0"/>
                        </a:spcBef>
                        <a:spcAft>
                          <a:spcPts val="0"/>
                        </a:spcAft>
                        <a:buNone/>
                      </a:pPr>
                      <a:r>
                        <a:rPr sz="1120" b="1" lang="ko-KR">
                          <a:solidFill>
                            <a:srgbClr val="21262E"/>
                          </a:solidFill>
                          <a:latin typeface="Pretendard"/>
                          <a:ea typeface="Pretendard"/>
                          <a:cs typeface="Pretendard"/>
                        </a:rPr>
                        <a:t>MitM</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085" b="0" lang="ko-KR">
                          <a:solidFill>
                            <a:srgbClr val="21262E"/>
                          </a:solidFill>
                          <a:latin typeface="DejaVu Sans Mono"/>
                          <a:ea typeface="DejaVu Sans Mono"/>
                          <a:cs typeface="DejaVu Sans Mono"/>
                        </a:rPr>
                        <a:t>6,013</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085" b="0" lang="ko-KR">
                          <a:solidFill>
                            <a:srgbClr val="21262E"/>
                          </a:solidFill>
                          <a:latin typeface="DejaVu Sans Mono"/>
                          <a:ea typeface="DejaVu Sans Mono"/>
                          <a:cs typeface="DejaVu Sans Mono"/>
                        </a:rPr>
                        <a:t>5,446</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085" b="0" lang="ko-KR">
                          <a:solidFill>
                            <a:srgbClr val="21262E"/>
                          </a:solidFill>
                          <a:latin typeface="DejaVu Sans Mono"/>
                          <a:ea typeface="DejaVu Sans Mono"/>
                          <a:cs typeface="DejaVu Sans Mono"/>
                        </a:rPr>
                        <a:t>1,161</a:t>
                      </a:r>
                    </a:p>
                  </a:txBody>
                  <a:tcPr marL="64008" marR="64008" marT="22860" marB="22860">
                    <a:solidFill>
                      <a:srgbClr val="FFFFFF"/>
                    </a:solidFill>
                  </a:tcPr>
                </a:tc>
              </a:tr>
              <a:tr h="340156">
                <a:tc>
                  <a:txBody>
                    <a:bodyPr wrap="square" lIns="64008" rIns="64008" tIns="32004" bIns="32004" anchor="ctr">
                      <a:noAutofit/>
                    </a:bodyPr>
                    <a:lstStyle/>
                    <a:p>
                      <a:pPr algn="l">
                        <a:lnSpc>
                          <a:spcPct val="110000"/>
                        </a:lnSpc>
                        <a:spcBef>
                          <a:spcPts val="0"/>
                        </a:spcBef>
                        <a:spcAft>
                          <a:spcPts val="0"/>
                        </a:spcAft>
                        <a:buNone/>
                      </a:pPr>
                      <a:r>
                        <a:rPr sz="1120" b="1" lang="ko-KR">
                          <a:solidFill>
                            <a:srgbClr val="21262E"/>
                          </a:solidFill>
                          <a:latin typeface="Pretendard"/>
                          <a:ea typeface="Pretendard"/>
                          <a:cs typeface="Pretendard"/>
                        </a:rPr>
                        <a:t>Ransomware</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085" b="0" lang="ko-KR">
                          <a:solidFill>
                            <a:srgbClr val="21262E"/>
                          </a:solidFill>
                          <a:latin typeface="DejaVu Sans Mono"/>
                          <a:ea typeface="DejaVu Sans Mono"/>
                          <a:cs typeface="DejaVu Sans Mono"/>
                        </a:rPr>
                        <a:t>3,971</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085" b="0" lang="ko-KR">
                          <a:solidFill>
                            <a:srgbClr val="21262E"/>
                          </a:solidFill>
                          <a:latin typeface="DejaVu Sans Mono"/>
                          <a:ea typeface="DejaVu Sans Mono"/>
                          <a:cs typeface="DejaVu Sans Mono"/>
                        </a:rPr>
                        <a:t>3,604</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085" b="0" lang="ko-KR">
                          <a:solidFill>
                            <a:srgbClr val="21262E"/>
                          </a:solidFill>
                          <a:latin typeface="DejaVu Sans Mono"/>
                          <a:ea typeface="DejaVu Sans Mono"/>
                          <a:cs typeface="DejaVu Sans Mono"/>
                        </a:rPr>
                        <a:t>709</a:t>
                      </a:r>
                    </a:p>
                  </a:txBody>
                  <a:tcPr marL="64008" marR="64008" marT="22860" marB="22860">
                    <a:solidFill>
                      <a:srgbClr val="F3F6FA"/>
                    </a:solidFill>
                  </a:tcPr>
                </a:tc>
              </a:tr>
              <a:tr h="340156">
                <a:tc>
                  <a:txBody>
                    <a:bodyPr wrap="square" lIns="64008" rIns="64008" tIns="32004" bIns="32004" anchor="ctr">
                      <a:noAutofit/>
                    </a:bodyPr>
                    <a:lstStyle/>
                    <a:p>
                      <a:pPr algn="l">
                        <a:lnSpc>
                          <a:spcPct val="110000"/>
                        </a:lnSpc>
                        <a:spcBef>
                          <a:spcPts val="0"/>
                        </a:spcBef>
                        <a:spcAft>
                          <a:spcPts val="0"/>
                        </a:spcAft>
                        <a:buNone/>
                      </a:pPr>
                      <a:r>
                        <a:rPr sz="1120" b="1" lang="ko-KR">
                          <a:solidFill>
                            <a:srgbClr val="00306C"/>
                          </a:solidFill>
                          <a:latin typeface="Pretendard"/>
                          <a:ea typeface="Pretendard"/>
                          <a:cs typeface="Pretendard"/>
                        </a:rPr>
                        <a:t>합계</a:t>
                      </a:r>
                    </a:p>
                  </a:txBody>
                  <a:tcPr marL="64008" marR="64008" marT="22860" marB="22860">
                    <a:solidFill>
                      <a:srgbClr val="E7F0F8"/>
                    </a:solidFill>
                  </a:tcPr>
                </a:tc>
                <a:tc>
                  <a:txBody>
                    <a:bodyPr wrap="square" lIns="64008" rIns="64008" tIns="32004" bIns="32004" anchor="ctr">
                      <a:noAutofit/>
                    </a:bodyPr>
                    <a:lstStyle/>
                    <a:p>
                      <a:pPr algn="r">
                        <a:lnSpc>
                          <a:spcPct val="110000"/>
                        </a:lnSpc>
                        <a:spcBef>
                          <a:spcPts val="0"/>
                        </a:spcBef>
                        <a:spcAft>
                          <a:spcPts val="0"/>
                        </a:spcAft>
                        <a:buNone/>
                      </a:pPr>
                      <a:r>
                        <a:rPr sz="1085" b="1" lang="ko-KR">
                          <a:solidFill>
                            <a:srgbClr val="00306C"/>
                          </a:solidFill>
                          <a:latin typeface="DejaVu Sans Mono"/>
                          <a:ea typeface="DejaVu Sans Mono"/>
                          <a:cs typeface="DejaVu Sans Mono"/>
                        </a:rPr>
                        <a:t>27,520,260</a:t>
                      </a:r>
                    </a:p>
                  </a:txBody>
                  <a:tcPr marL="64008" marR="64008" marT="22860" marB="22860">
                    <a:solidFill>
                      <a:srgbClr val="E7F0F8"/>
                    </a:solidFill>
                  </a:tcPr>
                </a:tc>
                <a:tc>
                  <a:txBody>
                    <a:bodyPr wrap="square" lIns="64008" rIns="64008" tIns="32004" bIns="32004" anchor="ctr">
                      <a:noAutofit/>
                    </a:bodyPr>
                    <a:lstStyle/>
                    <a:p>
                      <a:pPr algn="r">
                        <a:lnSpc>
                          <a:spcPct val="110000"/>
                        </a:lnSpc>
                        <a:spcBef>
                          <a:spcPts val="0"/>
                        </a:spcBef>
                        <a:spcAft>
                          <a:spcPts val="0"/>
                        </a:spcAft>
                        <a:buNone/>
                      </a:pPr>
                      <a:r>
                        <a:rPr sz="1085" b="1" lang="ko-KR">
                          <a:solidFill>
                            <a:srgbClr val="00306C"/>
                          </a:solidFill>
                          <a:latin typeface="DejaVu Sans Mono"/>
                          <a:ea typeface="DejaVu Sans Mono"/>
                          <a:cs typeface="DejaVu Sans Mono"/>
                        </a:rPr>
                        <a:t>10,807,288</a:t>
                      </a:r>
                    </a:p>
                  </a:txBody>
                  <a:tcPr marL="64008" marR="64008" marT="22860" marB="22860">
                    <a:solidFill>
                      <a:srgbClr val="E7F0F8"/>
                    </a:solidFill>
                  </a:tcPr>
                </a:tc>
                <a:tc>
                  <a:txBody>
                    <a:bodyPr wrap="square" lIns="64008" rIns="64008" tIns="32004" bIns="32004" anchor="ctr">
                      <a:noAutofit/>
                    </a:bodyPr>
                    <a:lstStyle/>
                    <a:p>
                      <a:pPr algn="r">
                        <a:lnSpc>
                          <a:spcPct val="110000"/>
                        </a:lnSpc>
                        <a:spcBef>
                          <a:spcPts val="0"/>
                        </a:spcBef>
                        <a:spcAft>
                          <a:spcPts val="0"/>
                        </a:spcAft>
                        <a:buNone/>
                      </a:pPr>
                      <a:r>
                        <a:rPr sz="1085" b="1" lang="ko-KR">
                          <a:solidFill>
                            <a:srgbClr val="00306C"/>
                          </a:solidFill>
                          <a:latin typeface="DejaVu Sans Mono"/>
                          <a:ea typeface="DejaVu Sans Mono"/>
                          <a:cs typeface="DejaVu Sans Mono"/>
                        </a:rPr>
                        <a:t>2,271,723</a:t>
                      </a:r>
                    </a:p>
                  </a:txBody>
                  <a:tcPr marL="64008" marR="64008" marT="22860" marB="22860">
                    <a:solidFill>
                      <a:srgbClr val="E7F0F8"/>
                    </a:solidFill>
                  </a:tcPr>
                </a:tc>
              </a:tr>
            </a:tbl>
          </a:graphicData>
        </a:graphic>
      </p:graphicFrame>
      <p:sp>
        <p:nvSpPr>
          <p:cNvPr id="13" name="TextBox 12"/>
          <p:cNvSpPr txBox="1"/>
          <p:nvPr/>
        </p:nvSpPr>
        <p:spPr>
          <a:xfrm>
            <a:off x="566928" y="6432804"/>
            <a:ext cx="7498079" cy="274320"/>
          </a:xfrm>
          <a:prstGeom prst="rect">
            <a:avLst/>
          </a:prstGeom>
          <a:noFill/>
        </p:spPr>
        <p:txBody>
          <a:bodyPr wrap="square" lIns="0" rIns="0" tIns="32004" bIns="32004" anchor="ctr">
            <a:noAutofit/>
          </a:bodyPr>
          <a:lstStyle/>
          <a:p>
            <a:pPr algn="l">
              <a:lnSpc>
                <a:spcPct val="110000"/>
              </a:lnSpc>
              <a:spcBef>
                <a:spcPts val="0"/>
              </a:spcBef>
              <a:spcAft>
                <a:spcPts val="0"/>
              </a:spcAft>
              <a:buNone/>
              <a:buNone/>
            </a:pPr>
            <a:r>
              <a:rPr sz="1100" b="1" lang="ko-KR">
                <a:solidFill>
                  <a:srgbClr val="FFFFFF"/>
                </a:solidFill>
                <a:latin typeface="Pretendard"/>
                <a:ea typeface="Pretendard"/>
                <a:cs typeface="Pretendard"/>
              </a:rPr>
              <a:t>상충 라벨 제거 전후의 클래스 분포와 고정 평가 표본</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11055096" cy="594360"/>
          </a:xfrm>
          <a:prstGeom prst="rect">
            <a:avLst/>
          </a:prstGeom>
          <a:noFill/>
        </p:spPr>
        <p:txBody>
          <a:bodyPr wrap="square" lIns="0" rIns="0" tIns="32004" bIns="32004" anchor="ctr">
            <a:noAutofit/>
          </a:bodyPr>
          <a:lstStyle/>
          <a:p>
            <a:pPr algn="l">
              <a:lnSpc>
                <a:spcPct val="110000"/>
              </a:lnSpc>
              <a:spcBef>
                <a:spcPts val="0"/>
              </a:spcBef>
              <a:spcAft>
                <a:spcPts val="0"/>
              </a:spcAft>
              <a:buNone/>
              <a:buNone/>
              <a:buNone/>
            </a:pPr>
            <a:r>
              <a:rPr sz="2800" b="1" lang="ko-KR">
                <a:solidFill>
                  <a:srgbClr val="00306C"/>
                </a:solidFill>
                <a:latin typeface="Pretendard"/>
                <a:ea typeface="Pretendard"/>
                <a:cs typeface="Pretendard"/>
              </a:rPr>
              <a:t>Context 기반 Global·expert 모델 구조</a:t>
            </a:r>
          </a:p>
        </p:txBody>
      </p:sp>
      <p:sp>
        <p:nvSpPr>
          <p:cNvPr id="3" name="Rectangle 2"/>
          <p:cNvSpPr/>
          <p:nvPr/>
        </p:nvSpPr>
        <p:spPr>
          <a:xfrm>
            <a:off x="0" y="6355080"/>
            <a:ext cx="12191999" cy="502920"/>
          </a:xfrm>
          <a:prstGeom prst="rect">
            <a:avLst/>
          </a:prstGeom>
          <a:solidFill>
            <a:srgbClr val="0030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75320" y="6428232"/>
            <a:ext cx="2743200" cy="274320"/>
          </a:xfrm>
          <a:prstGeom prst="rect">
            <a:avLst/>
          </a:prstGeom>
          <a:noFill/>
        </p:spPr>
        <p:txBody>
          <a:bodyPr wrap="square" tIns="32004" bIns="32004" anchor="ctr">
            <a:noAutofit/>
          </a:bodyPr>
          <a:lstStyle/>
          <a:p>
            <a:pPr algn="r">
              <a:lnSpc>
                <a:spcPct val="110000"/>
              </a:lnSpc>
              <a:spcBef>
                <a:spcPts val="0"/>
              </a:spcBef>
              <a:spcAft>
                <a:spcPts val="0"/>
              </a:spcAft>
              <a:buNone/>
              <a:buNone/>
              <a:buNone/>
              <a:buNone/>
            </a:pPr>
            <a:r>
              <a:rPr sz="1000" b="0" lang="ko-KR">
                <a:solidFill>
                  <a:srgbClr val="D6E4F3"/>
                </a:solidFill>
                <a:latin typeface="Pretendard"/>
                <a:ea typeface="Pretendard"/>
                <a:cs typeface="Pretendard"/>
              </a:rPr>
              <a:t>04 현재 모델</a:t>
            </a:r>
          </a:p>
        </p:txBody>
      </p:sp>
      <p:sp>
        <p:nvSpPr>
          <p:cNvPr id="5" name="TextBox 4"/>
          <p:cNvSpPr txBox="1"/>
          <p:nvPr/>
        </p:nvSpPr>
        <p:spPr>
          <a:xfrm>
            <a:off x="11183112" y="6409944"/>
            <a:ext cx="438912" cy="310896"/>
          </a:xfrm>
          <a:prstGeom prst="rect">
            <a:avLst/>
          </a:prstGeom>
          <a:noFill/>
        </p:spPr>
        <p:txBody>
          <a:bodyPr wrap="square" tIns="32004" bIns="32004" anchor="ctr">
            <a:noAutofit/>
          </a:bodyPr>
          <a:lstStyle/>
          <a:p>
            <a:pPr algn="r">
              <a:lnSpc>
                <a:spcPct val="110000"/>
              </a:lnSpc>
              <a:spcBef>
                <a:spcPts val="0"/>
              </a:spcBef>
              <a:spcAft>
                <a:spcPts val="0"/>
              </a:spcAft>
              <a:buNone/>
              <a:buNone/>
              <a:buNone/>
              <a:buNone/>
              <a:buNone/>
            </a:pPr>
            <a:r>
              <a:rPr sz="1100" b="1" lang="ko-KR">
                <a:solidFill>
                  <a:srgbClr val="FFFFFF"/>
                </a:solidFill>
                <a:latin typeface="Pretendard"/>
                <a:ea typeface="Pretendard"/>
                <a:cs typeface="Pretendard"/>
              </a:rPr>
              <a:t>7</a:t>
            </a:r>
          </a:p>
        </p:txBody>
      </p:sp>
      <p:sp>
        <p:nvSpPr>
          <p:cNvPr id="6" name="TextBox 5"/>
          <p:cNvSpPr txBox="1"/>
          <p:nvPr/>
        </p:nvSpPr>
        <p:spPr>
          <a:xfrm>
            <a:off x="566928" y="932688"/>
            <a:ext cx="11055096" cy="283464"/>
          </a:xfrm>
          <a:prstGeom prst="rect">
            <a:avLst/>
          </a:prstGeom>
          <a:noFill/>
        </p:spPr>
        <p:txBody>
          <a:bodyPr wrap="square" lIns="0" rIns="0" tIns="32004" bIns="32004" anchor="ctr">
            <a:noAutofit/>
          </a:bodyPr>
          <a:lstStyle/>
          <a:p>
            <a:pPr algn="l">
              <a:lnSpc>
                <a:spcPct val="110000"/>
              </a:lnSpc>
              <a:spcBef>
                <a:spcPts val="0"/>
              </a:spcBef>
              <a:spcAft>
                <a:spcPts val="0"/>
              </a:spcAft>
              <a:buNone/>
              <a:buNone/>
            </a:pPr>
            <a:r>
              <a:rPr sz="1300" b="0" lang="ko-KR">
                <a:solidFill>
                  <a:srgbClr val="5D6773"/>
                </a:solidFill>
                <a:latin typeface="Pretendard"/>
                <a:ea typeface="Pretendard"/>
                <a:cs typeface="Pretendard"/>
              </a:rPr>
              <a:t>공통 context와 전문 context 활용 · TabPFN backbone 고정 · Scorer·Verifier 별도 학습</a:t>
            </a:r>
          </a:p>
        </p:txBody>
      </p:sp>
      <p:sp>
        <p:nvSpPr>
          <p:cNvPr id="7" name="Rounded Rectangle 6"/>
          <p:cNvSpPr/>
          <p:nvPr/>
        </p:nvSpPr>
        <p:spPr>
          <a:xfrm>
            <a:off x="566928" y="1371600"/>
            <a:ext cx="3538728" cy="420624"/>
          </a:xfrm>
          <a:prstGeom prst="roundRect">
            <a:avLst>
              <a:gd name="adj" fmla="val 3500"/>
            </a:avLst>
          </a:prstGeom>
          <a:solidFill>
            <a:srgbClr val="E7F0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32004" bIns="32004">
            <a:noAutofit/>
          </a:bodyPr>
          <a:lstStyle/>
          <a:p>
            <a:pPr algn="ctr">
              <a:lnSpc>
                <a:spcPct val="110000"/>
              </a:lnSpc>
              <a:spcBef>
                <a:spcPts val="0"/>
              </a:spcBef>
              <a:spcAft>
                <a:spcPts val="0"/>
              </a:spcAft>
              <a:buNone/>
            </a:pPr>
            <a:r>
              <a:rPr sz="1200" b="1" lang="ko-KR">
                <a:solidFill>
                  <a:srgbClr val="00306C"/>
                </a:solidFill>
                <a:latin typeface="Pretendard"/>
                <a:ea typeface="Pretendard"/>
                <a:cs typeface="Pretendard"/>
              </a:rPr>
              <a:t>Global 풀 · 공통 context</a:t>
            </a:r>
          </a:p>
        </p:txBody>
      </p:sp>
      <p:sp>
        <p:nvSpPr>
          <p:cNvPr id="8" name="Rounded Rectangle 7"/>
          <p:cNvSpPr/>
          <p:nvPr/>
        </p:nvSpPr>
        <p:spPr>
          <a:xfrm>
            <a:off x="4325112" y="1371600"/>
            <a:ext cx="3538728" cy="420624"/>
          </a:xfrm>
          <a:prstGeom prst="roundRect">
            <a:avLst>
              <a:gd name="adj" fmla="val 3500"/>
            </a:avLst>
          </a:prstGeom>
          <a:solidFill>
            <a:srgbClr val="E7F0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32004" bIns="32004">
            <a:noAutofit/>
          </a:bodyPr>
          <a:lstStyle/>
          <a:p>
            <a:pPr algn="ctr">
              <a:lnSpc>
                <a:spcPct val="110000"/>
              </a:lnSpc>
              <a:spcBef>
                <a:spcPts val="0"/>
              </a:spcBef>
              <a:spcAft>
                <a:spcPts val="0"/>
              </a:spcAft>
              <a:buNone/>
            </a:pPr>
            <a:r>
              <a:rPr sz="1200" b="1" lang="ko-KR">
                <a:solidFill>
                  <a:srgbClr val="00306C"/>
                </a:solidFill>
                <a:latin typeface="Pretendard"/>
                <a:ea typeface="Pretendard"/>
                <a:cs typeface="Pretendard"/>
              </a:rPr>
              <a:t>Expert 풀 · residual과 expert</a:t>
            </a:r>
          </a:p>
        </p:txBody>
      </p:sp>
      <p:sp>
        <p:nvSpPr>
          <p:cNvPr id="9" name="Rounded Rectangle 8"/>
          <p:cNvSpPr/>
          <p:nvPr/>
        </p:nvSpPr>
        <p:spPr>
          <a:xfrm>
            <a:off x="8083296" y="1371600"/>
            <a:ext cx="3538728" cy="420624"/>
          </a:xfrm>
          <a:prstGeom prst="roundRect">
            <a:avLst>
              <a:gd name="adj" fmla="val 3500"/>
            </a:avLst>
          </a:prstGeom>
          <a:solidFill>
            <a:srgbClr val="E7F0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32004" bIns="32004">
            <a:noAutofit/>
          </a:bodyPr>
          <a:lstStyle/>
          <a:p>
            <a:pPr algn="ctr">
              <a:lnSpc>
                <a:spcPct val="110000"/>
              </a:lnSpc>
              <a:spcBef>
                <a:spcPts val="0"/>
              </a:spcBef>
              <a:spcAft>
                <a:spcPts val="0"/>
              </a:spcAft>
              <a:buNone/>
            </a:pPr>
            <a:r>
              <a:rPr sz="1200" b="1" lang="ko-KR">
                <a:solidFill>
                  <a:srgbClr val="00306C"/>
                </a:solidFill>
                <a:latin typeface="Pretendard"/>
                <a:ea typeface="Pretendard"/>
                <a:cs typeface="Pretendard"/>
              </a:rPr>
              <a:t>Route 풀 · S/V 학습</a:t>
            </a:r>
          </a:p>
        </p:txBody>
      </p:sp>
      <p:sp>
        <p:nvSpPr>
          <p:cNvPr id="10" name="TextBox 9"/>
          <p:cNvSpPr txBox="1"/>
          <p:nvPr/>
        </p:nvSpPr>
        <p:spPr>
          <a:xfrm>
            <a:off x="566928" y="1993392"/>
            <a:ext cx="11055096" cy="256032"/>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300" b="1" lang="ko-KR">
                <a:solidFill>
                  <a:srgbClr val="5D6773"/>
                </a:solidFill>
                <a:latin typeface="Pretendard"/>
                <a:ea typeface="Pretendard"/>
                <a:cs typeface="Pretendard"/>
              </a:rPr>
              <a:t>오프라인 · 모델 구성</a:t>
            </a:r>
          </a:p>
        </p:txBody>
      </p:sp>
      <p:sp>
        <p:nvSpPr>
          <p:cNvPr id="11" name="Rounded Rectangle 10"/>
          <p:cNvSpPr/>
          <p:nvPr/>
        </p:nvSpPr>
        <p:spPr>
          <a:xfrm>
            <a:off x="566928" y="2459736"/>
            <a:ext cx="2020824" cy="969264"/>
          </a:xfrm>
          <a:prstGeom prst="roundRect">
            <a:avLst>
              <a:gd name="adj" fmla="val 3500"/>
            </a:avLst>
          </a:prstGeom>
          <a:solidFill>
            <a:srgbClr val="F3F6FA"/>
          </a:solidFill>
          <a:ln w="1016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 y="2551176"/>
            <a:ext cx="1911095" cy="292608"/>
          </a:xfrm>
          <a:prstGeom prst="rect">
            <a:avLst/>
          </a:prstGeom>
          <a:noFill/>
        </p:spPr>
        <p:txBody>
          <a:bodyPr wrap="square" lIns="18288" rIns="18288" tIns="32004" bIns="32004" anchor="ctr">
            <a:noAutofit/>
          </a:bodyPr>
          <a:lstStyle/>
          <a:p>
            <a:pPr algn="ctr">
              <a:lnSpc>
                <a:spcPct val="110000"/>
              </a:lnSpc>
              <a:spcBef>
                <a:spcPts val="0"/>
              </a:spcBef>
              <a:spcAft>
                <a:spcPts val="0"/>
              </a:spcAft>
              <a:buNone/>
            </a:pPr>
            <a:r>
              <a:rPr sz="1500" b="1" lang="ko-KR">
                <a:solidFill>
                  <a:srgbClr val="00306C"/>
                </a:solidFill>
                <a:latin typeface="Pretendard"/>
                <a:ea typeface="Pretendard"/>
                <a:cs typeface="Pretendard"/>
              </a:rPr>
              <a:t>Global 구성</a:t>
            </a:r>
          </a:p>
        </p:txBody>
      </p:sp>
      <p:sp>
        <p:nvSpPr>
          <p:cNvPr id="13" name="TextBox 12"/>
          <p:cNvSpPr txBox="1"/>
          <p:nvPr/>
        </p:nvSpPr>
        <p:spPr>
          <a:xfrm>
            <a:off x="640080" y="2907791"/>
            <a:ext cx="1874519" cy="365760"/>
          </a:xfrm>
          <a:prstGeom prst="rect">
            <a:avLst/>
          </a:prstGeom>
          <a:noFill/>
        </p:spPr>
        <p:txBody>
          <a:bodyPr wrap="square" lIns="18288" rIns="18288" tIns="32004" bIns="32004" anchor="ctr">
            <a:noAutofit/>
          </a:bodyPr>
          <a:lstStyle/>
          <a:p>
            <a:pPr algn="ctr">
              <a:lnSpc>
                <a:spcPct val="110000"/>
              </a:lnSpc>
              <a:spcBef>
                <a:spcPts val="0"/>
              </a:spcBef>
              <a:spcAft>
                <a:spcPts val="0"/>
              </a:spcAft>
              <a:buNone/>
            </a:pPr>
            <a:r>
              <a:rPr sz="1130" b="0" lang="ko-KR">
                <a:solidFill>
                  <a:srgbClr val="5D6773"/>
                </a:solidFill>
                <a:latin typeface="Pretendard"/>
                <a:ea typeface="Pretendard"/>
                <a:cs typeface="Pretendard"/>
              </a:rPr>
              <a:t>공통 context로</a:t>
            </a:r>
          </a:p>
          <a:p>
            <a:pPr algn="ctr">
              <a:lnSpc>
                <a:spcPct val="110000"/>
              </a:lnSpc>
              <a:spcBef>
                <a:spcPts val="0"/>
              </a:spcBef>
              <a:spcAft>
                <a:spcPts val="0"/>
              </a:spcAft>
              <a:buNone/>
            </a:pPr>
            <a:r>
              <a:rPr sz="1130" b="0" lang="ko-KR">
                <a:solidFill>
                  <a:srgbClr val="5D6773"/>
                </a:solidFill>
                <a:latin typeface="Pretendard"/>
                <a:ea typeface="Pretendard"/>
                <a:cs typeface="Pretendard"/>
              </a:rPr>
              <a:t>기본 분류기 구성</a:t>
            </a:r>
          </a:p>
        </p:txBody>
      </p:sp>
      <p:sp>
        <p:nvSpPr>
          <p:cNvPr id="14" name="Rounded Rectangle 13"/>
          <p:cNvSpPr/>
          <p:nvPr/>
        </p:nvSpPr>
        <p:spPr>
          <a:xfrm>
            <a:off x="2825496" y="2459736"/>
            <a:ext cx="2020824" cy="969264"/>
          </a:xfrm>
          <a:prstGeom prst="roundRect">
            <a:avLst>
              <a:gd name="adj" fmla="val 3500"/>
            </a:avLst>
          </a:prstGeom>
          <a:solidFill>
            <a:srgbClr val="F3F6FA"/>
          </a:solidFill>
          <a:ln w="1016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880360" y="2551176"/>
            <a:ext cx="1911095" cy="292608"/>
          </a:xfrm>
          <a:prstGeom prst="rect">
            <a:avLst/>
          </a:prstGeom>
          <a:noFill/>
        </p:spPr>
        <p:txBody>
          <a:bodyPr wrap="square" lIns="18288" rIns="18288" tIns="32004" bIns="32004" anchor="ctr">
            <a:noAutofit/>
          </a:bodyPr>
          <a:lstStyle/>
          <a:p>
            <a:pPr algn="ctr">
              <a:lnSpc>
                <a:spcPct val="110000"/>
              </a:lnSpc>
              <a:spcBef>
                <a:spcPts val="0"/>
              </a:spcBef>
              <a:spcAft>
                <a:spcPts val="0"/>
              </a:spcAft>
              <a:buNone/>
            </a:pPr>
            <a:r>
              <a:rPr sz="1500" b="1" lang="ko-KR">
                <a:solidFill>
                  <a:srgbClr val="00306C"/>
                </a:solidFill>
                <a:latin typeface="Pretendard"/>
                <a:ea typeface="Pretendard"/>
                <a:cs typeface="Pretendard"/>
              </a:rPr>
              <a:t>Residual 계산</a:t>
            </a:r>
          </a:p>
        </p:txBody>
      </p:sp>
      <p:sp>
        <p:nvSpPr>
          <p:cNvPr id="16" name="TextBox 15"/>
          <p:cNvSpPr txBox="1"/>
          <p:nvPr/>
        </p:nvSpPr>
        <p:spPr>
          <a:xfrm>
            <a:off x="2898648" y="2907791"/>
            <a:ext cx="1874519" cy="365760"/>
          </a:xfrm>
          <a:prstGeom prst="rect">
            <a:avLst/>
          </a:prstGeom>
          <a:noFill/>
        </p:spPr>
        <p:txBody>
          <a:bodyPr wrap="square" lIns="18288" rIns="18288" tIns="32004" bIns="32004" anchor="ctr">
            <a:noAutofit/>
          </a:bodyPr>
          <a:lstStyle/>
          <a:p>
            <a:pPr algn="ctr">
              <a:lnSpc>
                <a:spcPct val="110000"/>
              </a:lnSpc>
              <a:spcBef>
                <a:spcPts val="0"/>
              </a:spcBef>
              <a:spcAft>
                <a:spcPts val="0"/>
              </a:spcAft>
              <a:buNone/>
            </a:pPr>
            <a:r>
              <a:rPr sz="1130" b="0" lang="ko-KR">
                <a:solidFill>
                  <a:srgbClr val="5D6773"/>
                </a:solidFill>
                <a:latin typeface="Pretendard"/>
                <a:ea typeface="Pretendard"/>
                <a:cs typeface="Pretendard"/>
              </a:rPr>
              <a:t>입력 표현·예측 확률</a:t>
            </a:r>
          </a:p>
          <a:p>
            <a:pPr algn="ctr">
              <a:lnSpc>
                <a:spcPct val="110000"/>
              </a:lnSpc>
              <a:spcBef>
                <a:spcPts val="0"/>
              </a:spcBef>
              <a:spcAft>
                <a:spcPts val="0"/>
              </a:spcAft>
              <a:buNone/>
            </a:pPr>
            <a:r>
              <a:rPr sz="1130" b="0" lang="ko-KR">
                <a:solidFill>
                  <a:srgbClr val="5D6773"/>
                </a:solidFill>
                <a:latin typeface="Pretendard"/>
                <a:ea typeface="Pretendard"/>
                <a:cs typeface="Pretendard"/>
              </a:rPr>
              <a:t>정답과의 차이·오류 크기</a:t>
            </a:r>
          </a:p>
        </p:txBody>
      </p:sp>
      <p:sp>
        <p:nvSpPr>
          <p:cNvPr id="17" name="Rounded Rectangle 16"/>
          <p:cNvSpPr/>
          <p:nvPr/>
        </p:nvSpPr>
        <p:spPr>
          <a:xfrm>
            <a:off x="5084064" y="2459736"/>
            <a:ext cx="2020824" cy="969264"/>
          </a:xfrm>
          <a:prstGeom prst="roundRect">
            <a:avLst>
              <a:gd name="adj" fmla="val 3500"/>
            </a:avLst>
          </a:prstGeom>
          <a:solidFill>
            <a:srgbClr val="F3F6FA"/>
          </a:solidFill>
          <a:ln w="1016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138927" y="2551176"/>
            <a:ext cx="1911095" cy="292608"/>
          </a:xfrm>
          <a:prstGeom prst="rect">
            <a:avLst/>
          </a:prstGeom>
          <a:noFill/>
        </p:spPr>
        <p:txBody>
          <a:bodyPr wrap="square" lIns="18288" rIns="18288" tIns="32004" bIns="32004" anchor="ctr">
            <a:noAutofit/>
          </a:bodyPr>
          <a:lstStyle/>
          <a:p>
            <a:pPr algn="ctr">
              <a:lnSpc>
                <a:spcPct val="110000"/>
              </a:lnSpc>
              <a:spcBef>
                <a:spcPts val="0"/>
              </a:spcBef>
              <a:spcAft>
                <a:spcPts val="0"/>
              </a:spcAft>
              <a:buNone/>
            </a:pPr>
            <a:r>
              <a:rPr sz="1500" b="1" lang="ko-KR">
                <a:solidFill>
                  <a:srgbClr val="00306C"/>
                </a:solidFill>
                <a:latin typeface="Pretendard"/>
                <a:ea typeface="Pretendard"/>
                <a:cs typeface="Pretendard"/>
              </a:rPr>
              <a:t>Residual 군집</a:t>
            </a:r>
          </a:p>
        </p:txBody>
      </p:sp>
      <p:sp>
        <p:nvSpPr>
          <p:cNvPr id="19" name="TextBox 18"/>
          <p:cNvSpPr txBox="1"/>
          <p:nvPr/>
        </p:nvSpPr>
        <p:spPr>
          <a:xfrm>
            <a:off x="5157216" y="2907791"/>
            <a:ext cx="1874519" cy="365760"/>
          </a:xfrm>
          <a:prstGeom prst="rect">
            <a:avLst/>
          </a:prstGeom>
          <a:noFill/>
        </p:spPr>
        <p:txBody>
          <a:bodyPr wrap="square" lIns="18288" rIns="18288" tIns="32004" bIns="32004" anchor="ctr">
            <a:noAutofit/>
          </a:bodyPr>
          <a:lstStyle/>
          <a:p>
            <a:pPr algn="ctr">
              <a:lnSpc>
                <a:spcPct val="110000"/>
              </a:lnSpc>
              <a:spcBef>
                <a:spcPts val="0"/>
              </a:spcBef>
              <a:spcAft>
                <a:spcPts val="0"/>
              </a:spcAft>
              <a:buNone/>
            </a:pPr>
            <a:r>
              <a:rPr sz="1130" b="0" lang="ko-KR">
                <a:solidFill>
                  <a:srgbClr val="5D6773"/>
                </a:solidFill>
                <a:latin typeface="Pretendard"/>
                <a:ea typeface="Pretendard"/>
                <a:cs typeface="Pretendard"/>
              </a:rPr>
              <a:t>실패 특성에 따라</a:t>
            </a:r>
          </a:p>
          <a:p>
            <a:pPr algn="ctr">
              <a:lnSpc>
                <a:spcPct val="110000"/>
              </a:lnSpc>
              <a:spcBef>
                <a:spcPts val="0"/>
              </a:spcBef>
              <a:spcAft>
                <a:spcPts val="0"/>
              </a:spcAft>
              <a:buNone/>
            </a:pPr>
            <a:r>
              <a:rPr sz="1130" b="0" lang="ko-KR">
                <a:solidFill>
                  <a:srgbClr val="5D6773"/>
                </a:solidFill>
                <a:latin typeface="Pretendard"/>
                <a:ea typeface="Pretendard"/>
                <a:cs typeface="Pretendard"/>
              </a:rPr>
              <a:t>K개 군집으로 분할</a:t>
            </a:r>
          </a:p>
        </p:txBody>
      </p:sp>
      <p:sp>
        <p:nvSpPr>
          <p:cNvPr id="20" name="Rounded Rectangle 19"/>
          <p:cNvSpPr/>
          <p:nvPr/>
        </p:nvSpPr>
        <p:spPr>
          <a:xfrm>
            <a:off x="7342631" y="2459736"/>
            <a:ext cx="2020824" cy="969264"/>
          </a:xfrm>
          <a:prstGeom prst="roundRect">
            <a:avLst>
              <a:gd name="adj" fmla="val 3500"/>
            </a:avLst>
          </a:prstGeom>
          <a:solidFill>
            <a:srgbClr val="F3F6FA"/>
          </a:solidFill>
          <a:ln w="1016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97496" y="2551176"/>
            <a:ext cx="1911095" cy="292608"/>
          </a:xfrm>
          <a:prstGeom prst="rect">
            <a:avLst/>
          </a:prstGeom>
          <a:noFill/>
        </p:spPr>
        <p:txBody>
          <a:bodyPr wrap="square" lIns="18288" rIns="18288" tIns="32004" bIns="32004" anchor="ctr">
            <a:noAutofit/>
          </a:bodyPr>
          <a:lstStyle/>
          <a:p>
            <a:pPr algn="ctr">
              <a:lnSpc>
                <a:spcPct val="110000"/>
              </a:lnSpc>
              <a:spcBef>
                <a:spcPts val="0"/>
              </a:spcBef>
              <a:spcAft>
                <a:spcPts val="0"/>
              </a:spcAft>
              <a:buNone/>
            </a:pPr>
            <a:r>
              <a:rPr sz="1500" b="1" lang="ko-KR">
                <a:solidFill>
                  <a:srgbClr val="00306C"/>
                </a:solidFill>
                <a:latin typeface="Pretendard"/>
                <a:ea typeface="Pretendard"/>
                <a:cs typeface="Pretendard"/>
              </a:rPr>
              <a:t>Expert 구성</a:t>
            </a:r>
          </a:p>
        </p:txBody>
      </p:sp>
      <p:sp>
        <p:nvSpPr>
          <p:cNvPr id="22" name="TextBox 21"/>
          <p:cNvSpPr txBox="1"/>
          <p:nvPr/>
        </p:nvSpPr>
        <p:spPr>
          <a:xfrm>
            <a:off x="7415783" y="2907791"/>
            <a:ext cx="1874519" cy="365760"/>
          </a:xfrm>
          <a:prstGeom prst="rect">
            <a:avLst/>
          </a:prstGeom>
          <a:noFill/>
        </p:spPr>
        <p:txBody>
          <a:bodyPr wrap="square" lIns="18288" rIns="18288" tIns="32004" bIns="32004" anchor="ctr">
            <a:noAutofit/>
          </a:bodyPr>
          <a:lstStyle/>
          <a:p>
            <a:pPr algn="ctr">
              <a:lnSpc>
                <a:spcPct val="110000"/>
              </a:lnSpc>
              <a:spcBef>
                <a:spcPts val="0"/>
              </a:spcBef>
              <a:spcAft>
                <a:spcPts val="0"/>
              </a:spcAft>
              <a:buNone/>
            </a:pPr>
            <a:r>
              <a:rPr sz="1130" b="0" lang="ko-KR">
                <a:solidFill>
                  <a:srgbClr val="5D6773"/>
                </a:solidFill>
                <a:latin typeface="Pretendard"/>
                <a:ea typeface="Pretendard"/>
                <a:cs typeface="Pretendard"/>
              </a:rPr>
              <a:t>공통 anchor</a:t>
            </a:r>
          </a:p>
          <a:p>
            <a:pPr algn="ctr">
              <a:lnSpc>
                <a:spcPct val="110000"/>
              </a:lnSpc>
              <a:spcBef>
                <a:spcPts val="0"/>
              </a:spcBef>
              <a:spcAft>
                <a:spcPts val="0"/>
              </a:spcAft>
              <a:buNone/>
            </a:pPr>
            <a:r>
              <a:rPr sz="1130" b="0" lang="ko-KR">
                <a:solidFill>
                  <a:srgbClr val="5D6773"/>
                </a:solidFill>
                <a:latin typeface="Pretendard"/>
                <a:ea typeface="Pretendard"/>
                <a:cs typeface="Pretendard"/>
              </a:rPr>
              <a:t>+ 군집별 특화 block</a:t>
            </a:r>
          </a:p>
        </p:txBody>
      </p:sp>
      <p:sp>
        <p:nvSpPr>
          <p:cNvPr id="23" name="Rounded Rectangle 22"/>
          <p:cNvSpPr/>
          <p:nvPr/>
        </p:nvSpPr>
        <p:spPr>
          <a:xfrm>
            <a:off x="9601200" y="2459736"/>
            <a:ext cx="2020824" cy="969264"/>
          </a:xfrm>
          <a:prstGeom prst="roundRect">
            <a:avLst>
              <a:gd name="adj" fmla="val 3500"/>
            </a:avLst>
          </a:prstGeom>
          <a:solidFill>
            <a:srgbClr val="F3F6FA"/>
          </a:solidFill>
          <a:ln w="1016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56064" y="2551176"/>
            <a:ext cx="1911095" cy="292608"/>
          </a:xfrm>
          <a:prstGeom prst="rect">
            <a:avLst/>
          </a:prstGeom>
          <a:noFill/>
        </p:spPr>
        <p:txBody>
          <a:bodyPr wrap="square" lIns="18288" rIns="18288" tIns="32004" bIns="32004" anchor="ctr">
            <a:noAutofit/>
          </a:bodyPr>
          <a:lstStyle/>
          <a:p>
            <a:pPr algn="ctr">
              <a:lnSpc>
                <a:spcPct val="110000"/>
              </a:lnSpc>
              <a:spcBef>
                <a:spcPts val="0"/>
              </a:spcBef>
              <a:spcAft>
                <a:spcPts val="0"/>
              </a:spcAft>
              <a:buNone/>
            </a:pPr>
            <a:r>
              <a:rPr sz="1500" b="1" lang="ko-KR">
                <a:solidFill>
                  <a:srgbClr val="00306C"/>
                </a:solidFill>
                <a:latin typeface="Pretendard"/>
                <a:ea typeface="Pretendard"/>
                <a:cs typeface="Pretendard"/>
              </a:rPr>
              <a:t>S/V 학습</a:t>
            </a:r>
          </a:p>
        </p:txBody>
      </p:sp>
      <p:sp>
        <p:nvSpPr>
          <p:cNvPr id="25" name="TextBox 24"/>
          <p:cNvSpPr txBox="1"/>
          <p:nvPr/>
        </p:nvSpPr>
        <p:spPr>
          <a:xfrm>
            <a:off x="9674352" y="2907791"/>
            <a:ext cx="1874519" cy="365760"/>
          </a:xfrm>
          <a:prstGeom prst="rect">
            <a:avLst/>
          </a:prstGeom>
          <a:noFill/>
        </p:spPr>
        <p:txBody>
          <a:bodyPr wrap="square" lIns="18288" rIns="18288" tIns="32004" bIns="32004" anchor="ctr">
            <a:noAutofit/>
          </a:bodyPr>
          <a:lstStyle/>
          <a:p>
            <a:pPr algn="ctr">
              <a:lnSpc>
                <a:spcPct val="110000"/>
              </a:lnSpc>
              <a:spcBef>
                <a:spcPts val="0"/>
              </a:spcBef>
              <a:spcAft>
                <a:spcPts val="0"/>
              </a:spcAft>
              <a:buNone/>
            </a:pPr>
            <a:r>
              <a:rPr sz="1130" b="0" lang="ko-KR">
                <a:solidFill>
                  <a:srgbClr val="5D6773"/>
                </a:solidFill>
                <a:latin typeface="Pretendard"/>
                <a:ea typeface="Pretendard"/>
                <a:cs typeface="Pretendard"/>
              </a:rPr>
              <a:t>Global·expert의</a:t>
            </a:r>
          </a:p>
          <a:p>
            <a:pPr algn="ctr">
              <a:lnSpc>
                <a:spcPct val="110000"/>
              </a:lnSpc>
              <a:spcBef>
                <a:spcPts val="0"/>
              </a:spcBef>
              <a:spcAft>
                <a:spcPts val="0"/>
              </a:spcAft>
              <a:buNone/>
            </a:pPr>
            <a:r>
              <a:rPr sz="1130" b="0" lang="ko-KR">
                <a:solidFill>
                  <a:srgbClr val="5D6773"/>
                </a:solidFill>
                <a:latin typeface="Pretendard"/>
                <a:ea typeface="Pretendard"/>
                <a:cs typeface="Pretendard"/>
              </a:rPr>
              <a:t>교정·훼손 사례 학습</a:t>
            </a:r>
          </a:p>
        </p:txBody>
      </p:sp>
      <p:cxnSp>
        <p:nvCxnSpPr>
          <p:cNvPr id="26" name="Connector 25"/>
          <p:cNvCxnSpPr/>
          <p:nvPr/>
        </p:nvCxnSpPr>
        <p:spPr>
          <a:xfrm>
            <a:off x="2587752" y="2944368"/>
            <a:ext cx="237744" cy="0"/>
          </a:xfrm>
          <a:prstGeom prst="line">
            <a:avLst/>
          </a:prstGeom>
          <a:ln w="20320">
            <a:solidFill>
              <a:srgbClr val="007BC6"/>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4846320" y="2944368"/>
            <a:ext cx="237744" cy="0"/>
          </a:xfrm>
          <a:prstGeom prst="line">
            <a:avLst/>
          </a:prstGeom>
          <a:ln w="20320">
            <a:solidFill>
              <a:srgbClr val="007BC6"/>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7104888" y="2944368"/>
            <a:ext cx="237743" cy="0"/>
          </a:xfrm>
          <a:prstGeom prst="line">
            <a:avLst/>
          </a:prstGeom>
          <a:ln w="20320">
            <a:solidFill>
              <a:srgbClr val="007BC6"/>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9363455" y="2944368"/>
            <a:ext cx="237745" cy="0"/>
          </a:xfrm>
          <a:prstGeom prst="line">
            <a:avLst/>
          </a:prstGeom>
          <a:ln w="20320">
            <a:solidFill>
              <a:srgbClr val="007BC6"/>
            </a:solidFill>
            <a:tailEnd type="triangle" w="sm" len="sm"/>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566928" y="3685032"/>
            <a:ext cx="11055096" cy="256032"/>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300" b="1" lang="ko-KR">
                <a:solidFill>
                  <a:srgbClr val="5D6773"/>
                </a:solidFill>
                <a:latin typeface="Pretendard"/>
                <a:ea typeface="Pretendard"/>
                <a:cs typeface="Pretendard"/>
              </a:rPr>
              <a:t>온라인 · 입력별 예측</a:t>
            </a:r>
          </a:p>
        </p:txBody>
      </p:sp>
      <p:sp>
        <p:nvSpPr>
          <p:cNvPr id="31" name="Rounded Rectangle 30"/>
          <p:cNvSpPr/>
          <p:nvPr/>
        </p:nvSpPr>
        <p:spPr>
          <a:xfrm>
            <a:off x="566928" y="4142232"/>
            <a:ext cx="2020824" cy="969264"/>
          </a:xfrm>
          <a:prstGeom prst="roundRect">
            <a:avLst>
              <a:gd name="adj" fmla="val 3500"/>
            </a:avLst>
          </a:prstGeom>
          <a:solidFill>
            <a:srgbClr val="F3F6FA"/>
          </a:solidFill>
          <a:ln w="1016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21792" y="4233672"/>
            <a:ext cx="1911095" cy="292608"/>
          </a:xfrm>
          <a:prstGeom prst="rect">
            <a:avLst/>
          </a:prstGeom>
          <a:noFill/>
        </p:spPr>
        <p:txBody>
          <a:bodyPr wrap="square" lIns="18288" rIns="18288" tIns="32004" bIns="32004" anchor="ctr">
            <a:noAutofit/>
          </a:bodyPr>
          <a:lstStyle/>
          <a:p>
            <a:pPr algn="ctr">
              <a:lnSpc>
                <a:spcPct val="110000"/>
              </a:lnSpc>
              <a:spcBef>
                <a:spcPts val="0"/>
              </a:spcBef>
              <a:spcAft>
                <a:spcPts val="0"/>
              </a:spcAft>
              <a:buNone/>
            </a:pPr>
            <a:r>
              <a:rPr sz="1500" b="1" lang="ko-KR">
                <a:solidFill>
                  <a:srgbClr val="00306C"/>
                </a:solidFill>
                <a:latin typeface="Pretendard"/>
                <a:ea typeface="Pretendard"/>
                <a:cs typeface="Pretendard"/>
              </a:rPr>
              <a:t>Global 예측</a:t>
            </a:r>
          </a:p>
        </p:txBody>
      </p:sp>
      <p:sp>
        <p:nvSpPr>
          <p:cNvPr id="33" name="TextBox 32"/>
          <p:cNvSpPr txBox="1"/>
          <p:nvPr/>
        </p:nvSpPr>
        <p:spPr>
          <a:xfrm>
            <a:off x="640080" y="4590288"/>
            <a:ext cx="1874519" cy="365760"/>
          </a:xfrm>
          <a:prstGeom prst="rect">
            <a:avLst/>
          </a:prstGeom>
          <a:noFill/>
        </p:spPr>
        <p:txBody>
          <a:bodyPr wrap="square" lIns="18288" rIns="18288" tIns="32004" bIns="32004" anchor="ctr">
            <a:noAutofit/>
          </a:bodyPr>
          <a:lstStyle/>
          <a:p>
            <a:pPr algn="ctr">
              <a:lnSpc>
                <a:spcPct val="110000"/>
              </a:lnSpc>
              <a:spcBef>
                <a:spcPts val="0"/>
              </a:spcBef>
              <a:spcAft>
                <a:spcPts val="0"/>
              </a:spcAft>
              <a:buNone/>
            </a:pPr>
            <a:r>
              <a:rPr sz="1130" b="0" lang="ko-KR">
                <a:solidFill>
                  <a:srgbClr val="5D6773"/>
                </a:solidFill>
                <a:latin typeface="Pretendard"/>
                <a:ea typeface="Pretendard"/>
                <a:cs typeface="Pretendard"/>
              </a:rPr>
              <a:t>기본 클래스 예측</a:t>
            </a:r>
          </a:p>
        </p:txBody>
      </p:sp>
      <p:sp>
        <p:nvSpPr>
          <p:cNvPr id="34" name="Rounded Rectangle 33"/>
          <p:cNvSpPr/>
          <p:nvPr/>
        </p:nvSpPr>
        <p:spPr>
          <a:xfrm>
            <a:off x="2825496" y="4142232"/>
            <a:ext cx="2020824" cy="969264"/>
          </a:xfrm>
          <a:prstGeom prst="roundRect">
            <a:avLst>
              <a:gd name="adj" fmla="val 3500"/>
            </a:avLst>
          </a:prstGeom>
          <a:solidFill>
            <a:srgbClr val="E7F0F8"/>
          </a:solidFill>
          <a:ln w="1016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880360" y="4233672"/>
            <a:ext cx="1911095" cy="292608"/>
          </a:xfrm>
          <a:prstGeom prst="rect">
            <a:avLst/>
          </a:prstGeom>
          <a:noFill/>
        </p:spPr>
        <p:txBody>
          <a:bodyPr wrap="square" lIns="18288" rIns="18288" tIns="32004" bIns="32004" anchor="ctr">
            <a:noAutofit/>
          </a:bodyPr>
          <a:lstStyle/>
          <a:p>
            <a:pPr algn="ctr">
              <a:lnSpc>
                <a:spcPct val="110000"/>
              </a:lnSpc>
              <a:spcBef>
                <a:spcPts val="0"/>
              </a:spcBef>
              <a:spcAft>
                <a:spcPts val="0"/>
              </a:spcAft>
              <a:buNone/>
            </a:pPr>
            <a:r>
              <a:rPr sz="1500" b="1" lang="ko-KR">
                <a:solidFill>
                  <a:srgbClr val="00306C"/>
                </a:solidFill>
                <a:latin typeface="Pretendard"/>
                <a:ea typeface="Pretendard"/>
                <a:cs typeface="Pretendard"/>
              </a:rPr>
              <a:t>Scorer</a:t>
            </a:r>
          </a:p>
        </p:txBody>
      </p:sp>
      <p:sp>
        <p:nvSpPr>
          <p:cNvPr id="36" name="TextBox 35"/>
          <p:cNvSpPr txBox="1"/>
          <p:nvPr/>
        </p:nvSpPr>
        <p:spPr>
          <a:xfrm>
            <a:off x="2898648" y="4590288"/>
            <a:ext cx="1874519" cy="365760"/>
          </a:xfrm>
          <a:prstGeom prst="rect">
            <a:avLst/>
          </a:prstGeom>
          <a:noFill/>
        </p:spPr>
        <p:txBody>
          <a:bodyPr wrap="square" lIns="18288" rIns="18288" tIns="32004" bIns="32004" anchor="ctr">
            <a:noAutofit/>
          </a:bodyPr>
          <a:lstStyle/>
          <a:p>
            <a:pPr algn="ctr">
              <a:lnSpc>
                <a:spcPct val="110000"/>
              </a:lnSpc>
              <a:spcBef>
                <a:spcPts val="0"/>
              </a:spcBef>
              <a:spcAft>
                <a:spcPts val="0"/>
              </a:spcAft>
              <a:buNone/>
            </a:pPr>
            <a:r>
              <a:rPr sz="1130" b="0" lang="ko-KR">
                <a:solidFill>
                  <a:srgbClr val="5D6773"/>
                </a:solidFill>
                <a:latin typeface="Pretendard"/>
                <a:ea typeface="Pretendard"/>
                <a:cs typeface="Pretendard"/>
              </a:rPr>
              <a:t>Expert 선택</a:t>
            </a:r>
          </a:p>
          <a:p>
            <a:pPr algn="ctr">
              <a:lnSpc>
                <a:spcPct val="110000"/>
              </a:lnSpc>
              <a:spcBef>
                <a:spcPts val="0"/>
              </a:spcBef>
              <a:spcAft>
                <a:spcPts val="0"/>
              </a:spcAft>
              <a:buNone/>
            </a:pPr>
            <a:r>
              <a:rPr sz="1130" b="0" lang="ko-KR">
                <a:solidFill>
                  <a:srgbClr val="5D6773"/>
                </a:solidFill>
                <a:latin typeface="Pretendard"/>
                <a:ea typeface="Pretendard"/>
                <a:cs typeface="Pretendard"/>
              </a:rPr>
              <a:t>호출 여부 판단</a:t>
            </a:r>
          </a:p>
        </p:txBody>
      </p:sp>
      <p:sp>
        <p:nvSpPr>
          <p:cNvPr id="37" name="Rounded Rectangle 36"/>
          <p:cNvSpPr/>
          <p:nvPr/>
        </p:nvSpPr>
        <p:spPr>
          <a:xfrm>
            <a:off x="5084064" y="4142232"/>
            <a:ext cx="2020824" cy="969264"/>
          </a:xfrm>
          <a:prstGeom prst="roundRect">
            <a:avLst>
              <a:gd name="adj" fmla="val 3500"/>
            </a:avLst>
          </a:prstGeom>
          <a:solidFill>
            <a:srgbClr val="F3F6FA"/>
          </a:solidFill>
          <a:ln w="1016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138927" y="4233672"/>
            <a:ext cx="1911095" cy="292608"/>
          </a:xfrm>
          <a:prstGeom prst="rect">
            <a:avLst/>
          </a:prstGeom>
          <a:noFill/>
        </p:spPr>
        <p:txBody>
          <a:bodyPr wrap="square" lIns="18288" rIns="18288" tIns="32004" bIns="32004" anchor="ctr">
            <a:noAutofit/>
          </a:bodyPr>
          <a:lstStyle/>
          <a:p>
            <a:pPr algn="ctr">
              <a:lnSpc>
                <a:spcPct val="110000"/>
              </a:lnSpc>
              <a:spcBef>
                <a:spcPts val="0"/>
              </a:spcBef>
              <a:spcAft>
                <a:spcPts val="0"/>
              </a:spcAft>
              <a:buNone/>
            </a:pPr>
            <a:r>
              <a:rPr sz="1500" b="1" lang="ko-KR">
                <a:solidFill>
                  <a:srgbClr val="00306C"/>
                </a:solidFill>
                <a:latin typeface="Pretendard"/>
                <a:ea typeface="Pretendard"/>
                <a:cs typeface="Pretendard"/>
              </a:rPr>
              <a:t>Expert 추론</a:t>
            </a:r>
          </a:p>
        </p:txBody>
      </p:sp>
      <p:sp>
        <p:nvSpPr>
          <p:cNvPr id="39" name="TextBox 38"/>
          <p:cNvSpPr txBox="1"/>
          <p:nvPr/>
        </p:nvSpPr>
        <p:spPr>
          <a:xfrm>
            <a:off x="5157216" y="4590288"/>
            <a:ext cx="1874519" cy="365760"/>
          </a:xfrm>
          <a:prstGeom prst="rect">
            <a:avLst/>
          </a:prstGeom>
          <a:noFill/>
        </p:spPr>
        <p:txBody>
          <a:bodyPr wrap="square" lIns="18288" rIns="18288" tIns="32004" bIns="32004" anchor="ctr">
            <a:noAutofit/>
          </a:bodyPr>
          <a:lstStyle/>
          <a:p>
            <a:pPr algn="ctr">
              <a:lnSpc>
                <a:spcPct val="110000"/>
              </a:lnSpc>
              <a:spcBef>
                <a:spcPts val="0"/>
              </a:spcBef>
              <a:spcAft>
                <a:spcPts val="0"/>
              </a:spcAft>
              <a:buNone/>
            </a:pPr>
            <a:r>
              <a:rPr sz="1130" b="0" lang="ko-KR">
                <a:solidFill>
                  <a:srgbClr val="5D6773"/>
                </a:solidFill>
                <a:latin typeface="Pretendard"/>
                <a:ea typeface="Pretendard"/>
                <a:cs typeface="Pretendard"/>
              </a:rPr>
              <a:t>선택한 context로 분류</a:t>
            </a:r>
          </a:p>
        </p:txBody>
      </p:sp>
      <p:sp>
        <p:nvSpPr>
          <p:cNvPr id="40" name="Rounded Rectangle 39"/>
          <p:cNvSpPr/>
          <p:nvPr/>
        </p:nvSpPr>
        <p:spPr>
          <a:xfrm>
            <a:off x="7342631" y="4142232"/>
            <a:ext cx="2020824" cy="969264"/>
          </a:xfrm>
          <a:prstGeom prst="roundRect">
            <a:avLst>
              <a:gd name="adj" fmla="val 3500"/>
            </a:avLst>
          </a:prstGeom>
          <a:solidFill>
            <a:srgbClr val="E7F0F8"/>
          </a:solidFill>
          <a:ln w="1016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397496" y="4233672"/>
            <a:ext cx="1911095" cy="292608"/>
          </a:xfrm>
          <a:prstGeom prst="rect">
            <a:avLst/>
          </a:prstGeom>
          <a:noFill/>
        </p:spPr>
        <p:txBody>
          <a:bodyPr wrap="square" lIns="18288" rIns="18288" tIns="32004" bIns="32004" anchor="ctr">
            <a:noAutofit/>
          </a:bodyPr>
          <a:lstStyle/>
          <a:p>
            <a:pPr algn="ctr">
              <a:lnSpc>
                <a:spcPct val="110000"/>
              </a:lnSpc>
              <a:spcBef>
                <a:spcPts val="0"/>
              </a:spcBef>
              <a:spcAft>
                <a:spcPts val="0"/>
              </a:spcAft>
              <a:buNone/>
            </a:pPr>
            <a:r>
              <a:rPr sz="1500" b="1" lang="ko-KR">
                <a:solidFill>
                  <a:srgbClr val="00306C"/>
                </a:solidFill>
                <a:latin typeface="Pretendard"/>
                <a:ea typeface="Pretendard"/>
                <a:cs typeface="Pretendard"/>
              </a:rPr>
              <a:t>Verifier</a:t>
            </a:r>
          </a:p>
        </p:txBody>
      </p:sp>
      <p:sp>
        <p:nvSpPr>
          <p:cNvPr id="42" name="TextBox 41"/>
          <p:cNvSpPr txBox="1"/>
          <p:nvPr/>
        </p:nvSpPr>
        <p:spPr>
          <a:xfrm>
            <a:off x="7415783" y="4590288"/>
            <a:ext cx="1874519" cy="365760"/>
          </a:xfrm>
          <a:prstGeom prst="rect">
            <a:avLst/>
          </a:prstGeom>
          <a:noFill/>
        </p:spPr>
        <p:txBody>
          <a:bodyPr wrap="square" lIns="18288" rIns="18288" tIns="32004" bIns="32004" anchor="ctr">
            <a:noAutofit/>
          </a:bodyPr>
          <a:lstStyle/>
          <a:p>
            <a:pPr algn="ctr">
              <a:lnSpc>
                <a:spcPct val="110000"/>
              </a:lnSpc>
              <a:spcBef>
                <a:spcPts val="0"/>
              </a:spcBef>
              <a:spcAft>
                <a:spcPts val="0"/>
              </a:spcAft>
              <a:buNone/>
            </a:pPr>
            <a:r>
              <a:rPr sz="1130" b="0" lang="ko-KR">
                <a:solidFill>
                  <a:srgbClr val="5D6773"/>
                </a:solidFill>
                <a:latin typeface="Pretendard"/>
                <a:ea typeface="Pretendard"/>
                <a:cs typeface="Pretendard"/>
              </a:rPr>
              <a:t>Expert 예측의</a:t>
            </a:r>
          </a:p>
          <a:p>
            <a:pPr algn="ctr">
              <a:lnSpc>
                <a:spcPct val="110000"/>
              </a:lnSpc>
              <a:spcBef>
                <a:spcPts val="0"/>
              </a:spcBef>
              <a:spcAft>
                <a:spcPts val="0"/>
              </a:spcAft>
              <a:buNone/>
            </a:pPr>
            <a:r>
              <a:rPr sz="1130" b="0" lang="ko-KR">
                <a:solidFill>
                  <a:srgbClr val="5D6773"/>
                </a:solidFill>
                <a:latin typeface="Pretendard"/>
                <a:ea typeface="Pretendard"/>
                <a:cs typeface="Pretendard"/>
              </a:rPr>
              <a:t>채택 여부 판단</a:t>
            </a:r>
          </a:p>
        </p:txBody>
      </p:sp>
      <p:sp>
        <p:nvSpPr>
          <p:cNvPr id="43" name="Rounded Rectangle 42"/>
          <p:cNvSpPr/>
          <p:nvPr/>
        </p:nvSpPr>
        <p:spPr>
          <a:xfrm>
            <a:off x="9601200" y="4142232"/>
            <a:ext cx="2020824" cy="969264"/>
          </a:xfrm>
          <a:prstGeom prst="roundRect">
            <a:avLst>
              <a:gd name="adj" fmla="val 3500"/>
            </a:avLst>
          </a:prstGeom>
          <a:solidFill>
            <a:srgbClr val="F3F6FA"/>
          </a:solidFill>
          <a:ln w="1016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656064" y="4233672"/>
            <a:ext cx="1911095" cy="292608"/>
          </a:xfrm>
          <a:prstGeom prst="rect">
            <a:avLst/>
          </a:prstGeom>
          <a:noFill/>
        </p:spPr>
        <p:txBody>
          <a:bodyPr wrap="square" lIns="18288" rIns="18288" tIns="32004" bIns="32004" anchor="ctr">
            <a:noAutofit/>
          </a:bodyPr>
          <a:lstStyle/>
          <a:p>
            <a:pPr algn="ctr">
              <a:lnSpc>
                <a:spcPct val="110000"/>
              </a:lnSpc>
              <a:spcBef>
                <a:spcPts val="0"/>
              </a:spcBef>
              <a:spcAft>
                <a:spcPts val="0"/>
              </a:spcAft>
              <a:buNone/>
            </a:pPr>
            <a:r>
              <a:rPr sz="1500" b="1" lang="ko-KR">
                <a:solidFill>
                  <a:srgbClr val="00306C"/>
                </a:solidFill>
                <a:latin typeface="Pretendard"/>
                <a:ea typeface="Pretendard"/>
                <a:cs typeface="Pretendard"/>
              </a:rPr>
              <a:t>최종 예측</a:t>
            </a:r>
          </a:p>
        </p:txBody>
      </p:sp>
      <p:sp>
        <p:nvSpPr>
          <p:cNvPr id="45" name="TextBox 44"/>
          <p:cNvSpPr txBox="1"/>
          <p:nvPr/>
        </p:nvSpPr>
        <p:spPr>
          <a:xfrm>
            <a:off x="9674352" y="4590288"/>
            <a:ext cx="1874519" cy="365760"/>
          </a:xfrm>
          <a:prstGeom prst="rect">
            <a:avLst/>
          </a:prstGeom>
          <a:noFill/>
        </p:spPr>
        <p:txBody>
          <a:bodyPr wrap="square" lIns="18288" rIns="18288" tIns="32004" bIns="32004" anchor="ctr">
            <a:noAutofit/>
          </a:bodyPr>
          <a:lstStyle/>
          <a:p>
            <a:pPr algn="ctr">
              <a:lnSpc>
                <a:spcPct val="110000"/>
              </a:lnSpc>
              <a:spcBef>
                <a:spcPts val="0"/>
              </a:spcBef>
              <a:spcAft>
                <a:spcPts val="0"/>
              </a:spcAft>
              <a:buNone/>
            </a:pPr>
            <a:r>
              <a:rPr sz="1130" b="0" lang="ko-KR">
                <a:solidFill>
                  <a:srgbClr val="5D6773"/>
                </a:solidFill>
                <a:latin typeface="Pretendard"/>
                <a:ea typeface="Pretendard"/>
                <a:cs typeface="Pretendard"/>
              </a:rPr>
              <a:t>채택 시 expert 예측</a:t>
            </a:r>
          </a:p>
        </p:txBody>
      </p:sp>
      <p:cxnSp>
        <p:nvCxnSpPr>
          <p:cNvPr id="46" name="Connector 45"/>
          <p:cNvCxnSpPr/>
          <p:nvPr/>
        </p:nvCxnSpPr>
        <p:spPr>
          <a:xfrm>
            <a:off x="2587752" y="4626864"/>
            <a:ext cx="237744" cy="0"/>
          </a:xfrm>
          <a:prstGeom prst="line">
            <a:avLst/>
          </a:prstGeom>
          <a:ln w="20320">
            <a:solidFill>
              <a:srgbClr val="007BC6"/>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4846320" y="4626864"/>
            <a:ext cx="237744" cy="0"/>
          </a:xfrm>
          <a:prstGeom prst="line">
            <a:avLst/>
          </a:prstGeom>
          <a:ln w="20320">
            <a:solidFill>
              <a:srgbClr val="007BC6"/>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7104888" y="4626864"/>
            <a:ext cx="237743" cy="0"/>
          </a:xfrm>
          <a:prstGeom prst="line">
            <a:avLst/>
          </a:prstGeom>
          <a:ln w="20320">
            <a:solidFill>
              <a:srgbClr val="007BC6"/>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9363455" y="4626864"/>
            <a:ext cx="237745" cy="0"/>
          </a:xfrm>
          <a:prstGeom prst="line">
            <a:avLst/>
          </a:prstGeom>
          <a:ln w="20320">
            <a:solidFill>
              <a:srgbClr val="007BC6"/>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3835908" y="5111496"/>
            <a:ext cx="0" cy="466344"/>
          </a:xfrm>
          <a:prstGeom prst="line">
            <a:avLst/>
          </a:prstGeom>
          <a:ln w="16510">
            <a:solidFill>
              <a:srgbClr val="8393A5"/>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8353044" y="5111496"/>
            <a:ext cx="0" cy="466344"/>
          </a:xfrm>
          <a:prstGeom prst="line">
            <a:avLst/>
          </a:prstGeom>
          <a:ln w="16510">
            <a:solidFill>
              <a:srgbClr val="8393A5"/>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3835908" y="5577840"/>
            <a:ext cx="6775704" cy="0"/>
          </a:xfrm>
          <a:prstGeom prst="line">
            <a:avLst/>
          </a:prstGeom>
          <a:ln w="16510">
            <a:solidFill>
              <a:srgbClr val="8393A5"/>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V="1">
            <a:off x="10611612" y="5111496"/>
            <a:ext cx="0" cy="466344"/>
          </a:xfrm>
          <a:prstGeom prst="line">
            <a:avLst/>
          </a:prstGeom>
          <a:ln w="16510">
            <a:solidFill>
              <a:srgbClr val="8393A5"/>
            </a:solidFill>
            <a:tailEnd type="triangle" w="sm" len="sm"/>
          </a:ln>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566928" y="5733288"/>
            <a:ext cx="11055096" cy="283464"/>
          </a:xfrm>
          <a:prstGeom prst="rect">
            <a:avLst/>
          </a:prstGeom>
          <a:noFill/>
        </p:spPr>
        <p:txBody>
          <a:bodyPr wrap="square" lIns="0" rIns="0" tIns="32004" bIns="32004" anchor="ctr">
            <a:noAutofit/>
          </a:bodyPr>
          <a:lstStyle/>
          <a:p>
            <a:pPr algn="ctr">
              <a:lnSpc>
                <a:spcPct val="110000"/>
              </a:lnSpc>
              <a:spcBef>
                <a:spcPts val="0"/>
              </a:spcBef>
              <a:spcAft>
                <a:spcPts val="0"/>
              </a:spcAft>
              <a:buNone/>
            </a:pPr>
            <a:r>
              <a:rPr sz="1300" b="0" lang="ko-KR">
                <a:solidFill>
                  <a:srgbClr val="5D6773"/>
                </a:solidFill>
                <a:latin typeface="Pretendard"/>
                <a:ea typeface="Pretendard"/>
                <a:cs typeface="Pretendard"/>
              </a:rPr>
              <a:t>호출 또는 채택 조건 미충족 → Global 예측 유지</a:t>
            </a:r>
          </a:p>
        </p:txBody>
      </p:sp>
      <p:sp>
        <p:nvSpPr>
          <p:cNvPr id="55" name="TextBox 54"/>
          <p:cNvSpPr txBox="1"/>
          <p:nvPr/>
        </p:nvSpPr>
        <p:spPr>
          <a:xfrm>
            <a:off x="566928" y="6432804"/>
            <a:ext cx="7498079" cy="274320"/>
          </a:xfrm>
          <a:prstGeom prst="rect">
            <a:avLst/>
          </a:prstGeom>
          <a:noFill/>
        </p:spPr>
        <p:txBody>
          <a:bodyPr wrap="square" lIns="0" rIns="0" tIns="32004" bIns="32004" anchor="ctr">
            <a:noAutofit/>
          </a:bodyPr>
          <a:lstStyle/>
          <a:p>
            <a:pPr algn="l">
              <a:lnSpc>
                <a:spcPct val="110000"/>
              </a:lnSpc>
              <a:spcBef>
                <a:spcPts val="0"/>
              </a:spcBef>
              <a:spcAft>
                <a:spcPts val="0"/>
              </a:spcAft>
              <a:buNone/>
              <a:buNone/>
            </a:pPr>
            <a:r>
              <a:rPr sz="1100" b="1" lang="ko-KR">
                <a:solidFill>
                  <a:srgbClr val="FFFFFF"/>
                </a:solidFill>
                <a:latin typeface="Pretendard"/>
                <a:ea typeface="Pretendard"/>
                <a:cs typeface="Pretendard"/>
              </a:rPr>
              <a:t>공통·전문 사례로 분류기 구성 · S/V로 예측 교정 선택</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11055096" cy="594360"/>
          </a:xfrm>
          <a:prstGeom prst="rect">
            <a:avLst/>
          </a:prstGeom>
          <a:noFill/>
        </p:spPr>
        <p:txBody>
          <a:bodyPr wrap="square" lIns="0" rIns="0" tIns="32004" bIns="32004" anchor="ctr">
            <a:noAutofit/>
          </a:bodyPr>
          <a:lstStyle/>
          <a:p>
            <a:pPr algn="l">
              <a:lnSpc>
                <a:spcPct val="110000"/>
              </a:lnSpc>
              <a:spcBef>
                <a:spcPts val="0"/>
              </a:spcBef>
              <a:spcAft>
                <a:spcPts val="0"/>
              </a:spcAft>
              <a:buNone/>
              <a:buNone/>
            </a:pPr>
            <a:r>
              <a:rPr sz="2800" b="1" lang="ko-KR">
                <a:solidFill>
                  <a:srgbClr val="00306C"/>
                </a:solidFill>
                <a:latin typeface="Pretendard"/>
                <a:ea typeface="Pretendard"/>
                <a:cs typeface="Pretendard"/>
              </a:rPr>
              <a:t>정제 데이터의 현재 성능 · SOTA 비교</a:t>
            </a:r>
          </a:p>
        </p:txBody>
      </p:sp>
      <p:sp>
        <p:nvSpPr>
          <p:cNvPr id="3" name="Rectangle 2"/>
          <p:cNvSpPr/>
          <p:nvPr/>
        </p:nvSpPr>
        <p:spPr>
          <a:xfrm>
            <a:off x="0" y="6355080"/>
            <a:ext cx="12191999" cy="502920"/>
          </a:xfrm>
          <a:prstGeom prst="rect">
            <a:avLst/>
          </a:prstGeom>
          <a:solidFill>
            <a:srgbClr val="0030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75320" y="6428232"/>
            <a:ext cx="2743200" cy="274320"/>
          </a:xfrm>
          <a:prstGeom prst="rect">
            <a:avLst/>
          </a:prstGeom>
          <a:noFill/>
        </p:spPr>
        <p:txBody>
          <a:bodyPr wrap="square" tIns="32004" bIns="32004" anchor="ctr">
            <a:noAutofit/>
          </a:bodyPr>
          <a:lstStyle/>
          <a:p>
            <a:pPr algn="r">
              <a:lnSpc>
                <a:spcPct val="110000"/>
              </a:lnSpc>
              <a:spcBef>
                <a:spcPts val="0"/>
              </a:spcBef>
              <a:spcAft>
                <a:spcPts val="0"/>
              </a:spcAft>
              <a:buNone/>
              <a:buNone/>
            </a:pPr>
            <a:r>
              <a:rPr sz="1000" b="0" lang="ko-KR">
                <a:solidFill>
                  <a:srgbClr val="D6E4F3"/>
                </a:solidFill>
                <a:latin typeface="Pretendard"/>
                <a:ea typeface="Pretendard"/>
                <a:cs typeface="Pretendard"/>
              </a:rPr>
              <a:t>04 현재 모델</a:t>
            </a:r>
          </a:p>
        </p:txBody>
      </p:sp>
      <p:sp>
        <p:nvSpPr>
          <p:cNvPr id="5" name="TextBox 4"/>
          <p:cNvSpPr txBox="1"/>
          <p:nvPr/>
        </p:nvSpPr>
        <p:spPr>
          <a:xfrm>
            <a:off x="11183112" y="6409944"/>
            <a:ext cx="438912" cy="310896"/>
          </a:xfrm>
          <a:prstGeom prst="rect">
            <a:avLst/>
          </a:prstGeom>
          <a:noFill/>
        </p:spPr>
        <p:txBody>
          <a:bodyPr wrap="square" tIns="32004" bIns="32004" anchor="ctr">
            <a:noAutofit/>
          </a:bodyPr>
          <a:lstStyle/>
          <a:p>
            <a:pPr algn="r">
              <a:lnSpc>
                <a:spcPct val="110000"/>
              </a:lnSpc>
              <a:spcBef>
                <a:spcPts val="0"/>
              </a:spcBef>
              <a:spcAft>
                <a:spcPts val="0"/>
              </a:spcAft>
              <a:buNone/>
              <a:buNone/>
              <a:buNone/>
            </a:pPr>
            <a:r>
              <a:rPr sz="1100" b="1" lang="ko-KR">
                <a:solidFill>
                  <a:srgbClr val="FFFFFF"/>
                </a:solidFill>
                <a:latin typeface="Pretendard"/>
                <a:ea typeface="Pretendard"/>
                <a:cs typeface="Pretendard"/>
              </a:rPr>
              <a:t>8</a:t>
            </a:r>
          </a:p>
        </p:txBody>
      </p:sp>
      <p:sp>
        <p:nvSpPr>
          <p:cNvPr id="6" name="TextBox 5"/>
          <p:cNvSpPr txBox="1"/>
          <p:nvPr/>
        </p:nvSpPr>
        <p:spPr>
          <a:xfrm>
            <a:off x="566928" y="932688"/>
            <a:ext cx="11055096" cy="320040"/>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300" b="0" lang="ko-KR">
                <a:solidFill>
                  <a:srgbClr val="5D6773"/>
                </a:solidFill>
                <a:latin typeface="Pretendard"/>
                <a:ea typeface="Pretendard"/>
                <a:cs typeface="Pretendard"/>
              </a:rPr>
              <a:t>전체 공격 클래스를 학습한 정적 조건 · 동일 정제 test · Seed 43 · Macro-F1 (%)</a:t>
            </a:r>
          </a:p>
        </p:txBody>
      </p:sp>
      <p:graphicFrame>
        <p:nvGraphicFramePr>
          <p:cNvPr id="7" name="Table 6"/>
          <p:cNvGraphicFramePr>
            <a:graphicFrameLocks noGrp="1"/>
          </p:cNvGraphicFramePr>
          <p:nvPr/>
        </p:nvGraphicFramePr>
        <p:xfrm>
          <a:off x="566928" y="1481328"/>
          <a:ext cx="11055096" cy="3511296"/>
        </p:xfrm>
        <a:graphic>
          <a:graphicData uri="http://schemas.openxmlformats.org/drawingml/2006/table">
            <a:tbl>
              <a:tblPr>
                <a:tableStyleId>{5C22544A-7EE6-4342-B048-85BDC9FD1C3A}</a:tableStyleId>
              </a:tblPr>
              <a:tblGrid>
                <a:gridCol w="3931920"/>
                <a:gridCol w="1417320"/>
                <a:gridCol w="1417320"/>
                <a:gridCol w="4288536"/>
              </a:tblGrid>
              <a:tr h="438912">
                <a:tc>
                  <a:txBody>
                    <a:bodyPr wrap="square" lIns="64008" rIns="64008" tIns="32004" bIns="32004" anchor="ctr">
                      <a:noAutofit/>
                    </a:bodyPr>
                    <a:lstStyle/>
                    <a:p>
                      <a:pPr algn="l">
                        <a:lnSpc>
                          <a:spcPct val="110000"/>
                        </a:lnSpc>
                        <a:spcBef>
                          <a:spcPts val="0"/>
                        </a:spcBef>
                        <a:spcAft>
                          <a:spcPts val="0"/>
                        </a:spcAft>
                        <a:buNone/>
                      </a:pPr>
                      <a:r>
                        <a:rPr sz="1400" b="1" lang="ko-KR">
                          <a:solidFill>
                            <a:srgbClr val="FFFFFF"/>
                          </a:solidFill>
                          <a:latin typeface="Pretendard"/>
                          <a:ea typeface="Pretendard"/>
                          <a:cs typeface="Pretendard"/>
                        </a:rPr>
                        <a:t>방법</a:t>
                      </a:r>
                    </a:p>
                  </a:txBody>
                  <a:tcPr marL="64008" marR="64008" marT="22860" marB="22860">
                    <a:solidFill>
                      <a:srgbClr val="00306C"/>
                    </a:solidFill>
                  </a:tcPr>
                </a:tc>
                <a:tc>
                  <a:txBody>
                    <a:bodyPr wrap="square" lIns="64008" rIns="64008" tIns="32004" bIns="32004" anchor="ctr">
                      <a:noAutofit/>
                    </a:bodyPr>
                    <a:lstStyle/>
                    <a:p>
                      <a:pPr algn="ctr">
                        <a:lnSpc>
                          <a:spcPct val="110000"/>
                        </a:lnSpc>
                        <a:spcBef>
                          <a:spcPts val="0"/>
                        </a:spcBef>
                        <a:spcAft>
                          <a:spcPts val="0"/>
                        </a:spcAft>
                        <a:buNone/>
                      </a:pPr>
                      <a:r>
                        <a:rPr sz="1400" b="1" lang="ko-KR">
                          <a:solidFill>
                            <a:srgbClr val="FFFFFF"/>
                          </a:solidFill>
                          <a:latin typeface="Pretendard"/>
                          <a:ea typeface="Pretendard"/>
                          <a:cs typeface="Pretendard"/>
                        </a:rPr>
                        <a:t>CIC2018</a:t>
                      </a:r>
                    </a:p>
                  </a:txBody>
                  <a:tcPr marL="64008" marR="64008" marT="22860" marB="22860">
                    <a:solidFill>
                      <a:srgbClr val="00306C"/>
                    </a:solidFill>
                  </a:tcPr>
                </a:tc>
                <a:tc>
                  <a:txBody>
                    <a:bodyPr wrap="square" lIns="64008" rIns="64008" tIns="32004" bIns="32004" anchor="ctr">
                      <a:noAutofit/>
                    </a:bodyPr>
                    <a:lstStyle/>
                    <a:p>
                      <a:pPr algn="ctr">
                        <a:lnSpc>
                          <a:spcPct val="110000"/>
                        </a:lnSpc>
                        <a:spcBef>
                          <a:spcPts val="0"/>
                        </a:spcBef>
                        <a:spcAft>
                          <a:spcPts val="0"/>
                        </a:spcAft>
                        <a:buNone/>
                      </a:pPr>
                      <a:r>
                        <a:rPr sz="1400" b="1" lang="ko-KR">
                          <a:solidFill>
                            <a:srgbClr val="FFFFFF"/>
                          </a:solidFill>
                          <a:latin typeface="Pretendard"/>
                          <a:ea typeface="Pretendard"/>
                          <a:cs typeface="Pretendard"/>
                        </a:rPr>
                        <a:t>ToN</a:t>
                      </a:r>
                    </a:p>
                  </a:txBody>
                  <a:tcPr marL="64008" marR="64008" marT="22860" marB="22860">
                    <a:solidFill>
                      <a:srgbClr val="00306C"/>
                    </a:solidFill>
                  </a:tcPr>
                </a:tc>
                <a:tc>
                  <a:txBody>
                    <a:bodyPr wrap="square" lIns="64008" rIns="64008" tIns="32004" bIns="32004" anchor="ctr">
                      <a:noAutofit/>
                    </a:bodyPr>
                    <a:lstStyle/>
                    <a:p>
                      <a:pPr algn="ctr">
                        <a:lnSpc>
                          <a:spcPct val="110000"/>
                        </a:lnSpc>
                        <a:spcBef>
                          <a:spcPts val="0"/>
                        </a:spcBef>
                        <a:spcAft>
                          <a:spcPts val="0"/>
                        </a:spcAft>
                        <a:buNone/>
                      </a:pPr>
                      <a:r>
                        <a:rPr sz="1400" b="1" lang="ko-KR">
                          <a:solidFill>
                            <a:srgbClr val="FFFFFF"/>
                          </a:solidFill>
                          <a:latin typeface="Pretendard"/>
                          <a:ea typeface="Pretendard"/>
                          <a:cs typeface="Pretendard"/>
                        </a:rPr>
                        <a:t>학습 정보</a:t>
                      </a:r>
                    </a:p>
                  </a:txBody>
                  <a:tcPr marL="64008" marR="64008" marT="22860" marB="22860">
                    <a:solidFill>
                      <a:srgbClr val="00306C"/>
                    </a:solidFill>
                  </a:tcPr>
                </a:tc>
              </a:tr>
              <a:tr h="438912">
                <a:tc>
                  <a:txBody>
                    <a:bodyPr wrap="square" lIns="64008" rIns="64008" tIns="32004" bIns="32004" anchor="ctr">
                      <a:noAutofit/>
                    </a:bodyPr>
                    <a:lstStyle/>
                    <a:p>
                      <a:pPr algn="l">
                        <a:lnSpc>
                          <a:spcPct val="110000"/>
                        </a:lnSpc>
                        <a:spcBef>
                          <a:spcPts val="0"/>
                        </a:spcBef>
                        <a:spcAft>
                          <a:spcPts val="0"/>
                        </a:spcAft>
                        <a:buNone/>
                      </a:pPr>
                      <a:r>
                        <a:rPr sz="1400" b="1" lang="ko-KR">
                          <a:solidFill>
                            <a:srgbClr val="21262E"/>
                          </a:solidFill>
                          <a:latin typeface="Pretendard"/>
                          <a:ea typeface="Pretendard"/>
                          <a:cs typeface="Pretendard"/>
                        </a:rPr>
                        <a:t>Global TabPFN v3</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365" b="0" lang="ko-KR">
                          <a:solidFill>
                            <a:srgbClr val="21262E"/>
                          </a:solidFill>
                          <a:latin typeface="DejaVu Sans Mono"/>
                          <a:ea typeface="DejaVu Sans Mono"/>
                          <a:cs typeface="DejaVu Sans Mono"/>
                        </a:rPr>
                        <a:t>78.24</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365" b="0" lang="ko-KR">
                          <a:solidFill>
                            <a:srgbClr val="21262E"/>
                          </a:solidFill>
                          <a:latin typeface="DejaVu Sans Mono"/>
                          <a:ea typeface="DejaVu Sans Mono"/>
                          <a:cs typeface="DejaVu Sans Mono"/>
                        </a:rPr>
                        <a:t>67.96</a:t>
                      </a:r>
                    </a:p>
                  </a:txBody>
                  <a:tcPr marL="64008" marR="64008" marT="22860" marB="22860">
                    <a:solidFill>
                      <a:srgbClr val="FFFFFF"/>
                    </a:solidFill>
                  </a:tcPr>
                </a:tc>
                <a:tc>
                  <a:txBody>
                    <a:bodyPr wrap="square" lIns="64008" rIns="64008" tIns="32004" bIns="32004" anchor="ctr">
                      <a:noAutofit/>
                    </a:bodyPr>
                    <a:lstStyle/>
                    <a:p>
                      <a:pPr algn="ctr">
                        <a:lnSpc>
                          <a:spcPct val="110000"/>
                        </a:lnSpc>
                        <a:spcBef>
                          <a:spcPts val="0"/>
                        </a:spcBef>
                        <a:spcAft>
                          <a:spcPts val="0"/>
                        </a:spcAft>
                        <a:buNone/>
                      </a:pPr>
                      <a:r>
                        <a:rPr sz="1400" b="0" lang="ko-KR">
                          <a:solidFill>
                            <a:srgbClr val="21262E"/>
                          </a:solidFill>
                          <a:latin typeface="Pretendard"/>
                          <a:ea typeface="Pretendard"/>
                          <a:cs typeface="Pretendard"/>
                        </a:rPr>
                        <a:t>공통 100,000행</a:t>
                      </a:r>
                    </a:p>
                  </a:txBody>
                  <a:tcPr marL="64008" marR="64008" marT="22860" marB="22860">
                    <a:solidFill>
                      <a:srgbClr val="FFFFFF"/>
                    </a:solidFill>
                  </a:tcPr>
                </a:tc>
              </a:tr>
              <a:tr h="438912">
                <a:tc>
                  <a:txBody>
                    <a:bodyPr wrap="square" lIns="64008" rIns="64008" tIns="32004" bIns="32004" anchor="ctr">
                      <a:noAutofit/>
                    </a:bodyPr>
                    <a:lstStyle/>
                    <a:p>
                      <a:pPr algn="l">
                        <a:lnSpc>
                          <a:spcPct val="110000"/>
                        </a:lnSpc>
                        <a:spcBef>
                          <a:spcPts val="0"/>
                        </a:spcBef>
                        <a:spcAft>
                          <a:spcPts val="0"/>
                        </a:spcAft>
                        <a:buNone/>
                      </a:pPr>
                      <a:r>
                        <a:rPr sz="1400" b="1" lang="ko-KR">
                          <a:solidFill>
                            <a:srgbClr val="21262E"/>
                          </a:solidFill>
                          <a:latin typeface="Pretendard"/>
                          <a:ea typeface="Pretendard"/>
                          <a:cs typeface="Pretendard"/>
                        </a:rPr>
                        <a:t>XGBoost</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365" b="0" lang="ko-KR">
                          <a:solidFill>
                            <a:srgbClr val="21262E"/>
                          </a:solidFill>
                          <a:latin typeface="DejaVu Sans Mono"/>
                          <a:ea typeface="DejaVu Sans Mono"/>
                          <a:cs typeface="DejaVu Sans Mono"/>
                        </a:rPr>
                        <a:t>78.21</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365" b="0" lang="ko-KR">
                          <a:solidFill>
                            <a:srgbClr val="21262E"/>
                          </a:solidFill>
                          <a:latin typeface="DejaVu Sans Mono"/>
                          <a:ea typeface="DejaVu Sans Mono"/>
                          <a:cs typeface="DejaVu Sans Mono"/>
                        </a:rPr>
                        <a:t>69.83</a:t>
                      </a:r>
                    </a:p>
                  </a:txBody>
                  <a:tcPr marL="64008" marR="64008" marT="22860" marB="22860">
                    <a:solidFill>
                      <a:srgbClr val="F3F6FA"/>
                    </a:solidFill>
                  </a:tcPr>
                </a:tc>
                <a:tc>
                  <a:txBody>
                    <a:bodyPr wrap="square" lIns="64008" rIns="64008" tIns="32004" bIns="32004" anchor="ctr">
                      <a:noAutofit/>
                    </a:bodyPr>
                    <a:lstStyle/>
                    <a:p>
                      <a:pPr algn="ctr">
                        <a:lnSpc>
                          <a:spcPct val="110000"/>
                        </a:lnSpc>
                        <a:spcBef>
                          <a:spcPts val="0"/>
                        </a:spcBef>
                        <a:spcAft>
                          <a:spcPts val="0"/>
                        </a:spcAft>
                        <a:buNone/>
                      </a:pPr>
                      <a:r>
                        <a:rPr sz="1400" b="0" lang="ko-KR">
                          <a:solidFill>
                            <a:srgbClr val="21262E"/>
                          </a:solidFill>
                          <a:latin typeface="Pretendard"/>
                          <a:ea typeface="Pretendard"/>
                          <a:cs typeface="Pretendard"/>
                        </a:rPr>
                        <a:t>공통 100,000행</a:t>
                      </a:r>
                    </a:p>
                  </a:txBody>
                  <a:tcPr marL="64008" marR="64008" marT="22860" marB="22860">
                    <a:solidFill>
                      <a:srgbClr val="F3F6FA"/>
                    </a:solidFill>
                  </a:tcPr>
                </a:tc>
              </a:tr>
              <a:tr h="438912">
                <a:tc>
                  <a:txBody>
                    <a:bodyPr wrap="square" lIns="64008" rIns="64008" tIns="32004" bIns="32004" anchor="ctr">
                      <a:noAutofit/>
                    </a:bodyPr>
                    <a:lstStyle/>
                    <a:p>
                      <a:pPr algn="l">
                        <a:lnSpc>
                          <a:spcPct val="110000"/>
                        </a:lnSpc>
                        <a:spcBef>
                          <a:spcPts val="0"/>
                        </a:spcBef>
                        <a:spcAft>
                          <a:spcPts val="0"/>
                        </a:spcAft>
                        <a:buNone/>
                      </a:pPr>
                      <a:r>
                        <a:rPr sz="1400" b="1" lang="ko-KR">
                          <a:solidFill>
                            <a:srgbClr val="21262E"/>
                          </a:solidFill>
                          <a:latin typeface="Pretendard"/>
                          <a:ea typeface="Pretendard"/>
                          <a:cs typeface="Pretendard"/>
                        </a:rPr>
                        <a:t>BoostPFN</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365" b="0" lang="ko-KR">
                          <a:solidFill>
                            <a:srgbClr val="21262E"/>
                          </a:solidFill>
                          <a:latin typeface="DejaVu Sans Mono"/>
                          <a:ea typeface="DejaVu Sans Mono"/>
                          <a:cs typeface="DejaVu Sans Mono"/>
                        </a:rPr>
                        <a:t>71.48</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365" b="0" lang="ko-KR">
                          <a:solidFill>
                            <a:srgbClr val="21262E"/>
                          </a:solidFill>
                          <a:latin typeface="DejaVu Sans Mono"/>
                          <a:ea typeface="DejaVu Sans Mono"/>
                          <a:cs typeface="DejaVu Sans Mono"/>
                        </a:rPr>
                        <a:t>58.66</a:t>
                      </a:r>
                    </a:p>
                  </a:txBody>
                  <a:tcPr marL="64008" marR="64008" marT="22860" marB="22860">
                    <a:solidFill>
                      <a:srgbClr val="FFFFFF"/>
                    </a:solidFill>
                  </a:tcPr>
                </a:tc>
                <a:tc>
                  <a:txBody>
                    <a:bodyPr wrap="square" lIns="64008" rIns="64008" tIns="32004" bIns="32004" anchor="ctr">
                      <a:noAutofit/>
                    </a:bodyPr>
                    <a:lstStyle/>
                    <a:p>
                      <a:pPr algn="ctr">
                        <a:lnSpc>
                          <a:spcPct val="110000"/>
                        </a:lnSpc>
                        <a:spcBef>
                          <a:spcPts val="0"/>
                        </a:spcBef>
                        <a:spcAft>
                          <a:spcPts val="0"/>
                        </a:spcAft>
                        <a:buNone/>
                      </a:pPr>
                      <a:r>
                        <a:rPr sz="1400" b="0" lang="ko-KR">
                          <a:solidFill>
                            <a:srgbClr val="21262E"/>
                          </a:solidFill>
                          <a:latin typeface="Pretendard"/>
                          <a:ea typeface="Pretendard"/>
                          <a:cs typeface="Pretendard"/>
                        </a:rPr>
                        <a:t>공통 100,000행</a:t>
                      </a:r>
                    </a:p>
                  </a:txBody>
                  <a:tcPr marL="64008" marR="64008" marT="22860" marB="22860">
                    <a:solidFill>
                      <a:srgbClr val="FFFFFF"/>
                    </a:solidFill>
                  </a:tcPr>
                </a:tc>
              </a:tr>
              <a:tr h="438912">
                <a:tc>
                  <a:txBody>
                    <a:bodyPr wrap="square" lIns="64008" rIns="64008" tIns="32004" bIns="32004" anchor="ctr">
                      <a:noAutofit/>
                    </a:bodyPr>
                    <a:lstStyle/>
                    <a:p>
                      <a:pPr algn="l">
                        <a:lnSpc>
                          <a:spcPct val="110000"/>
                        </a:lnSpc>
                        <a:spcBef>
                          <a:spcPts val="0"/>
                        </a:spcBef>
                        <a:spcAft>
                          <a:spcPts val="0"/>
                        </a:spcAft>
                        <a:buNone/>
                      </a:pPr>
                      <a:r>
                        <a:rPr sz="1400" b="1" lang="ko-KR">
                          <a:solidFill>
                            <a:srgbClr val="21262E"/>
                          </a:solidFill>
                          <a:latin typeface="Pretendard"/>
                          <a:ea typeface="Pretendard"/>
                          <a:cs typeface="Pretendard"/>
                        </a:rPr>
                        <a:t>LoCalPFN · FT</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365" b="0" lang="ko-KR">
                          <a:solidFill>
                            <a:srgbClr val="21262E"/>
                          </a:solidFill>
                          <a:latin typeface="DejaVu Sans Mono"/>
                          <a:ea typeface="DejaVu Sans Mono"/>
                          <a:cs typeface="DejaVu Sans Mono"/>
                        </a:rPr>
                        <a:t>70.24</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365" b="0" lang="ko-KR">
                          <a:solidFill>
                            <a:srgbClr val="21262E"/>
                          </a:solidFill>
                          <a:latin typeface="DejaVu Sans Mono"/>
                          <a:ea typeface="DejaVu Sans Mono"/>
                          <a:cs typeface="DejaVu Sans Mono"/>
                        </a:rPr>
                        <a:t>64.62</a:t>
                      </a:r>
                    </a:p>
                  </a:txBody>
                  <a:tcPr marL="64008" marR="64008" marT="22860" marB="22860">
                    <a:solidFill>
                      <a:srgbClr val="F3F6FA"/>
                    </a:solidFill>
                  </a:tcPr>
                </a:tc>
                <a:tc>
                  <a:txBody>
                    <a:bodyPr wrap="square" lIns="64008" rIns="64008" tIns="32004" bIns="32004" anchor="ctr">
                      <a:noAutofit/>
                    </a:bodyPr>
                    <a:lstStyle/>
                    <a:p>
                      <a:pPr algn="ctr">
                        <a:lnSpc>
                          <a:spcPct val="110000"/>
                        </a:lnSpc>
                        <a:spcBef>
                          <a:spcPts val="0"/>
                        </a:spcBef>
                        <a:spcAft>
                          <a:spcPts val="0"/>
                        </a:spcAft>
                        <a:buNone/>
                      </a:pPr>
                      <a:r>
                        <a:rPr sz="1400" b="0" lang="ko-KR">
                          <a:solidFill>
                            <a:srgbClr val="21262E"/>
                          </a:solidFill>
                          <a:latin typeface="Pretendard"/>
                          <a:ea typeface="Pretendard"/>
                          <a:cs typeface="Pretendard"/>
                        </a:rPr>
                        <a:t>공통 100,000행</a:t>
                      </a:r>
                    </a:p>
                  </a:txBody>
                  <a:tcPr marL="64008" marR="64008" marT="22860" marB="22860">
                    <a:solidFill>
                      <a:srgbClr val="F3F6FA"/>
                    </a:solidFill>
                  </a:tcPr>
                </a:tc>
              </a:tr>
              <a:tr h="438912">
                <a:tc>
                  <a:txBody>
                    <a:bodyPr wrap="square" lIns="64008" rIns="64008" tIns="32004" bIns="32004" anchor="ctr">
                      <a:noAutofit/>
                    </a:bodyPr>
                    <a:lstStyle/>
                    <a:p>
                      <a:pPr algn="l">
                        <a:lnSpc>
                          <a:spcPct val="110000"/>
                        </a:lnSpc>
                        <a:spcBef>
                          <a:spcPts val="0"/>
                        </a:spcBef>
                        <a:spcAft>
                          <a:spcPts val="0"/>
                        </a:spcAft>
                        <a:buNone/>
                      </a:pPr>
                      <a:r>
                        <a:rPr sz="1400" b="1" lang="ko-KR">
                          <a:solidFill>
                            <a:srgbClr val="21262E"/>
                          </a:solidFill>
                          <a:latin typeface="Pretendard"/>
                          <a:ea typeface="Pretendard"/>
                          <a:cs typeface="Pretendard"/>
                        </a:rPr>
                        <a:t>DistPFN · v3</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365" b="0" lang="ko-KR">
                          <a:solidFill>
                            <a:srgbClr val="21262E"/>
                          </a:solidFill>
                          <a:latin typeface="DejaVu Sans Mono"/>
                          <a:ea typeface="DejaVu Sans Mono"/>
                          <a:cs typeface="DejaVu Sans Mono"/>
                        </a:rPr>
                        <a:t>78.39</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365" b="0" lang="ko-KR">
                          <a:solidFill>
                            <a:srgbClr val="21262E"/>
                          </a:solidFill>
                          <a:latin typeface="DejaVu Sans Mono"/>
                          <a:ea typeface="DejaVu Sans Mono"/>
                          <a:cs typeface="DejaVu Sans Mono"/>
                        </a:rPr>
                        <a:t>66.82</a:t>
                      </a:r>
                    </a:p>
                  </a:txBody>
                  <a:tcPr marL="64008" marR="64008" marT="22860" marB="22860">
                    <a:solidFill>
                      <a:srgbClr val="FFFFFF"/>
                    </a:solidFill>
                  </a:tcPr>
                </a:tc>
                <a:tc>
                  <a:txBody>
                    <a:bodyPr wrap="square" lIns="64008" rIns="64008" tIns="32004" bIns="32004" anchor="ctr">
                      <a:noAutofit/>
                    </a:bodyPr>
                    <a:lstStyle/>
                    <a:p>
                      <a:pPr algn="ctr">
                        <a:lnSpc>
                          <a:spcPct val="110000"/>
                        </a:lnSpc>
                        <a:spcBef>
                          <a:spcPts val="0"/>
                        </a:spcBef>
                        <a:spcAft>
                          <a:spcPts val="0"/>
                        </a:spcAft>
                        <a:buNone/>
                      </a:pPr>
                      <a:r>
                        <a:rPr sz="1400" b="0" lang="ko-KR">
                          <a:solidFill>
                            <a:srgbClr val="21262E"/>
                          </a:solidFill>
                          <a:latin typeface="Pretendard"/>
                          <a:ea typeface="Pretendard"/>
                          <a:cs typeface="Pretendard"/>
                        </a:rPr>
                        <a:t>공통 100,000행</a:t>
                      </a:r>
                    </a:p>
                  </a:txBody>
                  <a:tcPr marL="64008" marR="64008" marT="22860" marB="22860">
                    <a:solidFill>
                      <a:srgbClr val="FFFFFF"/>
                    </a:solidFill>
                  </a:tcPr>
                </a:tc>
              </a:tr>
              <a:tr h="438912">
                <a:tc>
                  <a:txBody>
                    <a:bodyPr wrap="square" lIns="64008" rIns="64008" tIns="32004" bIns="32004" anchor="ctr">
                      <a:noAutofit/>
                    </a:bodyPr>
                    <a:lstStyle/>
                    <a:p>
                      <a:pPr algn="l">
                        <a:lnSpc>
                          <a:spcPct val="110000"/>
                        </a:lnSpc>
                        <a:spcBef>
                          <a:spcPts val="0"/>
                        </a:spcBef>
                        <a:spcAft>
                          <a:spcPts val="0"/>
                        </a:spcAft>
                        <a:buNone/>
                      </a:pPr>
                      <a:r>
                        <a:rPr sz="1400" b="1" lang="ko-KR">
                          <a:solidFill>
                            <a:srgbClr val="21262E"/>
                          </a:solidFill>
                          <a:latin typeface="Pretendard"/>
                          <a:ea typeface="Pretendard"/>
                          <a:cs typeface="Pretendard"/>
                        </a:rPr>
                        <a:t>XGBoost · 전체 train</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365" b="0" lang="ko-KR">
                          <a:solidFill>
                            <a:srgbClr val="21262E"/>
                          </a:solidFill>
                          <a:latin typeface="DejaVu Sans Mono"/>
                          <a:ea typeface="DejaVu Sans Mono"/>
                          <a:cs typeface="DejaVu Sans Mono"/>
                        </a:rPr>
                        <a:t>77.95</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365" b="0" lang="ko-KR">
                          <a:solidFill>
                            <a:srgbClr val="21262E"/>
                          </a:solidFill>
                          <a:latin typeface="DejaVu Sans Mono"/>
                          <a:ea typeface="DejaVu Sans Mono"/>
                          <a:cs typeface="DejaVu Sans Mono"/>
                        </a:rPr>
                        <a:t>71.62</a:t>
                      </a:r>
                    </a:p>
                  </a:txBody>
                  <a:tcPr marL="64008" marR="64008" marT="22860" marB="22860">
                    <a:solidFill>
                      <a:srgbClr val="F3F6FA"/>
                    </a:solidFill>
                  </a:tcPr>
                </a:tc>
                <a:tc>
                  <a:txBody>
                    <a:bodyPr wrap="square" lIns="64008" rIns="64008" tIns="32004" bIns="32004" anchor="ctr">
                      <a:noAutofit/>
                    </a:bodyPr>
                    <a:lstStyle/>
                    <a:p>
                      <a:pPr algn="ctr">
                        <a:lnSpc>
                          <a:spcPct val="110000"/>
                        </a:lnSpc>
                        <a:spcBef>
                          <a:spcPts val="0"/>
                        </a:spcBef>
                        <a:spcAft>
                          <a:spcPts val="0"/>
                        </a:spcAft>
                        <a:buNone/>
                      </a:pPr>
                      <a:r>
                        <a:rPr sz="1400" b="0" lang="ko-KR">
                          <a:solidFill>
                            <a:srgbClr val="21262E"/>
                          </a:solidFill>
                          <a:latin typeface="Pretendard"/>
                          <a:ea typeface="Pretendard"/>
                          <a:cs typeface="Pretendard"/>
                        </a:rPr>
                        <a:t>전체 train</a:t>
                      </a:r>
                    </a:p>
                  </a:txBody>
                  <a:tcPr marL="64008" marR="64008" marT="22860" marB="22860">
                    <a:solidFill>
                      <a:srgbClr val="F3F6FA"/>
                    </a:solidFill>
                  </a:tcPr>
                </a:tc>
              </a:tr>
              <a:tr h="438912">
                <a:tc>
                  <a:txBody>
                    <a:bodyPr wrap="square" lIns="64008" rIns="64008" tIns="32004" bIns="32004" anchor="ctr">
                      <a:noAutofit/>
                    </a:bodyPr>
                    <a:lstStyle/>
                    <a:p>
                      <a:pPr algn="l">
                        <a:lnSpc>
                          <a:spcPct val="110000"/>
                        </a:lnSpc>
                        <a:spcBef>
                          <a:spcPts val="0"/>
                        </a:spcBef>
                        <a:spcAft>
                          <a:spcPts val="0"/>
                        </a:spcAft>
                        <a:buNone/>
                      </a:pPr>
                      <a:r>
                        <a:rPr sz="1400" b="1" lang="ko-KR">
                          <a:solidFill>
                            <a:srgbClr val="00306C"/>
                          </a:solidFill>
                          <a:latin typeface="Pretendard"/>
                          <a:ea typeface="Pretendard"/>
                          <a:cs typeface="Pretendard"/>
                        </a:rPr>
                        <a:t>제안 모델 · K = 4 · S/V</a:t>
                      </a:r>
                    </a:p>
                  </a:txBody>
                  <a:tcPr marL="64008" marR="64008" marT="22860" marB="22860">
                    <a:solidFill>
                      <a:srgbClr val="E7F0F8"/>
                    </a:solidFill>
                  </a:tcPr>
                </a:tc>
                <a:tc>
                  <a:txBody>
                    <a:bodyPr wrap="square" lIns="64008" rIns="64008" tIns="32004" bIns="32004" anchor="ctr">
                      <a:noAutofit/>
                    </a:bodyPr>
                    <a:lstStyle/>
                    <a:p>
                      <a:pPr algn="r">
                        <a:lnSpc>
                          <a:spcPct val="110000"/>
                        </a:lnSpc>
                        <a:spcBef>
                          <a:spcPts val="0"/>
                        </a:spcBef>
                        <a:spcAft>
                          <a:spcPts val="0"/>
                        </a:spcAft>
                        <a:buNone/>
                      </a:pPr>
                      <a:r>
                        <a:rPr sz="1365" b="1" lang="ko-KR">
                          <a:solidFill>
                            <a:srgbClr val="00306C"/>
                          </a:solidFill>
                          <a:latin typeface="DejaVu Sans Mono"/>
                          <a:ea typeface="DejaVu Sans Mono"/>
                          <a:cs typeface="DejaVu Sans Mono"/>
                        </a:rPr>
                        <a:t>78.24</a:t>
                      </a:r>
                    </a:p>
                  </a:txBody>
                  <a:tcPr marL="64008" marR="64008" marT="22860" marB="22860">
                    <a:solidFill>
                      <a:srgbClr val="E7F0F8"/>
                    </a:solidFill>
                  </a:tcPr>
                </a:tc>
                <a:tc>
                  <a:txBody>
                    <a:bodyPr wrap="square" lIns="64008" rIns="64008" tIns="32004" bIns="32004" anchor="ctr">
                      <a:noAutofit/>
                    </a:bodyPr>
                    <a:lstStyle/>
                    <a:p>
                      <a:pPr algn="r">
                        <a:lnSpc>
                          <a:spcPct val="110000"/>
                        </a:lnSpc>
                        <a:spcBef>
                          <a:spcPts val="0"/>
                        </a:spcBef>
                        <a:spcAft>
                          <a:spcPts val="0"/>
                        </a:spcAft>
                        <a:buNone/>
                      </a:pPr>
                      <a:r>
                        <a:rPr sz="1365" b="1" lang="ko-KR">
                          <a:solidFill>
                            <a:srgbClr val="00306C"/>
                          </a:solidFill>
                          <a:latin typeface="DejaVu Sans Mono"/>
                          <a:ea typeface="DejaVu Sans Mono"/>
                          <a:cs typeface="DejaVu Sans Mono"/>
                        </a:rPr>
                        <a:t>76.17</a:t>
                      </a:r>
                    </a:p>
                  </a:txBody>
                  <a:tcPr marL="64008" marR="64008" marT="22860" marB="22860">
                    <a:solidFill>
                      <a:srgbClr val="E7F0F8"/>
                    </a:solidFill>
                  </a:tcPr>
                </a:tc>
                <a:tc>
                  <a:txBody>
                    <a:bodyPr wrap="square" lIns="64008" rIns="64008" tIns="32004" bIns="32004" anchor="ctr">
                      <a:noAutofit/>
                    </a:bodyPr>
                    <a:lstStyle/>
                    <a:p>
                      <a:pPr algn="ctr">
                        <a:lnSpc>
                          <a:spcPct val="110000"/>
                        </a:lnSpc>
                        <a:spcBef>
                          <a:spcPts val="0"/>
                        </a:spcBef>
                        <a:spcAft>
                          <a:spcPts val="0"/>
                        </a:spcAft>
                        <a:buNone/>
                      </a:pPr>
                      <a:r>
                        <a:rPr sz="1400" b="1" lang="ko-KR">
                          <a:solidFill>
                            <a:srgbClr val="00306C"/>
                          </a:solidFill>
                          <a:latin typeface="Pretendard"/>
                          <a:ea typeface="Pretendard"/>
                          <a:cs typeface="Pretendard"/>
                        </a:rPr>
                        <a:t>Global + Expert·Route 풀</a:t>
                      </a:r>
                    </a:p>
                  </a:txBody>
                  <a:tcPr marL="64008" marR="64008" marT="22860" marB="22860">
                    <a:solidFill>
                      <a:srgbClr val="E7F0F8"/>
                    </a:solidFill>
                  </a:tcPr>
                </a:tc>
              </a:tr>
            </a:tbl>
          </a:graphicData>
        </a:graphic>
      </p:graphicFrame>
      <p:sp>
        <p:nvSpPr>
          <p:cNvPr id="8" name="TextBox 7"/>
          <p:cNvSpPr txBox="1"/>
          <p:nvPr/>
        </p:nvSpPr>
        <p:spPr>
          <a:xfrm>
            <a:off x="566928" y="5148072"/>
            <a:ext cx="11055096" cy="301752"/>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300" b="0" lang="ko-KR">
                <a:solidFill>
                  <a:srgbClr val="5D6773"/>
                </a:solidFill>
                <a:latin typeface="Pretendard"/>
                <a:ea typeface="Pretendard"/>
                <a:cs typeface="Pretendard"/>
              </a:rPr>
              <a:t>제안 모델: 기존 anchor + residual block 결과 · Expert·Route의 추가 학습 정보 사용</a:t>
            </a:r>
          </a:p>
        </p:txBody>
      </p:sp>
      <p:sp>
        <p:nvSpPr>
          <p:cNvPr id="9" name="TextBox 8"/>
          <p:cNvSpPr txBox="1"/>
          <p:nvPr/>
        </p:nvSpPr>
        <p:spPr>
          <a:xfrm>
            <a:off x="566928" y="5577840"/>
            <a:ext cx="11055096" cy="429768"/>
          </a:xfrm>
          <a:prstGeom prst="rect">
            <a:avLst/>
          </a:prstGeom>
          <a:noFill/>
        </p:spPr>
        <p:txBody>
          <a:bodyPr wrap="square" lIns="0" rIns="0" tIns="32004" bIns="32004" anchor="ctr">
            <a:noAutofit/>
          </a:bodyPr>
          <a:lstStyle/>
          <a:p>
            <a:pPr algn="l">
              <a:lnSpc>
                <a:spcPct val="110000"/>
              </a:lnSpc>
              <a:spcBef>
                <a:spcPts val="0"/>
              </a:spcBef>
              <a:spcAft>
                <a:spcPts val="0"/>
              </a:spcAft>
              <a:buNone/>
              <a:buNone/>
            </a:pPr>
            <a:r>
              <a:rPr sz="1700" b="1" lang="ko-KR">
                <a:solidFill>
                  <a:srgbClr val="00306C"/>
                </a:solidFill>
                <a:latin typeface="Pretendard"/>
                <a:ea typeface="Pretendard"/>
                <a:cs typeface="Pretendard"/>
              </a:rPr>
              <a:t>정적 평가에서의 현재 성능 · 순차 도입의 Global 비교와 별도로 해석</a:t>
            </a:r>
          </a:p>
        </p:txBody>
      </p:sp>
      <p:sp>
        <p:nvSpPr>
          <p:cNvPr id="10" name="TextBox 9"/>
          <p:cNvSpPr txBox="1"/>
          <p:nvPr/>
        </p:nvSpPr>
        <p:spPr>
          <a:xfrm>
            <a:off x="566928" y="6432804"/>
            <a:ext cx="7498079" cy="274320"/>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100" b="1" lang="ko-KR">
                <a:solidFill>
                  <a:srgbClr val="FFFFFF"/>
                </a:solidFill>
                <a:latin typeface="Pretendard"/>
                <a:ea typeface="Pretendard"/>
                <a:cs typeface="Pretendard"/>
              </a:rPr>
              <a:t>정적 분류 성능의 현재 수준 · 신규 공격 반영 방식은 별도 검증</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11055096" cy="594360"/>
          </a:xfrm>
          <a:prstGeom prst="rect">
            <a:avLst/>
          </a:prstGeom>
          <a:noFill/>
        </p:spPr>
        <p:txBody>
          <a:bodyPr wrap="square" lIns="0" rIns="0" tIns="32004" bIns="32004" anchor="ctr">
            <a:noAutofit/>
          </a:bodyPr>
          <a:lstStyle/>
          <a:p>
            <a:pPr algn="l">
              <a:lnSpc>
                <a:spcPct val="110000"/>
              </a:lnSpc>
              <a:spcBef>
                <a:spcPts val="0"/>
              </a:spcBef>
              <a:spcAft>
                <a:spcPts val="0"/>
              </a:spcAft>
              <a:buNone/>
              <a:buNone/>
            </a:pPr>
            <a:r>
              <a:rPr sz="2800" b="1" lang="ko-KR">
                <a:solidFill>
                  <a:srgbClr val="00306C"/>
                </a:solidFill>
                <a:latin typeface="Pretendard"/>
                <a:ea typeface="Pretendard"/>
                <a:cs typeface="Pretendard"/>
              </a:rPr>
              <a:t>새 공격 사례 추가에 따른 탐지기 갱신 실험</a:t>
            </a:r>
          </a:p>
        </p:txBody>
      </p:sp>
      <p:sp>
        <p:nvSpPr>
          <p:cNvPr id="3" name="Rectangle 2"/>
          <p:cNvSpPr/>
          <p:nvPr/>
        </p:nvSpPr>
        <p:spPr>
          <a:xfrm>
            <a:off x="0" y="6355080"/>
            <a:ext cx="12191999" cy="502920"/>
          </a:xfrm>
          <a:prstGeom prst="rect">
            <a:avLst/>
          </a:prstGeom>
          <a:solidFill>
            <a:srgbClr val="0030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75320" y="6428232"/>
            <a:ext cx="2743200" cy="274320"/>
          </a:xfrm>
          <a:prstGeom prst="rect">
            <a:avLst/>
          </a:prstGeom>
          <a:noFill/>
        </p:spPr>
        <p:txBody>
          <a:bodyPr wrap="square" tIns="32004" bIns="32004" anchor="ctr">
            <a:noAutofit/>
          </a:bodyPr>
          <a:lstStyle/>
          <a:p>
            <a:pPr algn="r">
              <a:lnSpc>
                <a:spcPct val="110000"/>
              </a:lnSpc>
              <a:spcBef>
                <a:spcPts val="0"/>
              </a:spcBef>
              <a:spcAft>
                <a:spcPts val="0"/>
              </a:spcAft>
              <a:buNone/>
              <a:buNone/>
            </a:pPr>
            <a:r>
              <a:rPr sz="1000" b="0" lang="ko-KR">
                <a:solidFill>
                  <a:srgbClr val="D6E4F3"/>
                </a:solidFill>
                <a:latin typeface="Pretendard"/>
                <a:ea typeface="Pretendard"/>
                <a:cs typeface="Pretendard"/>
              </a:rPr>
              <a:t>02 신규 공격 반영</a:t>
            </a:r>
          </a:p>
        </p:txBody>
      </p:sp>
      <p:sp>
        <p:nvSpPr>
          <p:cNvPr id="5" name="TextBox 4"/>
          <p:cNvSpPr txBox="1"/>
          <p:nvPr/>
        </p:nvSpPr>
        <p:spPr>
          <a:xfrm>
            <a:off x="11183112" y="6409944"/>
            <a:ext cx="438912" cy="310896"/>
          </a:xfrm>
          <a:prstGeom prst="rect">
            <a:avLst/>
          </a:prstGeom>
          <a:noFill/>
        </p:spPr>
        <p:txBody>
          <a:bodyPr wrap="square" tIns="32004" bIns="32004" anchor="ctr">
            <a:noAutofit/>
          </a:bodyPr>
          <a:lstStyle/>
          <a:p>
            <a:pPr algn="r">
              <a:lnSpc>
                <a:spcPct val="110000"/>
              </a:lnSpc>
              <a:spcBef>
                <a:spcPts val="0"/>
              </a:spcBef>
              <a:spcAft>
                <a:spcPts val="0"/>
              </a:spcAft>
              <a:buNone/>
              <a:buNone/>
              <a:buNone/>
            </a:pPr>
            <a:r>
              <a:rPr sz="1100" b="1" lang="ko-KR">
                <a:solidFill>
                  <a:srgbClr val="FFFFFF"/>
                </a:solidFill>
                <a:latin typeface="Pretendard"/>
                <a:ea typeface="Pretendard"/>
                <a:cs typeface="Pretendard"/>
              </a:rPr>
              <a:t>2</a:t>
            </a:r>
          </a:p>
        </p:txBody>
      </p:sp>
      <p:sp>
        <p:nvSpPr>
          <p:cNvPr id="6" name="TextBox 5"/>
          <p:cNvSpPr txBox="1"/>
          <p:nvPr/>
        </p:nvSpPr>
        <p:spPr>
          <a:xfrm>
            <a:off x="566928" y="932688"/>
            <a:ext cx="11055096" cy="320040"/>
          </a:xfrm>
          <a:prstGeom prst="rect">
            <a:avLst/>
          </a:prstGeom>
          <a:noFill/>
        </p:spPr>
        <p:txBody>
          <a:bodyPr wrap="square" lIns="0" rIns="0" tIns="32004" bIns="32004" anchor="ctr">
            <a:noAutofit/>
          </a:bodyPr>
          <a:lstStyle/>
          <a:p>
            <a:pPr algn="l">
              <a:lnSpc>
                <a:spcPct val="110000"/>
              </a:lnSpc>
              <a:spcBef>
                <a:spcPts val="0"/>
              </a:spcBef>
              <a:spcAft>
                <a:spcPts val="0"/>
              </a:spcAft>
              <a:buNone/>
              <a:buNone/>
            </a:pPr>
            <a:r>
              <a:rPr sz="1300" b="0" lang="ko-KR">
                <a:solidFill>
                  <a:srgbClr val="5D6773"/>
                </a:solidFill>
                <a:latin typeface="Pretendard"/>
                <a:ea typeface="Pretendard"/>
                <a:cs typeface="Pretendard"/>
              </a:rPr>
              <a:t>XGBoost 누적 재학습과 Global TabPFN context 확장 · 동일 사례 · Seed 43</a:t>
            </a:r>
          </a:p>
        </p:txBody>
      </p:sp>
      <p:sp>
        <p:nvSpPr>
          <p:cNvPr id="7" name="TextBox 6"/>
          <p:cNvSpPr txBox="1"/>
          <p:nvPr/>
        </p:nvSpPr>
        <p:spPr>
          <a:xfrm>
            <a:off x="566928" y="1399032"/>
            <a:ext cx="11055096" cy="320040"/>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800" b="1" lang="ko-KR">
                <a:solidFill>
                  <a:srgbClr val="00306C"/>
                </a:solidFill>
                <a:latin typeface="Pretendard"/>
                <a:ea typeface="Pretendard"/>
                <a:cs typeface="Pretendard"/>
              </a:rPr>
              <a:t>CIC2018 · 2018년</a:t>
            </a:r>
          </a:p>
        </p:txBody>
      </p:sp>
      <p:sp>
        <p:nvSpPr>
          <p:cNvPr id="8" name="Rounded Rectangle 7"/>
          <p:cNvSpPr/>
          <p:nvPr/>
        </p:nvSpPr>
        <p:spPr>
          <a:xfrm>
            <a:off x="566928" y="1847088"/>
            <a:ext cx="2079345" cy="987552"/>
          </a:xfrm>
          <a:prstGeom prst="roundRect">
            <a:avLst>
              <a:gd name="adj" fmla="val 3500"/>
            </a:avLst>
          </a:prstGeom>
          <a:solidFill>
            <a:srgbClr val="E7F0F8"/>
          </a:solidFill>
          <a:ln w="1016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1929384"/>
            <a:ext cx="1896465" cy="210312"/>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180" b="0" lang="ko-KR">
                <a:solidFill>
                  <a:srgbClr val="5D6773"/>
                </a:solidFill>
                <a:latin typeface="Pretendard"/>
                <a:ea typeface="Pretendard"/>
                <a:cs typeface="Pretendard"/>
              </a:rPr>
              <a:t>초기 · 2/14~16</a:t>
            </a:r>
          </a:p>
        </p:txBody>
      </p:sp>
      <p:sp>
        <p:nvSpPr>
          <p:cNvPr id="10" name="TextBox 9"/>
          <p:cNvSpPr txBox="1"/>
          <p:nvPr/>
        </p:nvSpPr>
        <p:spPr>
          <a:xfrm>
            <a:off x="658368" y="2231136"/>
            <a:ext cx="1896465" cy="512064"/>
          </a:xfrm>
          <a:prstGeom prst="rect">
            <a:avLst/>
          </a:prstGeom>
          <a:noFill/>
        </p:spPr>
        <p:txBody>
          <a:bodyPr wrap="square" lIns="0" rIns="0" tIns="32004" bIns="32004" anchor="ctr">
            <a:noAutofit/>
          </a:bodyPr>
          <a:lstStyle/>
          <a:p>
            <a:pPr algn="ctr">
              <a:lnSpc>
                <a:spcPct val="110000"/>
              </a:lnSpc>
              <a:spcBef>
                <a:spcPts val="0"/>
              </a:spcBef>
              <a:spcAft>
                <a:spcPts val="0"/>
              </a:spcAft>
              <a:buNone/>
            </a:pPr>
            <a:r>
              <a:rPr sz="1400" b="1" lang="ko-KR">
                <a:solidFill>
                  <a:srgbClr val="00306C"/>
                </a:solidFill>
                <a:latin typeface="Pretendard"/>
                <a:ea typeface="Pretendard"/>
                <a:cs typeface="Pretendard"/>
              </a:rPr>
              <a:t>Benign</a:t>
            </a:r>
          </a:p>
          <a:p>
            <a:pPr algn="ctr">
              <a:lnSpc>
                <a:spcPct val="110000"/>
              </a:lnSpc>
              <a:spcBef>
                <a:spcPts val="0"/>
              </a:spcBef>
              <a:spcAft>
                <a:spcPts val="0"/>
              </a:spcAft>
              <a:buNone/>
            </a:pPr>
            <a:r>
              <a:rPr sz="1400" b="1" lang="ko-KR">
                <a:solidFill>
                  <a:srgbClr val="00306C"/>
                </a:solidFill>
                <a:latin typeface="Pretendard"/>
                <a:ea typeface="Pretendard"/>
                <a:cs typeface="Pretendard"/>
              </a:rPr>
              <a:t>Brute force · DoS</a:t>
            </a:r>
          </a:p>
        </p:txBody>
      </p:sp>
      <p:cxnSp>
        <p:nvCxnSpPr>
          <p:cNvPr id="11" name="Connector 10"/>
          <p:cNvCxnSpPr/>
          <p:nvPr/>
        </p:nvCxnSpPr>
        <p:spPr>
          <a:xfrm>
            <a:off x="2664561" y="2340864"/>
            <a:ext cx="128016" cy="0"/>
          </a:xfrm>
          <a:prstGeom prst="line">
            <a:avLst/>
          </a:prstGeom>
          <a:ln w="21590">
            <a:solidFill>
              <a:srgbClr val="007BC6"/>
            </a:solidFill>
            <a:tailEnd type="triangle"/>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2810865" y="1847088"/>
            <a:ext cx="2079345" cy="987552"/>
          </a:xfrm>
          <a:prstGeom prst="roundRect">
            <a:avLst>
              <a:gd name="adj" fmla="val 3500"/>
            </a:avLst>
          </a:prstGeom>
          <a:solidFill>
            <a:srgbClr val="F3F6FA"/>
          </a:solidFill>
          <a:ln w="1016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902305" y="1929384"/>
            <a:ext cx="1896465" cy="210312"/>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180" b="0" lang="ko-KR">
                <a:solidFill>
                  <a:srgbClr val="5D6773"/>
                </a:solidFill>
                <a:latin typeface="Pretendard"/>
                <a:ea typeface="Pretendard"/>
                <a:cs typeface="Pretendard"/>
              </a:rPr>
              <a:t>2/20~21</a:t>
            </a:r>
          </a:p>
        </p:txBody>
      </p:sp>
      <p:sp>
        <p:nvSpPr>
          <p:cNvPr id="14" name="TextBox 13"/>
          <p:cNvSpPr txBox="1"/>
          <p:nvPr/>
        </p:nvSpPr>
        <p:spPr>
          <a:xfrm>
            <a:off x="2902305" y="2231136"/>
            <a:ext cx="1896465" cy="512064"/>
          </a:xfrm>
          <a:prstGeom prst="rect">
            <a:avLst/>
          </a:prstGeom>
          <a:noFill/>
        </p:spPr>
        <p:txBody>
          <a:bodyPr wrap="square" lIns="0" rIns="0" tIns="32004" bIns="32004" anchor="ctr">
            <a:noAutofit/>
          </a:bodyPr>
          <a:lstStyle/>
          <a:p>
            <a:pPr algn="ctr">
              <a:lnSpc>
                <a:spcPct val="110000"/>
              </a:lnSpc>
              <a:spcBef>
                <a:spcPts val="0"/>
              </a:spcBef>
              <a:spcAft>
                <a:spcPts val="0"/>
              </a:spcAft>
              <a:buNone/>
            </a:pPr>
            <a:r>
              <a:rPr sz="1400" b="1" lang="ko-KR">
                <a:solidFill>
                  <a:srgbClr val="00306C"/>
                </a:solidFill>
                <a:latin typeface="Pretendard"/>
                <a:ea typeface="Pretendard"/>
                <a:cs typeface="Pretendard"/>
              </a:rPr>
              <a:t>DDoS</a:t>
            </a:r>
          </a:p>
        </p:txBody>
      </p:sp>
      <p:cxnSp>
        <p:nvCxnSpPr>
          <p:cNvPr id="15" name="Connector 14"/>
          <p:cNvCxnSpPr/>
          <p:nvPr/>
        </p:nvCxnSpPr>
        <p:spPr>
          <a:xfrm>
            <a:off x="4908499" y="2340864"/>
            <a:ext cx="128016" cy="0"/>
          </a:xfrm>
          <a:prstGeom prst="line">
            <a:avLst/>
          </a:prstGeom>
          <a:ln w="21590">
            <a:solidFill>
              <a:srgbClr val="007BC6"/>
            </a:solidFill>
            <a:tailEnd type="triangle"/>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5054803" y="1847088"/>
            <a:ext cx="2079345" cy="987552"/>
          </a:xfrm>
          <a:prstGeom prst="roundRect">
            <a:avLst>
              <a:gd name="adj" fmla="val 3500"/>
            </a:avLst>
          </a:prstGeom>
          <a:solidFill>
            <a:srgbClr val="F3F6FA"/>
          </a:solidFill>
          <a:ln w="1016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146243" y="1929384"/>
            <a:ext cx="1896465" cy="210312"/>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180" b="0" lang="ko-KR">
                <a:solidFill>
                  <a:srgbClr val="5D6773"/>
                </a:solidFill>
                <a:latin typeface="Pretendard"/>
                <a:ea typeface="Pretendard"/>
                <a:cs typeface="Pretendard"/>
              </a:rPr>
              <a:t>2/22</a:t>
            </a:r>
          </a:p>
        </p:txBody>
      </p:sp>
      <p:sp>
        <p:nvSpPr>
          <p:cNvPr id="18" name="TextBox 17"/>
          <p:cNvSpPr txBox="1"/>
          <p:nvPr/>
        </p:nvSpPr>
        <p:spPr>
          <a:xfrm>
            <a:off x="5146243" y="2231136"/>
            <a:ext cx="1896465" cy="512064"/>
          </a:xfrm>
          <a:prstGeom prst="rect">
            <a:avLst/>
          </a:prstGeom>
          <a:noFill/>
        </p:spPr>
        <p:txBody>
          <a:bodyPr wrap="square" lIns="0" rIns="0" tIns="32004" bIns="32004" anchor="ctr">
            <a:noAutofit/>
          </a:bodyPr>
          <a:lstStyle/>
          <a:p>
            <a:pPr algn="ctr">
              <a:lnSpc>
                <a:spcPct val="110000"/>
              </a:lnSpc>
              <a:spcBef>
                <a:spcPts val="0"/>
              </a:spcBef>
              <a:spcAft>
                <a:spcPts val="0"/>
              </a:spcAft>
              <a:buNone/>
            </a:pPr>
            <a:r>
              <a:rPr sz="1400" b="1" lang="ko-KR">
                <a:solidFill>
                  <a:srgbClr val="00306C"/>
                </a:solidFill>
                <a:latin typeface="Pretendard"/>
                <a:ea typeface="Pretendard"/>
                <a:cs typeface="Pretendard"/>
              </a:rPr>
              <a:t>Web attack</a:t>
            </a:r>
          </a:p>
        </p:txBody>
      </p:sp>
      <p:cxnSp>
        <p:nvCxnSpPr>
          <p:cNvPr id="19" name="Connector 18"/>
          <p:cNvCxnSpPr/>
          <p:nvPr/>
        </p:nvCxnSpPr>
        <p:spPr>
          <a:xfrm>
            <a:off x="7152436" y="2340864"/>
            <a:ext cx="128016" cy="0"/>
          </a:xfrm>
          <a:prstGeom prst="line">
            <a:avLst/>
          </a:prstGeom>
          <a:ln w="21590">
            <a:solidFill>
              <a:srgbClr val="007BC6"/>
            </a:solidFill>
            <a:tailEnd type="triangle"/>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7298740" y="1847088"/>
            <a:ext cx="2079345" cy="987552"/>
          </a:xfrm>
          <a:prstGeom prst="roundRect">
            <a:avLst>
              <a:gd name="adj" fmla="val 3500"/>
            </a:avLst>
          </a:prstGeom>
          <a:solidFill>
            <a:srgbClr val="F3F6FA"/>
          </a:solidFill>
          <a:ln w="1016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90180" y="1929384"/>
            <a:ext cx="1896465" cy="210312"/>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180" b="0" lang="ko-KR">
                <a:solidFill>
                  <a:srgbClr val="5D6773"/>
                </a:solidFill>
                <a:latin typeface="Pretendard"/>
                <a:ea typeface="Pretendard"/>
                <a:cs typeface="Pretendard"/>
              </a:rPr>
              <a:t>2/28</a:t>
            </a:r>
          </a:p>
        </p:txBody>
      </p:sp>
      <p:sp>
        <p:nvSpPr>
          <p:cNvPr id="22" name="TextBox 21"/>
          <p:cNvSpPr txBox="1"/>
          <p:nvPr/>
        </p:nvSpPr>
        <p:spPr>
          <a:xfrm>
            <a:off x="7390180" y="2231136"/>
            <a:ext cx="1896465" cy="512064"/>
          </a:xfrm>
          <a:prstGeom prst="rect">
            <a:avLst/>
          </a:prstGeom>
          <a:noFill/>
        </p:spPr>
        <p:txBody>
          <a:bodyPr wrap="square" lIns="0" rIns="0" tIns="32004" bIns="32004" anchor="ctr">
            <a:noAutofit/>
          </a:bodyPr>
          <a:lstStyle/>
          <a:p>
            <a:pPr algn="ctr">
              <a:lnSpc>
                <a:spcPct val="110000"/>
              </a:lnSpc>
              <a:spcBef>
                <a:spcPts val="0"/>
              </a:spcBef>
              <a:spcAft>
                <a:spcPts val="0"/>
              </a:spcAft>
              <a:buNone/>
            </a:pPr>
            <a:r>
              <a:rPr sz="1400" b="1" lang="ko-KR">
                <a:solidFill>
                  <a:srgbClr val="00306C"/>
                </a:solidFill>
                <a:latin typeface="Pretendard"/>
                <a:ea typeface="Pretendard"/>
                <a:cs typeface="Pretendard"/>
              </a:rPr>
              <a:t>Infiltration</a:t>
            </a:r>
          </a:p>
        </p:txBody>
      </p:sp>
      <p:cxnSp>
        <p:nvCxnSpPr>
          <p:cNvPr id="23" name="Connector 22"/>
          <p:cNvCxnSpPr/>
          <p:nvPr/>
        </p:nvCxnSpPr>
        <p:spPr>
          <a:xfrm>
            <a:off x="9396374" y="2340864"/>
            <a:ext cx="128016" cy="0"/>
          </a:xfrm>
          <a:prstGeom prst="line">
            <a:avLst/>
          </a:prstGeom>
          <a:ln w="21590">
            <a:solidFill>
              <a:srgbClr val="007BC6"/>
            </a:solidFill>
            <a:tailEnd type="triangle"/>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9542678" y="1847088"/>
            <a:ext cx="2079345" cy="987552"/>
          </a:xfrm>
          <a:prstGeom prst="roundRect">
            <a:avLst>
              <a:gd name="adj" fmla="val 3500"/>
            </a:avLst>
          </a:prstGeom>
          <a:solidFill>
            <a:srgbClr val="F3F6FA"/>
          </a:solidFill>
          <a:ln w="1016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634118" y="1929384"/>
            <a:ext cx="1896465" cy="210312"/>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180" b="0" lang="ko-KR">
                <a:solidFill>
                  <a:srgbClr val="5D6773"/>
                </a:solidFill>
                <a:latin typeface="Pretendard"/>
                <a:ea typeface="Pretendard"/>
                <a:cs typeface="Pretendard"/>
              </a:rPr>
              <a:t>3/2</a:t>
            </a:r>
          </a:p>
        </p:txBody>
      </p:sp>
      <p:sp>
        <p:nvSpPr>
          <p:cNvPr id="26" name="TextBox 25"/>
          <p:cNvSpPr txBox="1"/>
          <p:nvPr/>
        </p:nvSpPr>
        <p:spPr>
          <a:xfrm>
            <a:off x="9634118" y="2231136"/>
            <a:ext cx="1896465" cy="512064"/>
          </a:xfrm>
          <a:prstGeom prst="rect">
            <a:avLst/>
          </a:prstGeom>
          <a:noFill/>
        </p:spPr>
        <p:txBody>
          <a:bodyPr wrap="square" lIns="0" rIns="0" tIns="32004" bIns="32004" anchor="ctr">
            <a:noAutofit/>
          </a:bodyPr>
          <a:lstStyle/>
          <a:p>
            <a:pPr algn="ctr">
              <a:lnSpc>
                <a:spcPct val="110000"/>
              </a:lnSpc>
              <a:spcBef>
                <a:spcPts val="0"/>
              </a:spcBef>
              <a:spcAft>
                <a:spcPts val="0"/>
              </a:spcAft>
              <a:buNone/>
            </a:pPr>
            <a:r>
              <a:rPr sz="1400" b="1" lang="ko-KR">
                <a:solidFill>
                  <a:srgbClr val="00306C"/>
                </a:solidFill>
                <a:latin typeface="Pretendard"/>
                <a:ea typeface="Pretendard"/>
                <a:cs typeface="Pretendard"/>
              </a:rPr>
              <a:t>Bot</a:t>
            </a:r>
          </a:p>
        </p:txBody>
      </p:sp>
      <p:sp>
        <p:nvSpPr>
          <p:cNvPr id="27" name="TextBox 26"/>
          <p:cNvSpPr txBox="1"/>
          <p:nvPr/>
        </p:nvSpPr>
        <p:spPr>
          <a:xfrm>
            <a:off x="566928" y="3090672"/>
            <a:ext cx="11055096" cy="320040"/>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800" b="1" lang="ko-KR">
                <a:solidFill>
                  <a:srgbClr val="00306C"/>
                </a:solidFill>
                <a:latin typeface="Pretendard"/>
                <a:ea typeface="Pretendard"/>
                <a:cs typeface="Pretendard"/>
              </a:rPr>
              <a:t>ToN · 2019년</a:t>
            </a:r>
          </a:p>
        </p:txBody>
      </p:sp>
      <p:sp>
        <p:nvSpPr>
          <p:cNvPr id="28" name="Rounded Rectangle 27"/>
          <p:cNvSpPr/>
          <p:nvPr/>
        </p:nvSpPr>
        <p:spPr>
          <a:xfrm>
            <a:off x="566928" y="3538728"/>
            <a:ext cx="1705356" cy="987552"/>
          </a:xfrm>
          <a:prstGeom prst="roundRect">
            <a:avLst>
              <a:gd name="adj" fmla="val 3500"/>
            </a:avLst>
          </a:prstGeom>
          <a:solidFill>
            <a:srgbClr val="E7F0F8"/>
          </a:solidFill>
          <a:ln w="1016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8368" y="3621024"/>
            <a:ext cx="1522476" cy="210312"/>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180" b="0" lang="ko-KR">
                <a:solidFill>
                  <a:srgbClr val="5D6773"/>
                </a:solidFill>
                <a:latin typeface="Pretendard"/>
                <a:ea typeface="Pretendard"/>
                <a:cs typeface="Pretendard"/>
              </a:rPr>
              <a:t>초기 · 4/23~24</a:t>
            </a:r>
          </a:p>
        </p:txBody>
      </p:sp>
      <p:sp>
        <p:nvSpPr>
          <p:cNvPr id="30" name="TextBox 29"/>
          <p:cNvSpPr txBox="1"/>
          <p:nvPr/>
        </p:nvSpPr>
        <p:spPr>
          <a:xfrm>
            <a:off x="658368" y="3922776"/>
            <a:ext cx="1522476" cy="512064"/>
          </a:xfrm>
          <a:prstGeom prst="rect">
            <a:avLst/>
          </a:prstGeom>
          <a:noFill/>
        </p:spPr>
        <p:txBody>
          <a:bodyPr wrap="square" lIns="0" rIns="0" tIns="32004" bIns="32004" anchor="ctr">
            <a:noAutofit/>
          </a:bodyPr>
          <a:lstStyle/>
          <a:p>
            <a:pPr algn="ctr">
              <a:lnSpc>
                <a:spcPct val="110000"/>
              </a:lnSpc>
              <a:spcBef>
                <a:spcPts val="0"/>
              </a:spcBef>
              <a:spcAft>
                <a:spcPts val="0"/>
              </a:spcAft>
              <a:buNone/>
            </a:pPr>
            <a:r>
              <a:rPr sz="1400" b="1" lang="ko-KR">
                <a:solidFill>
                  <a:srgbClr val="00306C"/>
                </a:solidFill>
                <a:latin typeface="Pretendard"/>
                <a:ea typeface="Pretendard"/>
                <a:cs typeface="Pretendard"/>
              </a:rPr>
              <a:t>Benign</a:t>
            </a:r>
          </a:p>
          <a:p>
            <a:pPr algn="ctr">
              <a:lnSpc>
                <a:spcPct val="110000"/>
              </a:lnSpc>
              <a:spcBef>
                <a:spcPts val="0"/>
              </a:spcBef>
              <a:spcAft>
                <a:spcPts val="0"/>
              </a:spcAft>
              <a:buNone/>
            </a:pPr>
            <a:r>
              <a:rPr sz="1400" b="1" lang="ko-KR">
                <a:solidFill>
                  <a:srgbClr val="00306C"/>
                </a:solidFill>
                <a:latin typeface="Pretendard"/>
                <a:ea typeface="Pretendard"/>
                <a:cs typeface="Pretendard"/>
              </a:rPr>
              <a:t>Scanning · DoS</a:t>
            </a:r>
          </a:p>
        </p:txBody>
      </p:sp>
      <p:cxnSp>
        <p:nvCxnSpPr>
          <p:cNvPr id="31" name="Connector 30"/>
          <p:cNvCxnSpPr/>
          <p:nvPr/>
        </p:nvCxnSpPr>
        <p:spPr>
          <a:xfrm>
            <a:off x="2290572" y="4032504"/>
            <a:ext cx="128016" cy="0"/>
          </a:xfrm>
          <a:prstGeom prst="line">
            <a:avLst/>
          </a:prstGeom>
          <a:ln w="21590">
            <a:solidFill>
              <a:srgbClr val="007BC6"/>
            </a:solidFill>
            <a:tailEnd type="triangle"/>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2436876" y="3538728"/>
            <a:ext cx="1705356" cy="987552"/>
          </a:xfrm>
          <a:prstGeom prst="roundRect">
            <a:avLst>
              <a:gd name="adj" fmla="val 3500"/>
            </a:avLst>
          </a:prstGeom>
          <a:solidFill>
            <a:srgbClr val="F3F6FA"/>
          </a:solidFill>
          <a:ln w="1016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528316" y="3621024"/>
            <a:ext cx="1522476" cy="210312"/>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180" b="0" lang="ko-KR">
                <a:solidFill>
                  <a:srgbClr val="5D6773"/>
                </a:solidFill>
                <a:latin typeface="Pretendard"/>
                <a:ea typeface="Pretendard"/>
                <a:cs typeface="Pretendard"/>
              </a:rPr>
              <a:t>4/25</a:t>
            </a:r>
          </a:p>
        </p:txBody>
      </p:sp>
      <p:sp>
        <p:nvSpPr>
          <p:cNvPr id="34" name="TextBox 33"/>
          <p:cNvSpPr txBox="1"/>
          <p:nvPr/>
        </p:nvSpPr>
        <p:spPr>
          <a:xfrm>
            <a:off x="2528316" y="3922776"/>
            <a:ext cx="1522476" cy="512064"/>
          </a:xfrm>
          <a:prstGeom prst="rect">
            <a:avLst/>
          </a:prstGeom>
          <a:noFill/>
        </p:spPr>
        <p:txBody>
          <a:bodyPr wrap="square" lIns="0" rIns="0" tIns="32004" bIns="32004" anchor="ctr">
            <a:noAutofit/>
          </a:bodyPr>
          <a:lstStyle/>
          <a:p>
            <a:pPr algn="ctr">
              <a:lnSpc>
                <a:spcPct val="110000"/>
              </a:lnSpc>
              <a:spcBef>
                <a:spcPts val="0"/>
              </a:spcBef>
              <a:spcAft>
                <a:spcPts val="0"/>
              </a:spcAft>
              <a:buNone/>
            </a:pPr>
            <a:r>
              <a:rPr sz="1400" b="1" lang="ko-KR">
                <a:solidFill>
                  <a:srgbClr val="00306C"/>
                </a:solidFill>
                <a:latin typeface="Pretendard"/>
                <a:ea typeface="Pretendard"/>
                <a:cs typeface="Pretendard"/>
              </a:rPr>
              <a:t>Injection</a:t>
            </a:r>
          </a:p>
          <a:p>
            <a:pPr algn="ctr">
              <a:lnSpc>
                <a:spcPct val="110000"/>
              </a:lnSpc>
              <a:spcBef>
                <a:spcPts val="0"/>
              </a:spcBef>
              <a:spcAft>
                <a:spcPts val="0"/>
              </a:spcAft>
              <a:buNone/>
            </a:pPr>
            <a:r>
              <a:rPr sz="1400" b="1" lang="ko-KR">
                <a:solidFill>
                  <a:srgbClr val="00306C"/>
                </a:solidFill>
                <a:latin typeface="Pretendard"/>
                <a:ea typeface="Pretendard"/>
                <a:cs typeface="Pretendard"/>
              </a:rPr>
              <a:t>DDoS</a:t>
            </a:r>
          </a:p>
        </p:txBody>
      </p:sp>
      <p:cxnSp>
        <p:nvCxnSpPr>
          <p:cNvPr id="35" name="Connector 34"/>
          <p:cNvCxnSpPr/>
          <p:nvPr/>
        </p:nvCxnSpPr>
        <p:spPr>
          <a:xfrm>
            <a:off x="4160520" y="4032504"/>
            <a:ext cx="128016" cy="0"/>
          </a:xfrm>
          <a:prstGeom prst="line">
            <a:avLst/>
          </a:prstGeom>
          <a:ln w="21590">
            <a:solidFill>
              <a:srgbClr val="007BC6"/>
            </a:solidFill>
            <a:tailEnd type="triangle"/>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4306824" y="3538728"/>
            <a:ext cx="1705356" cy="987552"/>
          </a:xfrm>
          <a:prstGeom prst="roundRect">
            <a:avLst>
              <a:gd name="adj" fmla="val 3500"/>
            </a:avLst>
          </a:prstGeom>
          <a:solidFill>
            <a:srgbClr val="F3F6FA"/>
          </a:solidFill>
          <a:ln w="1016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398264" y="3621024"/>
            <a:ext cx="1522476" cy="210312"/>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180" b="0" lang="ko-KR">
                <a:solidFill>
                  <a:srgbClr val="5D6773"/>
                </a:solidFill>
                <a:latin typeface="Pretendard"/>
                <a:ea typeface="Pretendard"/>
                <a:cs typeface="Pretendard"/>
              </a:rPr>
              <a:t>4/26</a:t>
            </a:r>
          </a:p>
        </p:txBody>
      </p:sp>
      <p:sp>
        <p:nvSpPr>
          <p:cNvPr id="38" name="TextBox 37"/>
          <p:cNvSpPr txBox="1"/>
          <p:nvPr/>
        </p:nvSpPr>
        <p:spPr>
          <a:xfrm>
            <a:off x="4398264" y="3922776"/>
            <a:ext cx="1522476" cy="512064"/>
          </a:xfrm>
          <a:prstGeom prst="rect">
            <a:avLst/>
          </a:prstGeom>
          <a:noFill/>
        </p:spPr>
        <p:txBody>
          <a:bodyPr wrap="square" lIns="0" rIns="0" tIns="32004" bIns="32004" anchor="ctr">
            <a:noAutofit/>
          </a:bodyPr>
          <a:lstStyle/>
          <a:p>
            <a:pPr algn="ctr">
              <a:lnSpc>
                <a:spcPct val="110000"/>
              </a:lnSpc>
              <a:spcBef>
                <a:spcPts val="0"/>
              </a:spcBef>
              <a:spcAft>
                <a:spcPts val="0"/>
              </a:spcAft>
              <a:buNone/>
            </a:pPr>
            <a:r>
              <a:rPr sz="1400" b="1" lang="ko-KR">
                <a:solidFill>
                  <a:srgbClr val="00306C"/>
                </a:solidFill>
                <a:latin typeface="Pretendard"/>
                <a:ea typeface="Pretendard"/>
                <a:cs typeface="Pretendard"/>
              </a:rPr>
              <a:t>Password</a:t>
            </a:r>
          </a:p>
        </p:txBody>
      </p:sp>
      <p:cxnSp>
        <p:nvCxnSpPr>
          <p:cNvPr id="39" name="Connector 38"/>
          <p:cNvCxnSpPr/>
          <p:nvPr/>
        </p:nvCxnSpPr>
        <p:spPr>
          <a:xfrm>
            <a:off x="6030468" y="4032504"/>
            <a:ext cx="128016" cy="0"/>
          </a:xfrm>
          <a:prstGeom prst="line">
            <a:avLst/>
          </a:prstGeom>
          <a:ln w="21590">
            <a:solidFill>
              <a:srgbClr val="007BC6"/>
            </a:solidFill>
            <a:tailEnd type="triangle"/>
          </a:ln>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6176772" y="3538728"/>
            <a:ext cx="1705356" cy="987552"/>
          </a:xfrm>
          <a:prstGeom prst="roundRect">
            <a:avLst>
              <a:gd name="adj" fmla="val 3500"/>
            </a:avLst>
          </a:prstGeom>
          <a:solidFill>
            <a:srgbClr val="F3F6FA"/>
          </a:solidFill>
          <a:ln w="1016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268212" y="3621024"/>
            <a:ext cx="1522476" cy="210312"/>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180" b="0" lang="ko-KR">
                <a:solidFill>
                  <a:srgbClr val="5D6773"/>
                </a:solidFill>
                <a:latin typeface="Pretendard"/>
                <a:ea typeface="Pretendard"/>
                <a:cs typeface="Pretendard"/>
              </a:rPr>
              <a:t>4/27</a:t>
            </a:r>
          </a:p>
        </p:txBody>
      </p:sp>
      <p:sp>
        <p:nvSpPr>
          <p:cNvPr id="42" name="TextBox 41"/>
          <p:cNvSpPr txBox="1"/>
          <p:nvPr/>
        </p:nvSpPr>
        <p:spPr>
          <a:xfrm>
            <a:off x="6268212" y="3922776"/>
            <a:ext cx="1522476" cy="512064"/>
          </a:xfrm>
          <a:prstGeom prst="rect">
            <a:avLst/>
          </a:prstGeom>
          <a:noFill/>
        </p:spPr>
        <p:txBody>
          <a:bodyPr wrap="square" lIns="0" rIns="0" tIns="32004" bIns="32004" anchor="ctr">
            <a:noAutofit/>
          </a:bodyPr>
          <a:lstStyle/>
          <a:p>
            <a:pPr algn="ctr">
              <a:lnSpc>
                <a:spcPct val="110000"/>
              </a:lnSpc>
              <a:spcBef>
                <a:spcPts val="0"/>
              </a:spcBef>
              <a:spcAft>
                <a:spcPts val="0"/>
              </a:spcAft>
              <a:buNone/>
            </a:pPr>
            <a:r>
              <a:rPr sz="1400" b="1" lang="ko-KR">
                <a:solidFill>
                  <a:srgbClr val="00306C"/>
                </a:solidFill>
                <a:latin typeface="Pretendard"/>
                <a:ea typeface="Pretendard"/>
                <a:cs typeface="Pretendard"/>
              </a:rPr>
              <a:t>XSS</a:t>
            </a:r>
          </a:p>
        </p:txBody>
      </p:sp>
      <p:cxnSp>
        <p:nvCxnSpPr>
          <p:cNvPr id="43" name="Connector 42"/>
          <p:cNvCxnSpPr/>
          <p:nvPr/>
        </p:nvCxnSpPr>
        <p:spPr>
          <a:xfrm>
            <a:off x="7900415" y="4032504"/>
            <a:ext cx="128016" cy="0"/>
          </a:xfrm>
          <a:prstGeom prst="line">
            <a:avLst/>
          </a:prstGeom>
          <a:ln w="21590">
            <a:solidFill>
              <a:srgbClr val="007BC6"/>
            </a:solidFill>
            <a:tailEnd type="triangle"/>
          </a:ln>
        </p:spPr>
        <p:style>
          <a:lnRef idx="2">
            <a:schemeClr val="accent1"/>
          </a:lnRef>
          <a:fillRef idx="0">
            <a:schemeClr val="accent1"/>
          </a:fillRef>
          <a:effectRef idx="1">
            <a:schemeClr val="accent1"/>
          </a:effectRef>
          <a:fontRef idx="minor">
            <a:schemeClr val="tx1"/>
          </a:fontRef>
        </p:style>
      </p:cxnSp>
      <p:sp>
        <p:nvSpPr>
          <p:cNvPr id="44" name="Rounded Rectangle 43"/>
          <p:cNvSpPr/>
          <p:nvPr/>
        </p:nvSpPr>
        <p:spPr>
          <a:xfrm>
            <a:off x="8046719" y="3538728"/>
            <a:ext cx="1705356" cy="987552"/>
          </a:xfrm>
          <a:prstGeom prst="roundRect">
            <a:avLst>
              <a:gd name="adj" fmla="val 3500"/>
            </a:avLst>
          </a:prstGeom>
          <a:solidFill>
            <a:srgbClr val="F3F6FA"/>
          </a:solidFill>
          <a:ln w="1016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138159" y="3621024"/>
            <a:ext cx="1522476" cy="210312"/>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180" b="0" lang="ko-KR">
                <a:solidFill>
                  <a:srgbClr val="5D6773"/>
                </a:solidFill>
                <a:latin typeface="Pretendard"/>
                <a:ea typeface="Pretendard"/>
                <a:cs typeface="Pretendard"/>
              </a:rPr>
              <a:t>4/28</a:t>
            </a:r>
          </a:p>
        </p:txBody>
      </p:sp>
      <p:sp>
        <p:nvSpPr>
          <p:cNvPr id="46" name="TextBox 45"/>
          <p:cNvSpPr txBox="1"/>
          <p:nvPr/>
        </p:nvSpPr>
        <p:spPr>
          <a:xfrm>
            <a:off x="8138159" y="3922776"/>
            <a:ext cx="1522476" cy="512064"/>
          </a:xfrm>
          <a:prstGeom prst="rect">
            <a:avLst/>
          </a:prstGeom>
          <a:noFill/>
        </p:spPr>
        <p:txBody>
          <a:bodyPr wrap="square" lIns="0" rIns="0" tIns="32004" bIns="32004" anchor="ctr">
            <a:noAutofit/>
          </a:bodyPr>
          <a:lstStyle/>
          <a:p>
            <a:pPr algn="ctr">
              <a:lnSpc>
                <a:spcPct val="110000"/>
              </a:lnSpc>
              <a:spcBef>
                <a:spcPts val="0"/>
              </a:spcBef>
              <a:spcAft>
                <a:spcPts val="0"/>
              </a:spcAft>
              <a:buNone/>
            </a:pPr>
            <a:r>
              <a:rPr sz="1400" b="1" lang="ko-KR">
                <a:solidFill>
                  <a:srgbClr val="00306C"/>
                </a:solidFill>
                <a:latin typeface="Pretendard"/>
                <a:ea typeface="Pretendard"/>
                <a:cs typeface="Pretendard"/>
              </a:rPr>
              <a:t>Ransomware</a:t>
            </a:r>
          </a:p>
          <a:p>
            <a:pPr algn="ctr">
              <a:lnSpc>
                <a:spcPct val="110000"/>
              </a:lnSpc>
              <a:spcBef>
                <a:spcPts val="0"/>
              </a:spcBef>
              <a:spcAft>
                <a:spcPts val="0"/>
              </a:spcAft>
              <a:buNone/>
            </a:pPr>
            <a:r>
              <a:rPr sz="1400" b="1" lang="ko-KR">
                <a:solidFill>
                  <a:srgbClr val="00306C"/>
                </a:solidFill>
                <a:latin typeface="Pretendard"/>
                <a:ea typeface="Pretendard"/>
                <a:cs typeface="Pretendard"/>
              </a:rPr>
              <a:t>Backdoor</a:t>
            </a:r>
          </a:p>
        </p:txBody>
      </p:sp>
      <p:cxnSp>
        <p:nvCxnSpPr>
          <p:cNvPr id="47" name="Connector 46"/>
          <p:cNvCxnSpPr/>
          <p:nvPr/>
        </p:nvCxnSpPr>
        <p:spPr>
          <a:xfrm>
            <a:off x="9770363" y="4032504"/>
            <a:ext cx="128017" cy="0"/>
          </a:xfrm>
          <a:prstGeom prst="line">
            <a:avLst/>
          </a:prstGeom>
          <a:ln w="21590">
            <a:solidFill>
              <a:srgbClr val="007BC6"/>
            </a:solidFill>
            <a:tailEnd type="triangle"/>
          </a:ln>
        </p:spPr>
        <p:style>
          <a:lnRef idx="2">
            <a:schemeClr val="accent1"/>
          </a:lnRef>
          <a:fillRef idx="0">
            <a:schemeClr val="accent1"/>
          </a:fillRef>
          <a:effectRef idx="1">
            <a:schemeClr val="accent1"/>
          </a:effectRef>
          <a:fontRef idx="minor">
            <a:schemeClr val="tx1"/>
          </a:fontRef>
        </p:style>
      </p:cxnSp>
      <p:sp>
        <p:nvSpPr>
          <p:cNvPr id="48" name="Rounded Rectangle 47"/>
          <p:cNvSpPr/>
          <p:nvPr/>
        </p:nvSpPr>
        <p:spPr>
          <a:xfrm>
            <a:off x="9916667" y="3538728"/>
            <a:ext cx="1705356" cy="987552"/>
          </a:xfrm>
          <a:prstGeom prst="roundRect">
            <a:avLst>
              <a:gd name="adj" fmla="val 3500"/>
            </a:avLst>
          </a:prstGeom>
          <a:solidFill>
            <a:srgbClr val="F3F6FA"/>
          </a:solidFill>
          <a:ln w="1016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0008107" y="3621024"/>
            <a:ext cx="1522476" cy="210312"/>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180" b="0" lang="ko-KR">
                <a:solidFill>
                  <a:srgbClr val="5D6773"/>
                </a:solidFill>
                <a:latin typeface="Pretendard"/>
                <a:ea typeface="Pretendard"/>
                <a:cs typeface="Pretendard"/>
              </a:rPr>
              <a:t>4/29</a:t>
            </a:r>
          </a:p>
        </p:txBody>
      </p:sp>
      <p:sp>
        <p:nvSpPr>
          <p:cNvPr id="50" name="TextBox 49"/>
          <p:cNvSpPr txBox="1"/>
          <p:nvPr/>
        </p:nvSpPr>
        <p:spPr>
          <a:xfrm>
            <a:off x="10008107" y="3922776"/>
            <a:ext cx="1522476" cy="512064"/>
          </a:xfrm>
          <a:prstGeom prst="rect">
            <a:avLst/>
          </a:prstGeom>
          <a:noFill/>
        </p:spPr>
        <p:txBody>
          <a:bodyPr wrap="square" lIns="0" rIns="0" tIns="32004" bIns="32004" anchor="ctr">
            <a:noAutofit/>
          </a:bodyPr>
          <a:lstStyle/>
          <a:p>
            <a:pPr algn="ctr">
              <a:lnSpc>
                <a:spcPct val="110000"/>
              </a:lnSpc>
              <a:spcBef>
                <a:spcPts val="0"/>
              </a:spcBef>
              <a:spcAft>
                <a:spcPts val="0"/>
              </a:spcAft>
              <a:buNone/>
            </a:pPr>
            <a:r>
              <a:rPr sz="1400" b="1" lang="ko-KR">
                <a:solidFill>
                  <a:srgbClr val="00306C"/>
                </a:solidFill>
                <a:latin typeface="Pretendard"/>
                <a:ea typeface="Pretendard"/>
                <a:cs typeface="Pretendard"/>
              </a:rPr>
              <a:t>MitM</a:t>
            </a:r>
          </a:p>
        </p:txBody>
      </p:sp>
      <p:sp>
        <p:nvSpPr>
          <p:cNvPr id="51" name="Rounded Rectangle 50"/>
          <p:cNvSpPr/>
          <p:nvPr/>
        </p:nvSpPr>
        <p:spPr>
          <a:xfrm>
            <a:off x="566928" y="4919472"/>
            <a:ext cx="11055096" cy="621792"/>
          </a:xfrm>
          <a:prstGeom prst="roundRect">
            <a:avLst>
              <a:gd name="adj" fmla="val 3500"/>
            </a:avLst>
          </a:prstGeom>
          <a:solidFill>
            <a:srgbClr val="E7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68096" y="5038344"/>
            <a:ext cx="10652760" cy="365760"/>
          </a:xfrm>
          <a:prstGeom prst="rect">
            <a:avLst/>
          </a:prstGeom>
          <a:noFill/>
        </p:spPr>
        <p:txBody>
          <a:bodyPr wrap="square" lIns="0" rIns="0" tIns="32004" bIns="32004" anchor="ctr">
            <a:noAutofit/>
          </a:bodyPr>
          <a:lstStyle/>
          <a:p>
            <a:pPr algn="l">
              <a:lnSpc>
                <a:spcPct val="110000"/>
              </a:lnSpc>
              <a:spcBef>
                <a:spcPts val="0"/>
              </a:spcBef>
              <a:spcAft>
                <a:spcPts val="0"/>
              </a:spcAft>
              <a:buNone/>
              <a:buNone/>
            </a:pPr>
            <a:r>
              <a:rPr sz="1500" b="1" lang="ko-KR">
                <a:solidFill>
                  <a:srgbClr val="00306C"/>
                </a:solidFill>
                <a:latin typeface="Pretendard"/>
                <a:ea typeface="Pretendard"/>
                <a:cs typeface="Pretendard"/>
              </a:rPr>
              <a:t>최종 각 100,000행 · 미래 클래스 학습 제외 · 정제 test 중 도입한 클래스 전체 평가</a:t>
            </a:r>
          </a:p>
        </p:txBody>
      </p:sp>
      <p:sp>
        <p:nvSpPr>
          <p:cNvPr id="53" name="TextBox 52"/>
          <p:cNvSpPr txBox="1"/>
          <p:nvPr/>
        </p:nvSpPr>
        <p:spPr>
          <a:xfrm>
            <a:off x="566928" y="5788152"/>
            <a:ext cx="11055096" cy="274320"/>
          </a:xfrm>
          <a:prstGeom prst="rect">
            <a:avLst/>
          </a:prstGeom>
          <a:noFill/>
        </p:spPr>
        <p:txBody>
          <a:bodyPr wrap="square" lIns="0" rIns="0" tIns="32004" bIns="32004" anchor="ctr">
            <a:noAutofit/>
          </a:bodyPr>
          <a:lstStyle/>
          <a:p>
            <a:pPr algn="l">
              <a:lnSpc>
                <a:spcPct val="110000"/>
              </a:lnSpc>
              <a:spcBef>
                <a:spcPts val="0"/>
              </a:spcBef>
              <a:spcAft>
                <a:spcPts val="0"/>
              </a:spcAft>
              <a:buNone/>
              <a:buNone/>
            </a:pPr>
            <a:r>
              <a:rPr sz="1300" b="0" lang="ko-KR">
                <a:solidFill>
                  <a:srgbClr val="5D6773"/>
                </a:solidFill>
                <a:latin typeface="Pretendard"/>
                <a:ea typeface="Pretendard"/>
                <a:cs typeface="Pretendard"/>
              </a:rPr>
              <a:t>클래스 최초 출현 순서 보존 · 새 공격 성능·기존 탐지 유지·갱신 및 추론 비용 비교</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11055096" cy="594360"/>
          </a:xfrm>
          <a:prstGeom prst="rect">
            <a:avLst/>
          </a:prstGeom>
          <a:noFill/>
        </p:spPr>
        <p:txBody>
          <a:bodyPr wrap="square" lIns="0" rIns="0" tIns="32004" bIns="32004" anchor="ctr">
            <a:noAutofit/>
          </a:bodyPr>
          <a:lstStyle/>
          <a:p>
            <a:pPr algn="l">
              <a:lnSpc>
                <a:spcPct val="110000"/>
              </a:lnSpc>
              <a:spcBef>
                <a:spcPts val="0"/>
              </a:spcBef>
              <a:spcAft>
                <a:spcPts val="0"/>
              </a:spcAft>
              <a:buNone/>
              <a:buNone/>
            </a:pPr>
            <a:r>
              <a:rPr sz="2800" b="1" lang="ko-KR">
                <a:solidFill>
                  <a:srgbClr val="00306C"/>
                </a:solidFill>
                <a:latin typeface="Pretendard"/>
                <a:ea typeface="Pretendard"/>
                <a:cs typeface="Pretendard"/>
              </a:rPr>
              <a:t>후속 검증 · 새로운 공격을 반영하는 시스템</a:t>
            </a:r>
          </a:p>
        </p:txBody>
      </p:sp>
      <p:sp>
        <p:nvSpPr>
          <p:cNvPr id="3" name="Rectangle 2"/>
          <p:cNvSpPr/>
          <p:nvPr/>
        </p:nvSpPr>
        <p:spPr>
          <a:xfrm>
            <a:off x="0" y="6355080"/>
            <a:ext cx="12191999" cy="502920"/>
          </a:xfrm>
          <a:prstGeom prst="rect">
            <a:avLst/>
          </a:prstGeom>
          <a:solidFill>
            <a:srgbClr val="0030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75320" y="6428232"/>
            <a:ext cx="2743200" cy="274320"/>
          </a:xfrm>
          <a:prstGeom prst="rect">
            <a:avLst/>
          </a:prstGeom>
          <a:noFill/>
        </p:spPr>
        <p:txBody>
          <a:bodyPr wrap="square" tIns="32004" bIns="32004" anchor="ctr">
            <a:noAutofit/>
          </a:bodyPr>
          <a:lstStyle/>
          <a:p>
            <a:pPr algn="r">
              <a:lnSpc>
                <a:spcPct val="110000"/>
              </a:lnSpc>
              <a:spcBef>
                <a:spcPts val="0"/>
              </a:spcBef>
              <a:spcAft>
                <a:spcPts val="0"/>
              </a:spcAft>
              <a:buNone/>
              <a:buNone/>
            </a:pPr>
            <a:r>
              <a:rPr sz="1000" b="0" lang="ko-KR">
                <a:solidFill>
                  <a:srgbClr val="D6E4F3"/>
                </a:solidFill>
                <a:latin typeface="Pretendard"/>
                <a:ea typeface="Pretendard"/>
                <a:cs typeface="Pretendard"/>
              </a:rPr>
              <a:t>05 후속 검증</a:t>
            </a:r>
          </a:p>
        </p:txBody>
      </p:sp>
      <p:sp>
        <p:nvSpPr>
          <p:cNvPr id="5" name="TextBox 4"/>
          <p:cNvSpPr txBox="1"/>
          <p:nvPr/>
        </p:nvSpPr>
        <p:spPr>
          <a:xfrm>
            <a:off x="11183112" y="6409944"/>
            <a:ext cx="438912" cy="310896"/>
          </a:xfrm>
          <a:prstGeom prst="rect">
            <a:avLst/>
          </a:prstGeom>
          <a:noFill/>
        </p:spPr>
        <p:txBody>
          <a:bodyPr wrap="square" tIns="32004" bIns="32004" anchor="ctr">
            <a:noAutofit/>
          </a:bodyPr>
          <a:lstStyle/>
          <a:p>
            <a:pPr algn="r">
              <a:lnSpc>
                <a:spcPct val="110000"/>
              </a:lnSpc>
              <a:spcBef>
                <a:spcPts val="0"/>
              </a:spcBef>
              <a:spcAft>
                <a:spcPts val="0"/>
              </a:spcAft>
              <a:buNone/>
              <a:buNone/>
              <a:buNone/>
            </a:pPr>
            <a:r>
              <a:rPr sz="1100" b="1" lang="ko-KR">
                <a:solidFill>
                  <a:srgbClr val="FFFFFF"/>
                </a:solidFill>
                <a:latin typeface="Pretendard"/>
                <a:ea typeface="Pretendard"/>
                <a:cs typeface="Pretendard"/>
              </a:rPr>
              <a:t>10</a:t>
            </a:r>
          </a:p>
        </p:txBody>
      </p:sp>
      <p:sp>
        <p:nvSpPr>
          <p:cNvPr id="6" name="TextBox 5"/>
          <p:cNvSpPr txBox="1"/>
          <p:nvPr/>
        </p:nvSpPr>
        <p:spPr>
          <a:xfrm>
            <a:off x="566928" y="932688"/>
            <a:ext cx="11055096" cy="320040"/>
          </a:xfrm>
          <a:prstGeom prst="rect">
            <a:avLst/>
          </a:prstGeom>
          <a:noFill/>
        </p:spPr>
        <p:txBody>
          <a:bodyPr wrap="square" lIns="0" rIns="0" tIns="32004" bIns="32004" anchor="ctr">
            <a:noAutofit/>
          </a:bodyPr>
          <a:lstStyle/>
          <a:p>
            <a:pPr algn="l">
              <a:lnSpc>
                <a:spcPct val="110000"/>
              </a:lnSpc>
              <a:spcBef>
                <a:spcPts val="0"/>
              </a:spcBef>
              <a:spcAft>
                <a:spcPts val="0"/>
              </a:spcAft>
              <a:buNone/>
              <a:buNone/>
            </a:pPr>
            <a:r>
              <a:rPr sz="1300" b="0" lang="ko-KR">
                <a:solidFill>
                  <a:srgbClr val="5D6773"/>
                </a:solidFill>
                <a:latin typeface="Pretendard"/>
                <a:ea typeface="Pretendard"/>
                <a:cs typeface="Pretendard"/>
              </a:rPr>
              <a:t>CIC2018 일부 신규 공격에 이득 · ToN 정상 오탐과 두 데이터셋의 계산 비용 개선 필요</a:t>
            </a:r>
          </a:p>
        </p:txBody>
      </p:sp>
      <p:sp>
        <p:nvSpPr>
          <p:cNvPr id="7" name="Rounded Rectangle 6"/>
          <p:cNvSpPr/>
          <p:nvPr/>
        </p:nvSpPr>
        <p:spPr>
          <a:xfrm>
            <a:off x="566928" y="1627632"/>
            <a:ext cx="3429000" cy="2029968"/>
          </a:xfrm>
          <a:prstGeom prst="roundRect">
            <a:avLst>
              <a:gd name="adj" fmla="val 3500"/>
            </a:avLst>
          </a:prstGeom>
          <a:solidFill>
            <a:srgbClr val="F3F6FA"/>
          </a:solidFill>
          <a:ln w="1016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04088" y="1746504"/>
            <a:ext cx="3154680" cy="347472"/>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700" b="1" lang="ko-KR">
                <a:solidFill>
                  <a:srgbClr val="00306C"/>
                </a:solidFill>
                <a:latin typeface="Pretendard"/>
                <a:ea typeface="Pretendard"/>
                <a:cs typeface="Pretendard"/>
              </a:rPr>
              <a:t>새 공격 반영</a:t>
            </a:r>
          </a:p>
        </p:txBody>
      </p:sp>
      <p:sp>
        <p:nvSpPr>
          <p:cNvPr id="9" name="TextBox 8"/>
          <p:cNvSpPr txBox="1"/>
          <p:nvPr/>
        </p:nvSpPr>
        <p:spPr>
          <a:xfrm>
            <a:off x="704088" y="2249424"/>
            <a:ext cx="3154680" cy="1271016"/>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500" b="0" lang="ko-KR">
                <a:solidFill>
                  <a:srgbClr val="21262E"/>
                </a:solidFill>
                <a:latin typeface="Pretendard"/>
                <a:ea typeface="Pretendard"/>
                <a:cs typeface="Pretendard"/>
              </a:rPr>
              <a:t>동일한 신규 사례 제공</a:t>
            </a:r>
          </a:p>
          <a:p>
            <a:pPr algn="l">
              <a:lnSpc>
                <a:spcPct val="110000"/>
              </a:lnSpc>
              <a:spcBef>
                <a:spcPts val="0"/>
              </a:spcBef>
              <a:spcAft>
                <a:spcPts val="0"/>
              </a:spcAft>
              <a:buNone/>
            </a:pPr>
            <a:r>
              <a:rPr sz="1500" b="0" lang="ko-KR">
                <a:solidFill>
                  <a:srgbClr val="21262E"/>
                </a:solidFill>
                <a:latin typeface="Pretendard"/>
                <a:ea typeface="Pretendard"/>
                <a:cs typeface="Pretendard"/>
              </a:rPr>
              <a:t>갱신 후 공격별 분류 성능</a:t>
            </a:r>
          </a:p>
          <a:p>
            <a:pPr algn="l">
              <a:lnSpc>
                <a:spcPct val="110000"/>
              </a:lnSpc>
              <a:spcBef>
                <a:spcPts val="0"/>
              </a:spcBef>
              <a:spcAft>
                <a:spcPts val="0"/>
              </a:spcAft>
              <a:buNone/>
            </a:pPr>
            <a:r>
              <a:rPr sz="1500" b="0" lang="ko-KR">
                <a:solidFill>
                  <a:srgbClr val="21262E"/>
                </a:solidFill>
                <a:latin typeface="Pretendard"/>
                <a:ea typeface="Pretendard"/>
                <a:cs typeface="Pretendard"/>
              </a:rPr>
              <a:t>희소 클래스의 탐지 변화</a:t>
            </a:r>
          </a:p>
        </p:txBody>
      </p:sp>
      <p:sp>
        <p:nvSpPr>
          <p:cNvPr id="10" name="Rounded Rectangle 9"/>
          <p:cNvSpPr/>
          <p:nvPr/>
        </p:nvSpPr>
        <p:spPr>
          <a:xfrm>
            <a:off x="4379976" y="1627632"/>
            <a:ext cx="3429000" cy="2029968"/>
          </a:xfrm>
          <a:prstGeom prst="roundRect">
            <a:avLst>
              <a:gd name="adj" fmla="val 3500"/>
            </a:avLst>
          </a:prstGeom>
          <a:solidFill>
            <a:srgbClr val="F3F6FA"/>
          </a:solidFill>
          <a:ln w="1016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17136" y="1746504"/>
            <a:ext cx="3154680" cy="347472"/>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700" b="1" lang="ko-KR">
                <a:solidFill>
                  <a:srgbClr val="00306C"/>
                </a:solidFill>
                <a:latin typeface="Pretendard"/>
                <a:ea typeface="Pretendard"/>
                <a:cs typeface="Pretendard"/>
              </a:rPr>
              <a:t>기존 탐지 유지</a:t>
            </a:r>
          </a:p>
        </p:txBody>
      </p:sp>
      <p:sp>
        <p:nvSpPr>
          <p:cNvPr id="12" name="TextBox 11"/>
          <p:cNvSpPr txBox="1"/>
          <p:nvPr/>
        </p:nvSpPr>
        <p:spPr>
          <a:xfrm>
            <a:off x="4517136" y="2249424"/>
            <a:ext cx="3154680" cy="1271016"/>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500" b="0" lang="ko-KR">
                <a:solidFill>
                  <a:srgbClr val="21262E"/>
                </a:solidFill>
                <a:latin typeface="Pretendard"/>
                <a:ea typeface="Pretendard"/>
                <a:cs typeface="Pretendard"/>
              </a:rPr>
              <a:t>동일한 기존 표본 비교</a:t>
            </a:r>
          </a:p>
          <a:p>
            <a:pPr algn="l">
              <a:lnSpc>
                <a:spcPct val="110000"/>
              </a:lnSpc>
              <a:spcBef>
                <a:spcPts val="0"/>
              </a:spcBef>
              <a:spcAft>
                <a:spcPts val="0"/>
              </a:spcAft>
              <a:buNone/>
            </a:pPr>
            <a:r>
              <a:rPr sz="1500" b="0" lang="ko-KR">
                <a:solidFill>
                  <a:srgbClr val="21262E"/>
                </a:solidFill>
                <a:latin typeface="Pretendard"/>
                <a:ea typeface="Pretendard"/>
                <a:cs typeface="Pretendard"/>
              </a:rPr>
              <a:t>교정·훼손과 정상 오탐</a:t>
            </a:r>
          </a:p>
          <a:p>
            <a:pPr algn="l">
              <a:lnSpc>
                <a:spcPct val="110000"/>
              </a:lnSpc>
              <a:spcBef>
                <a:spcPts val="0"/>
              </a:spcBef>
              <a:spcAft>
                <a:spcPts val="0"/>
              </a:spcAft>
              <a:buNone/>
            </a:pPr>
            <a:r>
              <a:rPr sz="1500" b="0" lang="ko-KR">
                <a:solidFill>
                  <a:srgbClr val="21262E"/>
                </a:solidFill>
                <a:latin typeface="Pretendard"/>
                <a:ea typeface="Pretendard"/>
                <a:cs typeface="Pretendard"/>
              </a:rPr>
              <a:t>Context 구성의 영향 확인</a:t>
            </a:r>
          </a:p>
        </p:txBody>
      </p:sp>
      <p:sp>
        <p:nvSpPr>
          <p:cNvPr id="13" name="Rounded Rectangle 12"/>
          <p:cNvSpPr/>
          <p:nvPr/>
        </p:nvSpPr>
        <p:spPr>
          <a:xfrm>
            <a:off x="8193024" y="1627632"/>
            <a:ext cx="3429000" cy="2029968"/>
          </a:xfrm>
          <a:prstGeom prst="roundRect">
            <a:avLst>
              <a:gd name="adj" fmla="val 3500"/>
            </a:avLst>
          </a:prstGeom>
          <a:solidFill>
            <a:srgbClr val="F3F6FA"/>
          </a:solidFill>
          <a:ln w="1016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30184" y="1746504"/>
            <a:ext cx="3154680" cy="347472"/>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700" b="1" lang="ko-KR">
                <a:solidFill>
                  <a:srgbClr val="00306C"/>
                </a:solidFill>
                <a:latin typeface="Pretendard"/>
                <a:ea typeface="Pretendard"/>
                <a:cs typeface="Pretendard"/>
              </a:rPr>
              <a:t>운영 비용</a:t>
            </a:r>
          </a:p>
        </p:txBody>
      </p:sp>
      <p:sp>
        <p:nvSpPr>
          <p:cNvPr id="15" name="TextBox 14"/>
          <p:cNvSpPr txBox="1"/>
          <p:nvPr/>
        </p:nvSpPr>
        <p:spPr>
          <a:xfrm>
            <a:off x="8330184" y="2249424"/>
            <a:ext cx="3154680" cy="1271016"/>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500" b="0" lang="ko-KR">
                <a:solidFill>
                  <a:srgbClr val="21262E"/>
                </a:solidFill>
                <a:latin typeface="Pretendard"/>
                <a:ea typeface="Pretendard"/>
                <a:cs typeface="Pretendard"/>
              </a:rPr>
              <a:t>사례 추가 시 갱신 비용</a:t>
            </a:r>
          </a:p>
          <a:p>
            <a:pPr algn="l">
              <a:lnSpc>
                <a:spcPct val="110000"/>
              </a:lnSpc>
              <a:spcBef>
                <a:spcPts val="0"/>
              </a:spcBef>
              <a:spcAft>
                <a:spcPts val="0"/>
              </a:spcAft>
              <a:buNone/>
            </a:pPr>
            <a:r>
              <a:rPr sz="1500" b="0" lang="ko-KR">
                <a:solidFill>
                  <a:srgbClr val="21262E"/>
                </a:solidFill>
                <a:latin typeface="Pretendard"/>
                <a:ea typeface="Pretendard"/>
                <a:cs typeface="Pretendard"/>
              </a:rPr>
              <a:t>다음 갱신까지의 추론 비용</a:t>
            </a:r>
          </a:p>
          <a:p>
            <a:pPr algn="l">
              <a:lnSpc>
                <a:spcPct val="110000"/>
              </a:lnSpc>
              <a:spcBef>
                <a:spcPts val="0"/>
              </a:spcBef>
              <a:spcAft>
                <a:spcPts val="0"/>
              </a:spcAft>
              <a:buNone/>
            </a:pPr>
            <a:r>
              <a:rPr sz="1500" b="0" lang="ko-KR">
                <a:solidFill>
                  <a:srgbClr val="21262E"/>
                </a:solidFill>
                <a:latin typeface="Pretendard"/>
                <a:ea typeface="Pretendard"/>
                <a:cs typeface="Pretendard"/>
              </a:rPr>
              <a:t>처리량·메모리의 비교</a:t>
            </a:r>
          </a:p>
        </p:txBody>
      </p:sp>
      <p:sp>
        <p:nvSpPr>
          <p:cNvPr id="16" name="Rounded Rectangle 15"/>
          <p:cNvSpPr/>
          <p:nvPr/>
        </p:nvSpPr>
        <p:spPr>
          <a:xfrm>
            <a:off x="566928" y="4041648"/>
            <a:ext cx="11055096" cy="950976"/>
          </a:xfrm>
          <a:prstGeom prst="roundRect">
            <a:avLst>
              <a:gd name="adj" fmla="val 3500"/>
            </a:avLst>
          </a:prstGeom>
          <a:solidFill>
            <a:srgbClr val="E7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6384" y="4206240"/>
            <a:ext cx="10616184" cy="612648"/>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2100" b="1" lang="ko-KR">
                <a:solidFill>
                  <a:srgbClr val="00306C"/>
                </a:solidFill>
                <a:latin typeface="Pretendard"/>
                <a:ea typeface="Pretendard"/>
                <a:cs typeface="Pretendard"/>
              </a:rPr>
              <a:t>연구의 판단 기준: 새 공격을 얼마나 잘 반영하고,</a:t>
            </a:r>
          </a:p>
          <a:p>
            <a:pPr algn="l">
              <a:lnSpc>
                <a:spcPct val="110000"/>
              </a:lnSpc>
              <a:spcBef>
                <a:spcPts val="0"/>
              </a:spcBef>
              <a:spcAft>
                <a:spcPts val="0"/>
              </a:spcAft>
              <a:buNone/>
            </a:pPr>
            <a:r>
              <a:rPr sz="2100" b="1" lang="ko-KR">
                <a:solidFill>
                  <a:srgbClr val="00306C"/>
                </a:solidFill>
                <a:latin typeface="Pretendard"/>
                <a:ea typeface="Pretendard"/>
                <a:cs typeface="Pretendard"/>
              </a:rPr>
              <a:t>기존 탐지 성능을 어느 비용으로 유지하는가</a:t>
            </a:r>
          </a:p>
        </p:txBody>
      </p:sp>
      <p:sp>
        <p:nvSpPr>
          <p:cNvPr id="18" name="TextBox 17"/>
          <p:cNvSpPr txBox="1"/>
          <p:nvPr/>
        </p:nvSpPr>
        <p:spPr>
          <a:xfrm>
            <a:off x="566928" y="5376672"/>
            <a:ext cx="11055096" cy="365760"/>
          </a:xfrm>
          <a:prstGeom prst="rect">
            <a:avLst/>
          </a:prstGeom>
          <a:noFill/>
        </p:spPr>
        <p:txBody>
          <a:bodyPr wrap="square" lIns="0" rIns="0" tIns="32004" bIns="32004" anchor="ctr">
            <a:noAutofit/>
          </a:bodyPr>
          <a:lstStyle/>
          <a:p>
            <a:pPr algn="l">
              <a:lnSpc>
                <a:spcPct val="110000"/>
              </a:lnSpc>
              <a:spcBef>
                <a:spcPts val="0"/>
              </a:spcBef>
              <a:spcAft>
                <a:spcPts val="0"/>
              </a:spcAft>
              <a:buNone/>
              <a:buNone/>
            </a:pPr>
            <a:r>
              <a:rPr sz="1600" b="1" lang="ko-KR">
                <a:solidFill>
                  <a:srgbClr val="007BC6"/>
                </a:solidFill>
                <a:latin typeface="Pretendard"/>
                <a:ea typeface="Pretendard"/>
                <a:cs typeface="Pretendard"/>
              </a:rPr>
              <a:t>정상 사례 다양성·context 규모 조절 → 오탐·계산 비용 비교 → Expert·S/V 갱신 검증</a:t>
            </a:r>
          </a:p>
        </p:txBody>
      </p:sp>
      <p:sp>
        <p:nvSpPr>
          <p:cNvPr id="19" name="TextBox 18"/>
          <p:cNvSpPr txBox="1"/>
          <p:nvPr/>
        </p:nvSpPr>
        <p:spPr>
          <a:xfrm>
            <a:off x="566928" y="5870448"/>
            <a:ext cx="11055096" cy="237744"/>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300" b="0" lang="ko-KR">
                <a:solidFill>
                  <a:srgbClr val="5D6773"/>
                </a:solidFill>
                <a:latin typeface="Pretendard"/>
                <a:ea typeface="Pretendard"/>
                <a:cs typeface="Pretendard"/>
              </a:rPr>
              <a:t>F1은 시스템 효용을 확인하는 지표 중 하나 · 미지 공격 인지는 이후 OOD 확장</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11055096" cy="594360"/>
          </a:xfrm>
          <a:prstGeom prst="rect">
            <a:avLst/>
          </a:prstGeom>
          <a:noFill/>
        </p:spPr>
        <p:txBody>
          <a:bodyPr wrap="square" lIns="0" rIns="0" tIns="32004" bIns="32004" anchor="ctr">
            <a:noAutofit/>
          </a:bodyPr>
          <a:lstStyle/>
          <a:p>
            <a:pPr algn="l">
              <a:lnSpc>
                <a:spcPct val="110000"/>
              </a:lnSpc>
              <a:spcBef>
                <a:spcPts val="0"/>
              </a:spcBef>
              <a:spcAft>
                <a:spcPts val="0"/>
              </a:spcAft>
              <a:buNone/>
              <a:buNone/>
              <a:buNone/>
            </a:pPr>
            <a:r>
              <a:rPr sz="2800" b="1" lang="ko-KR">
                <a:solidFill>
                  <a:srgbClr val="00306C"/>
                </a:solidFill>
                <a:latin typeface="Pretendard"/>
                <a:ea typeface="Pretendard"/>
                <a:cs typeface="Pretendard"/>
              </a:rPr>
              <a:t>정제 데이터의 SOTA 비용</a:t>
            </a:r>
          </a:p>
        </p:txBody>
      </p:sp>
      <p:sp>
        <p:nvSpPr>
          <p:cNvPr id="3" name="Rectangle 2"/>
          <p:cNvSpPr/>
          <p:nvPr/>
        </p:nvSpPr>
        <p:spPr>
          <a:xfrm>
            <a:off x="0" y="6355080"/>
            <a:ext cx="12191999" cy="502920"/>
          </a:xfrm>
          <a:prstGeom prst="rect">
            <a:avLst/>
          </a:prstGeom>
          <a:solidFill>
            <a:srgbClr val="0030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75320" y="6428232"/>
            <a:ext cx="2743200" cy="274320"/>
          </a:xfrm>
          <a:prstGeom prst="rect">
            <a:avLst/>
          </a:prstGeom>
          <a:noFill/>
        </p:spPr>
        <p:txBody>
          <a:bodyPr wrap="square" tIns="32004" bIns="32004" anchor="ctr">
            <a:noAutofit/>
          </a:bodyPr>
          <a:lstStyle/>
          <a:p>
            <a:pPr algn="r">
              <a:lnSpc>
                <a:spcPct val="110000"/>
              </a:lnSpc>
              <a:spcBef>
                <a:spcPts val="0"/>
              </a:spcBef>
              <a:spcAft>
                <a:spcPts val="0"/>
              </a:spcAft>
              <a:buNone/>
              <a:buNone/>
              <a:buNone/>
              <a:buNone/>
            </a:pPr>
            <a:r>
              <a:rPr sz="1000" b="0" lang="ko-KR">
                <a:solidFill>
                  <a:srgbClr val="D6E4F3"/>
                </a:solidFill>
                <a:latin typeface="Pretendard"/>
                <a:ea typeface="Pretendard"/>
                <a:cs typeface="Pretendard"/>
              </a:rPr>
              <a:t>04 현재 모델</a:t>
            </a:r>
          </a:p>
        </p:txBody>
      </p:sp>
      <p:sp>
        <p:nvSpPr>
          <p:cNvPr id="5" name="TextBox 4"/>
          <p:cNvSpPr txBox="1"/>
          <p:nvPr/>
        </p:nvSpPr>
        <p:spPr>
          <a:xfrm>
            <a:off x="11183112" y="6409944"/>
            <a:ext cx="438912" cy="310896"/>
          </a:xfrm>
          <a:prstGeom prst="rect">
            <a:avLst/>
          </a:prstGeom>
          <a:noFill/>
        </p:spPr>
        <p:txBody>
          <a:bodyPr wrap="square" tIns="32004" bIns="32004" anchor="ctr">
            <a:noAutofit/>
          </a:bodyPr>
          <a:lstStyle/>
          <a:p>
            <a:pPr algn="r">
              <a:lnSpc>
                <a:spcPct val="110000"/>
              </a:lnSpc>
              <a:spcBef>
                <a:spcPts val="0"/>
              </a:spcBef>
              <a:spcAft>
                <a:spcPts val="0"/>
              </a:spcAft>
              <a:buNone/>
              <a:buNone/>
              <a:buNone/>
              <a:buNone/>
              <a:buNone/>
            </a:pPr>
            <a:r>
              <a:rPr sz="1100" b="1" lang="ko-KR">
                <a:solidFill>
                  <a:srgbClr val="FFFFFF"/>
                </a:solidFill>
                <a:latin typeface="Pretendard"/>
                <a:ea typeface="Pretendard"/>
                <a:cs typeface="Pretendard"/>
              </a:rPr>
              <a:t>9</a:t>
            </a:r>
          </a:p>
        </p:txBody>
      </p:sp>
      <p:sp>
        <p:nvSpPr>
          <p:cNvPr id="6" name="TextBox 5"/>
          <p:cNvSpPr txBox="1"/>
          <p:nvPr/>
        </p:nvSpPr>
        <p:spPr>
          <a:xfrm>
            <a:off x="566928" y="932688"/>
            <a:ext cx="11055096" cy="320040"/>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300" b="0" lang="ko-KR">
                <a:solidFill>
                  <a:srgbClr val="5D6773"/>
                </a:solidFill>
                <a:latin typeface="Pretendard"/>
                <a:ea typeface="Pretendard"/>
                <a:cs typeface="Pretendard"/>
              </a:rPr>
              <a:t>RTX 4090 24GB · 최대 2개 작업 병렬 · 자원 경합을 포함한 경과 시간</a:t>
            </a:r>
          </a:p>
        </p:txBody>
      </p:sp>
      <p:graphicFrame>
        <p:nvGraphicFramePr>
          <p:cNvPr id="7" name="Table 6"/>
          <p:cNvGraphicFramePr>
            <a:graphicFrameLocks noGrp="1"/>
          </p:cNvGraphicFramePr>
          <p:nvPr/>
        </p:nvGraphicFramePr>
        <p:xfrm>
          <a:off x="566928" y="1563624"/>
          <a:ext cx="11055096" cy="3392424"/>
        </p:xfrm>
        <a:graphic>
          <a:graphicData uri="http://schemas.openxmlformats.org/drawingml/2006/table">
            <a:tbl>
              <a:tblPr>
                <a:tableStyleId>{5C22544A-7EE6-4342-B048-85BDC9FD1C3A}</a:tableStyleId>
              </a:tblPr>
              <a:tblGrid>
                <a:gridCol w="2770632"/>
                <a:gridCol w="1408176"/>
                <a:gridCol w="1408176"/>
                <a:gridCol w="1408176"/>
                <a:gridCol w="1408176"/>
                <a:gridCol w="1325880"/>
                <a:gridCol w="1325880"/>
              </a:tblGrid>
              <a:tr h="484632">
                <a:tc>
                  <a:txBody>
                    <a:bodyPr wrap="square" lIns="64008" rIns="64008" tIns="32004" bIns="32004" anchor="ctr">
                      <a:noAutofit/>
                    </a:bodyPr>
                    <a:lstStyle/>
                    <a:p>
                      <a:pPr algn="l">
                        <a:lnSpc>
                          <a:spcPct val="110000"/>
                        </a:lnSpc>
                        <a:spcBef>
                          <a:spcPts val="0"/>
                        </a:spcBef>
                        <a:spcAft>
                          <a:spcPts val="0"/>
                        </a:spcAft>
                        <a:buNone/>
                      </a:pPr>
                      <a:r>
                        <a:rPr sz="1210" b="1" lang="ko-KR">
                          <a:solidFill>
                            <a:srgbClr val="FFFFFF"/>
                          </a:solidFill>
                          <a:latin typeface="Pretendard"/>
                          <a:ea typeface="Pretendard"/>
                          <a:cs typeface="Pretendard"/>
                        </a:rPr>
                        <a:t>방법</a:t>
                      </a:r>
                    </a:p>
                  </a:txBody>
                  <a:tcPr marL="64008" marR="64008" marT="22860" marB="22860">
                    <a:solidFill>
                      <a:srgbClr val="00306C"/>
                    </a:solidFill>
                  </a:tcPr>
                </a:tc>
                <a:tc>
                  <a:txBody>
                    <a:bodyPr wrap="square" lIns="36576" rIns="36576" tIns="32004" bIns="32004" anchor="ctr">
                      <a:noAutofit/>
                    </a:bodyPr>
                    <a:lstStyle/>
                    <a:p>
                      <a:pPr algn="ctr">
                        <a:lnSpc>
                          <a:spcPct val="110000"/>
                        </a:lnSpc>
                        <a:spcBef>
                          <a:spcPts val="0"/>
                        </a:spcBef>
                        <a:spcAft>
                          <a:spcPts val="0"/>
                        </a:spcAft>
                        <a:buNone/>
                        <a:buNone/>
                      </a:pPr>
                      <a:r>
                        <a:rPr sz="1100" b="1" lang="ko-KR">
                          <a:solidFill>
                            <a:srgbClr val="FFFFFF"/>
                          </a:solidFill>
                          <a:latin typeface="Pretendard"/>
                          <a:ea typeface="Pretendard"/>
                          <a:cs typeface="Pretendard"/>
                        </a:rPr>
                        <a:t>CIC 학습·구성</a:t>
                      </a:r>
                    </a:p>
                    <a:p>
                      <a:pPr algn="ctr">
                        <a:lnSpc>
                          <a:spcPct val="110000"/>
                        </a:lnSpc>
                        <a:spcBef>
                          <a:spcPts val="0"/>
                        </a:spcBef>
                        <a:spcAft>
                          <a:spcPts val="0"/>
                        </a:spcAft>
                        <a:buNone/>
                      </a:pPr>
                      <a:r>
                        <a:rPr sz="1100" b="1" lang="ko-KR">
                          <a:solidFill>
                            <a:srgbClr val="FFFFFF"/>
                          </a:solidFill>
                          <a:latin typeface="Pretendard"/>
                          <a:ea typeface="Pretendard"/>
                          <a:cs typeface="Pretendard"/>
                        </a:rPr>
                        <a:t>초</a:t>
                      </a:r>
                    </a:p>
                  </a:txBody>
                  <a:tcPr marL="64008" marR="64008" marT="22860" marB="22860">
                    <a:solidFill>
                      <a:srgbClr val="00306C"/>
                    </a:solidFill>
                  </a:tcPr>
                </a:tc>
                <a:tc>
                  <a:txBody>
                    <a:bodyPr wrap="square" lIns="64008" rIns="64008" tIns="32004" bIns="32004" anchor="ctr">
                      <a:noAutofit/>
                    </a:bodyPr>
                    <a:lstStyle/>
                    <a:p>
                      <a:pPr algn="ctr">
                        <a:lnSpc>
                          <a:spcPct val="110000"/>
                        </a:lnSpc>
                        <a:spcBef>
                          <a:spcPts val="0"/>
                        </a:spcBef>
                        <a:spcAft>
                          <a:spcPts val="0"/>
                        </a:spcAft>
                        <a:buNone/>
                      </a:pPr>
                      <a:r>
                        <a:rPr sz="1210" b="1" lang="ko-KR">
                          <a:solidFill>
                            <a:srgbClr val="FFFFFF"/>
                          </a:solidFill>
                          <a:latin typeface="Pretendard"/>
                          <a:ea typeface="Pretendard"/>
                          <a:cs typeface="Pretendard"/>
                        </a:rPr>
                        <a:t>CIC 추론</a:t>
                      </a:r>
                    </a:p>
                    <a:p>
                      <a:pPr algn="ctr">
                        <a:lnSpc>
                          <a:spcPct val="110000"/>
                        </a:lnSpc>
                        <a:spcBef>
                          <a:spcPts val="0"/>
                        </a:spcBef>
                        <a:spcAft>
                          <a:spcPts val="0"/>
                        </a:spcAft>
                        <a:buNone/>
                      </a:pPr>
                      <a:r>
                        <a:rPr sz="1210" b="1" lang="ko-KR">
                          <a:solidFill>
                            <a:srgbClr val="FFFFFF"/>
                          </a:solidFill>
                          <a:latin typeface="Pretendard"/>
                          <a:ea typeface="Pretendard"/>
                          <a:cs typeface="Pretendard"/>
                        </a:rPr>
                        <a:t>초</a:t>
                      </a:r>
                    </a:p>
                  </a:txBody>
                  <a:tcPr marL="64008" marR="64008" marT="22860" marB="22860">
                    <a:solidFill>
                      <a:srgbClr val="00306C"/>
                    </a:solidFill>
                  </a:tcPr>
                </a:tc>
                <a:tc>
                  <a:txBody>
                    <a:bodyPr wrap="square" lIns="36576" rIns="36576" tIns="32004" bIns="32004" anchor="ctr">
                      <a:noAutofit/>
                    </a:bodyPr>
                    <a:lstStyle/>
                    <a:p>
                      <a:pPr algn="ctr">
                        <a:lnSpc>
                          <a:spcPct val="110000"/>
                        </a:lnSpc>
                        <a:spcBef>
                          <a:spcPts val="0"/>
                        </a:spcBef>
                        <a:spcAft>
                          <a:spcPts val="0"/>
                        </a:spcAft>
                        <a:buNone/>
                        <a:buNone/>
                      </a:pPr>
                      <a:r>
                        <a:rPr sz="1100" b="1" lang="ko-KR">
                          <a:solidFill>
                            <a:srgbClr val="FFFFFF"/>
                          </a:solidFill>
                          <a:latin typeface="Pretendard"/>
                          <a:ea typeface="Pretendard"/>
                          <a:cs typeface="Pretendard"/>
                        </a:rPr>
                        <a:t>ToN 학습·구성</a:t>
                      </a:r>
                    </a:p>
                    <a:p>
                      <a:pPr algn="ctr">
                        <a:lnSpc>
                          <a:spcPct val="110000"/>
                        </a:lnSpc>
                        <a:spcBef>
                          <a:spcPts val="0"/>
                        </a:spcBef>
                        <a:spcAft>
                          <a:spcPts val="0"/>
                        </a:spcAft>
                        <a:buNone/>
                      </a:pPr>
                      <a:r>
                        <a:rPr sz="1100" b="1" lang="ko-KR">
                          <a:solidFill>
                            <a:srgbClr val="FFFFFF"/>
                          </a:solidFill>
                          <a:latin typeface="Pretendard"/>
                          <a:ea typeface="Pretendard"/>
                          <a:cs typeface="Pretendard"/>
                        </a:rPr>
                        <a:t>초</a:t>
                      </a:r>
                    </a:p>
                  </a:txBody>
                  <a:tcPr marL="64008" marR="64008" marT="22860" marB="22860">
                    <a:solidFill>
                      <a:srgbClr val="00306C"/>
                    </a:solidFill>
                  </a:tcPr>
                </a:tc>
                <a:tc>
                  <a:txBody>
                    <a:bodyPr wrap="square" lIns="64008" rIns="64008" tIns="32004" bIns="32004" anchor="ctr">
                      <a:noAutofit/>
                    </a:bodyPr>
                    <a:lstStyle/>
                    <a:p>
                      <a:pPr algn="ctr">
                        <a:lnSpc>
                          <a:spcPct val="110000"/>
                        </a:lnSpc>
                        <a:spcBef>
                          <a:spcPts val="0"/>
                        </a:spcBef>
                        <a:spcAft>
                          <a:spcPts val="0"/>
                        </a:spcAft>
                        <a:buNone/>
                      </a:pPr>
                      <a:r>
                        <a:rPr sz="1210" b="1" lang="ko-KR">
                          <a:solidFill>
                            <a:srgbClr val="FFFFFF"/>
                          </a:solidFill>
                          <a:latin typeface="Pretendard"/>
                          <a:ea typeface="Pretendard"/>
                          <a:cs typeface="Pretendard"/>
                        </a:rPr>
                        <a:t>ToN 추론</a:t>
                      </a:r>
                    </a:p>
                    <a:p>
                      <a:pPr algn="ctr">
                        <a:lnSpc>
                          <a:spcPct val="110000"/>
                        </a:lnSpc>
                        <a:spcBef>
                          <a:spcPts val="0"/>
                        </a:spcBef>
                        <a:spcAft>
                          <a:spcPts val="0"/>
                        </a:spcAft>
                        <a:buNone/>
                      </a:pPr>
                      <a:r>
                        <a:rPr sz="1210" b="1" lang="ko-KR">
                          <a:solidFill>
                            <a:srgbClr val="FFFFFF"/>
                          </a:solidFill>
                          <a:latin typeface="Pretendard"/>
                          <a:ea typeface="Pretendard"/>
                          <a:cs typeface="Pretendard"/>
                        </a:rPr>
                        <a:t>초</a:t>
                      </a:r>
                    </a:p>
                  </a:txBody>
                  <a:tcPr marL="64008" marR="64008" marT="22860" marB="22860">
                    <a:solidFill>
                      <a:srgbClr val="00306C"/>
                    </a:solidFill>
                  </a:tcPr>
                </a:tc>
                <a:tc>
                  <a:txBody>
                    <a:bodyPr wrap="square" lIns="64008" rIns="64008" tIns="32004" bIns="32004" anchor="ctr">
                      <a:noAutofit/>
                    </a:bodyPr>
                    <a:lstStyle/>
                    <a:p>
                      <a:pPr algn="ctr">
                        <a:lnSpc>
                          <a:spcPct val="110000"/>
                        </a:lnSpc>
                        <a:spcBef>
                          <a:spcPts val="0"/>
                        </a:spcBef>
                        <a:spcAft>
                          <a:spcPts val="0"/>
                        </a:spcAft>
                        <a:buNone/>
                      </a:pPr>
                      <a:r>
                        <a:rPr sz="1210" b="1" lang="ko-KR">
                          <a:solidFill>
                            <a:srgbClr val="FFFFFF"/>
                          </a:solidFill>
                          <a:latin typeface="Pretendard"/>
                          <a:ea typeface="Pretendard"/>
                          <a:cs typeface="Pretendard"/>
                        </a:rPr>
                        <a:t>CIC GPU</a:t>
                      </a:r>
                    </a:p>
                    <a:p>
                      <a:pPr algn="ctr">
                        <a:lnSpc>
                          <a:spcPct val="110000"/>
                        </a:lnSpc>
                        <a:spcBef>
                          <a:spcPts val="0"/>
                        </a:spcBef>
                        <a:spcAft>
                          <a:spcPts val="0"/>
                        </a:spcAft>
                        <a:buNone/>
                      </a:pPr>
                      <a:r>
                        <a:rPr sz="1210" b="1" lang="ko-KR">
                          <a:solidFill>
                            <a:srgbClr val="FFFFFF"/>
                          </a:solidFill>
                          <a:latin typeface="Pretendard"/>
                          <a:ea typeface="Pretendard"/>
                          <a:cs typeface="Pretendard"/>
                        </a:rPr>
                        <a:t>GiB</a:t>
                      </a:r>
                    </a:p>
                  </a:txBody>
                  <a:tcPr marL="64008" marR="64008" marT="22860" marB="22860">
                    <a:solidFill>
                      <a:srgbClr val="00306C"/>
                    </a:solidFill>
                  </a:tcPr>
                </a:tc>
                <a:tc>
                  <a:txBody>
                    <a:bodyPr wrap="square" lIns="64008" rIns="64008" tIns="32004" bIns="32004" anchor="ctr">
                      <a:noAutofit/>
                    </a:bodyPr>
                    <a:lstStyle/>
                    <a:p>
                      <a:pPr algn="ctr">
                        <a:lnSpc>
                          <a:spcPct val="110000"/>
                        </a:lnSpc>
                        <a:spcBef>
                          <a:spcPts val="0"/>
                        </a:spcBef>
                        <a:spcAft>
                          <a:spcPts val="0"/>
                        </a:spcAft>
                        <a:buNone/>
                      </a:pPr>
                      <a:r>
                        <a:rPr sz="1210" b="1" lang="ko-KR">
                          <a:solidFill>
                            <a:srgbClr val="FFFFFF"/>
                          </a:solidFill>
                          <a:latin typeface="Pretendard"/>
                          <a:ea typeface="Pretendard"/>
                          <a:cs typeface="Pretendard"/>
                        </a:rPr>
                        <a:t>ToN GPU</a:t>
                      </a:r>
                    </a:p>
                    <a:p>
                      <a:pPr algn="ctr">
                        <a:lnSpc>
                          <a:spcPct val="110000"/>
                        </a:lnSpc>
                        <a:spcBef>
                          <a:spcPts val="0"/>
                        </a:spcBef>
                        <a:spcAft>
                          <a:spcPts val="0"/>
                        </a:spcAft>
                        <a:buNone/>
                      </a:pPr>
                      <a:r>
                        <a:rPr sz="1210" b="1" lang="ko-KR">
                          <a:solidFill>
                            <a:srgbClr val="FFFFFF"/>
                          </a:solidFill>
                          <a:latin typeface="Pretendard"/>
                          <a:ea typeface="Pretendard"/>
                          <a:cs typeface="Pretendard"/>
                        </a:rPr>
                        <a:t>GiB</a:t>
                      </a:r>
                    </a:p>
                  </a:txBody>
                  <a:tcPr marL="64008" marR="64008" marT="22860" marB="22860">
                    <a:solidFill>
                      <a:srgbClr val="00306C"/>
                    </a:solidFill>
                  </a:tcPr>
                </a:tc>
              </a:tr>
              <a:tr h="484632">
                <a:tc>
                  <a:txBody>
                    <a:bodyPr wrap="square" lIns="64008" rIns="64008" tIns="32004" bIns="32004" anchor="ctr">
                      <a:noAutofit/>
                    </a:bodyPr>
                    <a:lstStyle/>
                    <a:p>
                      <a:pPr algn="l">
                        <a:lnSpc>
                          <a:spcPct val="110000"/>
                        </a:lnSpc>
                        <a:spcBef>
                          <a:spcPts val="0"/>
                        </a:spcBef>
                        <a:spcAft>
                          <a:spcPts val="0"/>
                        </a:spcAft>
                        <a:buNone/>
                      </a:pPr>
                      <a:r>
                        <a:rPr sz="1210" b="1" lang="ko-KR">
                          <a:solidFill>
                            <a:srgbClr val="21262E"/>
                          </a:solidFill>
                          <a:latin typeface="Pretendard"/>
                          <a:ea typeface="Pretendard"/>
                          <a:cs typeface="Pretendard"/>
                        </a:rPr>
                        <a:t>Global TabPFN v3</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175" b="0" lang="ko-KR">
                          <a:solidFill>
                            <a:srgbClr val="21262E"/>
                          </a:solidFill>
                          <a:latin typeface="DejaVu Sans Mono"/>
                          <a:ea typeface="DejaVu Sans Mono"/>
                          <a:cs typeface="DejaVu Sans Mono"/>
                        </a:rPr>
                        <a:t>36.4</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175" b="0" lang="ko-KR">
                          <a:solidFill>
                            <a:srgbClr val="21262E"/>
                          </a:solidFill>
                          <a:latin typeface="DejaVu Sans Mono"/>
                          <a:ea typeface="DejaVu Sans Mono"/>
                          <a:cs typeface="DejaVu Sans Mono"/>
                        </a:rPr>
                        <a:t>1,099.3</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175" b="0" lang="ko-KR">
                          <a:solidFill>
                            <a:srgbClr val="21262E"/>
                          </a:solidFill>
                          <a:latin typeface="DejaVu Sans Mono"/>
                          <a:ea typeface="DejaVu Sans Mono"/>
                          <a:cs typeface="DejaVu Sans Mono"/>
                        </a:rPr>
                        <a:t>36.7</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175" b="0" lang="ko-KR">
                          <a:solidFill>
                            <a:srgbClr val="21262E"/>
                          </a:solidFill>
                          <a:latin typeface="DejaVu Sans Mono"/>
                          <a:ea typeface="DejaVu Sans Mono"/>
                          <a:cs typeface="DejaVu Sans Mono"/>
                        </a:rPr>
                        <a:t>821.7</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175" b="0" lang="ko-KR">
                          <a:solidFill>
                            <a:srgbClr val="21262E"/>
                          </a:solidFill>
                          <a:latin typeface="DejaVu Sans Mono"/>
                          <a:ea typeface="DejaVu Sans Mono"/>
                          <a:cs typeface="DejaVu Sans Mono"/>
                        </a:rPr>
                        <a:t>2.92</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175" b="0" lang="ko-KR">
                          <a:solidFill>
                            <a:srgbClr val="21262E"/>
                          </a:solidFill>
                          <a:latin typeface="DejaVu Sans Mono"/>
                          <a:ea typeface="DejaVu Sans Mono"/>
                          <a:cs typeface="DejaVu Sans Mono"/>
                        </a:rPr>
                        <a:t>2.94</a:t>
                      </a:r>
                    </a:p>
                  </a:txBody>
                  <a:tcPr marL="64008" marR="64008" marT="22860" marB="22860">
                    <a:solidFill>
                      <a:srgbClr val="FFFFFF"/>
                    </a:solidFill>
                  </a:tcPr>
                </a:tc>
              </a:tr>
              <a:tr h="484632">
                <a:tc>
                  <a:txBody>
                    <a:bodyPr wrap="square" lIns="64008" rIns="64008" tIns="32004" bIns="32004" anchor="ctr">
                      <a:noAutofit/>
                    </a:bodyPr>
                    <a:lstStyle/>
                    <a:p>
                      <a:pPr algn="l">
                        <a:lnSpc>
                          <a:spcPct val="110000"/>
                        </a:lnSpc>
                        <a:spcBef>
                          <a:spcPts val="0"/>
                        </a:spcBef>
                        <a:spcAft>
                          <a:spcPts val="0"/>
                        </a:spcAft>
                        <a:buNone/>
                      </a:pPr>
                      <a:r>
                        <a:rPr sz="1210" b="1" lang="ko-KR">
                          <a:solidFill>
                            <a:srgbClr val="21262E"/>
                          </a:solidFill>
                          <a:latin typeface="Pretendard"/>
                          <a:ea typeface="Pretendard"/>
                          <a:cs typeface="Pretendard"/>
                        </a:rPr>
                        <a:t>XGBoost</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175" b="0" lang="ko-KR">
                          <a:solidFill>
                            <a:srgbClr val="21262E"/>
                          </a:solidFill>
                          <a:latin typeface="DejaVu Sans Mono"/>
                          <a:ea typeface="DejaVu Sans Mono"/>
                          <a:cs typeface="DejaVu Sans Mono"/>
                        </a:rPr>
                        <a:t>2.3</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175" b="0" lang="ko-KR">
                          <a:solidFill>
                            <a:srgbClr val="21262E"/>
                          </a:solidFill>
                          <a:latin typeface="DejaVu Sans Mono"/>
                          <a:ea typeface="DejaVu Sans Mono"/>
                          <a:cs typeface="DejaVu Sans Mono"/>
                        </a:rPr>
                        <a:t>1.0</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175" b="0" lang="ko-KR">
                          <a:solidFill>
                            <a:srgbClr val="21262E"/>
                          </a:solidFill>
                          <a:latin typeface="DejaVu Sans Mono"/>
                          <a:ea typeface="DejaVu Sans Mono"/>
                          <a:cs typeface="DejaVu Sans Mono"/>
                        </a:rPr>
                        <a:t>55.4</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175" b="0" lang="ko-KR">
                          <a:solidFill>
                            <a:srgbClr val="21262E"/>
                          </a:solidFill>
                          <a:latin typeface="DejaVu Sans Mono"/>
                          <a:ea typeface="DejaVu Sans Mono"/>
                          <a:cs typeface="DejaVu Sans Mono"/>
                        </a:rPr>
                        <a:t>1.0</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175" b="0" lang="ko-KR">
                          <a:solidFill>
                            <a:srgbClr val="21262E"/>
                          </a:solidFill>
                          <a:latin typeface="DejaVu Sans Mono"/>
                          <a:ea typeface="DejaVu Sans Mono"/>
                          <a:cs typeface="DejaVu Sans Mono"/>
                        </a:rPr>
                        <a:t>0.55</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175" b="0" lang="ko-KR">
                          <a:solidFill>
                            <a:srgbClr val="21262E"/>
                          </a:solidFill>
                          <a:latin typeface="DejaVu Sans Mono"/>
                          <a:ea typeface="DejaVu Sans Mono"/>
                          <a:cs typeface="DejaVu Sans Mono"/>
                        </a:rPr>
                        <a:t>0.53</a:t>
                      </a:r>
                    </a:p>
                  </a:txBody>
                  <a:tcPr marL="64008" marR="64008" marT="22860" marB="22860">
                    <a:solidFill>
                      <a:srgbClr val="F3F6FA"/>
                    </a:solidFill>
                  </a:tcPr>
                </a:tc>
              </a:tr>
              <a:tr h="484632">
                <a:tc>
                  <a:txBody>
                    <a:bodyPr wrap="square" lIns="64008" rIns="64008" tIns="32004" bIns="32004" anchor="ctr">
                      <a:noAutofit/>
                    </a:bodyPr>
                    <a:lstStyle/>
                    <a:p>
                      <a:pPr algn="l">
                        <a:lnSpc>
                          <a:spcPct val="110000"/>
                        </a:lnSpc>
                        <a:spcBef>
                          <a:spcPts val="0"/>
                        </a:spcBef>
                        <a:spcAft>
                          <a:spcPts val="0"/>
                        </a:spcAft>
                        <a:buNone/>
                      </a:pPr>
                      <a:r>
                        <a:rPr sz="1210" b="1" lang="ko-KR">
                          <a:solidFill>
                            <a:srgbClr val="21262E"/>
                          </a:solidFill>
                          <a:latin typeface="Pretendard"/>
                          <a:ea typeface="Pretendard"/>
                          <a:cs typeface="Pretendard"/>
                        </a:rPr>
                        <a:t>BoostPFN</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175" b="0" lang="ko-KR">
                          <a:solidFill>
                            <a:srgbClr val="21262E"/>
                          </a:solidFill>
                          <a:latin typeface="DejaVu Sans Mono"/>
                          <a:ea typeface="DejaVu Sans Mono"/>
                          <a:cs typeface="DejaVu Sans Mono"/>
                        </a:rPr>
                        <a:t>98.5</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175" b="0" lang="ko-KR">
                          <a:solidFill>
                            <a:srgbClr val="21262E"/>
                          </a:solidFill>
                          <a:latin typeface="DejaVu Sans Mono"/>
                          <a:ea typeface="DejaVu Sans Mono"/>
                          <a:cs typeface="DejaVu Sans Mono"/>
                        </a:rPr>
                        <a:t>2,308.5</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175" b="0" lang="ko-KR">
                          <a:solidFill>
                            <a:srgbClr val="21262E"/>
                          </a:solidFill>
                          <a:latin typeface="DejaVu Sans Mono"/>
                          <a:ea typeface="DejaVu Sans Mono"/>
                          <a:cs typeface="DejaVu Sans Mono"/>
                        </a:rPr>
                        <a:t>97.8</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175" b="0" lang="ko-KR">
                          <a:solidFill>
                            <a:srgbClr val="21262E"/>
                          </a:solidFill>
                          <a:latin typeface="DejaVu Sans Mono"/>
                          <a:ea typeface="DejaVu Sans Mono"/>
                          <a:cs typeface="DejaVu Sans Mono"/>
                        </a:rPr>
                        <a:t>1,737.6</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175" b="0" lang="ko-KR">
                          <a:solidFill>
                            <a:srgbClr val="21262E"/>
                          </a:solidFill>
                          <a:latin typeface="DejaVu Sans Mono"/>
                          <a:ea typeface="DejaVu Sans Mono"/>
                          <a:cs typeface="DejaVu Sans Mono"/>
                        </a:rPr>
                        <a:t>0.89</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175" b="0" lang="ko-KR">
                          <a:solidFill>
                            <a:srgbClr val="21262E"/>
                          </a:solidFill>
                          <a:latin typeface="DejaVu Sans Mono"/>
                          <a:ea typeface="DejaVu Sans Mono"/>
                          <a:cs typeface="DejaVu Sans Mono"/>
                        </a:rPr>
                        <a:t>0.89</a:t>
                      </a:r>
                    </a:p>
                  </a:txBody>
                  <a:tcPr marL="64008" marR="64008" marT="22860" marB="22860">
                    <a:solidFill>
                      <a:srgbClr val="FFFFFF"/>
                    </a:solidFill>
                  </a:tcPr>
                </a:tc>
              </a:tr>
              <a:tr h="484632">
                <a:tc>
                  <a:txBody>
                    <a:bodyPr wrap="square" lIns="64008" rIns="64008" tIns="32004" bIns="32004" anchor="ctr">
                      <a:noAutofit/>
                    </a:bodyPr>
                    <a:lstStyle/>
                    <a:p>
                      <a:pPr algn="l">
                        <a:lnSpc>
                          <a:spcPct val="110000"/>
                        </a:lnSpc>
                        <a:spcBef>
                          <a:spcPts val="0"/>
                        </a:spcBef>
                        <a:spcAft>
                          <a:spcPts val="0"/>
                        </a:spcAft>
                        <a:buNone/>
                      </a:pPr>
                      <a:r>
                        <a:rPr sz="1210" b="1" lang="ko-KR">
                          <a:solidFill>
                            <a:srgbClr val="21262E"/>
                          </a:solidFill>
                          <a:latin typeface="Pretendard"/>
                          <a:ea typeface="Pretendard"/>
                          <a:cs typeface="Pretendard"/>
                        </a:rPr>
                        <a:t>LoCalPFN · FT</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175" b="0" lang="ko-KR">
                          <a:solidFill>
                            <a:srgbClr val="21262E"/>
                          </a:solidFill>
                          <a:latin typeface="DejaVu Sans Mono"/>
                          <a:ea typeface="DejaVu Sans Mono"/>
                          <a:cs typeface="DejaVu Sans Mono"/>
                        </a:rPr>
                        <a:t>3,196.3</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175" b="0" lang="ko-KR">
                          <a:solidFill>
                            <a:srgbClr val="21262E"/>
                          </a:solidFill>
                          <a:latin typeface="DejaVu Sans Mono"/>
                          <a:ea typeface="DejaVu Sans Mono"/>
                          <a:cs typeface="DejaVu Sans Mono"/>
                        </a:rPr>
                        <a:t>17,300.8</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175" b="0" lang="ko-KR">
                          <a:solidFill>
                            <a:srgbClr val="21262E"/>
                          </a:solidFill>
                          <a:latin typeface="DejaVu Sans Mono"/>
                          <a:ea typeface="DejaVu Sans Mono"/>
                          <a:cs typeface="DejaVu Sans Mono"/>
                        </a:rPr>
                        <a:t>5,783.1</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175" b="0" lang="ko-KR">
                          <a:solidFill>
                            <a:srgbClr val="21262E"/>
                          </a:solidFill>
                          <a:latin typeface="DejaVu Sans Mono"/>
                          <a:ea typeface="DejaVu Sans Mono"/>
                          <a:cs typeface="DejaVu Sans Mono"/>
                        </a:rPr>
                        <a:t>11,144.8</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175" b="0" lang="ko-KR">
                          <a:solidFill>
                            <a:srgbClr val="21262E"/>
                          </a:solidFill>
                          <a:latin typeface="DejaVu Sans Mono"/>
                          <a:ea typeface="DejaVu Sans Mono"/>
                          <a:cs typeface="DejaVu Sans Mono"/>
                        </a:rPr>
                        <a:t>7.54</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175" b="0" lang="ko-KR">
                          <a:solidFill>
                            <a:srgbClr val="21262E"/>
                          </a:solidFill>
                          <a:latin typeface="DejaVu Sans Mono"/>
                          <a:ea typeface="DejaVu Sans Mono"/>
                          <a:cs typeface="DejaVu Sans Mono"/>
                        </a:rPr>
                        <a:t>7.54</a:t>
                      </a:r>
                    </a:p>
                  </a:txBody>
                  <a:tcPr marL="64008" marR="64008" marT="22860" marB="22860">
                    <a:solidFill>
                      <a:srgbClr val="F3F6FA"/>
                    </a:solidFill>
                  </a:tcPr>
                </a:tc>
              </a:tr>
              <a:tr h="484632">
                <a:tc>
                  <a:txBody>
                    <a:bodyPr wrap="square" lIns="64008" rIns="64008" tIns="32004" bIns="32004" anchor="ctr">
                      <a:noAutofit/>
                    </a:bodyPr>
                    <a:lstStyle/>
                    <a:p>
                      <a:pPr algn="l">
                        <a:lnSpc>
                          <a:spcPct val="110000"/>
                        </a:lnSpc>
                        <a:spcBef>
                          <a:spcPts val="0"/>
                        </a:spcBef>
                        <a:spcAft>
                          <a:spcPts val="0"/>
                        </a:spcAft>
                        <a:buNone/>
                      </a:pPr>
                      <a:r>
                        <a:rPr sz="1210" b="1" lang="ko-KR">
                          <a:solidFill>
                            <a:srgbClr val="21262E"/>
                          </a:solidFill>
                          <a:latin typeface="Pretendard"/>
                          <a:ea typeface="Pretendard"/>
                          <a:cs typeface="Pretendard"/>
                        </a:rPr>
                        <a:t>DistPFN · v3</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175" b="0" lang="ko-KR">
                          <a:solidFill>
                            <a:srgbClr val="21262E"/>
                          </a:solidFill>
                          <a:latin typeface="DejaVu Sans Mono"/>
                          <a:ea typeface="DejaVu Sans Mono"/>
                          <a:cs typeface="DejaVu Sans Mono"/>
                        </a:rPr>
                        <a:t>36.4</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175" b="0" lang="ko-KR">
                          <a:solidFill>
                            <a:srgbClr val="21262E"/>
                          </a:solidFill>
                          <a:latin typeface="DejaVu Sans Mono"/>
                          <a:ea typeface="DejaVu Sans Mono"/>
                          <a:cs typeface="DejaVu Sans Mono"/>
                        </a:rPr>
                        <a:t>1,099.4</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175" b="0" lang="ko-KR">
                          <a:solidFill>
                            <a:srgbClr val="21262E"/>
                          </a:solidFill>
                          <a:latin typeface="DejaVu Sans Mono"/>
                          <a:ea typeface="DejaVu Sans Mono"/>
                          <a:cs typeface="DejaVu Sans Mono"/>
                        </a:rPr>
                        <a:t>36.7</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175" b="0" lang="ko-KR">
                          <a:solidFill>
                            <a:srgbClr val="21262E"/>
                          </a:solidFill>
                          <a:latin typeface="DejaVu Sans Mono"/>
                          <a:ea typeface="DejaVu Sans Mono"/>
                          <a:cs typeface="DejaVu Sans Mono"/>
                        </a:rPr>
                        <a:t>821.9</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175" b="0" lang="ko-KR">
                          <a:solidFill>
                            <a:srgbClr val="21262E"/>
                          </a:solidFill>
                          <a:latin typeface="DejaVu Sans Mono"/>
                          <a:ea typeface="DejaVu Sans Mono"/>
                          <a:cs typeface="DejaVu Sans Mono"/>
                        </a:rPr>
                        <a:t>2.92</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175" b="0" lang="ko-KR">
                          <a:solidFill>
                            <a:srgbClr val="21262E"/>
                          </a:solidFill>
                          <a:latin typeface="DejaVu Sans Mono"/>
                          <a:ea typeface="DejaVu Sans Mono"/>
                          <a:cs typeface="DejaVu Sans Mono"/>
                        </a:rPr>
                        <a:t>2.94</a:t>
                      </a:r>
                    </a:p>
                  </a:txBody>
                  <a:tcPr marL="64008" marR="64008" marT="22860" marB="22860">
                    <a:solidFill>
                      <a:srgbClr val="FFFFFF"/>
                    </a:solidFill>
                  </a:tcPr>
                </a:tc>
              </a:tr>
              <a:tr h="484632">
                <a:tc>
                  <a:txBody>
                    <a:bodyPr wrap="square" lIns="64008" rIns="64008" tIns="32004" bIns="32004" anchor="ctr">
                      <a:noAutofit/>
                    </a:bodyPr>
                    <a:lstStyle/>
                    <a:p>
                      <a:pPr algn="l">
                        <a:lnSpc>
                          <a:spcPct val="110000"/>
                        </a:lnSpc>
                        <a:spcBef>
                          <a:spcPts val="0"/>
                        </a:spcBef>
                        <a:spcAft>
                          <a:spcPts val="0"/>
                        </a:spcAft>
                        <a:buNone/>
                      </a:pPr>
                      <a:r>
                        <a:rPr sz="1210" b="1" lang="ko-KR">
                          <a:solidFill>
                            <a:srgbClr val="21262E"/>
                          </a:solidFill>
                          <a:latin typeface="Pretendard"/>
                          <a:ea typeface="Pretendard"/>
                          <a:cs typeface="Pretendard"/>
                        </a:rPr>
                        <a:t>XGBoost · 전체 train</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175" b="0" lang="ko-KR">
                          <a:solidFill>
                            <a:srgbClr val="21262E"/>
                          </a:solidFill>
                          <a:latin typeface="DejaVu Sans Mono"/>
                          <a:ea typeface="DejaVu Sans Mono"/>
                          <a:cs typeface="DejaVu Sans Mono"/>
                        </a:rPr>
                        <a:t>107.8</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175" b="0" lang="ko-KR">
                          <a:solidFill>
                            <a:srgbClr val="21262E"/>
                          </a:solidFill>
                          <a:latin typeface="DejaVu Sans Mono"/>
                          <a:ea typeface="DejaVu Sans Mono"/>
                          <a:cs typeface="DejaVu Sans Mono"/>
                        </a:rPr>
                        <a:t>1.0</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175" b="0" lang="ko-KR">
                          <a:solidFill>
                            <a:srgbClr val="21262E"/>
                          </a:solidFill>
                          <a:latin typeface="DejaVu Sans Mono"/>
                          <a:ea typeface="DejaVu Sans Mono"/>
                          <a:cs typeface="DejaVu Sans Mono"/>
                        </a:rPr>
                        <a:t>143.2</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175" b="0" lang="ko-KR">
                          <a:solidFill>
                            <a:srgbClr val="21262E"/>
                          </a:solidFill>
                          <a:latin typeface="DejaVu Sans Mono"/>
                          <a:ea typeface="DejaVu Sans Mono"/>
                          <a:cs typeface="DejaVu Sans Mono"/>
                        </a:rPr>
                        <a:t>1.1</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175" b="0" lang="ko-KR">
                          <a:solidFill>
                            <a:srgbClr val="21262E"/>
                          </a:solidFill>
                          <a:latin typeface="DejaVu Sans Mono"/>
                          <a:ea typeface="DejaVu Sans Mono"/>
                          <a:cs typeface="DejaVu Sans Mono"/>
                        </a:rPr>
                        <a:t>2.20</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175" b="0" lang="ko-KR">
                          <a:solidFill>
                            <a:srgbClr val="21262E"/>
                          </a:solidFill>
                          <a:latin typeface="DejaVu Sans Mono"/>
                          <a:ea typeface="DejaVu Sans Mono"/>
                          <a:cs typeface="DejaVu Sans Mono"/>
                        </a:rPr>
                        <a:t>1.59</a:t>
                      </a:r>
                    </a:p>
                  </a:txBody>
                  <a:tcPr marL="64008" marR="64008" marT="22860" marB="22860">
                    <a:solidFill>
                      <a:srgbClr val="F3F6FA"/>
                    </a:solidFill>
                  </a:tcPr>
                </a:tc>
              </a:tr>
            </a:tbl>
          </a:graphicData>
        </a:graphic>
      </p:graphicFrame>
      <p:sp>
        <p:nvSpPr>
          <p:cNvPr id="8" name="TextBox 7"/>
          <p:cNvSpPr txBox="1"/>
          <p:nvPr/>
        </p:nvSpPr>
        <p:spPr>
          <a:xfrm>
            <a:off x="566928" y="5102352"/>
            <a:ext cx="11055096" cy="301752"/>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200" b="0" lang="ko-KR">
                <a:solidFill>
                  <a:srgbClr val="5D6773"/>
                </a:solidFill>
                <a:latin typeface="Pretendard"/>
                <a:ea typeface="Pretendard"/>
                <a:cs typeface="Pretendard"/>
              </a:rPr>
              <a:t>LoCalPFN: 학습에 validation, 추론에 검색 포함 · DistPFN: Global 계산과 prior 보정 포함</a:t>
            </a:r>
          </a:p>
        </p:txBody>
      </p:sp>
      <p:sp>
        <p:nvSpPr>
          <p:cNvPr id="9" name="Rounded Rectangle 8"/>
          <p:cNvSpPr/>
          <p:nvPr/>
        </p:nvSpPr>
        <p:spPr>
          <a:xfrm>
            <a:off x="566928" y="5577840"/>
            <a:ext cx="11055096" cy="521207"/>
          </a:xfrm>
          <a:prstGeom prst="roundRect">
            <a:avLst>
              <a:gd name="adj" fmla="val 3500"/>
            </a:avLst>
          </a:prstGeom>
          <a:solidFill>
            <a:srgbClr val="E7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5660136"/>
            <a:ext cx="10725912" cy="338328"/>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250" b="1" lang="ko-KR">
                <a:solidFill>
                  <a:srgbClr val="00306C"/>
                </a:solidFill>
                <a:latin typeface="Pretendard"/>
                <a:ea typeface="Pretendard"/>
                <a:cs typeface="Pretendard"/>
              </a:rPr>
              <a:t>현재 모델 K = 4 · 정책상 호출률 CIC2018 0.00%, ToN 100.00% · 조건부 추론 시간 별도 측정 예정</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11055096" cy="594360"/>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2800" b="1" lang="ko-KR">
                <a:solidFill>
                  <a:srgbClr val="00306C"/>
                </a:solidFill>
                <a:latin typeface="Pretendard"/>
                <a:ea typeface="Pretendard"/>
                <a:cs typeface="Pretendard"/>
              </a:rPr>
              <a:t>CIC2018 · 신규 공격 반영 성능과 비용</a:t>
            </a:r>
          </a:p>
        </p:txBody>
      </p:sp>
      <p:sp>
        <p:nvSpPr>
          <p:cNvPr id="3" name="Rectangle 2"/>
          <p:cNvSpPr/>
          <p:nvPr/>
        </p:nvSpPr>
        <p:spPr>
          <a:xfrm>
            <a:off x="0" y="6355080"/>
            <a:ext cx="12191999" cy="502920"/>
          </a:xfrm>
          <a:prstGeom prst="rect">
            <a:avLst/>
          </a:prstGeom>
          <a:solidFill>
            <a:srgbClr val="0030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75320" y="6428232"/>
            <a:ext cx="2743200" cy="274320"/>
          </a:xfrm>
          <a:prstGeom prst="rect">
            <a:avLst/>
          </a:prstGeom>
          <a:noFill/>
        </p:spPr>
        <p:txBody>
          <a:bodyPr wrap="square" tIns="32004" bIns="32004" anchor="ctr">
            <a:noAutofit/>
          </a:bodyPr>
          <a:lstStyle/>
          <a:p>
            <a:pPr algn="r">
              <a:lnSpc>
                <a:spcPct val="110000"/>
              </a:lnSpc>
              <a:spcBef>
                <a:spcPts val="0"/>
              </a:spcBef>
              <a:spcAft>
                <a:spcPts val="0"/>
              </a:spcAft>
              <a:buNone/>
            </a:pPr>
            <a:r>
              <a:rPr sz="1000" b="0" lang="ko-KR">
                <a:solidFill>
                  <a:srgbClr val="D6E4F3"/>
                </a:solidFill>
                <a:latin typeface="Pretendard"/>
                <a:ea typeface="Pretendard"/>
                <a:cs typeface="Pretendard"/>
              </a:rPr>
              <a:t>02 신규 공격 반영</a:t>
            </a:r>
          </a:p>
        </p:txBody>
      </p:sp>
      <p:sp>
        <p:nvSpPr>
          <p:cNvPr id="5" name="TextBox 4"/>
          <p:cNvSpPr txBox="1"/>
          <p:nvPr/>
        </p:nvSpPr>
        <p:spPr>
          <a:xfrm>
            <a:off x="11183112" y="6409944"/>
            <a:ext cx="438912" cy="310896"/>
          </a:xfrm>
          <a:prstGeom prst="rect">
            <a:avLst/>
          </a:prstGeom>
          <a:noFill/>
        </p:spPr>
        <p:txBody>
          <a:bodyPr wrap="square" tIns="32004" bIns="32004" anchor="ctr">
            <a:noAutofit/>
          </a:bodyPr>
          <a:lstStyle/>
          <a:p>
            <a:pPr algn="r">
              <a:lnSpc>
                <a:spcPct val="110000"/>
              </a:lnSpc>
              <a:spcBef>
                <a:spcPts val="0"/>
              </a:spcBef>
              <a:spcAft>
                <a:spcPts val="0"/>
              </a:spcAft>
              <a:buNone/>
              <a:buNone/>
            </a:pPr>
            <a:r>
              <a:rPr sz="1100" b="1" lang="ko-KR">
                <a:solidFill>
                  <a:srgbClr val="FFFFFF"/>
                </a:solidFill>
                <a:latin typeface="Pretendard"/>
                <a:ea typeface="Pretendard"/>
                <a:cs typeface="Pretendard"/>
              </a:rPr>
              <a:t>3</a:t>
            </a:r>
          </a:p>
        </p:txBody>
      </p:sp>
      <p:sp>
        <p:nvSpPr>
          <p:cNvPr id="6" name="TextBox 5"/>
          <p:cNvSpPr txBox="1"/>
          <p:nvPr/>
        </p:nvSpPr>
        <p:spPr>
          <a:xfrm>
            <a:off x="566928" y="932688"/>
            <a:ext cx="11055096" cy="320040"/>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300" b="0" lang="ko-KR">
                <a:solidFill>
                  <a:srgbClr val="5D6773"/>
                </a:solidFill>
                <a:latin typeface="Pretendard"/>
                <a:ea typeface="Pretendard"/>
                <a:cs typeface="Pretendard"/>
              </a:rPr>
              <a:t>동일 누적 사례 · Global TabPFN v3 · Seed 43 · RTX 4090 · GPU 작업 순차 실행</a:t>
            </a:r>
          </a:p>
        </p:txBody>
      </p:sp>
      <p:sp>
        <p:nvSpPr>
          <p:cNvPr id="7" name="TextBox 6"/>
          <p:cNvSpPr txBox="1"/>
          <p:nvPr/>
        </p:nvSpPr>
        <p:spPr>
          <a:xfrm>
            <a:off x="566928" y="1417320"/>
            <a:ext cx="5797296" cy="356616"/>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800" b="1" lang="ko-KR">
                <a:solidFill>
                  <a:srgbClr val="00306C"/>
                </a:solidFill>
                <a:latin typeface="Pretendard"/>
                <a:ea typeface="Pretendard"/>
                <a:cs typeface="Pretendard"/>
              </a:rPr>
              <a:t>각 신규 공격의 도입 직후 F1 (%)</a:t>
            </a:r>
          </a:p>
        </p:txBody>
      </p:sp>
      <p:sp>
        <p:nvSpPr>
          <p:cNvPr id="8" name="TextBox 7"/>
          <p:cNvSpPr txBox="1"/>
          <p:nvPr/>
        </p:nvSpPr>
        <p:spPr>
          <a:xfrm>
            <a:off x="566928" y="1819656"/>
            <a:ext cx="5797296" cy="283464"/>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150" b="0" lang="ko-KR">
                <a:solidFill>
                  <a:srgbClr val="5D6773"/>
                </a:solidFill>
                <a:latin typeface="Pretendard"/>
                <a:ea typeface="Pretendard"/>
                <a:cs typeface="Pretendard"/>
              </a:rPr>
              <a:t>정제 test 표본 수 내림차순 · 괄호는 도입 단계</a:t>
            </a:r>
          </a:p>
        </p:txBody>
      </p:sp>
      <p:graphicFrame>
        <p:nvGraphicFramePr>
          <p:cNvPr id="9" name="Table 8"/>
          <p:cNvGraphicFramePr>
            <a:graphicFrameLocks noGrp="1"/>
          </p:cNvGraphicFramePr>
          <p:nvPr/>
        </p:nvGraphicFramePr>
        <p:xfrm>
          <a:off x="566928" y="2212848"/>
          <a:ext cx="5797296" cy="2011680"/>
        </p:xfrm>
        <a:graphic>
          <a:graphicData uri="http://schemas.openxmlformats.org/drawingml/2006/table">
            <a:tbl>
              <a:tblPr>
                <a:tableStyleId>{5C22544A-7EE6-4342-B048-85BDC9FD1C3A}</a:tableStyleId>
              </a:tblPr>
              <a:tblGrid>
                <a:gridCol w="2139696"/>
                <a:gridCol w="1115568"/>
                <a:gridCol w="1271016"/>
                <a:gridCol w="1271016"/>
              </a:tblGrid>
              <a:tr h="402336">
                <a:tc>
                  <a:txBody>
                    <a:bodyPr wrap="square" lIns="64008" rIns="64008" tIns="32004" bIns="32004" anchor="ctr">
                      <a:noAutofit/>
                    </a:bodyPr>
                    <a:lstStyle/>
                    <a:p>
                      <a:pPr algn="l">
                        <a:lnSpc>
                          <a:spcPct val="110000"/>
                        </a:lnSpc>
                        <a:spcBef>
                          <a:spcPts val="0"/>
                        </a:spcBef>
                        <a:spcAft>
                          <a:spcPts val="0"/>
                        </a:spcAft>
                        <a:buNone/>
                      </a:pPr>
                      <a:r>
                        <a:rPr sz="1200" b="1" lang="ko-KR">
                          <a:solidFill>
                            <a:srgbClr val="FFFFFF"/>
                          </a:solidFill>
                          <a:latin typeface="Pretendard"/>
                          <a:ea typeface="Pretendard"/>
                          <a:cs typeface="Pretendard"/>
                        </a:rPr>
                        <a:t>신규 공격</a:t>
                      </a:r>
                    </a:p>
                  </a:txBody>
                  <a:tcPr marL="64008" marR="64008" marT="22860" marB="22860">
                    <a:solidFill>
                      <a:srgbClr val="00306C"/>
                    </a:solidFill>
                  </a:tcPr>
                </a:tc>
                <a:tc>
                  <a:txBody>
                    <a:bodyPr wrap="square" lIns="64008" rIns="64008" tIns="32004" bIns="32004" anchor="ctr">
                      <a:noAutofit/>
                    </a:bodyPr>
                    <a:lstStyle/>
                    <a:p>
                      <a:pPr algn="ctr">
                        <a:lnSpc>
                          <a:spcPct val="110000"/>
                        </a:lnSpc>
                        <a:spcBef>
                          <a:spcPts val="0"/>
                        </a:spcBef>
                        <a:spcAft>
                          <a:spcPts val="0"/>
                        </a:spcAft>
                        <a:buNone/>
                      </a:pPr>
                      <a:r>
                        <a:rPr sz="1200" b="1" lang="ko-KR">
                          <a:solidFill>
                            <a:srgbClr val="FFFFFF"/>
                          </a:solidFill>
                          <a:latin typeface="Pretendard"/>
                          <a:ea typeface="Pretendard"/>
                          <a:cs typeface="Pretendard"/>
                        </a:rPr>
                        <a:t>Test 수</a:t>
                      </a:r>
                    </a:p>
                  </a:txBody>
                  <a:tcPr marL="64008" marR="64008" marT="22860" marB="22860">
                    <a:solidFill>
                      <a:srgbClr val="00306C"/>
                    </a:solidFill>
                  </a:tcPr>
                </a:tc>
                <a:tc>
                  <a:txBody>
                    <a:bodyPr wrap="square" lIns="64008" rIns="64008" tIns="32004" bIns="32004" anchor="ctr">
                      <a:noAutofit/>
                    </a:bodyPr>
                    <a:lstStyle/>
                    <a:p>
                      <a:pPr algn="ctr">
                        <a:lnSpc>
                          <a:spcPct val="110000"/>
                        </a:lnSpc>
                        <a:spcBef>
                          <a:spcPts val="0"/>
                        </a:spcBef>
                        <a:spcAft>
                          <a:spcPts val="0"/>
                        </a:spcAft>
                        <a:buNone/>
                      </a:pPr>
                      <a:r>
                        <a:rPr sz="1200" b="1" lang="ko-KR">
                          <a:solidFill>
                            <a:srgbClr val="FFFFFF"/>
                          </a:solidFill>
                          <a:latin typeface="Pretendard"/>
                          <a:ea typeface="Pretendard"/>
                          <a:cs typeface="Pretendard"/>
                        </a:rPr>
                        <a:t>XGBoost</a:t>
                      </a:r>
                    </a:p>
                  </a:txBody>
                  <a:tcPr marL="64008" marR="64008" marT="22860" marB="22860">
                    <a:solidFill>
                      <a:srgbClr val="00306C"/>
                    </a:solidFill>
                  </a:tcPr>
                </a:tc>
                <a:tc>
                  <a:txBody>
                    <a:bodyPr wrap="square" lIns="64008" rIns="64008" tIns="32004" bIns="32004" anchor="ctr">
                      <a:noAutofit/>
                    </a:bodyPr>
                    <a:lstStyle/>
                    <a:p>
                      <a:pPr algn="ctr">
                        <a:lnSpc>
                          <a:spcPct val="110000"/>
                        </a:lnSpc>
                        <a:spcBef>
                          <a:spcPts val="0"/>
                        </a:spcBef>
                        <a:spcAft>
                          <a:spcPts val="0"/>
                        </a:spcAft>
                        <a:buNone/>
                      </a:pPr>
                      <a:r>
                        <a:rPr sz="1200" b="1" lang="ko-KR">
                          <a:solidFill>
                            <a:srgbClr val="FFFFFF"/>
                          </a:solidFill>
                          <a:latin typeface="Pretendard"/>
                          <a:ea typeface="Pretendard"/>
                          <a:cs typeface="Pretendard"/>
                        </a:rPr>
                        <a:t>TabPFN</a:t>
                      </a:r>
                    </a:p>
                  </a:txBody>
                  <a:tcPr marL="64008" marR="64008" marT="22860" marB="22860">
                    <a:solidFill>
                      <a:srgbClr val="00306C"/>
                    </a:solidFill>
                  </a:tcPr>
                </a:tc>
              </a:tr>
              <a:tr h="402336">
                <a:tc>
                  <a:txBody>
                    <a:bodyPr wrap="square" lIns="64008" rIns="64008" tIns="32004" bIns="32004" anchor="ctr">
                      <a:noAutofit/>
                    </a:bodyPr>
                    <a:lstStyle/>
                    <a:p>
                      <a:pPr algn="l">
                        <a:lnSpc>
                          <a:spcPct val="110000"/>
                        </a:lnSpc>
                        <a:spcBef>
                          <a:spcPts val="0"/>
                        </a:spcBef>
                        <a:spcAft>
                          <a:spcPts val="0"/>
                        </a:spcAft>
                        <a:buNone/>
                      </a:pPr>
                      <a:r>
                        <a:rPr sz="1200" b="1" lang="ko-KR">
                          <a:solidFill>
                            <a:srgbClr val="21262E"/>
                          </a:solidFill>
                          <a:latin typeface="Pretendard"/>
                          <a:ea typeface="Pretendard"/>
                          <a:cs typeface="Pretendard"/>
                        </a:rPr>
                        <a:t>DDoS (1)</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165" b="0" lang="ko-KR">
                          <a:solidFill>
                            <a:srgbClr val="21262E"/>
                          </a:solidFill>
                          <a:latin typeface="DejaVu Sans Mono"/>
                          <a:ea typeface="DejaVu Sans Mono"/>
                          <a:cs typeface="DejaVu Sans Mono"/>
                        </a:rPr>
                        <a:t>262,680</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165" b="0" lang="ko-KR">
                          <a:solidFill>
                            <a:srgbClr val="21262E"/>
                          </a:solidFill>
                          <a:latin typeface="DejaVu Sans Mono"/>
                          <a:ea typeface="DejaVu Sans Mono"/>
                          <a:cs typeface="DejaVu Sans Mono"/>
                        </a:rPr>
                        <a:t>99.96</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165" b="0" lang="ko-KR">
                          <a:solidFill>
                            <a:srgbClr val="21262E"/>
                          </a:solidFill>
                          <a:latin typeface="DejaVu Sans Mono"/>
                          <a:ea typeface="DejaVu Sans Mono"/>
                          <a:cs typeface="DejaVu Sans Mono"/>
                        </a:rPr>
                        <a:t>99.53</a:t>
                      </a:r>
                    </a:p>
                  </a:txBody>
                  <a:tcPr marL="64008" marR="64008" marT="22860" marB="22860">
                    <a:solidFill>
                      <a:srgbClr val="FFFFFF"/>
                    </a:solidFill>
                  </a:tcPr>
                </a:tc>
              </a:tr>
              <a:tr h="402336">
                <a:tc>
                  <a:txBody>
                    <a:bodyPr wrap="square" lIns="64008" rIns="64008" tIns="32004" bIns="32004" anchor="ctr">
                      <a:noAutofit/>
                    </a:bodyPr>
                    <a:lstStyle/>
                    <a:p>
                      <a:pPr algn="l">
                        <a:lnSpc>
                          <a:spcPct val="110000"/>
                        </a:lnSpc>
                        <a:spcBef>
                          <a:spcPts val="0"/>
                        </a:spcBef>
                        <a:spcAft>
                          <a:spcPts val="0"/>
                        </a:spcAft>
                        <a:buNone/>
                      </a:pPr>
                      <a:r>
                        <a:rPr sz="1200" b="1" lang="ko-KR">
                          <a:solidFill>
                            <a:srgbClr val="21262E"/>
                          </a:solidFill>
                          <a:latin typeface="Pretendard"/>
                          <a:ea typeface="Pretendard"/>
                          <a:cs typeface="Pretendard"/>
                        </a:rPr>
                        <a:t>Bot (4)</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165" b="0" lang="ko-KR">
                          <a:solidFill>
                            <a:srgbClr val="21262E"/>
                          </a:solidFill>
                          <a:latin typeface="DejaVu Sans Mono"/>
                          <a:ea typeface="DejaVu Sans Mono"/>
                          <a:cs typeface="DejaVu Sans Mono"/>
                        </a:rPr>
                        <a:t>41,542</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165" b="0" lang="ko-KR">
                          <a:solidFill>
                            <a:srgbClr val="21262E"/>
                          </a:solidFill>
                          <a:latin typeface="DejaVu Sans Mono"/>
                          <a:ea typeface="DejaVu Sans Mono"/>
                          <a:cs typeface="DejaVu Sans Mono"/>
                        </a:rPr>
                        <a:t>99.70</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165" b="0" lang="ko-KR">
                          <a:solidFill>
                            <a:srgbClr val="21262E"/>
                          </a:solidFill>
                          <a:latin typeface="DejaVu Sans Mono"/>
                          <a:ea typeface="DejaVu Sans Mono"/>
                          <a:cs typeface="DejaVu Sans Mono"/>
                        </a:rPr>
                        <a:t>99.77</a:t>
                      </a:r>
                    </a:p>
                  </a:txBody>
                  <a:tcPr marL="64008" marR="64008" marT="22860" marB="22860">
                    <a:solidFill>
                      <a:srgbClr val="F3F6FA"/>
                    </a:solidFill>
                  </a:tcPr>
                </a:tc>
              </a:tr>
              <a:tr h="402336">
                <a:tc>
                  <a:txBody>
                    <a:bodyPr wrap="square" lIns="64008" rIns="64008" tIns="32004" bIns="32004" anchor="ctr">
                      <a:noAutofit/>
                    </a:bodyPr>
                    <a:lstStyle/>
                    <a:p>
                      <a:pPr algn="l">
                        <a:lnSpc>
                          <a:spcPct val="110000"/>
                        </a:lnSpc>
                        <a:spcBef>
                          <a:spcPts val="0"/>
                        </a:spcBef>
                        <a:spcAft>
                          <a:spcPts val="0"/>
                        </a:spcAft>
                        <a:buNone/>
                      </a:pPr>
                      <a:r>
                        <a:rPr sz="1200" b="1" lang="ko-KR">
                          <a:solidFill>
                            <a:srgbClr val="21262E"/>
                          </a:solidFill>
                          <a:latin typeface="Pretendard"/>
                          <a:ea typeface="Pretendard"/>
                          <a:cs typeface="Pretendard"/>
                        </a:rPr>
                        <a:t>Infiltration (3)</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165" b="0" lang="ko-KR">
                          <a:solidFill>
                            <a:srgbClr val="21262E"/>
                          </a:solidFill>
                          <a:latin typeface="DejaVu Sans Mono"/>
                          <a:ea typeface="DejaVu Sans Mono"/>
                          <a:cs typeface="DejaVu Sans Mono"/>
                        </a:rPr>
                        <a:t>8,742</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165" b="0" lang="ko-KR">
                          <a:solidFill>
                            <a:srgbClr val="21262E"/>
                          </a:solidFill>
                          <a:latin typeface="DejaVu Sans Mono"/>
                          <a:ea typeface="DejaVu Sans Mono"/>
                          <a:cs typeface="DejaVu Sans Mono"/>
                        </a:rPr>
                        <a:t>10.68</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165" b="0" lang="ko-KR">
                          <a:solidFill>
                            <a:srgbClr val="21262E"/>
                          </a:solidFill>
                          <a:latin typeface="DejaVu Sans Mono"/>
                          <a:ea typeface="DejaVu Sans Mono"/>
                          <a:cs typeface="DejaVu Sans Mono"/>
                        </a:rPr>
                        <a:t>25.43</a:t>
                      </a:r>
                    </a:p>
                  </a:txBody>
                  <a:tcPr marL="64008" marR="64008" marT="22860" marB="22860">
                    <a:solidFill>
                      <a:srgbClr val="FFFFFF"/>
                    </a:solidFill>
                  </a:tcPr>
                </a:tc>
              </a:tr>
              <a:tr h="402336">
                <a:tc>
                  <a:txBody>
                    <a:bodyPr wrap="square" lIns="64008" rIns="64008" tIns="32004" bIns="32004" anchor="ctr">
                      <a:noAutofit/>
                    </a:bodyPr>
                    <a:lstStyle/>
                    <a:p>
                      <a:pPr algn="l">
                        <a:lnSpc>
                          <a:spcPct val="110000"/>
                        </a:lnSpc>
                        <a:spcBef>
                          <a:spcPts val="0"/>
                        </a:spcBef>
                        <a:spcAft>
                          <a:spcPts val="0"/>
                        </a:spcAft>
                        <a:buNone/>
                      </a:pPr>
                      <a:r>
                        <a:rPr sz="1200" b="1" lang="ko-KR">
                          <a:solidFill>
                            <a:srgbClr val="21262E"/>
                          </a:solidFill>
                          <a:latin typeface="Pretendard"/>
                          <a:ea typeface="Pretendard"/>
                          <a:cs typeface="Pretendard"/>
                        </a:rPr>
                        <a:t>Web attack (2)</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165" b="0" lang="ko-KR">
                          <a:solidFill>
                            <a:srgbClr val="21262E"/>
                          </a:solidFill>
                          <a:latin typeface="DejaVu Sans Mono"/>
                          <a:ea typeface="DejaVu Sans Mono"/>
                          <a:cs typeface="DejaVu Sans Mono"/>
                        </a:rPr>
                        <a:t>127</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165" b="0" lang="ko-KR">
                          <a:solidFill>
                            <a:srgbClr val="21262E"/>
                          </a:solidFill>
                          <a:latin typeface="DejaVu Sans Mono"/>
                          <a:ea typeface="DejaVu Sans Mono"/>
                          <a:cs typeface="DejaVu Sans Mono"/>
                        </a:rPr>
                        <a:t>17.32</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165" b="0" lang="ko-KR">
                          <a:solidFill>
                            <a:srgbClr val="21262E"/>
                          </a:solidFill>
                          <a:latin typeface="DejaVu Sans Mono"/>
                          <a:ea typeface="DejaVu Sans Mono"/>
                          <a:cs typeface="DejaVu Sans Mono"/>
                        </a:rPr>
                        <a:t>31.52</a:t>
                      </a:r>
                    </a:p>
                  </a:txBody>
                  <a:tcPr marL="64008" marR="64008" marT="22860" marB="22860">
                    <a:solidFill>
                      <a:srgbClr val="F3F6FA"/>
                    </a:solidFill>
                  </a:tcPr>
                </a:tc>
              </a:tr>
            </a:tbl>
          </a:graphicData>
        </a:graphic>
      </p:graphicFrame>
      <p:sp>
        <p:nvSpPr>
          <p:cNvPr id="10" name="TextBox 9"/>
          <p:cNvSpPr txBox="1"/>
          <p:nvPr/>
        </p:nvSpPr>
        <p:spPr>
          <a:xfrm>
            <a:off x="6684264" y="1417320"/>
            <a:ext cx="4937760" cy="356616"/>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800" b="1" lang="ko-KR">
                <a:solidFill>
                  <a:srgbClr val="00306C"/>
                </a:solidFill>
                <a:latin typeface="Pretendard"/>
                <a:ea typeface="Pretendard"/>
                <a:cs typeface="Pretendard"/>
              </a:rPr>
              <a:t>최종 100,000행에서의 성능·비용</a:t>
            </a:r>
          </a:p>
        </p:txBody>
      </p:sp>
      <p:sp>
        <p:nvSpPr>
          <p:cNvPr id="11" name="TextBox 10"/>
          <p:cNvSpPr txBox="1"/>
          <p:nvPr/>
        </p:nvSpPr>
        <p:spPr>
          <a:xfrm>
            <a:off x="6684264" y="1819656"/>
            <a:ext cx="4937760" cy="283464"/>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150" b="0" lang="ko-KR">
                <a:solidFill>
                  <a:srgbClr val="5D6773"/>
                </a:solidFill>
                <a:latin typeface="Pretendard"/>
                <a:ea typeface="Pretendard"/>
                <a:cs typeface="Pretendard"/>
              </a:rPr>
              <a:t>전체 test 3,042,473행 · 시간 단위: 초</a:t>
            </a:r>
          </a:p>
        </p:txBody>
      </p:sp>
      <p:graphicFrame>
        <p:nvGraphicFramePr>
          <p:cNvPr id="12" name="Table 11"/>
          <p:cNvGraphicFramePr>
            <a:graphicFrameLocks noGrp="1"/>
          </p:cNvGraphicFramePr>
          <p:nvPr/>
        </p:nvGraphicFramePr>
        <p:xfrm>
          <a:off x="6684264" y="2212848"/>
          <a:ext cx="4937760" cy="2240280"/>
        </p:xfrm>
        <a:graphic>
          <a:graphicData uri="http://schemas.openxmlformats.org/drawingml/2006/table">
            <a:tbl>
              <a:tblPr>
                <a:tableStyleId>{5C22544A-7EE6-4342-B048-85BDC9FD1C3A}</a:tableStyleId>
              </a:tblPr>
              <a:tblGrid>
                <a:gridCol w="2194560"/>
                <a:gridCol w="1371600"/>
                <a:gridCol w="1371600"/>
              </a:tblGrid>
              <a:tr h="448056">
                <a:tc>
                  <a:txBody>
                    <a:bodyPr wrap="square" lIns="64008" rIns="64008" tIns="32004" bIns="32004" anchor="ctr">
                      <a:noAutofit/>
                    </a:bodyPr>
                    <a:lstStyle/>
                    <a:p>
                      <a:pPr algn="l">
                        <a:lnSpc>
                          <a:spcPct val="110000"/>
                        </a:lnSpc>
                        <a:spcBef>
                          <a:spcPts val="0"/>
                        </a:spcBef>
                        <a:spcAft>
                          <a:spcPts val="0"/>
                        </a:spcAft>
                        <a:buNone/>
                      </a:pPr>
                      <a:r>
                        <a:rPr sz="1240" b="1" lang="ko-KR">
                          <a:solidFill>
                            <a:srgbClr val="FFFFFF"/>
                          </a:solidFill>
                          <a:latin typeface="Pretendard"/>
                          <a:ea typeface="Pretendard"/>
                          <a:cs typeface="Pretendard"/>
                        </a:rPr>
                        <a:t>지표</a:t>
                      </a:r>
                    </a:p>
                  </a:txBody>
                  <a:tcPr marL="64008" marR="64008" marT="22860" marB="22860">
                    <a:solidFill>
                      <a:srgbClr val="00306C"/>
                    </a:solidFill>
                  </a:tcPr>
                </a:tc>
                <a:tc>
                  <a:txBody>
                    <a:bodyPr wrap="square" lIns="64008" rIns="64008" tIns="32004" bIns="32004" anchor="ctr">
                      <a:noAutofit/>
                    </a:bodyPr>
                    <a:lstStyle/>
                    <a:p>
                      <a:pPr algn="ctr">
                        <a:lnSpc>
                          <a:spcPct val="110000"/>
                        </a:lnSpc>
                        <a:spcBef>
                          <a:spcPts val="0"/>
                        </a:spcBef>
                        <a:spcAft>
                          <a:spcPts val="0"/>
                        </a:spcAft>
                        <a:buNone/>
                      </a:pPr>
                      <a:r>
                        <a:rPr sz="1240" b="1" lang="ko-KR">
                          <a:solidFill>
                            <a:srgbClr val="FFFFFF"/>
                          </a:solidFill>
                          <a:latin typeface="Pretendard"/>
                          <a:ea typeface="Pretendard"/>
                          <a:cs typeface="Pretendard"/>
                        </a:rPr>
                        <a:t>XGBoost</a:t>
                      </a:r>
                    </a:p>
                  </a:txBody>
                  <a:tcPr marL="64008" marR="64008" marT="22860" marB="22860">
                    <a:solidFill>
                      <a:srgbClr val="00306C"/>
                    </a:solidFill>
                  </a:tcPr>
                </a:tc>
                <a:tc>
                  <a:txBody>
                    <a:bodyPr wrap="square" lIns="64008" rIns="64008" tIns="32004" bIns="32004" anchor="ctr">
                      <a:noAutofit/>
                    </a:bodyPr>
                    <a:lstStyle/>
                    <a:p>
                      <a:pPr algn="ctr">
                        <a:lnSpc>
                          <a:spcPct val="110000"/>
                        </a:lnSpc>
                        <a:spcBef>
                          <a:spcPts val="0"/>
                        </a:spcBef>
                        <a:spcAft>
                          <a:spcPts val="0"/>
                        </a:spcAft>
                        <a:buNone/>
                      </a:pPr>
                      <a:r>
                        <a:rPr sz="1240" b="1" lang="ko-KR">
                          <a:solidFill>
                            <a:srgbClr val="FFFFFF"/>
                          </a:solidFill>
                          <a:latin typeface="Pretendard"/>
                          <a:ea typeface="Pretendard"/>
                          <a:cs typeface="Pretendard"/>
                        </a:rPr>
                        <a:t>TabPFN</a:t>
                      </a:r>
                    </a:p>
                  </a:txBody>
                  <a:tcPr marL="64008" marR="64008" marT="22860" marB="22860">
                    <a:solidFill>
                      <a:srgbClr val="00306C"/>
                    </a:solidFill>
                  </a:tcPr>
                </a:tc>
              </a:tr>
              <a:tr h="448056">
                <a:tc>
                  <a:txBody>
                    <a:bodyPr wrap="square" lIns="64008" rIns="64008" tIns="32004" bIns="32004" anchor="ctr">
                      <a:noAutofit/>
                    </a:bodyPr>
                    <a:lstStyle/>
                    <a:p>
                      <a:pPr algn="l">
                        <a:lnSpc>
                          <a:spcPct val="110000"/>
                        </a:lnSpc>
                        <a:spcBef>
                          <a:spcPts val="0"/>
                        </a:spcBef>
                        <a:spcAft>
                          <a:spcPts val="0"/>
                        </a:spcAft>
                        <a:buNone/>
                      </a:pPr>
                      <a:r>
                        <a:rPr sz="1240" b="1" lang="ko-KR">
                          <a:solidFill>
                            <a:srgbClr val="21262E"/>
                          </a:solidFill>
                          <a:latin typeface="Pretendard"/>
                          <a:ea typeface="Pretendard"/>
                          <a:cs typeface="Pretendard"/>
                        </a:rPr>
                        <a:t>Macro-F1 (%)</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205" b="0" lang="ko-KR">
                          <a:solidFill>
                            <a:srgbClr val="21262E"/>
                          </a:solidFill>
                          <a:latin typeface="DejaVu Sans Mono"/>
                          <a:ea typeface="DejaVu Sans Mono"/>
                          <a:cs typeface="DejaVu Sans Mono"/>
                        </a:rPr>
                        <a:t>77.59</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205" b="0" lang="ko-KR">
                          <a:solidFill>
                            <a:srgbClr val="21262E"/>
                          </a:solidFill>
                          <a:latin typeface="DejaVu Sans Mono"/>
                          <a:ea typeface="DejaVu Sans Mono"/>
                          <a:cs typeface="DejaVu Sans Mono"/>
                        </a:rPr>
                        <a:t>78.64</a:t>
                      </a:r>
                    </a:p>
                  </a:txBody>
                  <a:tcPr marL="64008" marR="64008" marT="22860" marB="22860">
                    <a:solidFill>
                      <a:srgbClr val="FFFFFF"/>
                    </a:solidFill>
                  </a:tcPr>
                </a:tc>
              </a:tr>
              <a:tr h="448056">
                <a:tc>
                  <a:txBody>
                    <a:bodyPr wrap="square" lIns="64008" rIns="64008" tIns="32004" bIns="32004" anchor="ctr">
                      <a:noAutofit/>
                    </a:bodyPr>
                    <a:lstStyle/>
                    <a:p>
                      <a:pPr algn="l">
                        <a:lnSpc>
                          <a:spcPct val="110000"/>
                        </a:lnSpc>
                        <a:spcBef>
                          <a:spcPts val="0"/>
                        </a:spcBef>
                        <a:spcAft>
                          <a:spcPts val="0"/>
                        </a:spcAft>
                        <a:buNone/>
                      </a:pPr>
                      <a:r>
                        <a:rPr sz="1240" b="1" lang="ko-KR">
                          <a:solidFill>
                            <a:srgbClr val="21262E"/>
                          </a:solidFill>
                          <a:latin typeface="Pretendard"/>
                          <a:ea typeface="Pretendard"/>
                          <a:cs typeface="Pretendard"/>
                        </a:rPr>
                        <a:t>정상 오탐률 (%)</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205" b="0" lang="ko-KR">
                          <a:solidFill>
                            <a:srgbClr val="21262E"/>
                          </a:solidFill>
                          <a:latin typeface="DejaVu Sans Mono"/>
                          <a:ea typeface="DejaVu Sans Mono"/>
                          <a:cs typeface="DejaVu Sans Mono"/>
                        </a:rPr>
                        <a:t>2.10</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205" b="0" lang="ko-KR">
                          <a:solidFill>
                            <a:srgbClr val="21262E"/>
                          </a:solidFill>
                          <a:latin typeface="DejaVu Sans Mono"/>
                          <a:ea typeface="DejaVu Sans Mono"/>
                          <a:cs typeface="DejaVu Sans Mono"/>
                        </a:rPr>
                        <a:t>0.14</a:t>
                      </a:r>
                    </a:p>
                  </a:txBody>
                  <a:tcPr marL="64008" marR="64008" marT="22860" marB="22860">
                    <a:solidFill>
                      <a:srgbClr val="F3F6FA"/>
                    </a:solidFill>
                  </a:tcPr>
                </a:tc>
              </a:tr>
              <a:tr h="448056">
                <a:tc>
                  <a:txBody>
                    <a:bodyPr wrap="square" lIns="64008" rIns="64008" tIns="32004" bIns="32004" anchor="ctr">
                      <a:noAutofit/>
                    </a:bodyPr>
                    <a:lstStyle/>
                    <a:p>
                      <a:pPr algn="l">
                        <a:lnSpc>
                          <a:spcPct val="110000"/>
                        </a:lnSpc>
                        <a:spcBef>
                          <a:spcPts val="0"/>
                        </a:spcBef>
                        <a:spcAft>
                          <a:spcPts val="0"/>
                        </a:spcAft>
                        <a:buNone/>
                      </a:pPr>
                      <a:r>
                        <a:rPr sz="1240" b="1" lang="ko-KR">
                          <a:solidFill>
                            <a:srgbClr val="21262E"/>
                          </a:solidFill>
                          <a:latin typeface="Pretendard"/>
                          <a:ea typeface="Pretendard"/>
                          <a:cs typeface="Pretendard"/>
                        </a:rPr>
                        <a:t>학습·구성 시간</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205" b="0" lang="ko-KR">
                          <a:solidFill>
                            <a:srgbClr val="21262E"/>
                          </a:solidFill>
                          <a:latin typeface="DejaVu Sans Mono"/>
                          <a:ea typeface="DejaVu Sans Mono"/>
                          <a:cs typeface="DejaVu Sans Mono"/>
                        </a:rPr>
                        <a:t>1.98</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205" b="0" lang="ko-KR">
                          <a:solidFill>
                            <a:srgbClr val="21262E"/>
                          </a:solidFill>
                          <a:latin typeface="DejaVu Sans Mono"/>
                          <a:ea typeface="DejaVu Sans Mono"/>
                          <a:cs typeface="DejaVu Sans Mono"/>
                        </a:rPr>
                        <a:t>16.98</a:t>
                      </a:r>
                    </a:p>
                  </a:txBody>
                  <a:tcPr marL="64008" marR="64008" marT="22860" marB="22860">
                    <a:solidFill>
                      <a:srgbClr val="FFFFFF"/>
                    </a:solidFill>
                  </a:tcPr>
                </a:tc>
              </a:tr>
              <a:tr h="448056">
                <a:tc>
                  <a:txBody>
                    <a:bodyPr wrap="square" lIns="64008" rIns="64008" tIns="32004" bIns="32004" anchor="ctr">
                      <a:noAutofit/>
                    </a:bodyPr>
                    <a:lstStyle/>
                    <a:p>
                      <a:pPr algn="l">
                        <a:lnSpc>
                          <a:spcPct val="110000"/>
                        </a:lnSpc>
                        <a:spcBef>
                          <a:spcPts val="0"/>
                        </a:spcBef>
                        <a:spcAft>
                          <a:spcPts val="0"/>
                        </a:spcAft>
                        <a:buNone/>
                      </a:pPr>
                      <a:r>
                        <a:rPr sz="1240" b="1" lang="ko-KR">
                          <a:solidFill>
                            <a:srgbClr val="21262E"/>
                          </a:solidFill>
                          <a:latin typeface="Pretendard"/>
                          <a:ea typeface="Pretendard"/>
                          <a:cs typeface="Pretendard"/>
                        </a:rPr>
                        <a:t>추론 시간</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205" b="0" lang="ko-KR">
                          <a:solidFill>
                            <a:srgbClr val="21262E"/>
                          </a:solidFill>
                          <a:latin typeface="DejaVu Sans Mono"/>
                          <a:ea typeface="DejaVu Sans Mono"/>
                          <a:cs typeface="DejaVu Sans Mono"/>
                        </a:rPr>
                        <a:t>1.44</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205" b="0" lang="ko-KR">
                          <a:solidFill>
                            <a:srgbClr val="21262E"/>
                          </a:solidFill>
                          <a:latin typeface="DejaVu Sans Mono"/>
                          <a:ea typeface="DejaVu Sans Mono"/>
                          <a:cs typeface="DejaVu Sans Mono"/>
                        </a:rPr>
                        <a:t>522.63</a:t>
                      </a:r>
                    </a:p>
                  </a:txBody>
                  <a:tcPr marL="64008" marR="64008" marT="22860" marB="22860">
                    <a:solidFill>
                      <a:srgbClr val="F3F6FA"/>
                    </a:solidFill>
                  </a:tcPr>
                </a:tc>
              </a:tr>
            </a:tbl>
          </a:graphicData>
        </a:graphic>
      </p:graphicFrame>
      <p:sp>
        <p:nvSpPr>
          <p:cNvPr id="13" name="TextBox 12"/>
          <p:cNvSpPr txBox="1"/>
          <p:nvPr/>
        </p:nvSpPr>
        <p:spPr>
          <a:xfrm>
            <a:off x="6684264" y="4672584"/>
            <a:ext cx="4937760" cy="612648"/>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250" b="0" lang="ko-KR">
                <a:solidFill>
                  <a:srgbClr val="5D6773"/>
                </a:solidFill>
                <a:latin typeface="Pretendard"/>
                <a:ea typeface="Pretendard"/>
                <a:cs typeface="Pretendard"/>
              </a:rPr>
              <a:t>TabPFN: 가중치 고정, 전처리·cache 구성</a:t>
            </a:r>
          </a:p>
          <a:p>
            <a:pPr algn="l">
              <a:lnSpc>
                <a:spcPct val="110000"/>
              </a:lnSpc>
              <a:spcBef>
                <a:spcPts val="0"/>
              </a:spcBef>
              <a:spcAft>
                <a:spcPts val="0"/>
              </a:spcAft>
              <a:buNone/>
            </a:pPr>
            <a:r>
              <a:rPr sz="1250" b="0" lang="ko-KR">
                <a:solidFill>
                  <a:srgbClr val="5D6773"/>
                </a:solidFill>
                <a:latin typeface="Pretendard"/>
                <a:ea typeface="Pretendard"/>
                <a:cs typeface="Pretendard"/>
              </a:rPr>
              <a:t>XGBoost: 누적 데이터로 매 단계 재학습</a:t>
            </a:r>
          </a:p>
        </p:txBody>
      </p:sp>
      <p:sp>
        <p:nvSpPr>
          <p:cNvPr id="14" name="TextBox 13"/>
          <p:cNvSpPr txBox="1"/>
          <p:nvPr/>
        </p:nvSpPr>
        <p:spPr>
          <a:xfrm>
            <a:off x="566928" y="5806440"/>
            <a:ext cx="11055096" cy="356616"/>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600" b="1" lang="ko-KR">
                <a:solidFill>
                  <a:srgbClr val="00306C"/>
                </a:solidFill>
                <a:latin typeface="Pretendard"/>
                <a:ea typeface="Pretendard"/>
                <a:cs typeface="Pretendard"/>
              </a:rPr>
              <a:t>Web attack·Infiltration의 도입 직후 F1 개선 · 큰 context의 추론 비용 절감 필요</a:t>
            </a:r>
          </a:p>
        </p:txBody>
      </p:sp>
      <p:sp>
        <p:nvSpPr>
          <p:cNvPr id="15" name="TextBox 14"/>
          <p:cNvSpPr txBox="1"/>
          <p:nvPr/>
        </p:nvSpPr>
        <p:spPr>
          <a:xfrm>
            <a:off x="566928" y="6432804"/>
            <a:ext cx="7498079" cy="274320"/>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100" b="1" lang="ko-KR">
                <a:solidFill>
                  <a:srgbClr val="FFFFFF"/>
                </a:solidFill>
                <a:latin typeface="Pretendard"/>
                <a:ea typeface="Pretendard"/>
                <a:cs typeface="Pretendard"/>
              </a:rPr>
              <a:t>신규 공격 성능과 계산 비용을 함께 평가</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11055096" cy="594360"/>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2800" b="1" lang="ko-KR">
                <a:solidFill>
                  <a:srgbClr val="00306C"/>
                </a:solidFill>
                <a:latin typeface="Pretendard"/>
                <a:ea typeface="Pretendard"/>
                <a:cs typeface="Pretendard"/>
              </a:rPr>
              <a:t>ToN · 신규 공격 반영 성능과 비용</a:t>
            </a:r>
          </a:p>
        </p:txBody>
      </p:sp>
      <p:sp>
        <p:nvSpPr>
          <p:cNvPr id="3" name="Rectangle 2"/>
          <p:cNvSpPr/>
          <p:nvPr/>
        </p:nvSpPr>
        <p:spPr>
          <a:xfrm>
            <a:off x="0" y="6355080"/>
            <a:ext cx="12191999" cy="502920"/>
          </a:xfrm>
          <a:prstGeom prst="rect">
            <a:avLst/>
          </a:prstGeom>
          <a:solidFill>
            <a:srgbClr val="0030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75320" y="6428232"/>
            <a:ext cx="2743200" cy="274320"/>
          </a:xfrm>
          <a:prstGeom prst="rect">
            <a:avLst/>
          </a:prstGeom>
          <a:noFill/>
        </p:spPr>
        <p:txBody>
          <a:bodyPr wrap="square" tIns="32004" bIns="32004" anchor="ctr">
            <a:noAutofit/>
          </a:bodyPr>
          <a:lstStyle/>
          <a:p>
            <a:pPr algn="r">
              <a:lnSpc>
                <a:spcPct val="110000"/>
              </a:lnSpc>
              <a:spcBef>
                <a:spcPts val="0"/>
              </a:spcBef>
              <a:spcAft>
                <a:spcPts val="0"/>
              </a:spcAft>
              <a:buNone/>
            </a:pPr>
            <a:r>
              <a:rPr sz="1000" b="0" lang="ko-KR">
                <a:solidFill>
                  <a:srgbClr val="D6E4F3"/>
                </a:solidFill>
                <a:latin typeface="Pretendard"/>
                <a:ea typeface="Pretendard"/>
                <a:cs typeface="Pretendard"/>
              </a:rPr>
              <a:t>02 신규 공격 반영</a:t>
            </a:r>
          </a:p>
        </p:txBody>
      </p:sp>
      <p:sp>
        <p:nvSpPr>
          <p:cNvPr id="5" name="TextBox 4"/>
          <p:cNvSpPr txBox="1"/>
          <p:nvPr/>
        </p:nvSpPr>
        <p:spPr>
          <a:xfrm>
            <a:off x="11183112" y="6409944"/>
            <a:ext cx="438912" cy="310896"/>
          </a:xfrm>
          <a:prstGeom prst="rect">
            <a:avLst/>
          </a:prstGeom>
          <a:noFill/>
        </p:spPr>
        <p:txBody>
          <a:bodyPr wrap="square" tIns="32004" bIns="32004" anchor="ctr">
            <a:noAutofit/>
          </a:bodyPr>
          <a:lstStyle/>
          <a:p>
            <a:pPr algn="r">
              <a:lnSpc>
                <a:spcPct val="110000"/>
              </a:lnSpc>
              <a:spcBef>
                <a:spcPts val="0"/>
              </a:spcBef>
              <a:spcAft>
                <a:spcPts val="0"/>
              </a:spcAft>
              <a:buNone/>
              <a:buNone/>
            </a:pPr>
            <a:r>
              <a:rPr sz="1100" b="1" lang="ko-KR">
                <a:solidFill>
                  <a:srgbClr val="FFFFFF"/>
                </a:solidFill>
                <a:latin typeface="Pretendard"/>
                <a:ea typeface="Pretendard"/>
                <a:cs typeface="Pretendard"/>
              </a:rPr>
              <a:t>4</a:t>
            </a:r>
          </a:p>
        </p:txBody>
      </p:sp>
      <p:sp>
        <p:nvSpPr>
          <p:cNvPr id="6" name="TextBox 5"/>
          <p:cNvSpPr txBox="1"/>
          <p:nvPr/>
        </p:nvSpPr>
        <p:spPr>
          <a:xfrm>
            <a:off x="566928" y="932688"/>
            <a:ext cx="11055096" cy="320040"/>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300" b="0" lang="ko-KR">
                <a:solidFill>
                  <a:srgbClr val="5D6773"/>
                </a:solidFill>
                <a:latin typeface="Pretendard"/>
                <a:ea typeface="Pretendard"/>
                <a:cs typeface="Pretendard"/>
              </a:rPr>
              <a:t>동일 누적 사례 · Global TabPFN v3 · Seed 43 · RTX 4090 · GPU 작업 순차 실행</a:t>
            </a:r>
          </a:p>
        </p:txBody>
      </p:sp>
      <p:sp>
        <p:nvSpPr>
          <p:cNvPr id="7" name="TextBox 6"/>
          <p:cNvSpPr txBox="1"/>
          <p:nvPr/>
        </p:nvSpPr>
        <p:spPr>
          <a:xfrm>
            <a:off x="566928" y="1417320"/>
            <a:ext cx="5797296" cy="356616"/>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800" b="1" lang="ko-KR">
                <a:solidFill>
                  <a:srgbClr val="00306C"/>
                </a:solidFill>
                <a:latin typeface="Pretendard"/>
                <a:ea typeface="Pretendard"/>
                <a:cs typeface="Pretendard"/>
              </a:rPr>
              <a:t>각 신규 공격의 도입 직후 F1 (%)</a:t>
            </a:r>
          </a:p>
        </p:txBody>
      </p:sp>
      <p:sp>
        <p:nvSpPr>
          <p:cNvPr id="8" name="TextBox 7"/>
          <p:cNvSpPr txBox="1"/>
          <p:nvPr/>
        </p:nvSpPr>
        <p:spPr>
          <a:xfrm>
            <a:off x="566928" y="1819656"/>
            <a:ext cx="5797296" cy="283464"/>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150" b="0" lang="ko-KR">
                <a:solidFill>
                  <a:srgbClr val="5D6773"/>
                </a:solidFill>
                <a:latin typeface="Pretendard"/>
                <a:ea typeface="Pretendard"/>
                <a:cs typeface="Pretendard"/>
              </a:rPr>
              <a:t>정제 test 표본 수 내림차순 · 괄호는 도입 단계</a:t>
            </a:r>
          </a:p>
        </p:txBody>
      </p:sp>
      <p:graphicFrame>
        <p:nvGraphicFramePr>
          <p:cNvPr id="9" name="Table 8"/>
          <p:cNvGraphicFramePr>
            <a:graphicFrameLocks noGrp="1"/>
          </p:cNvGraphicFramePr>
          <p:nvPr/>
        </p:nvGraphicFramePr>
        <p:xfrm>
          <a:off x="566928" y="2212848"/>
          <a:ext cx="5797296" cy="3218688"/>
        </p:xfrm>
        <a:graphic>
          <a:graphicData uri="http://schemas.openxmlformats.org/drawingml/2006/table">
            <a:tbl>
              <a:tblPr>
                <a:tableStyleId>{5C22544A-7EE6-4342-B048-85BDC9FD1C3A}</a:tableStyleId>
              </a:tblPr>
              <a:tblGrid>
                <a:gridCol w="2139696"/>
                <a:gridCol w="1115568"/>
                <a:gridCol w="1271016"/>
                <a:gridCol w="1271016"/>
              </a:tblGrid>
              <a:tr h="402336">
                <a:tc>
                  <a:txBody>
                    <a:bodyPr wrap="square" lIns="64008" rIns="64008" tIns="32004" bIns="32004" anchor="ctr">
                      <a:noAutofit/>
                    </a:bodyPr>
                    <a:lstStyle/>
                    <a:p>
                      <a:pPr algn="l">
                        <a:lnSpc>
                          <a:spcPct val="110000"/>
                        </a:lnSpc>
                        <a:spcBef>
                          <a:spcPts val="0"/>
                        </a:spcBef>
                        <a:spcAft>
                          <a:spcPts val="0"/>
                        </a:spcAft>
                        <a:buNone/>
                      </a:pPr>
                      <a:r>
                        <a:rPr sz="1200" b="1" lang="ko-KR">
                          <a:solidFill>
                            <a:srgbClr val="FFFFFF"/>
                          </a:solidFill>
                          <a:latin typeface="Pretendard"/>
                          <a:ea typeface="Pretendard"/>
                          <a:cs typeface="Pretendard"/>
                        </a:rPr>
                        <a:t>신규 공격</a:t>
                      </a:r>
                    </a:p>
                  </a:txBody>
                  <a:tcPr marL="64008" marR="64008" marT="22860" marB="22860">
                    <a:solidFill>
                      <a:srgbClr val="00306C"/>
                    </a:solidFill>
                  </a:tcPr>
                </a:tc>
                <a:tc>
                  <a:txBody>
                    <a:bodyPr wrap="square" lIns="64008" rIns="64008" tIns="32004" bIns="32004" anchor="ctr">
                      <a:noAutofit/>
                    </a:bodyPr>
                    <a:lstStyle/>
                    <a:p>
                      <a:pPr algn="ctr">
                        <a:lnSpc>
                          <a:spcPct val="110000"/>
                        </a:lnSpc>
                        <a:spcBef>
                          <a:spcPts val="0"/>
                        </a:spcBef>
                        <a:spcAft>
                          <a:spcPts val="0"/>
                        </a:spcAft>
                        <a:buNone/>
                      </a:pPr>
                      <a:r>
                        <a:rPr sz="1200" b="1" lang="ko-KR">
                          <a:solidFill>
                            <a:srgbClr val="FFFFFF"/>
                          </a:solidFill>
                          <a:latin typeface="Pretendard"/>
                          <a:ea typeface="Pretendard"/>
                          <a:cs typeface="Pretendard"/>
                        </a:rPr>
                        <a:t>Test 수</a:t>
                      </a:r>
                    </a:p>
                  </a:txBody>
                  <a:tcPr marL="64008" marR="64008" marT="22860" marB="22860">
                    <a:solidFill>
                      <a:srgbClr val="00306C"/>
                    </a:solidFill>
                  </a:tcPr>
                </a:tc>
                <a:tc>
                  <a:txBody>
                    <a:bodyPr wrap="square" lIns="64008" rIns="64008" tIns="32004" bIns="32004" anchor="ctr">
                      <a:noAutofit/>
                    </a:bodyPr>
                    <a:lstStyle/>
                    <a:p>
                      <a:pPr algn="ctr">
                        <a:lnSpc>
                          <a:spcPct val="110000"/>
                        </a:lnSpc>
                        <a:spcBef>
                          <a:spcPts val="0"/>
                        </a:spcBef>
                        <a:spcAft>
                          <a:spcPts val="0"/>
                        </a:spcAft>
                        <a:buNone/>
                      </a:pPr>
                      <a:r>
                        <a:rPr sz="1200" b="1" lang="ko-KR">
                          <a:solidFill>
                            <a:srgbClr val="FFFFFF"/>
                          </a:solidFill>
                          <a:latin typeface="Pretendard"/>
                          <a:ea typeface="Pretendard"/>
                          <a:cs typeface="Pretendard"/>
                        </a:rPr>
                        <a:t>XGBoost</a:t>
                      </a:r>
                    </a:p>
                  </a:txBody>
                  <a:tcPr marL="64008" marR="64008" marT="22860" marB="22860">
                    <a:solidFill>
                      <a:srgbClr val="00306C"/>
                    </a:solidFill>
                  </a:tcPr>
                </a:tc>
                <a:tc>
                  <a:txBody>
                    <a:bodyPr wrap="square" lIns="64008" rIns="64008" tIns="32004" bIns="32004" anchor="ctr">
                      <a:noAutofit/>
                    </a:bodyPr>
                    <a:lstStyle/>
                    <a:p>
                      <a:pPr algn="ctr">
                        <a:lnSpc>
                          <a:spcPct val="110000"/>
                        </a:lnSpc>
                        <a:spcBef>
                          <a:spcPts val="0"/>
                        </a:spcBef>
                        <a:spcAft>
                          <a:spcPts val="0"/>
                        </a:spcAft>
                        <a:buNone/>
                      </a:pPr>
                      <a:r>
                        <a:rPr sz="1200" b="1" lang="ko-KR">
                          <a:solidFill>
                            <a:srgbClr val="FFFFFF"/>
                          </a:solidFill>
                          <a:latin typeface="Pretendard"/>
                          <a:ea typeface="Pretendard"/>
                          <a:cs typeface="Pretendard"/>
                        </a:rPr>
                        <a:t>TabPFN</a:t>
                      </a:r>
                    </a:p>
                  </a:txBody>
                  <a:tcPr marL="64008" marR="64008" marT="22860" marB="22860">
                    <a:solidFill>
                      <a:srgbClr val="00306C"/>
                    </a:solidFill>
                  </a:tcPr>
                </a:tc>
              </a:tr>
              <a:tr h="402336">
                <a:tc>
                  <a:txBody>
                    <a:bodyPr wrap="square" lIns="64008" rIns="64008" tIns="32004" bIns="32004" anchor="ctr">
                      <a:noAutofit/>
                    </a:bodyPr>
                    <a:lstStyle/>
                    <a:p>
                      <a:pPr algn="l">
                        <a:lnSpc>
                          <a:spcPct val="110000"/>
                        </a:lnSpc>
                        <a:spcBef>
                          <a:spcPts val="0"/>
                        </a:spcBef>
                        <a:spcAft>
                          <a:spcPts val="0"/>
                        </a:spcAft>
                        <a:buNone/>
                      </a:pPr>
                      <a:r>
                        <a:rPr sz="1200" b="1" lang="ko-KR">
                          <a:solidFill>
                            <a:srgbClr val="21262E"/>
                          </a:solidFill>
                          <a:latin typeface="Pretendard"/>
                          <a:ea typeface="Pretendard"/>
                          <a:cs typeface="Pretendard"/>
                        </a:rPr>
                        <a:t>XSS (3)</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165" b="0" lang="ko-KR">
                          <a:solidFill>
                            <a:srgbClr val="21262E"/>
                          </a:solidFill>
                          <a:latin typeface="DejaVu Sans Mono"/>
                          <a:ea typeface="DejaVu Sans Mono"/>
                          <a:cs typeface="DejaVu Sans Mono"/>
                        </a:rPr>
                        <a:t>343,854</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165" b="0" lang="ko-KR">
                          <a:solidFill>
                            <a:srgbClr val="21262E"/>
                          </a:solidFill>
                          <a:latin typeface="DejaVu Sans Mono"/>
                          <a:ea typeface="DejaVu Sans Mono"/>
                          <a:cs typeface="DejaVu Sans Mono"/>
                        </a:rPr>
                        <a:t>87.23</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165" b="0" lang="ko-KR">
                          <a:solidFill>
                            <a:srgbClr val="21262E"/>
                          </a:solidFill>
                          <a:latin typeface="DejaVu Sans Mono"/>
                          <a:ea typeface="DejaVu Sans Mono"/>
                          <a:cs typeface="DejaVu Sans Mono"/>
                        </a:rPr>
                        <a:t>82.62</a:t>
                      </a:r>
                    </a:p>
                  </a:txBody>
                  <a:tcPr marL="64008" marR="64008" marT="22860" marB="22860">
                    <a:solidFill>
                      <a:srgbClr val="FFFFFF"/>
                    </a:solidFill>
                  </a:tcPr>
                </a:tc>
              </a:tr>
              <a:tr h="402336">
                <a:tc>
                  <a:txBody>
                    <a:bodyPr wrap="square" lIns="64008" rIns="64008" tIns="32004" bIns="32004" anchor="ctr">
                      <a:noAutofit/>
                    </a:bodyPr>
                    <a:lstStyle/>
                    <a:p>
                      <a:pPr algn="l">
                        <a:lnSpc>
                          <a:spcPct val="110000"/>
                        </a:lnSpc>
                        <a:spcBef>
                          <a:spcPts val="0"/>
                        </a:spcBef>
                        <a:spcAft>
                          <a:spcPts val="0"/>
                        </a:spcAft>
                        <a:buNone/>
                      </a:pPr>
                      <a:r>
                        <a:rPr sz="1200" b="1" lang="ko-KR">
                          <a:solidFill>
                            <a:srgbClr val="21262E"/>
                          </a:solidFill>
                          <a:latin typeface="Pretendard"/>
                          <a:ea typeface="Pretendard"/>
                          <a:cs typeface="Pretendard"/>
                        </a:rPr>
                        <a:t>Password (2)</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165" b="0" lang="ko-KR">
                          <a:solidFill>
                            <a:srgbClr val="21262E"/>
                          </a:solidFill>
                          <a:latin typeface="DejaVu Sans Mono"/>
                          <a:ea typeface="DejaVu Sans Mono"/>
                          <a:cs typeface="DejaVu Sans Mono"/>
                        </a:rPr>
                        <a:t>210,951</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165" b="0" lang="ko-KR">
                          <a:solidFill>
                            <a:srgbClr val="21262E"/>
                          </a:solidFill>
                          <a:latin typeface="DejaVu Sans Mono"/>
                          <a:ea typeface="DejaVu Sans Mono"/>
                          <a:cs typeface="DejaVu Sans Mono"/>
                        </a:rPr>
                        <a:t>88.86</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165" b="0" lang="ko-KR">
                          <a:solidFill>
                            <a:srgbClr val="21262E"/>
                          </a:solidFill>
                          <a:latin typeface="DejaVu Sans Mono"/>
                          <a:ea typeface="DejaVu Sans Mono"/>
                          <a:cs typeface="DejaVu Sans Mono"/>
                        </a:rPr>
                        <a:t>88.99</a:t>
                      </a:r>
                    </a:p>
                  </a:txBody>
                  <a:tcPr marL="64008" marR="64008" marT="22860" marB="22860">
                    <a:solidFill>
                      <a:srgbClr val="F3F6FA"/>
                    </a:solidFill>
                  </a:tcPr>
                </a:tc>
              </a:tr>
              <a:tr h="402336">
                <a:tc>
                  <a:txBody>
                    <a:bodyPr wrap="square" lIns="64008" rIns="64008" tIns="32004" bIns="32004" anchor="ctr">
                      <a:noAutofit/>
                    </a:bodyPr>
                    <a:lstStyle/>
                    <a:p>
                      <a:pPr algn="l">
                        <a:lnSpc>
                          <a:spcPct val="110000"/>
                        </a:lnSpc>
                        <a:spcBef>
                          <a:spcPts val="0"/>
                        </a:spcBef>
                        <a:spcAft>
                          <a:spcPts val="0"/>
                        </a:spcAft>
                        <a:buNone/>
                      </a:pPr>
                      <a:r>
                        <a:rPr sz="1200" b="1" lang="ko-KR">
                          <a:solidFill>
                            <a:srgbClr val="21262E"/>
                          </a:solidFill>
                          <a:latin typeface="Pretendard"/>
                          <a:ea typeface="Pretendard"/>
                          <a:cs typeface="Pretendard"/>
                        </a:rPr>
                        <a:t>DDoS (1)</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165" b="0" lang="ko-KR">
                          <a:solidFill>
                            <a:srgbClr val="21262E"/>
                          </a:solidFill>
                          <a:latin typeface="DejaVu Sans Mono"/>
                          <a:ea typeface="DejaVu Sans Mono"/>
                          <a:cs typeface="DejaVu Sans Mono"/>
                        </a:rPr>
                        <a:t>103,338</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165" b="0" lang="ko-KR">
                          <a:solidFill>
                            <a:srgbClr val="21262E"/>
                          </a:solidFill>
                          <a:latin typeface="DejaVu Sans Mono"/>
                          <a:ea typeface="DejaVu Sans Mono"/>
                          <a:cs typeface="DejaVu Sans Mono"/>
                        </a:rPr>
                        <a:t>96.88</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165" b="0" lang="ko-KR">
                          <a:solidFill>
                            <a:srgbClr val="21262E"/>
                          </a:solidFill>
                          <a:latin typeface="DejaVu Sans Mono"/>
                          <a:ea typeface="DejaVu Sans Mono"/>
                          <a:cs typeface="DejaVu Sans Mono"/>
                        </a:rPr>
                        <a:t>96.98</a:t>
                      </a:r>
                    </a:p>
                  </a:txBody>
                  <a:tcPr marL="64008" marR="64008" marT="22860" marB="22860">
                    <a:solidFill>
                      <a:srgbClr val="FFFFFF"/>
                    </a:solidFill>
                  </a:tcPr>
                </a:tc>
              </a:tr>
              <a:tr h="402336">
                <a:tc>
                  <a:txBody>
                    <a:bodyPr wrap="square" lIns="64008" rIns="64008" tIns="32004" bIns="32004" anchor="ctr">
                      <a:noAutofit/>
                    </a:bodyPr>
                    <a:lstStyle/>
                    <a:p>
                      <a:pPr algn="l">
                        <a:lnSpc>
                          <a:spcPct val="110000"/>
                        </a:lnSpc>
                        <a:spcBef>
                          <a:spcPts val="0"/>
                        </a:spcBef>
                        <a:spcAft>
                          <a:spcPts val="0"/>
                        </a:spcAft>
                        <a:buNone/>
                      </a:pPr>
                      <a:r>
                        <a:rPr sz="1200" b="1" lang="ko-KR">
                          <a:solidFill>
                            <a:srgbClr val="21262E"/>
                          </a:solidFill>
                          <a:latin typeface="Pretendard"/>
                          <a:ea typeface="Pretendard"/>
                          <a:cs typeface="Pretendard"/>
                        </a:rPr>
                        <a:t>Injection (1)</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165" b="0" lang="ko-KR">
                          <a:solidFill>
                            <a:srgbClr val="21262E"/>
                          </a:solidFill>
                          <a:latin typeface="DejaVu Sans Mono"/>
                          <a:ea typeface="DejaVu Sans Mono"/>
                          <a:cs typeface="DejaVu Sans Mono"/>
                        </a:rPr>
                        <a:t>68,891</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165" b="0" lang="ko-KR">
                          <a:solidFill>
                            <a:srgbClr val="21262E"/>
                          </a:solidFill>
                          <a:latin typeface="DejaVu Sans Mono"/>
                          <a:ea typeface="DejaVu Sans Mono"/>
                          <a:cs typeface="DejaVu Sans Mono"/>
                        </a:rPr>
                        <a:t>68.90</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165" b="0" lang="ko-KR">
                          <a:solidFill>
                            <a:srgbClr val="21262E"/>
                          </a:solidFill>
                          <a:latin typeface="DejaVu Sans Mono"/>
                          <a:ea typeface="DejaVu Sans Mono"/>
                          <a:cs typeface="DejaVu Sans Mono"/>
                        </a:rPr>
                        <a:t>72.71</a:t>
                      </a:r>
                    </a:p>
                  </a:txBody>
                  <a:tcPr marL="64008" marR="64008" marT="22860" marB="22860">
                    <a:solidFill>
                      <a:srgbClr val="F3F6FA"/>
                    </a:solidFill>
                  </a:tcPr>
                </a:tc>
              </a:tr>
              <a:tr h="402336">
                <a:tc>
                  <a:txBody>
                    <a:bodyPr wrap="square" lIns="64008" rIns="64008" tIns="32004" bIns="32004" anchor="ctr">
                      <a:noAutofit/>
                    </a:bodyPr>
                    <a:lstStyle/>
                    <a:p>
                      <a:pPr algn="l">
                        <a:lnSpc>
                          <a:spcPct val="110000"/>
                        </a:lnSpc>
                        <a:spcBef>
                          <a:spcPts val="0"/>
                        </a:spcBef>
                        <a:spcAft>
                          <a:spcPts val="0"/>
                        </a:spcAft>
                        <a:buNone/>
                      </a:pPr>
                      <a:r>
                        <a:rPr sz="1200" b="1" lang="ko-KR">
                          <a:solidFill>
                            <a:srgbClr val="21262E"/>
                          </a:solidFill>
                          <a:latin typeface="Pretendard"/>
                          <a:ea typeface="Pretendard"/>
                          <a:cs typeface="Pretendard"/>
                        </a:rPr>
                        <a:t>Backdoor (4)</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165" b="0" lang="ko-KR">
                          <a:solidFill>
                            <a:srgbClr val="21262E"/>
                          </a:solidFill>
                          <a:latin typeface="DejaVu Sans Mono"/>
                          <a:ea typeface="DejaVu Sans Mono"/>
                          <a:cs typeface="DejaVu Sans Mono"/>
                        </a:rPr>
                        <a:t>40,030</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165" b="0" lang="ko-KR">
                          <a:solidFill>
                            <a:srgbClr val="21262E"/>
                          </a:solidFill>
                          <a:latin typeface="DejaVu Sans Mono"/>
                          <a:ea typeface="DejaVu Sans Mono"/>
                          <a:cs typeface="DejaVu Sans Mono"/>
                        </a:rPr>
                        <a:t>99.87</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165" b="0" lang="ko-KR">
                          <a:solidFill>
                            <a:srgbClr val="21262E"/>
                          </a:solidFill>
                          <a:latin typeface="DejaVu Sans Mono"/>
                          <a:ea typeface="DejaVu Sans Mono"/>
                          <a:cs typeface="DejaVu Sans Mono"/>
                        </a:rPr>
                        <a:t>99.91</a:t>
                      </a:r>
                    </a:p>
                  </a:txBody>
                  <a:tcPr marL="64008" marR="64008" marT="22860" marB="22860">
                    <a:solidFill>
                      <a:srgbClr val="FFFFFF"/>
                    </a:solidFill>
                  </a:tcPr>
                </a:tc>
              </a:tr>
              <a:tr h="402336">
                <a:tc>
                  <a:txBody>
                    <a:bodyPr wrap="square" lIns="64008" rIns="64008" tIns="32004" bIns="32004" anchor="ctr">
                      <a:noAutofit/>
                    </a:bodyPr>
                    <a:lstStyle/>
                    <a:p>
                      <a:pPr algn="l">
                        <a:lnSpc>
                          <a:spcPct val="110000"/>
                        </a:lnSpc>
                        <a:spcBef>
                          <a:spcPts val="0"/>
                        </a:spcBef>
                        <a:spcAft>
                          <a:spcPts val="0"/>
                        </a:spcAft>
                        <a:buNone/>
                      </a:pPr>
                      <a:r>
                        <a:rPr sz="1200" b="1" lang="ko-KR">
                          <a:solidFill>
                            <a:srgbClr val="21262E"/>
                          </a:solidFill>
                          <a:latin typeface="Pretendard"/>
                          <a:ea typeface="Pretendard"/>
                          <a:cs typeface="Pretendard"/>
                        </a:rPr>
                        <a:t>MitM (5)</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165" b="0" lang="ko-KR">
                          <a:solidFill>
                            <a:srgbClr val="21262E"/>
                          </a:solidFill>
                          <a:latin typeface="DejaVu Sans Mono"/>
                          <a:ea typeface="DejaVu Sans Mono"/>
                          <a:cs typeface="DejaVu Sans Mono"/>
                        </a:rPr>
                        <a:t>1,161</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165" b="0" lang="ko-KR">
                          <a:solidFill>
                            <a:srgbClr val="21262E"/>
                          </a:solidFill>
                          <a:latin typeface="DejaVu Sans Mono"/>
                          <a:ea typeface="DejaVu Sans Mono"/>
                          <a:cs typeface="DejaVu Sans Mono"/>
                        </a:rPr>
                        <a:t>15.26</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165" b="0" lang="ko-KR">
                          <a:solidFill>
                            <a:srgbClr val="21262E"/>
                          </a:solidFill>
                          <a:latin typeface="DejaVu Sans Mono"/>
                          <a:ea typeface="DejaVu Sans Mono"/>
                          <a:cs typeface="DejaVu Sans Mono"/>
                        </a:rPr>
                        <a:t>4.66</a:t>
                      </a:r>
                    </a:p>
                  </a:txBody>
                  <a:tcPr marL="64008" marR="64008" marT="22860" marB="22860">
                    <a:solidFill>
                      <a:srgbClr val="F3F6FA"/>
                    </a:solidFill>
                  </a:tcPr>
                </a:tc>
              </a:tr>
              <a:tr h="402336">
                <a:tc>
                  <a:txBody>
                    <a:bodyPr wrap="square" lIns="64008" rIns="64008" tIns="32004" bIns="32004" anchor="ctr">
                      <a:noAutofit/>
                    </a:bodyPr>
                    <a:lstStyle/>
                    <a:p>
                      <a:pPr algn="l">
                        <a:lnSpc>
                          <a:spcPct val="110000"/>
                        </a:lnSpc>
                        <a:spcBef>
                          <a:spcPts val="0"/>
                        </a:spcBef>
                        <a:spcAft>
                          <a:spcPts val="0"/>
                        </a:spcAft>
                        <a:buNone/>
                      </a:pPr>
                      <a:r>
                        <a:rPr sz="1200" b="1" lang="ko-KR">
                          <a:solidFill>
                            <a:srgbClr val="21262E"/>
                          </a:solidFill>
                          <a:latin typeface="Pretendard"/>
                          <a:ea typeface="Pretendard"/>
                          <a:cs typeface="Pretendard"/>
                        </a:rPr>
                        <a:t>Ransomware (4)</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165" b="0" lang="ko-KR">
                          <a:solidFill>
                            <a:srgbClr val="21262E"/>
                          </a:solidFill>
                          <a:latin typeface="DejaVu Sans Mono"/>
                          <a:ea typeface="DejaVu Sans Mono"/>
                          <a:cs typeface="DejaVu Sans Mono"/>
                        </a:rPr>
                        <a:t>709</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165" b="0" lang="ko-KR">
                          <a:solidFill>
                            <a:srgbClr val="21262E"/>
                          </a:solidFill>
                          <a:latin typeface="DejaVu Sans Mono"/>
                          <a:ea typeface="DejaVu Sans Mono"/>
                          <a:cs typeface="DejaVu Sans Mono"/>
                        </a:rPr>
                        <a:t>14.52</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165" b="0" lang="ko-KR">
                          <a:solidFill>
                            <a:srgbClr val="21262E"/>
                          </a:solidFill>
                          <a:latin typeface="DejaVu Sans Mono"/>
                          <a:ea typeface="DejaVu Sans Mono"/>
                          <a:cs typeface="DejaVu Sans Mono"/>
                        </a:rPr>
                        <a:t>12.47</a:t>
                      </a:r>
                    </a:p>
                  </a:txBody>
                  <a:tcPr marL="64008" marR="64008" marT="22860" marB="22860">
                    <a:solidFill>
                      <a:srgbClr val="FFFFFF"/>
                    </a:solidFill>
                  </a:tcPr>
                </a:tc>
              </a:tr>
            </a:tbl>
          </a:graphicData>
        </a:graphic>
      </p:graphicFrame>
      <p:sp>
        <p:nvSpPr>
          <p:cNvPr id="10" name="TextBox 9"/>
          <p:cNvSpPr txBox="1"/>
          <p:nvPr/>
        </p:nvSpPr>
        <p:spPr>
          <a:xfrm>
            <a:off x="6684264" y="1417320"/>
            <a:ext cx="4937760" cy="356616"/>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800" b="1" lang="ko-KR">
                <a:solidFill>
                  <a:srgbClr val="00306C"/>
                </a:solidFill>
                <a:latin typeface="Pretendard"/>
                <a:ea typeface="Pretendard"/>
                <a:cs typeface="Pretendard"/>
              </a:rPr>
              <a:t>최종 100,000행에서의 성능·비용</a:t>
            </a:r>
          </a:p>
        </p:txBody>
      </p:sp>
      <p:sp>
        <p:nvSpPr>
          <p:cNvPr id="11" name="TextBox 10"/>
          <p:cNvSpPr txBox="1"/>
          <p:nvPr/>
        </p:nvSpPr>
        <p:spPr>
          <a:xfrm>
            <a:off x="6684264" y="1819656"/>
            <a:ext cx="4937760" cy="283464"/>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150" b="0" lang="ko-KR">
                <a:solidFill>
                  <a:srgbClr val="5D6773"/>
                </a:solidFill>
                <a:latin typeface="Pretendard"/>
                <a:ea typeface="Pretendard"/>
                <a:cs typeface="Pretendard"/>
              </a:rPr>
              <a:t>전체 test 2,271,723행 · 시간 단위: 초</a:t>
            </a:r>
          </a:p>
        </p:txBody>
      </p:sp>
      <p:graphicFrame>
        <p:nvGraphicFramePr>
          <p:cNvPr id="12" name="Table 11"/>
          <p:cNvGraphicFramePr>
            <a:graphicFrameLocks noGrp="1"/>
          </p:cNvGraphicFramePr>
          <p:nvPr/>
        </p:nvGraphicFramePr>
        <p:xfrm>
          <a:off x="6684264" y="2212848"/>
          <a:ext cx="4937760" cy="2240280"/>
        </p:xfrm>
        <a:graphic>
          <a:graphicData uri="http://schemas.openxmlformats.org/drawingml/2006/table">
            <a:tbl>
              <a:tblPr>
                <a:tableStyleId>{5C22544A-7EE6-4342-B048-85BDC9FD1C3A}</a:tableStyleId>
              </a:tblPr>
              <a:tblGrid>
                <a:gridCol w="2194560"/>
                <a:gridCol w="1371600"/>
                <a:gridCol w="1371600"/>
              </a:tblGrid>
              <a:tr h="448056">
                <a:tc>
                  <a:txBody>
                    <a:bodyPr wrap="square" lIns="64008" rIns="64008" tIns="32004" bIns="32004" anchor="ctr">
                      <a:noAutofit/>
                    </a:bodyPr>
                    <a:lstStyle/>
                    <a:p>
                      <a:pPr algn="l">
                        <a:lnSpc>
                          <a:spcPct val="110000"/>
                        </a:lnSpc>
                        <a:spcBef>
                          <a:spcPts val="0"/>
                        </a:spcBef>
                        <a:spcAft>
                          <a:spcPts val="0"/>
                        </a:spcAft>
                        <a:buNone/>
                      </a:pPr>
                      <a:r>
                        <a:rPr sz="1240" b="1" lang="ko-KR">
                          <a:solidFill>
                            <a:srgbClr val="FFFFFF"/>
                          </a:solidFill>
                          <a:latin typeface="Pretendard"/>
                          <a:ea typeface="Pretendard"/>
                          <a:cs typeface="Pretendard"/>
                        </a:rPr>
                        <a:t>지표</a:t>
                      </a:r>
                    </a:p>
                  </a:txBody>
                  <a:tcPr marL="64008" marR="64008" marT="22860" marB="22860">
                    <a:solidFill>
                      <a:srgbClr val="00306C"/>
                    </a:solidFill>
                  </a:tcPr>
                </a:tc>
                <a:tc>
                  <a:txBody>
                    <a:bodyPr wrap="square" lIns="64008" rIns="64008" tIns="32004" bIns="32004" anchor="ctr">
                      <a:noAutofit/>
                    </a:bodyPr>
                    <a:lstStyle/>
                    <a:p>
                      <a:pPr algn="ctr">
                        <a:lnSpc>
                          <a:spcPct val="110000"/>
                        </a:lnSpc>
                        <a:spcBef>
                          <a:spcPts val="0"/>
                        </a:spcBef>
                        <a:spcAft>
                          <a:spcPts val="0"/>
                        </a:spcAft>
                        <a:buNone/>
                      </a:pPr>
                      <a:r>
                        <a:rPr sz="1240" b="1" lang="ko-KR">
                          <a:solidFill>
                            <a:srgbClr val="FFFFFF"/>
                          </a:solidFill>
                          <a:latin typeface="Pretendard"/>
                          <a:ea typeface="Pretendard"/>
                          <a:cs typeface="Pretendard"/>
                        </a:rPr>
                        <a:t>XGBoost</a:t>
                      </a:r>
                    </a:p>
                  </a:txBody>
                  <a:tcPr marL="64008" marR="64008" marT="22860" marB="22860">
                    <a:solidFill>
                      <a:srgbClr val="00306C"/>
                    </a:solidFill>
                  </a:tcPr>
                </a:tc>
                <a:tc>
                  <a:txBody>
                    <a:bodyPr wrap="square" lIns="64008" rIns="64008" tIns="32004" bIns="32004" anchor="ctr">
                      <a:noAutofit/>
                    </a:bodyPr>
                    <a:lstStyle/>
                    <a:p>
                      <a:pPr algn="ctr">
                        <a:lnSpc>
                          <a:spcPct val="110000"/>
                        </a:lnSpc>
                        <a:spcBef>
                          <a:spcPts val="0"/>
                        </a:spcBef>
                        <a:spcAft>
                          <a:spcPts val="0"/>
                        </a:spcAft>
                        <a:buNone/>
                      </a:pPr>
                      <a:r>
                        <a:rPr sz="1240" b="1" lang="ko-KR">
                          <a:solidFill>
                            <a:srgbClr val="FFFFFF"/>
                          </a:solidFill>
                          <a:latin typeface="Pretendard"/>
                          <a:ea typeface="Pretendard"/>
                          <a:cs typeface="Pretendard"/>
                        </a:rPr>
                        <a:t>TabPFN</a:t>
                      </a:r>
                    </a:p>
                  </a:txBody>
                  <a:tcPr marL="64008" marR="64008" marT="22860" marB="22860">
                    <a:solidFill>
                      <a:srgbClr val="00306C"/>
                    </a:solidFill>
                  </a:tcPr>
                </a:tc>
              </a:tr>
              <a:tr h="448056">
                <a:tc>
                  <a:txBody>
                    <a:bodyPr wrap="square" lIns="64008" rIns="64008" tIns="32004" bIns="32004" anchor="ctr">
                      <a:noAutofit/>
                    </a:bodyPr>
                    <a:lstStyle/>
                    <a:p>
                      <a:pPr algn="l">
                        <a:lnSpc>
                          <a:spcPct val="110000"/>
                        </a:lnSpc>
                        <a:spcBef>
                          <a:spcPts val="0"/>
                        </a:spcBef>
                        <a:spcAft>
                          <a:spcPts val="0"/>
                        </a:spcAft>
                        <a:buNone/>
                      </a:pPr>
                      <a:r>
                        <a:rPr sz="1240" b="1" lang="ko-KR">
                          <a:solidFill>
                            <a:srgbClr val="21262E"/>
                          </a:solidFill>
                          <a:latin typeface="Pretendard"/>
                          <a:ea typeface="Pretendard"/>
                          <a:cs typeface="Pretendard"/>
                        </a:rPr>
                        <a:t>Macro-F1 (%)</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205" b="0" lang="ko-KR">
                          <a:solidFill>
                            <a:srgbClr val="21262E"/>
                          </a:solidFill>
                          <a:latin typeface="DejaVu Sans Mono"/>
                          <a:ea typeface="DejaVu Sans Mono"/>
                          <a:cs typeface="DejaVu Sans Mono"/>
                        </a:rPr>
                        <a:t>71.30</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205" b="0" lang="ko-KR">
                          <a:solidFill>
                            <a:srgbClr val="21262E"/>
                          </a:solidFill>
                          <a:latin typeface="DejaVu Sans Mono"/>
                          <a:ea typeface="DejaVu Sans Mono"/>
                          <a:cs typeface="DejaVu Sans Mono"/>
                        </a:rPr>
                        <a:t>69.51</a:t>
                      </a:r>
                    </a:p>
                  </a:txBody>
                  <a:tcPr marL="64008" marR="64008" marT="22860" marB="22860">
                    <a:solidFill>
                      <a:srgbClr val="FFFFFF"/>
                    </a:solidFill>
                  </a:tcPr>
                </a:tc>
              </a:tr>
              <a:tr h="448056">
                <a:tc>
                  <a:txBody>
                    <a:bodyPr wrap="square" lIns="64008" rIns="64008" tIns="32004" bIns="32004" anchor="ctr">
                      <a:noAutofit/>
                    </a:bodyPr>
                    <a:lstStyle/>
                    <a:p>
                      <a:pPr algn="l">
                        <a:lnSpc>
                          <a:spcPct val="110000"/>
                        </a:lnSpc>
                        <a:spcBef>
                          <a:spcPts val="0"/>
                        </a:spcBef>
                        <a:spcAft>
                          <a:spcPts val="0"/>
                        </a:spcAft>
                        <a:buNone/>
                      </a:pPr>
                      <a:r>
                        <a:rPr sz="1240" b="1" lang="ko-KR">
                          <a:solidFill>
                            <a:srgbClr val="21262E"/>
                          </a:solidFill>
                          <a:latin typeface="Pretendard"/>
                          <a:ea typeface="Pretendard"/>
                          <a:cs typeface="Pretendard"/>
                        </a:rPr>
                        <a:t>정상 오탐률 (%)</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205" b="0" lang="ko-KR">
                          <a:solidFill>
                            <a:srgbClr val="21262E"/>
                          </a:solidFill>
                          <a:latin typeface="DejaVu Sans Mono"/>
                          <a:ea typeface="DejaVu Sans Mono"/>
                          <a:cs typeface="DejaVu Sans Mono"/>
                        </a:rPr>
                        <a:t>11.03</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205" b="0" lang="ko-KR">
                          <a:solidFill>
                            <a:srgbClr val="21262E"/>
                          </a:solidFill>
                          <a:latin typeface="DejaVu Sans Mono"/>
                          <a:ea typeface="DejaVu Sans Mono"/>
                          <a:cs typeface="DejaVu Sans Mono"/>
                        </a:rPr>
                        <a:t>13.33</a:t>
                      </a:r>
                    </a:p>
                  </a:txBody>
                  <a:tcPr marL="64008" marR="64008" marT="22860" marB="22860">
                    <a:solidFill>
                      <a:srgbClr val="F3F6FA"/>
                    </a:solidFill>
                  </a:tcPr>
                </a:tc>
              </a:tr>
              <a:tr h="448056">
                <a:tc>
                  <a:txBody>
                    <a:bodyPr wrap="square" lIns="64008" rIns="64008" tIns="32004" bIns="32004" anchor="ctr">
                      <a:noAutofit/>
                    </a:bodyPr>
                    <a:lstStyle/>
                    <a:p>
                      <a:pPr algn="l">
                        <a:lnSpc>
                          <a:spcPct val="110000"/>
                        </a:lnSpc>
                        <a:spcBef>
                          <a:spcPts val="0"/>
                        </a:spcBef>
                        <a:spcAft>
                          <a:spcPts val="0"/>
                        </a:spcAft>
                        <a:buNone/>
                      </a:pPr>
                      <a:r>
                        <a:rPr sz="1240" b="1" lang="ko-KR">
                          <a:solidFill>
                            <a:srgbClr val="21262E"/>
                          </a:solidFill>
                          <a:latin typeface="Pretendard"/>
                          <a:ea typeface="Pretendard"/>
                          <a:cs typeface="Pretendard"/>
                        </a:rPr>
                        <a:t>학습·구성 시간</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205" b="0" lang="ko-KR">
                          <a:solidFill>
                            <a:srgbClr val="21262E"/>
                          </a:solidFill>
                          <a:latin typeface="DejaVu Sans Mono"/>
                          <a:ea typeface="DejaVu Sans Mono"/>
                          <a:cs typeface="DejaVu Sans Mono"/>
                        </a:rPr>
                        <a:t>3.59</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205" b="0" lang="ko-KR">
                          <a:solidFill>
                            <a:srgbClr val="21262E"/>
                          </a:solidFill>
                          <a:latin typeface="DejaVu Sans Mono"/>
                          <a:ea typeface="DejaVu Sans Mono"/>
                          <a:cs typeface="DejaVu Sans Mono"/>
                        </a:rPr>
                        <a:t>17.15</a:t>
                      </a:r>
                    </a:p>
                  </a:txBody>
                  <a:tcPr marL="64008" marR="64008" marT="22860" marB="22860">
                    <a:solidFill>
                      <a:srgbClr val="FFFFFF"/>
                    </a:solidFill>
                  </a:tcPr>
                </a:tc>
              </a:tr>
              <a:tr h="448056">
                <a:tc>
                  <a:txBody>
                    <a:bodyPr wrap="square" lIns="64008" rIns="64008" tIns="32004" bIns="32004" anchor="ctr">
                      <a:noAutofit/>
                    </a:bodyPr>
                    <a:lstStyle/>
                    <a:p>
                      <a:pPr algn="l">
                        <a:lnSpc>
                          <a:spcPct val="110000"/>
                        </a:lnSpc>
                        <a:spcBef>
                          <a:spcPts val="0"/>
                        </a:spcBef>
                        <a:spcAft>
                          <a:spcPts val="0"/>
                        </a:spcAft>
                        <a:buNone/>
                      </a:pPr>
                      <a:r>
                        <a:rPr sz="1240" b="1" lang="ko-KR">
                          <a:solidFill>
                            <a:srgbClr val="21262E"/>
                          </a:solidFill>
                          <a:latin typeface="Pretendard"/>
                          <a:ea typeface="Pretendard"/>
                          <a:cs typeface="Pretendard"/>
                        </a:rPr>
                        <a:t>추론 시간</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205" b="0" lang="ko-KR">
                          <a:solidFill>
                            <a:srgbClr val="21262E"/>
                          </a:solidFill>
                          <a:latin typeface="DejaVu Sans Mono"/>
                          <a:ea typeface="DejaVu Sans Mono"/>
                          <a:cs typeface="DejaVu Sans Mono"/>
                        </a:rPr>
                        <a:t>1.61</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205" b="0" lang="ko-KR">
                          <a:solidFill>
                            <a:srgbClr val="21262E"/>
                          </a:solidFill>
                          <a:latin typeface="DejaVu Sans Mono"/>
                          <a:ea typeface="DejaVu Sans Mono"/>
                          <a:cs typeface="DejaVu Sans Mono"/>
                        </a:rPr>
                        <a:t>391.50</a:t>
                      </a:r>
                    </a:p>
                  </a:txBody>
                  <a:tcPr marL="64008" marR="64008" marT="22860" marB="22860">
                    <a:solidFill>
                      <a:srgbClr val="F3F6FA"/>
                    </a:solidFill>
                  </a:tcPr>
                </a:tc>
              </a:tr>
            </a:tbl>
          </a:graphicData>
        </a:graphic>
      </p:graphicFrame>
      <p:sp>
        <p:nvSpPr>
          <p:cNvPr id="13" name="TextBox 12"/>
          <p:cNvSpPr txBox="1"/>
          <p:nvPr/>
        </p:nvSpPr>
        <p:spPr>
          <a:xfrm>
            <a:off x="6684264" y="4672584"/>
            <a:ext cx="4937760" cy="612648"/>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250" b="0" lang="ko-KR">
                <a:solidFill>
                  <a:srgbClr val="5D6773"/>
                </a:solidFill>
                <a:latin typeface="Pretendard"/>
                <a:ea typeface="Pretendard"/>
                <a:cs typeface="Pretendard"/>
              </a:rPr>
              <a:t>TabPFN MitM · recall 96.99% · precision 2.39%</a:t>
            </a:r>
          </a:p>
          <a:p>
            <a:pPr algn="l">
              <a:lnSpc>
                <a:spcPct val="110000"/>
              </a:lnSpc>
              <a:spcBef>
                <a:spcPts val="0"/>
              </a:spcBef>
              <a:spcAft>
                <a:spcPts val="0"/>
              </a:spcAft>
              <a:buNone/>
            </a:pPr>
            <a:r>
              <a:rPr sz="1250" b="0" lang="ko-KR">
                <a:solidFill>
                  <a:srgbClr val="5D6773"/>
                </a:solidFill>
                <a:latin typeface="Pretendard"/>
                <a:ea typeface="Pretendard"/>
                <a:cs typeface="Pretendard"/>
              </a:rPr>
              <a:t>오탐 46,010건 중 Benign 41,330건</a:t>
            </a:r>
          </a:p>
        </p:txBody>
      </p:sp>
      <p:sp>
        <p:nvSpPr>
          <p:cNvPr id="14" name="TextBox 13"/>
          <p:cNvSpPr txBox="1"/>
          <p:nvPr/>
        </p:nvSpPr>
        <p:spPr>
          <a:xfrm>
            <a:off x="566928" y="5806440"/>
            <a:ext cx="11055096" cy="356616"/>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600" b="1" lang="ko-KR">
                <a:solidFill>
                  <a:srgbClr val="00306C"/>
                </a:solidFill>
                <a:latin typeface="Pretendard"/>
                <a:ea typeface="Pretendard"/>
                <a:cs typeface="Pretendard"/>
              </a:rPr>
              <a:t>MitM 탐지율은 높으나 정상 오탐 다수 · context 구성과 추론 비용 개선 필요</a:t>
            </a:r>
          </a:p>
        </p:txBody>
      </p:sp>
      <p:sp>
        <p:nvSpPr>
          <p:cNvPr id="15" name="TextBox 14"/>
          <p:cNvSpPr txBox="1"/>
          <p:nvPr/>
        </p:nvSpPr>
        <p:spPr>
          <a:xfrm>
            <a:off x="566928" y="6432804"/>
            <a:ext cx="7498079" cy="274320"/>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100" b="1" lang="ko-KR">
                <a:solidFill>
                  <a:srgbClr val="FFFFFF"/>
                </a:solidFill>
                <a:latin typeface="Pretendard"/>
                <a:ea typeface="Pretendard"/>
                <a:cs typeface="Pretendard"/>
              </a:rPr>
              <a:t>신규 공격 성능과 계산 비용을 함께 평가</a:t>
            </a:r>
          </a:p>
        </p:txBody>
      </p:sp>
    </p:spTree>
  </p:cSld>
  <p:clrMapOvr>
    <a:masterClrMapping/>
  </p:clrMapOvr>
</p:sld>
</file>

<file path=ppt/theme/theme1.xml><?xml version="1.0" encoding="utf-8"?>
<a:theme xmlns:a="http://schemas.openxmlformats.org/drawingml/2006/main" name="Office Theme">
  <a:themeElements>
    <a:clrScheme name="KENTECH">
      <a:dk1>
        <a:srgbClr val="21262E"/>
      </a:dk1>
      <a:lt1>
        <a:srgbClr val="FFFFFF"/>
      </a:lt1>
      <a:dk2>
        <a:srgbClr val="00306C"/>
      </a:dk2>
      <a:lt2>
        <a:srgbClr val="F3F6FA"/>
      </a:lt2>
      <a:accent1>
        <a:srgbClr val="007BC6"/>
      </a:accent1>
      <a:accent2>
        <a:srgbClr val="00B8EE"/>
      </a:accent2>
      <a:accent3>
        <a:srgbClr val="00306C"/>
      </a:accent3>
      <a:accent4>
        <a:srgbClr val="4DA3DC"/>
      </a:accent4>
      <a:accent5>
        <a:srgbClr val="5D6773"/>
      </a:accent5>
      <a:accent6>
        <a:srgbClr val="9AA3AE"/>
      </a:accent6>
      <a:hlink>
        <a:srgbClr val="007BC6"/>
      </a:hlink>
      <a:folHlink>
        <a:srgbClr val="5D6773"/>
      </a:folHlink>
    </a:clrScheme>
    <a:fontScheme name="KENTECH">
      <a:majorFont>
        <a:latin typeface="Pretendard"/>
        <a:ea typeface="Pretendard"/>
        <a:cs typeface=""/>
        <a:font script="Hang" typeface="Pretendard"/>
        <a:font script="Jpan" typeface="Yu Gothic"/>
        <a:font script="Hans" typeface="DengXian"/>
        <a:font script="Hant" typeface="新細明體"/>
      </a:majorFont>
      <a:minorFont>
        <a:latin typeface="Pretendard"/>
        <a:ea typeface="Pretendard"/>
        <a:cs typeface=""/>
        <a:font script="Hang" typeface="Pretendard"/>
        <a:font script="Jpan" typeface="Yu Gothic"/>
        <a:font script="Hans" typeface="DengXian"/>
        <a:font script="Hant" typeface="新細明體"/>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33</TotalTime>
  <Words>1251</Words>
  <Application>Microsoft Office PowerPoint</Application>
  <PresentationFormat>와이드스크린</PresentationFormat>
  <Paragraphs>283</Paragraphs>
  <Slides>8</Slides>
  <Notes>0</Notes>
  <HiddenSlides>0</HiddenSlides>
  <MMClips>0</MMClips>
  <ScaleCrop>false</ScaleCrop>
  <HeadingPairs>
    <vt:vector size="6" baseType="variant">
      <vt:variant>
        <vt:lpstr>사용한 글꼴</vt:lpstr>
      </vt:variant>
      <vt:variant>
        <vt:i4>2</vt:i4>
      </vt:variant>
      <vt:variant>
        <vt:lpstr>테마</vt:lpstr>
      </vt:variant>
      <vt:variant>
        <vt:i4>1</vt:i4>
      </vt:variant>
      <vt:variant>
        <vt:lpstr>슬라이드 제목</vt:lpstr>
      </vt:variant>
      <vt:variant>
        <vt:i4>8</vt:i4>
      </vt:variant>
    </vt:vector>
  </HeadingPairs>
  <TitlesOfParts>
    <vt:vector size="11" baseType="lpstr">
      <vt:lpstr>Pretendard</vt:lpstr>
      <vt:lpstr>Arial</vt:lpstr>
      <vt:lpstr>Office Theme</vt:lpstr>
      <vt:lpstr>Architecture</vt:lpstr>
      <vt:lpstr>TabPFN · 학습 데이터를 입력으로 읽는 표 형식 foundation model</vt:lpstr>
      <vt:lpstr>TabPFN 적합성 · 같은 컨텍스트 행으로 학습한 XGBoost와 비교</vt:lpstr>
      <vt:lpstr>SOTA 선정</vt:lpstr>
      <vt:lpstr>BoostPFN</vt:lpstr>
      <vt:lpstr>실험 예정</vt:lpstr>
      <vt:lpstr>Oracle과 실험결과</vt:lpstr>
      <vt:lpstr>100k 컨텍스트, benign 0.75, 공격 균등 · 클래스별 F1 (seed 42~45)</vt:lpstr>
    </vt:vector>
  </TitlesOfParts>
  <Company>Korea Institute of Energy Technology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IDS 운영을 위한 TabPFN 활용</dc:title>
  <dc:subject>데이터 검토, anchor와 residual context, expert 및 S/V 결과, SOTA, 후속 context 접근</dc:subject>
  <dc:creator>Seunghyun Yoon</dc:creator>
  <cp:lastModifiedBy>박민서</cp:lastModifiedBy>
  <cp:revision>4</cp:revision>
  <dcterms:created xsi:type="dcterms:W3CDTF">2026-08-09T04:01:58Z</dcterms:created>
  <dcterms:modified xsi:type="dcterms:W3CDTF">2026-09-03T15:12:22Z</dcterms:modified>
  <dc:description>Korean only. Simplified motivation, arrival evidence near the opening, data cleaning, static model performance/cost, system-level follow-up.</dc:description>
</cp:coreProperties>
</file>