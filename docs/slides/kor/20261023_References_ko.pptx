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선행실험은 정상 트래픽을 제외하고 공격 클래스끼리 구분할 수 있는지 확인했습니다. 각 공격 클래스에서 같은 수의 실제 train 행을 선택했고 XGBoost와 TabPFN에 동일한 행을 제공했습니다. 작은 n은 큰 n의 부분집합이며 seed 43부터 47까지의 평균과 표본 표준편차를 표시했습니다. CIC2018의 n=5에서 TabPFN과 XGBoost의 차이는 +2.55%p였지만 n=10에서는 +0.21%p였습니다. ToN-IoT에서는 각각 +6.46%p와 +2.58%p였습니다. 더 큰 n에서 두 곡선의 순위가 바뀌기도 했으므로 극소수 조건에서 TabPFN이 항상 우세하다고 결론 내리지 않습니다. 이 실험은 정상 오탐과 순차 갱신 후의 기존 공격 유지도 평가하지 않았습니다. 근거는 20261021_references 보고서 0절과 부록의 5-seed 학습곡선입니다.</a:t>
            </a:r>
          </a:p>
          <a:p/>
          <a:p>
            <a:r>
              <a:t>원문 근거</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셀 윗줄은 TabPFN의 클래스별 F1이고 괄호는 같은 조건의 TabPFN−XGBoost 차이입니다. 행은 고정 test 표본 수 내림차순입니다. CIC2018에서 DDoS, Bot, Brute force는 n=10에서도 거의 100%에 도달했지만 Web attacks는 TabPFN 4.3%였습니다. Infiltration은 84.3%였고 XGBoost보다 3.8%p 높았습니다. 반면 Web attacks는 XGBoost보다 3.1%p 낮았습니다. 평균 학습곡선이 비슷해도 어떤 공격이 해결됐는지는 다릅니다. 따라서 후속 IDS 평가는 전체 Macro-F1뿐 아니라 클래스별 precision, recall, F1과 정상 오탐을 함께 봐야 합니다.</a:t>
            </a:r>
          </a:p>
          <a:p/>
          <a:p>
            <a:r>
              <a:t>원문 근거</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ToN-IoT에서도 셀 윗줄은 TabPFN F1, 괄호는 TabPFN−XGBoost 차이입니다. n=10에서 Backdoor, DoS, XSS는 비교적 높았지만 Scanning, Ransomware, MITM은 각각 46.4%, 28.6%, 6.7%였습니다. 같은 조건에서 TabPFN은 XGBoost보다 각각 12.0, 6.3, 1.6%p 높았습니다. 상대적 이득이 있어도 MITM의 절대 성능은 낮습니다. Password와 Injection처럼 XGBoost가 더 높은 공격도 있습니다. 결론은 극소수 사례 자체가 항상 분류 불가능한 것은 아니지만 모델 간 평균 차이만으로 후속 설계를 정하기 어렵다는 것입니다. 순차 평가에서는 정상·기존 공격과 경쟁하는 조건에서 이 클래스별 차이가 유지되는지 확인해야 합니다.</a:t>
            </a:r>
          </a:p>
          <a:p/>
          <a:p>
            <a:r>
              <a:t>원문 근거</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LotBoNC에서 참고할 첫 부분은 데이터 구성입니다. 원시 PCAP의 TCP/UDP flow를 모으고 burst와 byte bigram token으로 변환했습니다. 사전학습에는 별도 트래픽 출처를 사용했고, 여기에는 평가 구성에 사용한 IoT-23·ISCX-Bot-2014·CTU-13만 표시했습니다. 각 평가 데이터 안에서 알려진 공격의 균형 라벨 집합 L과, 알려진 공격과 새 공격이 섞인 불균형 비라벨 집합 U를 만들었습니다. 두 개의 서로 다른 벤치마크를 합쳐 B를 만드는 설명이 아닙니다. γ는 비라벨 U 안의 known 표본 총량을 novel 표본 총량으로 나눈 값이며, 우리 신규 공격당 n개 라벨 수와 다른 변수입니다. 그림의 블록은 실제 배분 수가 아닌 구성 예시입니다. 우리 시나리오에는 같은 출처의 어느 행을 언제 라벨 사례로 공개하는지 설명하는 방식을 적용합니다. LotBoNC는 새 공격 정답을 주지 않고 군집을 발견하는 과제이고, 우리는 공격별 정답 사례를 제공한 뒤 분류하므로 채점 목표는 다릅니다.</a:t>
            </a:r>
          </a:p>
          <a:p/>
          <a:p>
            <a:r>
              <a:t>원문 근거</a:t>
            </a:r>
          </a:p>
          <a:p>
            <a:r>
              <a:t>LotBoNC: Novel Botnet Traffic Classification under Long-tailed Distributions</a:t>
            </a:r>
          </a:p>
          <a:p>
            <a:r>
              <a:t>ACM ASIA CCS, 2026</a:t>
            </a:r>
          </a:p>
          <a:p>
            <a:r>
              <a:t>§4 pp.3–6; §5 pp.6–8; Appendix A.1 p.15</a:t>
            </a:r>
          </a:p>
          <a:p>
            <a:r>
              <a:t>https://doi.org/10.1145/3779208.3785276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그림의 윗부분이 E-step입니다. 각 사례를 단순 argmax로 분류하면 다수 클래스에 몰릴 수 있어, batch 전체의 배정 A를 함께 구합니다. 현재 예측 확률 P에 대한 비용 C=-log P를 작게 하면서, 행 합은 사례별 질량 w, 열 합은 추정 prior r가 되게 하는 최적 수송 문제입니다. 예를 들어 prior가 0.6, 0.3, 0.1이면 10개 사례를 6, 3, 1개에 해당하는 질량으로 배정하되 soft assignment가 가능합니다. Sinkhorn은 행과 열 합을 번갈아 맞춥니다. M-step에서는 클래스 대표 벡터인 prototype과 클래스 비율을 이동평균으로 갱신합니다. Masked-token과 대조 사전학습으로 준비한 encoder를 전체 loss로 실제 업데이트하므로 고정 PFN context 갱신과 다릅니다. Known 분류와 novel 군집 정합도를 평가하며, 군집 번호는 Hungarian matching으로 대응합니다. 원문 OT kernel 부호·행렬 차원과 prototype prior 항 표기에 불일치가 있어 세부 식을 그대로 재현하지 않았고, 보고서 부록에 확인 위치를 남겼습니다. 발표에서는 논문의 일관된 작동 의도를 설명하되 원문 구현이 검증됐다고 말하지 않습니다.</a:t>
            </a:r>
          </a:p>
          <a:p/>
          <a:p>
            <a:r>
              <a:t>원문 근거</a:t>
            </a:r>
          </a:p>
          <a:p>
            <a:r>
              <a:t>LotBoNC: Novel Botnet Traffic Classification under Long-tailed Distributions</a:t>
            </a:r>
          </a:p>
          <a:p>
            <a:r>
              <a:t>ACM ASIA CCS, 2026</a:t>
            </a:r>
          </a:p>
          <a:p>
            <a:r>
              <a:t>§4 pp.3–6; §5 pp.6–8; Appendix A.1 p.15</a:t>
            </a:r>
          </a:p>
          <a:p>
            <a:r>
              <a:t>https://doi.org/10.1145/3779208.3785276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이 논문은 미리 고정한 최종 test가 아니라 예측 후 학습하는 prequential 평가입니다. 지금 도착한 사례를 현재까지 라벨을 확보한 memory로 예측하고, 정답이 지연 d 뒤에 도착한 다음에만 그 사례를 사용합니다. 기본 memory는 1,000행, warm-up은 100행, query batch는 1개입니다. 실데이터 5개와 합성 drift stream 4개에서 backbone과 memory 정책을 나눠 비교했습니다. 전체 평균에서는 FIFO가 더 복잡한 정책과 비슷했지만, 라벨 지연이 큰 특정 stream에서는 선택 정책의 이득이 있었습니다. 중요한 비용 구분은 memory의 행을 바꾸는 작업과, 그 내용을 모델이 encoding하는 작업입니다. 원문 구현은 예측마다 context를 다시 처리해, refresh 간격만 늘려서는 큰 비용을 줄이지 못했습니다. 저자들의 작은 causal 모델은 이전 표현을 cache에서 재사용하는 가능성을 보였습니다. 그 결과를 현재 TabPFN-v3의 cache가 공짜로 incremental update된다는 근거로 쓰지는 않습니다. 우리의 다음 비용 계측에서도 선택·전처리·cache 준비·query 추론을 나눠야 합니다.</a:t>
            </a:r>
          </a:p>
          <a:p/>
          <a:p>
            <a:r>
              <a:t>원문 근거</a:t>
            </a:r>
          </a:p>
          <a:p>
            <a:r>
              <a:t>Rethinking Tabular Foundation Models On Data Streams</a:t>
            </a:r>
          </a:p>
          <a:p>
            <a:r>
              <a:t>arXiv, 2026</a:t>
            </a:r>
          </a:p>
          <a:p>
            <a:r>
              <a:t>Tables 2–6, Figures 1 and 7, Appendix A and D</a:t>
            </a:r>
          </a:p>
          <a:p>
            <a:r>
              <a:t>https://arxiv.org/abs/2610.05352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ICD는 in-context data distillation의 약자입니다. 핵심은 무엇을 학습하는지입니다. 일반 증류는 합성 데이터로 모델을 학습한 뒤 그 결과로 합성 데이터를 수정하는 두 겹 최적화가 필요합니다. TabPFN은 context를 읽는 forward 자체가 예측 절차이므로 본체를 학습하는 내부 반복을 생략할 수 있습니다. θ는 고정하고 작은 context의 라벨도 고정한 채 특징 X만 변수로 둡니다. 실제 train의 사례를 query로 넣어 정답 y의 음의 로그확률 loss를 계산하고, gradient로 context X를 업데이트합니다. 수식의 α는 context optimizer 학습률이고 ∂Loss/∂X는 어느 방향으로 context를 움직이면 예측 오류가 줄어드는지를 나타냅니다. Gradient가 모델 연산을 통과한다는 사실과 모델 가중치를 optimizer가 변경한다는 사실은 다릅니다. FIFO나 무작위 선택은 실제 행 ID를 바꾸지만, ICD가 만든 점은 실제 flow 행이 아닌 합성 특징값입니다.</a:t>
            </a:r>
          </a:p>
          <a:p/>
          <a:p>
            <a:r>
              <a:t>원문 근거</a:t>
            </a:r>
          </a:p>
          <a:p>
            <a:r>
              <a:t>In-Context Data Distillation with TabPFN</a:t>
            </a:r>
          </a:p>
          <a:p>
            <a:r>
              <a:t>ICLR ME-FoMo Workshop, 2024</a:t>
            </a:r>
          </a:p>
          <a:p>
            <a:r>
              <a:t>Figure 2 p.3; §3–4 and Table 1 p.4</a:t>
            </a:r>
          </a:p>
          <a:p>
            <a:r>
              <a:t>https://arxiv.org/abs/2402.06971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hyperlink" Target="https://doi.org/10.1145/3779208.3785276"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hyperlink" Target="https://arxiv.org/abs/2610.05352" TargetMode="Externa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hyperlink" Target="https://arxiv.org/abs/2402.06971" TargetMode="External"/><Relationship Id="rId4"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극소수 공격 사례의 분류 가능성과 모델 차이</a:t>
            </a:r>
          </a:p>
        </p:txBody>
      </p:sp>
      <p:sp>
        <p:nvSpPr>
          <p:cNvPr id="3" name="TextBox 2"/>
          <p:cNvSpPr txBox="1"/>
          <p:nvPr/>
        </p:nvSpPr>
        <p:spPr>
          <a:xfrm>
            <a:off x="640080" y="987552"/>
            <a:ext cx="10927080" cy="286765"/>
          </a:xfrm>
          <a:prstGeom prst="rect">
            <a:avLst/>
          </a:prstGeom>
          <a:noFill/>
          <a:effectLst/>
        </p:spPr>
        <p:txBody>
          <a:bodyPr wrap="none" anchor="t" lIns="0" rIns="0" tIns="0" bIns="0">
            <a:noAutofit/>
          </a:bodyPr>
          <a:lstStyle/>
          <a:p>
            <a:pPr algn="l">
              <a:lnSpc>
                <a:spcPct val="118000"/>
              </a:lnSpc>
              <a:spcBef>
                <a:spcPts val="0"/>
              </a:spcBef>
              <a:spcAft>
                <a:spcPts val="0"/>
              </a:spcAft>
            </a:pPr>
            <a:r>
              <a:rPr sz="1700" b="0" lang="ko-KR">
                <a:solidFill>
                  <a:srgbClr val="617080"/>
                </a:solidFill>
                <a:latin typeface="Pretendard"/>
                <a:ea typeface="Pretendard"/>
                <a:cs typeface="Pretendard"/>
              </a:rPr>
              <a:t>공격 클래스만 평가 · 정상 제외 · 클래스별 같은 n개 학습 · 고정 attack test · 5 seeds</a:t>
            </a:r>
          </a:p>
        </p:txBody>
      </p:sp>
      <p:pic>
        <p:nvPicPr>
          <p:cNvPr id="4" name="Picture 3" descr="few_curve_cic.png"/>
          <p:cNvPicPr>
            <a:picLocks noChangeAspect="1"/>
          </p:cNvPicPr>
          <p:nvPr/>
        </p:nvPicPr>
        <p:blipFill>
          <a:blip r:embed="rId3"/>
          <a:stretch>
            <a:fillRect/>
          </a:stretch>
        </p:blipFill>
        <p:spPr>
          <a:xfrm>
            <a:off x="603503" y="1576093"/>
            <a:ext cx="5486400" cy="2937717"/>
          </a:xfrm>
          <a:prstGeom prst="rect">
            <a:avLst/>
          </a:prstGeom>
          <a:effectLst/>
        </p:spPr>
      </p:pic>
      <p:pic>
        <p:nvPicPr>
          <p:cNvPr id="5" name="Picture 4" descr="few_curve_ton.png"/>
          <p:cNvPicPr>
            <a:picLocks noChangeAspect="1"/>
          </p:cNvPicPr>
          <p:nvPr/>
        </p:nvPicPr>
        <p:blipFill>
          <a:blip r:embed="rId4"/>
          <a:stretch>
            <a:fillRect/>
          </a:stretch>
        </p:blipFill>
        <p:spPr>
          <a:xfrm>
            <a:off x="6126479" y="1576093"/>
            <a:ext cx="5486400" cy="2937717"/>
          </a:xfrm>
          <a:prstGeom prst="rect">
            <a:avLst/>
          </a:prstGeom>
          <a:effectLst/>
        </p:spPr>
      </p:pic>
      <p:sp>
        <p:nvSpPr>
          <p:cNvPr id="6" name="TextBox 5"/>
          <p:cNvSpPr txBox="1"/>
          <p:nvPr/>
        </p:nvSpPr>
        <p:spPr>
          <a:xfrm>
            <a:off x="749808" y="4901184"/>
            <a:ext cx="5148072" cy="631443"/>
          </a:xfrm>
          <a:prstGeom prst="rect">
            <a:avLst/>
          </a:prstGeom>
          <a:noFill/>
          <a:effectLst/>
        </p:spPr>
        <p:txBody>
          <a:bodyPr wrap="none" anchor="t" lIns="0" rIns="0" tIns="0" bIns="0">
            <a:noAutofit/>
          </a:bodyPr>
          <a:lstStyle/>
          <a:p>
            <a:pPr algn="l">
              <a:lnSpc>
                <a:spcPct val="118000"/>
              </a:lnSpc>
              <a:spcBef>
                <a:spcPts val="0"/>
              </a:spcBef>
              <a:spcAft>
                <a:spcPts val="0"/>
              </a:spcAft>
            </a:pPr>
            <a:r>
              <a:rPr sz="2000" b="1" lang="ko-KR">
                <a:solidFill>
                  <a:srgbClr val="00306C"/>
                </a:solidFill>
                <a:latin typeface="Pretendard"/>
                <a:ea typeface="Pretendard"/>
                <a:cs typeface="Pretendard"/>
              </a:rPr>
              <a:t>CIC2018  n=5  +2.55%p</a:t>
            </a:r>
          </a:p>
          <a:p>
            <a:pPr algn="l">
              <a:lnSpc>
                <a:spcPct val="118000"/>
              </a:lnSpc>
              <a:spcBef>
                <a:spcPts val="0"/>
              </a:spcBef>
              <a:spcAft>
                <a:spcPts val="0"/>
              </a:spcAft>
            </a:pPr>
            <a:r>
              <a:rPr sz="2000" b="1" lang="ko-KR">
                <a:solidFill>
                  <a:srgbClr val="00306C"/>
                </a:solidFill>
                <a:latin typeface="Pretendard"/>
                <a:ea typeface="Pretendard"/>
                <a:cs typeface="Pretendard"/>
              </a:rPr>
              <a:t>n=10  +0.21%p</a:t>
            </a:r>
          </a:p>
        </p:txBody>
      </p:sp>
      <p:sp>
        <p:nvSpPr>
          <p:cNvPr id="7" name="TextBox 6"/>
          <p:cNvSpPr txBox="1"/>
          <p:nvPr/>
        </p:nvSpPr>
        <p:spPr>
          <a:xfrm>
            <a:off x="6300216" y="4901184"/>
            <a:ext cx="5138928" cy="631443"/>
          </a:xfrm>
          <a:prstGeom prst="rect">
            <a:avLst/>
          </a:prstGeom>
          <a:noFill/>
          <a:effectLst/>
        </p:spPr>
        <p:txBody>
          <a:bodyPr wrap="none" anchor="t" lIns="0" rIns="0" tIns="0" bIns="0">
            <a:noAutofit/>
          </a:bodyPr>
          <a:lstStyle/>
          <a:p>
            <a:pPr algn="l">
              <a:lnSpc>
                <a:spcPct val="118000"/>
              </a:lnSpc>
              <a:spcBef>
                <a:spcPts val="0"/>
              </a:spcBef>
              <a:spcAft>
                <a:spcPts val="0"/>
              </a:spcAft>
            </a:pPr>
            <a:r>
              <a:rPr sz="2000" b="1" lang="ko-KR">
                <a:solidFill>
                  <a:srgbClr val="00306C"/>
                </a:solidFill>
                <a:latin typeface="Pretendard"/>
                <a:ea typeface="Pretendard"/>
                <a:cs typeface="Pretendard"/>
              </a:rPr>
              <a:t>ToN-IoT  n=5  +6.46%p</a:t>
            </a:r>
          </a:p>
          <a:p>
            <a:pPr algn="l">
              <a:lnSpc>
                <a:spcPct val="118000"/>
              </a:lnSpc>
              <a:spcBef>
                <a:spcPts val="0"/>
              </a:spcBef>
              <a:spcAft>
                <a:spcPts val="0"/>
              </a:spcAft>
            </a:pPr>
            <a:r>
              <a:rPr sz="2000" b="1" lang="ko-KR">
                <a:solidFill>
                  <a:srgbClr val="00306C"/>
                </a:solidFill>
                <a:latin typeface="Pretendard"/>
                <a:ea typeface="Pretendard"/>
                <a:cs typeface="Pretendard"/>
              </a:rPr>
              <a:t>n=10  +2.58%p</a:t>
            </a:r>
          </a:p>
        </p:txBody>
      </p:sp>
      <p:sp>
        <p:nvSpPr>
          <p:cNvPr id="8" name="TextBox 7"/>
          <p:cNvSpPr txBox="1"/>
          <p:nvPr/>
        </p:nvSpPr>
        <p:spPr>
          <a:xfrm>
            <a:off x="749808" y="5650992"/>
            <a:ext cx="10625328" cy="331724"/>
          </a:xfrm>
          <a:prstGeom prst="rect">
            <a:avLst/>
          </a:prstGeom>
          <a:noFill/>
          <a:effectLst/>
        </p:spPr>
        <p:txBody>
          <a:bodyPr wrap="none" anchor="t" lIns="0" rIns="0" tIns="0" bIns="0">
            <a:noAutofit/>
          </a:bodyPr>
          <a:lstStyle/>
          <a:p>
            <a:pPr algn="l">
              <a:lnSpc>
                <a:spcPct val="118000"/>
              </a:lnSpc>
              <a:spcBef>
                <a:spcPts val="0"/>
              </a:spcBef>
              <a:spcAft>
                <a:spcPts val="0"/>
              </a:spcAft>
            </a:pPr>
            <a:r>
              <a:rPr sz="2000" b="1" lang="ko-KR">
                <a:solidFill>
                  <a:srgbClr val="227B71"/>
                </a:solidFill>
                <a:latin typeface="Pretendard"/>
                <a:ea typeface="Pretendard"/>
                <a:cs typeface="Pretendard"/>
              </a:rPr>
              <a:t>공격 종류를 구분하는 성능은 형성 · 모델 격차는 데이터와 n에 따라 축소·역전</a:t>
            </a:r>
          </a:p>
        </p:txBody>
      </p:sp>
      <p:sp>
        <p:nvSpPr>
          <p:cNvPr id="9" name="Rectangle 8"/>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48640" y="6537960"/>
            <a:ext cx="8732520" cy="241808"/>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TabPFN 우위는 일부 극소 구간에서 관찰 · 표본 수 전반에서 일관된 우위는 미확인</a:t>
            </a:r>
          </a:p>
        </p:txBody>
      </p:sp>
      <p:sp>
        <p:nvSpPr>
          <p:cNvPr id="11" name="TextBox 10"/>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01 선행 실험</a:t>
            </a:r>
          </a:p>
        </p:txBody>
      </p:sp>
      <p:sp>
        <p:nvSpPr>
          <p:cNvPr id="12" name="TextBox 11"/>
          <p:cNvSpPr txBox="1"/>
          <p:nvPr/>
        </p:nvSpPr>
        <p:spPr>
          <a:xfrm>
            <a:off x="11411712" y="6533388"/>
            <a:ext cx="256032" cy="241808"/>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CIC2018 · 평균 점수가 가리는 공격별 난이도</a:t>
            </a:r>
          </a:p>
        </p:txBody>
      </p:sp>
      <p:pic>
        <p:nvPicPr>
          <p:cNvPr id="3" name="Picture 2" descr="few_class_cic.png"/>
          <p:cNvPicPr>
            <a:picLocks noChangeAspect="1"/>
          </p:cNvPicPr>
          <p:nvPr/>
        </p:nvPicPr>
        <p:blipFill>
          <a:blip r:embed="rId3"/>
          <a:stretch>
            <a:fillRect/>
          </a:stretch>
        </p:blipFill>
        <p:spPr>
          <a:xfrm>
            <a:off x="594360" y="1852142"/>
            <a:ext cx="7754112" cy="3757219"/>
          </a:xfrm>
          <a:prstGeom prst="rect">
            <a:avLst/>
          </a:prstGeom>
          <a:effectLst/>
        </p:spPr>
      </p:pic>
      <p:sp>
        <p:nvSpPr>
          <p:cNvPr id="4" name="TextBox 3"/>
          <p:cNvSpPr txBox="1"/>
          <p:nvPr/>
        </p:nvSpPr>
        <p:spPr>
          <a:xfrm>
            <a:off x="8540496" y="1271016"/>
            <a:ext cx="2926080" cy="331724"/>
          </a:xfrm>
          <a:prstGeom prst="rect">
            <a:avLst/>
          </a:prstGeom>
          <a:noFill/>
          <a:effectLst/>
        </p:spPr>
        <p:txBody>
          <a:bodyPr wrap="none" anchor="t" lIns="0" rIns="0" tIns="0" bIns="0">
            <a:noAutofit/>
          </a:bodyPr>
          <a:lstStyle/>
          <a:p>
            <a:pPr algn="l">
              <a:lnSpc>
                <a:spcPct val="118000"/>
              </a:lnSpc>
              <a:spcBef>
                <a:spcPts val="0"/>
              </a:spcBef>
              <a:spcAft>
                <a:spcPts val="0"/>
              </a:spcAft>
            </a:pPr>
            <a:r>
              <a:rPr sz="2000" b="1" lang="ko-KR">
                <a:solidFill>
                  <a:srgbClr val="00306C"/>
                </a:solidFill>
                <a:latin typeface="Pretendard"/>
                <a:ea typeface="Pretendard"/>
                <a:cs typeface="Pretendard"/>
              </a:rPr>
              <a:t>n=10의 TabPFN F1</a:t>
            </a:r>
          </a:p>
        </p:txBody>
      </p:sp>
      <p:sp>
        <p:nvSpPr>
          <p:cNvPr id="5" name="TextBox 4"/>
          <p:cNvSpPr txBox="1"/>
          <p:nvPr/>
        </p:nvSpPr>
        <p:spPr>
          <a:xfrm>
            <a:off x="8540496" y="1810512"/>
            <a:ext cx="2926080" cy="976121"/>
          </a:xfrm>
          <a:prstGeom prst="rect">
            <a:avLst/>
          </a:prstGeom>
          <a:noFill/>
          <a:effectLst/>
        </p:spPr>
        <p:txBody>
          <a:bodyPr wrap="none" anchor="t" lIns="0" rIns="0" tIns="0" bIns="0">
            <a:noAutofit/>
          </a:bodyPr>
          <a:lstStyle/>
          <a:p>
            <a:pPr algn="l">
              <a:lnSpc>
                <a:spcPct val="118000"/>
              </a:lnSpc>
              <a:spcBef>
                <a:spcPts val="0"/>
              </a:spcBef>
              <a:spcAft>
                <a:spcPts val="0"/>
              </a:spcAft>
            </a:pPr>
            <a:r>
              <a:rPr sz="2100" b="0" lang="ko-KR">
                <a:solidFill>
                  <a:srgbClr val="20262E"/>
                </a:solidFill>
                <a:latin typeface="Pretendard"/>
                <a:ea typeface="Pretendard"/>
                <a:cs typeface="Pretendard"/>
              </a:rPr>
              <a:t>DDoS  99.6</a:t>
            </a:r>
          </a:p>
          <a:p>
            <a:pPr algn="l">
              <a:lnSpc>
                <a:spcPct val="118000"/>
              </a:lnSpc>
              <a:spcBef>
                <a:spcPts val="0"/>
              </a:spcBef>
              <a:spcAft>
                <a:spcPts val="0"/>
              </a:spcAft>
            </a:pPr>
            <a:r>
              <a:rPr sz="2100" b="0" lang="ko-KR">
                <a:solidFill>
                  <a:srgbClr val="20262E"/>
                </a:solidFill>
                <a:latin typeface="Pretendard"/>
                <a:ea typeface="Pretendard"/>
                <a:cs typeface="Pretendard"/>
              </a:rPr>
              <a:t>Bot  99.4</a:t>
            </a:r>
          </a:p>
          <a:p>
            <a:pPr algn="l">
              <a:lnSpc>
                <a:spcPct val="118000"/>
              </a:lnSpc>
              <a:spcBef>
                <a:spcPts val="0"/>
              </a:spcBef>
              <a:spcAft>
                <a:spcPts val="0"/>
              </a:spcAft>
            </a:pPr>
            <a:r>
              <a:rPr sz="2100" b="0" lang="ko-KR">
                <a:solidFill>
                  <a:srgbClr val="20262E"/>
                </a:solidFill>
                <a:latin typeface="Pretendard"/>
                <a:ea typeface="Pretendard"/>
                <a:cs typeface="Pretendard"/>
              </a:rPr>
              <a:t>Brute force  100.0</a:t>
            </a:r>
          </a:p>
        </p:txBody>
      </p:sp>
      <p:sp>
        <p:nvSpPr>
          <p:cNvPr id="6" name="Rectangle 5"/>
          <p:cNvSpPr/>
          <p:nvPr/>
        </p:nvSpPr>
        <p:spPr>
          <a:xfrm>
            <a:off x="8458200" y="3154680"/>
            <a:ext cx="3063240" cy="18288"/>
          </a:xfrm>
          <a:prstGeom prst="rect">
            <a:avLst/>
          </a:prstGeom>
          <a:solidFill>
            <a:srgbClr val="CAD5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540496" y="3447288"/>
            <a:ext cx="2926080" cy="331724"/>
          </a:xfrm>
          <a:prstGeom prst="rect">
            <a:avLst/>
          </a:prstGeom>
          <a:noFill/>
          <a:effectLst/>
        </p:spPr>
        <p:txBody>
          <a:bodyPr wrap="none" anchor="t" lIns="0" rIns="0" tIns="0" bIns="0">
            <a:noAutofit/>
          </a:bodyPr>
          <a:lstStyle/>
          <a:p>
            <a:pPr algn="l">
              <a:lnSpc>
                <a:spcPct val="118000"/>
              </a:lnSpc>
              <a:spcBef>
                <a:spcPts val="0"/>
              </a:spcBef>
              <a:spcAft>
                <a:spcPts val="0"/>
              </a:spcAft>
            </a:pPr>
            <a:r>
              <a:rPr sz="2000" b="1" lang="ko-KR">
                <a:solidFill>
                  <a:srgbClr val="9F6B20"/>
                </a:solidFill>
                <a:latin typeface="Pretendard"/>
                <a:ea typeface="Pretendard"/>
                <a:cs typeface="Pretendard"/>
              </a:rPr>
              <a:t>어려운 공격</a:t>
            </a:r>
          </a:p>
        </p:txBody>
      </p:sp>
      <p:sp>
        <p:nvSpPr>
          <p:cNvPr id="8" name="TextBox 7"/>
          <p:cNvSpPr txBox="1"/>
          <p:nvPr/>
        </p:nvSpPr>
        <p:spPr>
          <a:xfrm>
            <a:off x="8540496" y="3968496"/>
            <a:ext cx="2926080" cy="661416"/>
          </a:xfrm>
          <a:prstGeom prst="rect">
            <a:avLst/>
          </a:prstGeom>
          <a:noFill/>
          <a:effectLst/>
        </p:spPr>
        <p:txBody>
          <a:bodyPr wrap="none" anchor="t" lIns="0" rIns="0" tIns="0" bIns="0">
            <a:noAutofit/>
          </a:bodyPr>
          <a:lstStyle/>
          <a:p>
            <a:pPr algn="l">
              <a:lnSpc>
                <a:spcPct val="118000"/>
              </a:lnSpc>
              <a:spcBef>
                <a:spcPts val="0"/>
              </a:spcBef>
              <a:spcAft>
                <a:spcPts val="0"/>
              </a:spcAft>
            </a:pPr>
            <a:r>
              <a:rPr sz="2100" b="0" lang="ko-KR">
                <a:solidFill>
                  <a:srgbClr val="20262E"/>
                </a:solidFill>
                <a:latin typeface="Pretendard"/>
                <a:ea typeface="Pretendard"/>
                <a:cs typeface="Pretendard"/>
              </a:rPr>
              <a:t>Infiltration  84.3</a:t>
            </a:r>
          </a:p>
          <a:p>
            <a:pPr algn="l">
              <a:lnSpc>
                <a:spcPct val="118000"/>
              </a:lnSpc>
              <a:spcBef>
                <a:spcPts val="0"/>
              </a:spcBef>
              <a:spcAft>
                <a:spcPts val="0"/>
              </a:spcAft>
            </a:pPr>
            <a:r>
              <a:rPr sz="2100" b="0" lang="ko-KR">
                <a:solidFill>
                  <a:srgbClr val="20262E"/>
                </a:solidFill>
                <a:latin typeface="Pretendard"/>
                <a:ea typeface="Pretendard"/>
                <a:cs typeface="Pretendard"/>
              </a:rPr>
              <a:t>Web attacks  4.3</a:t>
            </a:r>
          </a:p>
        </p:txBody>
      </p:sp>
      <p:sp>
        <p:nvSpPr>
          <p:cNvPr id="9" name="TextBox 8"/>
          <p:cNvSpPr txBox="1"/>
          <p:nvPr/>
        </p:nvSpPr>
        <p:spPr>
          <a:xfrm>
            <a:off x="8540496" y="5084064"/>
            <a:ext cx="2926080" cy="571500"/>
          </a:xfrm>
          <a:prstGeom prst="rect">
            <a:avLst/>
          </a:prstGeom>
          <a:noFill/>
          <a:effectLst/>
        </p:spPr>
        <p:txBody>
          <a:bodyPr wrap="none" anchor="t" lIns="0" rIns="0" tIns="0" bIns="0">
            <a:noAutofit/>
          </a:bodyPr>
          <a:lstStyle/>
          <a:p>
            <a:pPr algn="l">
              <a:lnSpc>
                <a:spcPct val="118000"/>
              </a:lnSpc>
              <a:spcBef>
                <a:spcPts val="0"/>
              </a:spcBef>
              <a:spcAft>
                <a:spcPts val="0"/>
              </a:spcAft>
            </a:pPr>
            <a:r>
              <a:rPr sz="1800" b="1" lang="ko-KR">
                <a:solidFill>
                  <a:srgbClr val="227B71"/>
                </a:solidFill>
                <a:latin typeface="Pretendard"/>
                <a:ea typeface="Pretendard"/>
                <a:cs typeface="Pretendard"/>
              </a:rPr>
              <a:t>PFN−XGB</a:t>
            </a:r>
          </a:p>
          <a:p>
            <a:pPr algn="l">
              <a:lnSpc>
                <a:spcPct val="118000"/>
              </a:lnSpc>
              <a:spcBef>
                <a:spcPts val="0"/>
              </a:spcBef>
              <a:spcAft>
                <a:spcPts val="0"/>
              </a:spcAft>
            </a:pPr>
            <a:r>
              <a:rPr sz="1800" b="1" lang="ko-KR">
                <a:solidFill>
                  <a:srgbClr val="227B71"/>
                </a:solidFill>
                <a:latin typeface="Pretendard"/>
                <a:ea typeface="Pretendard"/>
                <a:cs typeface="Pretendard"/>
              </a:rPr>
              <a:t>+3.8%p / −3.1%p</a:t>
            </a:r>
          </a:p>
        </p:txBody>
      </p:sp>
      <p:sp>
        <p:nvSpPr>
          <p:cNvPr id="10" name="Rectangle 9"/>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48640" y="6537960"/>
            <a:ext cx="8732520" cy="241808"/>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쉬운 공격은 10개 이내에도 높은 F1 · Web attacks는 두 모델 모두 해결하지 못함</a:t>
            </a:r>
          </a:p>
        </p:txBody>
      </p:sp>
      <p:sp>
        <p:nvSpPr>
          <p:cNvPr id="12" name="TextBox 11"/>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01 선행 실험</a:t>
            </a:r>
          </a:p>
        </p:txBody>
      </p:sp>
      <p:sp>
        <p:nvSpPr>
          <p:cNvPr id="13" name="TextBox 12"/>
          <p:cNvSpPr txBox="1"/>
          <p:nvPr/>
        </p:nvSpPr>
        <p:spPr>
          <a:xfrm>
            <a:off x="11411712" y="6533388"/>
            <a:ext cx="256032" cy="241808"/>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ToN-IoT · 소수 사례의 효과도 공격마다 다름</a:t>
            </a:r>
          </a:p>
        </p:txBody>
      </p:sp>
      <p:pic>
        <p:nvPicPr>
          <p:cNvPr id="3" name="Picture 2" descr="few_class_ton.png"/>
          <p:cNvPicPr>
            <a:picLocks noChangeAspect="1"/>
          </p:cNvPicPr>
          <p:nvPr/>
        </p:nvPicPr>
        <p:blipFill>
          <a:blip r:embed="rId3"/>
          <a:stretch>
            <a:fillRect/>
          </a:stretch>
        </p:blipFill>
        <p:spPr>
          <a:xfrm>
            <a:off x="566928" y="1240774"/>
            <a:ext cx="7799831" cy="4906803"/>
          </a:xfrm>
          <a:prstGeom prst="rect">
            <a:avLst/>
          </a:prstGeom>
          <a:effectLst/>
        </p:spPr>
      </p:pic>
      <p:sp>
        <p:nvSpPr>
          <p:cNvPr id="4" name="TextBox 3"/>
          <p:cNvSpPr txBox="1"/>
          <p:nvPr/>
        </p:nvSpPr>
        <p:spPr>
          <a:xfrm>
            <a:off x="8540496" y="1197864"/>
            <a:ext cx="2926080" cy="331724"/>
          </a:xfrm>
          <a:prstGeom prst="rect">
            <a:avLst/>
          </a:prstGeom>
          <a:noFill/>
          <a:effectLst/>
        </p:spPr>
        <p:txBody>
          <a:bodyPr wrap="none" anchor="t" lIns="0" rIns="0" tIns="0" bIns="0">
            <a:noAutofit/>
          </a:bodyPr>
          <a:lstStyle/>
          <a:p>
            <a:pPr algn="l">
              <a:lnSpc>
                <a:spcPct val="118000"/>
              </a:lnSpc>
              <a:spcBef>
                <a:spcPts val="0"/>
              </a:spcBef>
              <a:spcAft>
                <a:spcPts val="0"/>
              </a:spcAft>
            </a:pPr>
            <a:r>
              <a:rPr sz="2000" b="1" lang="ko-KR">
                <a:solidFill>
                  <a:srgbClr val="00306C"/>
                </a:solidFill>
                <a:latin typeface="Pretendard"/>
                <a:ea typeface="Pretendard"/>
                <a:cs typeface="Pretendard"/>
              </a:rPr>
              <a:t>n=10의 TabPFN F1</a:t>
            </a:r>
          </a:p>
        </p:txBody>
      </p:sp>
      <p:sp>
        <p:nvSpPr>
          <p:cNvPr id="5" name="TextBox 4"/>
          <p:cNvSpPr txBox="1"/>
          <p:nvPr/>
        </p:nvSpPr>
        <p:spPr>
          <a:xfrm>
            <a:off x="8540496" y="1719072"/>
            <a:ext cx="2926080" cy="976121"/>
          </a:xfrm>
          <a:prstGeom prst="rect">
            <a:avLst/>
          </a:prstGeom>
          <a:noFill/>
          <a:effectLst/>
        </p:spPr>
        <p:txBody>
          <a:bodyPr wrap="none" anchor="t" lIns="0" rIns="0" tIns="0" bIns="0">
            <a:noAutofit/>
          </a:bodyPr>
          <a:lstStyle/>
          <a:p>
            <a:pPr algn="l">
              <a:lnSpc>
                <a:spcPct val="118000"/>
              </a:lnSpc>
              <a:spcBef>
                <a:spcPts val="0"/>
              </a:spcBef>
              <a:spcAft>
                <a:spcPts val="0"/>
              </a:spcAft>
            </a:pPr>
            <a:r>
              <a:rPr sz="2100" b="0" lang="ko-KR">
                <a:solidFill>
                  <a:srgbClr val="20262E"/>
                </a:solidFill>
                <a:latin typeface="Pretendard"/>
                <a:ea typeface="Pretendard"/>
                <a:cs typeface="Pretendard"/>
              </a:rPr>
              <a:t>Backdoor  96.2</a:t>
            </a:r>
          </a:p>
          <a:p>
            <a:pPr algn="l">
              <a:lnSpc>
                <a:spcPct val="118000"/>
              </a:lnSpc>
              <a:spcBef>
                <a:spcPts val="0"/>
              </a:spcBef>
              <a:spcAft>
                <a:spcPts val="0"/>
              </a:spcAft>
            </a:pPr>
            <a:r>
              <a:rPr sz="2100" b="0" lang="ko-KR">
                <a:solidFill>
                  <a:srgbClr val="20262E"/>
                </a:solidFill>
                <a:latin typeface="Pretendard"/>
                <a:ea typeface="Pretendard"/>
                <a:cs typeface="Pretendard"/>
              </a:rPr>
              <a:t>DoS  87.2</a:t>
            </a:r>
          </a:p>
          <a:p>
            <a:pPr algn="l">
              <a:lnSpc>
                <a:spcPct val="118000"/>
              </a:lnSpc>
              <a:spcBef>
                <a:spcPts val="0"/>
              </a:spcBef>
              <a:spcAft>
                <a:spcPts val="0"/>
              </a:spcAft>
            </a:pPr>
            <a:r>
              <a:rPr sz="2100" b="0" lang="ko-KR">
                <a:solidFill>
                  <a:srgbClr val="20262E"/>
                </a:solidFill>
                <a:latin typeface="Pretendard"/>
                <a:ea typeface="Pretendard"/>
                <a:cs typeface="Pretendard"/>
              </a:rPr>
              <a:t>XSS  85.6</a:t>
            </a:r>
          </a:p>
        </p:txBody>
      </p:sp>
      <p:sp>
        <p:nvSpPr>
          <p:cNvPr id="6" name="Rectangle 5"/>
          <p:cNvSpPr/>
          <p:nvPr/>
        </p:nvSpPr>
        <p:spPr>
          <a:xfrm>
            <a:off x="8458200" y="3063240"/>
            <a:ext cx="3063240" cy="18288"/>
          </a:xfrm>
          <a:prstGeom prst="rect">
            <a:avLst/>
          </a:prstGeom>
          <a:solidFill>
            <a:srgbClr val="CAD5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540496" y="3355848"/>
            <a:ext cx="2926080" cy="331724"/>
          </a:xfrm>
          <a:prstGeom prst="rect">
            <a:avLst/>
          </a:prstGeom>
          <a:noFill/>
          <a:effectLst/>
        </p:spPr>
        <p:txBody>
          <a:bodyPr wrap="none" anchor="t" lIns="0" rIns="0" tIns="0" bIns="0">
            <a:noAutofit/>
          </a:bodyPr>
          <a:lstStyle/>
          <a:p>
            <a:pPr algn="l">
              <a:lnSpc>
                <a:spcPct val="118000"/>
              </a:lnSpc>
              <a:spcBef>
                <a:spcPts val="0"/>
              </a:spcBef>
              <a:spcAft>
                <a:spcPts val="0"/>
              </a:spcAft>
            </a:pPr>
            <a:r>
              <a:rPr sz="2000" b="1" lang="ko-KR">
                <a:solidFill>
                  <a:srgbClr val="9F6B20"/>
                </a:solidFill>
                <a:latin typeface="Pretendard"/>
                <a:ea typeface="Pretendard"/>
                <a:cs typeface="Pretendard"/>
              </a:rPr>
              <a:t>어려운 공격</a:t>
            </a:r>
          </a:p>
        </p:txBody>
      </p:sp>
      <p:sp>
        <p:nvSpPr>
          <p:cNvPr id="8" name="TextBox 7"/>
          <p:cNvSpPr txBox="1"/>
          <p:nvPr/>
        </p:nvSpPr>
        <p:spPr>
          <a:xfrm>
            <a:off x="8540496" y="3877056"/>
            <a:ext cx="2926080" cy="976121"/>
          </a:xfrm>
          <a:prstGeom prst="rect">
            <a:avLst/>
          </a:prstGeom>
          <a:noFill/>
          <a:effectLst/>
        </p:spPr>
        <p:txBody>
          <a:bodyPr wrap="none" anchor="t" lIns="0" rIns="0" tIns="0" bIns="0">
            <a:noAutofit/>
          </a:bodyPr>
          <a:lstStyle/>
          <a:p>
            <a:pPr algn="l">
              <a:lnSpc>
                <a:spcPct val="118000"/>
              </a:lnSpc>
              <a:spcBef>
                <a:spcPts val="0"/>
              </a:spcBef>
              <a:spcAft>
                <a:spcPts val="0"/>
              </a:spcAft>
            </a:pPr>
            <a:r>
              <a:rPr sz="2100" b="0" lang="ko-KR">
                <a:solidFill>
                  <a:srgbClr val="20262E"/>
                </a:solidFill>
                <a:latin typeface="Pretendard"/>
                <a:ea typeface="Pretendard"/>
                <a:cs typeface="Pretendard"/>
              </a:rPr>
              <a:t>Scanning  46.4</a:t>
            </a:r>
          </a:p>
          <a:p>
            <a:pPr algn="l">
              <a:lnSpc>
                <a:spcPct val="118000"/>
              </a:lnSpc>
              <a:spcBef>
                <a:spcPts val="0"/>
              </a:spcBef>
              <a:spcAft>
                <a:spcPts val="0"/>
              </a:spcAft>
            </a:pPr>
            <a:r>
              <a:rPr sz="2100" b="0" lang="ko-KR">
                <a:solidFill>
                  <a:srgbClr val="20262E"/>
                </a:solidFill>
                <a:latin typeface="Pretendard"/>
                <a:ea typeface="Pretendard"/>
                <a:cs typeface="Pretendard"/>
              </a:rPr>
              <a:t>Ransomware  28.6</a:t>
            </a:r>
          </a:p>
          <a:p>
            <a:pPr algn="l">
              <a:lnSpc>
                <a:spcPct val="118000"/>
              </a:lnSpc>
              <a:spcBef>
                <a:spcPts val="0"/>
              </a:spcBef>
              <a:spcAft>
                <a:spcPts val="0"/>
              </a:spcAft>
            </a:pPr>
            <a:r>
              <a:rPr sz="2100" b="0" lang="ko-KR">
                <a:solidFill>
                  <a:srgbClr val="20262E"/>
                </a:solidFill>
                <a:latin typeface="Pretendard"/>
                <a:ea typeface="Pretendard"/>
                <a:cs typeface="Pretendard"/>
              </a:rPr>
              <a:t>MITM  6.7</a:t>
            </a:r>
          </a:p>
        </p:txBody>
      </p:sp>
      <p:sp>
        <p:nvSpPr>
          <p:cNvPr id="9" name="TextBox 8"/>
          <p:cNvSpPr txBox="1"/>
          <p:nvPr/>
        </p:nvSpPr>
        <p:spPr>
          <a:xfrm>
            <a:off x="8540496" y="5266944"/>
            <a:ext cx="2926080" cy="571500"/>
          </a:xfrm>
          <a:prstGeom prst="rect">
            <a:avLst/>
          </a:prstGeom>
          <a:noFill/>
          <a:effectLst/>
        </p:spPr>
        <p:txBody>
          <a:bodyPr wrap="none" anchor="t" lIns="0" rIns="0" tIns="0" bIns="0">
            <a:noAutofit/>
          </a:bodyPr>
          <a:lstStyle/>
          <a:p>
            <a:pPr algn="l">
              <a:lnSpc>
                <a:spcPct val="118000"/>
              </a:lnSpc>
              <a:spcBef>
                <a:spcPts val="0"/>
              </a:spcBef>
              <a:spcAft>
                <a:spcPts val="0"/>
              </a:spcAft>
            </a:pPr>
            <a:r>
              <a:rPr sz="1800" b="1" lang="ko-KR">
                <a:solidFill>
                  <a:srgbClr val="227B71"/>
                </a:solidFill>
                <a:latin typeface="Pretendard"/>
                <a:ea typeface="Pretendard"/>
                <a:cs typeface="Pretendard"/>
              </a:rPr>
              <a:t>PFN−XGB</a:t>
            </a:r>
          </a:p>
          <a:p>
            <a:pPr algn="l">
              <a:lnSpc>
                <a:spcPct val="118000"/>
              </a:lnSpc>
              <a:spcBef>
                <a:spcPts val="0"/>
              </a:spcBef>
              <a:spcAft>
                <a:spcPts val="0"/>
              </a:spcAft>
            </a:pPr>
            <a:r>
              <a:rPr sz="1800" b="1" lang="ko-KR">
                <a:solidFill>
                  <a:srgbClr val="227B71"/>
                </a:solidFill>
                <a:latin typeface="Pretendard"/>
                <a:ea typeface="Pretendard"/>
                <a:cs typeface="Pretendard"/>
              </a:rPr>
              <a:t>+12.0 / +6.3 / +1.6%p</a:t>
            </a:r>
          </a:p>
        </p:txBody>
      </p:sp>
      <p:sp>
        <p:nvSpPr>
          <p:cNvPr id="10" name="Rectangle 9"/>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48640" y="6537960"/>
            <a:ext cx="8732520" cy="241808"/>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일부 공격은 TabPFN 이득 · MITM 등은 두 모델의 절대 성능이 계속 낮음</a:t>
            </a:r>
          </a:p>
        </p:txBody>
      </p:sp>
      <p:sp>
        <p:nvSpPr>
          <p:cNvPr id="12" name="TextBox 11"/>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01 선행 실험</a:t>
            </a:r>
          </a:p>
        </p:txBody>
      </p:sp>
      <p:sp>
        <p:nvSpPr>
          <p:cNvPr id="13" name="TextBox 12"/>
          <p:cNvSpPr txBox="1"/>
          <p:nvPr/>
        </p:nvSpPr>
        <p:spPr>
          <a:xfrm>
            <a:off x="11411712" y="6533388"/>
            <a:ext cx="256032" cy="241808"/>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LotBoNC · 원본 트래픽에서 평가 조건을 만드는 과정</a:t>
            </a:r>
          </a:p>
        </p:txBody>
      </p:sp>
      <p:sp>
        <p:nvSpPr>
          <p:cNvPr id="3" name="TextBox 2"/>
          <p:cNvSpPr txBox="1"/>
          <p:nvPr/>
        </p:nvSpPr>
        <p:spPr>
          <a:xfrm>
            <a:off x="566928" y="960120"/>
            <a:ext cx="11018520" cy="256794"/>
          </a:xfrm>
          <a:prstGeom prst="rect">
            <a:avLst/>
          </a:prstGeom>
          <a:noFill/>
          <a:effectLst/>
        </p:spPr>
        <p:txBody>
          <a:bodyPr wrap="none" anchor="t" lIns="0" rIns="0" tIns="0" bIns="0">
            <a:noAutofit/>
          </a:bodyPr>
          <a:lstStyle/>
          <a:p>
            <a:pPr algn="l">
              <a:lnSpc>
                <a:spcPct val="118000"/>
              </a:lnSpc>
              <a:spcBef>
                <a:spcPts val="0"/>
              </a:spcBef>
              <a:spcAft>
                <a:spcPts val="0"/>
              </a:spcAft>
            </a:pPr>
            <a:r>
              <a:rPr sz="1500" b="0" lang="ko-KR">
                <a:solidFill>
                  <a:srgbClr val="617080"/>
                </a:solidFill>
                <a:latin typeface="Pretendard"/>
                <a:ea typeface="Pretendard"/>
                <a:cs typeface="Pretendard"/>
                <a:hlinkClick r:id="rId3"/>
              </a:rPr>
              <a:t>LotBoNC: Novel Botnet Traffic Classification under Long-tailed Distributions · ASIA CCS 2026</a:t>
            </a:r>
          </a:p>
        </p:txBody>
      </p:sp>
      <p:sp>
        <p:nvSpPr>
          <p:cNvPr id="4" name="TextBox 3"/>
          <p:cNvSpPr txBox="1"/>
          <p:nvPr/>
        </p:nvSpPr>
        <p:spPr>
          <a:xfrm>
            <a:off x="722376" y="1307592"/>
            <a:ext cx="10698480" cy="271779"/>
          </a:xfrm>
          <a:prstGeom prst="rect">
            <a:avLst/>
          </a:prstGeom>
          <a:noFill/>
          <a:effectLst/>
        </p:spPr>
        <p:txBody>
          <a:bodyPr wrap="none" anchor="t" lIns="0" rIns="0" tIns="0" bIns="0">
            <a:noAutofit/>
          </a:bodyPr>
          <a:lstStyle/>
          <a:p>
            <a:pPr algn="l">
              <a:lnSpc>
                <a:spcPct val="118000"/>
              </a:lnSpc>
              <a:spcBef>
                <a:spcPts val="0"/>
              </a:spcBef>
              <a:spcAft>
                <a:spcPts val="0"/>
              </a:spcAft>
            </a:pPr>
            <a:r>
              <a:rPr sz="1600" b="1" lang="ko-KR">
                <a:solidFill>
                  <a:srgbClr val="227B71"/>
                </a:solidFill>
                <a:latin typeface="Pretendard"/>
                <a:ea typeface="Pretendard"/>
                <a:cs typeface="Pretendard"/>
              </a:rPr>
              <a:t>각 벤치마크에서 독립 적용</a:t>
            </a:r>
          </a:p>
        </p:txBody>
      </p:sp>
      <p:sp>
        <p:nvSpPr>
          <p:cNvPr id="5" name="Rectangle 4"/>
          <p:cNvSpPr/>
          <p:nvPr/>
        </p:nvSpPr>
        <p:spPr>
          <a:xfrm>
            <a:off x="640080" y="1627632"/>
            <a:ext cx="2834640" cy="1051560"/>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640080" y="1627632"/>
            <a:ext cx="2834640"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31519" y="1696212"/>
            <a:ext cx="2651760"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실제 트래픽</a:t>
            </a:r>
          </a:p>
        </p:txBody>
      </p:sp>
      <p:sp>
        <p:nvSpPr>
          <p:cNvPr id="8" name="TextBox 7"/>
          <p:cNvSpPr txBox="1"/>
          <p:nvPr/>
        </p:nvSpPr>
        <p:spPr>
          <a:xfrm>
            <a:off x="749808" y="2203704"/>
            <a:ext cx="2615184" cy="279273"/>
          </a:xfrm>
          <a:prstGeom prst="rect">
            <a:avLst/>
          </a:prstGeom>
          <a:noFill/>
          <a:effectLst/>
        </p:spPr>
        <p:txBody>
          <a:bodyPr wrap="none" anchor="t" lIns="0" rIns="0" tIns="0" bIns="0">
            <a:noAutofit/>
          </a:bodyPr>
          <a:lstStyle/>
          <a:p>
            <a:pPr algn="ctr">
              <a:lnSpc>
                <a:spcPct val="118000"/>
              </a:lnSpc>
              <a:spcBef>
                <a:spcPts val="0"/>
              </a:spcBef>
              <a:spcAft>
                <a:spcPts val="0"/>
              </a:spcAft>
            </a:pPr>
            <a:r>
              <a:rPr sz="1650" b="0" lang="ko-KR">
                <a:solidFill>
                  <a:srgbClr val="20262E"/>
                </a:solidFill>
                <a:latin typeface="Pretendard"/>
                <a:ea typeface="Pretendard"/>
                <a:cs typeface="Pretendard"/>
              </a:rPr>
              <a:t>IoT-23 / ISCX-Bot / CTU-13</a:t>
            </a:r>
          </a:p>
        </p:txBody>
      </p:sp>
      <p:sp>
        <p:nvSpPr>
          <p:cNvPr id="9" name="Right Arrow 8"/>
          <p:cNvSpPr/>
          <p:nvPr/>
        </p:nvSpPr>
        <p:spPr>
          <a:xfrm>
            <a:off x="3666744" y="2011680"/>
            <a:ext cx="365760"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4224528" y="1627632"/>
            <a:ext cx="3154680" cy="1051560"/>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224528" y="1627632"/>
            <a:ext cx="3154680"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315968" y="1696212"/>
            <a:ext cx="2971800"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입력 전처리</a:t>
            </a:r>
          </a:p>
        </p:txBody>
      </p:sp>
      <p:sp>
        <p:nvSpPr>
          <p:cNvPr id="13" name="TextBox 12"/>
          <p:cNvSpPr txBox="1"/>
          <p:nvPr/>
        </p:nvSpPr>
        <p:spPr>
          <a:xfrm>
            <a:off x="4334256" y="2203704"/>
            <a:ext cx="2935224" cy="286765"/>
          </a:xfrm>
          <a:prstGeom prst="rect">
            <a:avLst/>
          </a:prstGeom>
          <a:noFill/>
          <a:effectLst/>
        </p:spPr>
        <p:txBody>
          <a:bodyPr wrap="none" anchor="t" lIns="0" rIns="0" tIns="0" bIns="0">
            <a:noAutofit/>
          </a:bodyPr>
          <a:lstStyle/>
          <a:p>
            <a:pPr algn="ctr">
              <a:lnSpc>
                <a:spcPct val="118000"/>
              </a:lnSpc>
              <a:spcBef>
                <a:spcPts val="0"/>
              </a:spcBef>
              <a:spcAft>
                <a:spcPts val="0"/>
              </a:spcAft>
            </a:pPr>
            <a:r>
              <a:rPr sz="1700" b="0" lang="ko-KR">
                <a:solidFill>
                  <a:srgbClr val="20262E"/>
                </a:solidFill>
                <a:latin typeface="Pretendard"/>
                <a:ea typeface="Pretendard"/>
                <a:cs typeface="Pretendard"/>
              </a:rPr>
              <a:t>PCAP → flow → burst / token</a:t>
            </a:r>
          </a:p>
        </p:txBody>
      </p:sp>
      <p:sp>
        <p:nvSpPr>
          <p:cNvPr id="14" name="Right Arrow 13"/>
          <p:cNvSpPr/>
          <p:nvPr/>
        </p:nvSpPr>
        <p:spPr>
          <a:xfrm>
            <a:off x="7589520" y="2011680"/>
            <a:ext cx="365760"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8156448" y="1627632"/>
            <a:ext cx="3364992" cy="1051560"/>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156448" y="1627632"/>
            <a:ext cx="3364992"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247888" y="1696212"/>
            <a:ext cx="318211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평가 집합 구성</a:t>
            </a:r>
          </a:p>
        </p:txBody>
      </p:sp>
      <p:sp>
        <p:nvSpPr>
          <p:cNvPr id="18" name="TextBox 17"/>
          <p:cNvSpPr txBox="1"/>
          <p:nvPr/>
        </p:nvSpPr>
        <p:spPr>
          <a:xfrm>
            <a:off x="8266175" y="2203704"/>
            <a:ext cx="3145536"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0" lang="ko-KR">
                <a:solidFill>
                  <a:srgbClr val="20262E"/>
                </a:solidFill>
                <a:latin typeface="Pretendard"/>
                <a:ea typeface="Pretendard"/>
                <a:cs typeface="Pretendard"/>
              </a:rPr>
              <a:t>같은 출처 안에서 사례·라벨 분리</a:t>
            </a:r>
          </a:p>
        </p:txBody>
      </p:sp>
      <p:sp>
        <p:nvSpPr>
          <p:cNvPr id="19" name="TextBox 18"/>
          <p:cNvSpPr txBox="1"/>
          <p:nvPr/>
        </p:nvSpPr>
        <p:spPr>
          <a:xfrm>
            <a:off x="722376" y="2953512"/>
            <a:ext cx="10881360" cy="361696"/>
          </a:xfrm>
          <a:prstGeom prst="rect">
            <a:avLst/>
          </a:prstGeom>
          <a:noFill/>
          <a:effectLst/>
        </p:spPr>
        <p:txBody>
          <a:bodyPr wrap="none" anchor="t" lIns="0" rIns="0" tIns="0" bIns="0">
            <a:noAutofit/>
          </a:bodyPr>
          <a:lstStyle/>
          <a:p>
            <a:pPr algn="l">
              <a:lnSpc>
                <a:spcPct val="118000"/>
              </a:lnSpc>
              <a:spcBef>
                <a:spcPts val="0"/>
              </a:spcBef>
              <a:spcAft>
                <a:spcPts val="0"/>
              </a:spcAft>
            </a:pPr>
            <a:r>
              <a:rPr sz="2200" b="1" lang="ko-KR">
                <a:solidFill>
                  <a:srgbClr val="00306C"/>
                </a:solidFill>
                <a:latin typeface="Pretendard"/>
                <a:ea typeface="Pretendard"/>
                <a:cs typeface="Pretendard"/>
              </a:rPr>
              <a:t>실험자가 조절한 부분  라벨 공개 대상과 클래스별 표본 수</a:t>
            </a:r>
          </a:p>
        </p:txBody>
      </p:sp>
      <p:sp>
        <p:nvSpPr>
          <p:cNvPr id="20" name="Rectangle 19"/>
          <p:cNvSpPr/>
          <p:nvPr/>
        </p:nvSpPr>
        <p:spPr>
          <a:xfrm>
            <a:off x="713232" y="3547872"/>
            <a:ext cx="5239512" cy="162763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713232" y="3547872"/>
            <a:ext cx="5239512" cy="40233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04672" y="3616452"/>
            <a:ext cx="505663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라벨 집합 L</a:t>
            </a:r>
          </a:p>
        </p:txBody>
      </p:sp>
      <p:sp>
        <p:nvSpPr>
          <p:cNvPr id="23" name="TextBox 22"/>
          <p:cNvSpPr txBox="1"/>
          <p:nvPr/>
        </p:nvSpPr>
        <p:spPr>
          <a:xfrm>
            <a:off x="822960" y="4123944"/>
            <a:ext cx="5020056" cy="601472"/>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0" lang="ko-KR">
                <a:solidFill>
                  <a:srgbClr val="20262E"/>
                </a:solidFill>
                <a:latin typeface="Pretendard"/>
                <a:ea typeface="Pretendard"/>
                <a:cs typeface="Pretendard"/>
              </a:rPr>
              <a:t>알려진 공격만 포함</a:t>
            </a:r>
          </a:p>
          <a:p>
            <a:pPr algn="ctr">
              <a:lnSpc>
                <a:spcPct val="118000"/>
              </a:lnSpc>
              <a:spcBef>
                <a:spcPts val="0"/>
              </a:spcBef>
              <a:spcAft>
                <a:spcPts val="0"/>
              </a:spcAft>
            </a:pPr>
            <a:r>
              <a:rPr sz="1900" b="0" lang="ko-KR">
                <a:solidFill>
                  <a:srgbClr val="20262E"/>
                </a:solidFill>
                <a:latin typeface="Pretendard"/>
                <a:ea typeface="Pretendard"/>
                <a:cs typeface="Pretendard"/>
              </a:rPr>
              <a:t>클래스별 같은 수의 사례</a:t>
            </a:r>
          </a:p>
        </p:txBody>
      </p:sp>
      <p:sp>
        <p:nvSpPr>
          <p:cNvPr id="24" name="Rectangle 23"/>
          <p:cNvSpPr/>
          <p:nvPr/>
        </p:nvSpPr>
        <p:spPr>
          <a:xfrm>
            <a:off x="6245352" y="3547872"/>
            <a:ext cx="5239512" cy="162763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6245352" y="3547872"/>
            <a:ext cx="5239512" cy="402336"/>
          </a:xfrm>
          <a:prstGeom prst="rect">
            <a:avLst/>
          </a:prstGeom>
          <a:solidFill>
            <a:srgbClr val="227B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336792" y="3616452"/>
            <a:ext cx="505663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비라벨 집합 U</a:t>
            </a:r>
          </a:p>
        </p:txBody>
      </p:sp>
      <p:sp>
        <p:nvSpPr>
          <p:cNvPr id="27" name="TextBox 26"/>
          <p:cNvSpPr txBox="1"/>
          <p:nvPr/>
        </p:nvSpPr>
        <p:spPr>
          <a:xfrm>
            <a:off x="6355080" y="4123944"/>
            <a:ext cx="5020056" cy="601472"/>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0" lang="ko-KR">
                <a:solidFill>
                  <a:srgbClr val="20262E"/>
                </a:solidFill>
                <a:latin typeface="Pretendard"/>
                <a:ea typeface="Pretendard"/>
                <a:cs typeface="Pretendard"/>
              </a:rPr>
              <a:t>알려진 공격 + 새로운 공격</a:t>
            </a:r>
          </a:p>
          <a:p>
            <a:pPr algn="ctr">
              <a:lnSpc>
                <a:spcPct val="118000"/>
              </a:lnSpc>
              <a:spcBef>
                <a:spcPts val="0"/>
              </a:spcBef>
              <a:spcAft>
                <a:spcPts val="0"/>
              </a:spcAft>
            </a:pPr>
            <a:r>
              <a:rPr sz="1900" b="0" lang="ko-KR">
                <a:solidFill>
                  <a:srgbClr val="20262E"/>
                </a:solidFill>
                <a:latin typeface="Pretendard"/>
                <a:ea typeface="Pretendard"/>
                <a:cs typeface="Pretendard"/>
              </a:rPr>
              <a:t>불균형 구성 · 정답은 학습에서 비공개</a:t>
            </a:r>
          </a:p>
        </p:txBody>
      </p:sp>
      <p:sp>
        <p:nvSpPr>
          <p:cNvPr id="28" name="Rectangle 27"/>
          <p:cNvSpPr/>
          <p:nvPr/>
        </p:nvSpPr>
        <p:spPr>
          <a:xfrm>
            <a:off x="1115568" y="5358384"/>
            <a:ext cx="566928" cy="228600"/>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1801368" y="5358384"/>
            <a:ext cx="566928" cy="228600"/>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2487168" y="5358384"/>
            <a:ext cx="566928" cy="228600"/>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3172968" y="5358384"/>
            <a:ext cx="566928" cy="228600"/>
          </a:xfrm>
          <a:prstGeom prst="rect">
            <a:avLst/>
          </a:prstGeom>
          <a:solidFill>
            <a:srgbClr val="227B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3858768" y="5358384"/>
            <a:ext cx="566928" cy="228600"/>
          </a:xfrm>
          <a:prstGeom prst="rect">
            <a:avLst/>
          </a:prstGeom>
          <a:solidFill>
            <a:srgbClr val="227B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4544568" y="5358384"/>
            <a:ext cx="566928" cy="228600"/>
          </a:xfrm>
          <a:prstGeom prst="rect">
            <a:avLst/>
          </a:prstGeom>
          <a:solidFill>
            <a:srgbClr val="227B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ectangle 33"/>
          <p:cNvSpPr/>
          <p:nvPr/>
        </p:nvSpPr>
        <p:spPr>
          <a:xfrm>
            <a:off x="6748272" y="5358384"/>
            <a:ext cx="438912" cy="228600"/>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ectangle 34"/>
          <p:cNvSpPr/>
          <p:nvPr/>
        </p:nvSpPr>
        <p:spPr>
          <a:xfrm>
            <a:off x="7306056" y="5358384"/>
            <a:ext cx="438912" cy="228600"/>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ectangle 35"/>
          <p:cNvSpPr/>
          <p:nvPr/>
        </p:nvSpPr>
        <p:spPr>
          <a:xfrm>
            <a:off x="7863840" y="5358384"/>
            <a:ext cx="438912" cy="228600"/>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ectangle 36"/>
          <p:cNvSpPr/>
          <p:nvPr/>
        </p:nvSpPr>
        <p:spPr>
          <a:xfrm>
            <a:off x="8421624" y="5358384"/>
            <a:ext cx="438912" cy="228600"/>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ectangle 37"/>
          <p:cNvSpPr/>
          <p:nvPr/>
        </p:nvSpPr>
        <p:spPr>
          <a:xfrm>
            <a:off x="8979408" y="5358384"/>
            <a:ext cx="438912" cy="228600"/>
          </a:xfrm>
          <a:prstGeom prst="rect">
            <a:avLst/>
          </a:prstGeom>
          <a:solidFill>
            <a:srgbClr val="227B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ectangle 38"/>
          <p:cNvSpPr/>
          <p:nvPr/>
        </p:nvSpPr>
        <p:spPr>
          <a:xfrm>
            <a:off x="9537192" y="5358384"/>
            <a:ext cx="438912" cy="228600"/>
          </a:xfrm>
          <a:prstGeom prst="rect">
            <a:avLst/>
          </a:prstGeom>
          <a:solidFill>
            <a:srgbClr val="9F6B2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859536" y="5733288"/>
            <a:ext cx="4965192" cy="241807"/>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617080"/>
                </a:solidFill>
                <a:latin typeface="Pretendard"/>
                <a:ea typeface="Pretendard"/>
                <a:cs typeface="Pretendard"/>
              </a:rPr>
              <a:t>구성 예시 · 파랑·청록 = known / 주황 = novel</a:t>
            </a:r>
          </a:p>
        </p:txBody>
      </p:sp>
      <p:sp>
        <p:nvSpPr>
          <p:cNvPr id="41" name="TextBox 40"/>
          <p:cNvSpPr txBox="1"/>
          <p:nvPr/>
        </p:nvSpPr>
        <p:spPr>
          <a:xfrm>
            <a:off x="6382512" y="5696712"/>
            <a:ext cx="4974336" cy="301751"/>
          </a:xfrm>
          <a:prstGeom prst="rect">
            <a:avLst/>
          </a:prstGeom>
          <a:noFill/>
          <a:effectLst/>
        </p:spPr>
        <p:txBody>
          <a:bodyPr wrap="none" anchor="t" lIns="0" rIns="0" tIns="0" bIns="0">
            <a:noAutofit/>
          </a:bodyPr>
          <a:lstStyle/>
          <a:p>
            <a:pPr algn="l">
              <a:lnSpc>
                <a:spcPct val="118000"/>
              </a:lnSpc>
              <a:spcBef>
                <a:spcPts val="0"/>
              </a:spcBef>
              <a:spcAft>
                <a:spcPts val="0"/>
              </a:spcAft>
            </a:pPr>
            <a:r>
              <a:rPr sz="1800" b="1" lang="ko-KR">
                <a:solidFill>
                  <a:srgbClr val="00306C"/>
                </a:solidFill>
                <a:latin typeface="Pretendard"/>
                <a:ea typeface="Pretendard"/>
                <a:cs typeface="Pretendard"/>
              </a:rPr>
              <a:t>Known / novel 총량 비 γ = 1, 5, 10</a:t>
            </a:r>
          </a:p>
        </p:txBody>
      </p:sp>
      <p:sp>
        <p:nvSpPr>
          <p:cNvPr id="42" name="TextBox 41"/>
          <p:cNvSpPr txBox="1"/>
          <p:nvPr/>
        </p:nvSpPr>
        <p:spPr>
          <a:xfrm>
            <a:off x="859536" y="6080760"/>
            <a:ext cx="10515600" cy="241807"/>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617080"/>
                </a:solidFill>
                <a:latin typeface="Pretendard"/>
                <a:ea typeface="Pretendard"/>
                <a:cs typeface="Pretendard"/>
              </a:rPr>
              <a:t>블록 수는 설명용 예시 · 실제 표본 수와 별개</a:t>
            </a:r>
          </a:p>
        </p:txBody>
      </p:sp>
      <p:sp>
        <p:nvSpPr>
          <p:cNvPr id="43" name="Rectangle 42"/>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48640" y="6537960"/>
            <a:ext cx="8732520" cy="241807"/>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참고점  같은 출처에서 known·novel과 라벨 공개 범위를 명시 · 스트림 재현과 구분</a:t>
            </a:r>
          </a:p>
        </p:txBody>
      </p:sp>
      <p:sp>
        <p:nvSpPr>
          <p:cNvPr id="45" name="TextBox 44"/>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02 관련 연구</a:t>
            </a:r>
          </a:p>
        </p:txBody>
      </p:sp>
      <p:sp>
        <p:nvSpPr>
          <p:cNvPr id="46" name="TextBox 45"/>
          <p:cNvSpPr txBox="1"/>
          <p:nvPr/>
        </p:nvSpPr>
        <p:spPr>
          <a:xfrm>
            <a:off x="11411712" y="6533388"/>
            <a:ext cx="256032" cy="241807"/>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LotBoNC · 임시 정답과 클래스 표현의 반복 갱신</a:t>
            </a:r>
          </a:p>
        </p:txBody>
      </p:sp>
      <p:pic>
        <p:nvPicPr>
          <p:cNvPr id="3" name="Picture 2" descr="feedback_s4_1.png"/>
          <p:cNvPicPr>
            <a:picLocks noChangeAspect="1"/>
          </p:cNvPicPr>
          <p:nvPr/>
        </p:nvPicPr>
        <p:blipFill>
          <a:blip r:embed="rId3"/>
          <a:stretch>
            <a:fillRect/>
          </a:stretch>
        </p:blipFill>
        <p:spPr>
          <a:xfrm>
            <a:off x="979065" y="1234440"/>
            <a:ext cx="4716989" cy="2788920"/>
          </a:xfrm>
          <a:prstGeom prst="rect">
            <a:avLst/>
          </a:prstGeom>
          <a:effectLst/>
        </p:spPr>
      </p:pic>
      <p:sp>
        <p:nvSpPr>
          <p:cNvPr id="4" name="TextBox 3"/>
          <p:cNvSpPr txBox="1"/>
          <p:nvPr/>
        </p:nvSpPr>
        <p:spPr>
          <a:xfrm>
            <a:off x="822960" y="4096512"/>
            <a:ext cx="5056632" cy="241807"/>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617080"/>
                </a:solidFill>
                <a:latin typeface="Pretendard"/>
                <a:ea typeface="Pretendard"/>
                <a:cs typeface="Pretendard"/>
              </a:rPr>
              <a:t>원문 Figure 4 · 임시 정답 배정과 표현 학습의 반복</a:t>
            </a:r>
          </a:p>
        </p:txBody>
      </p:sp>
      <p:sp>
        <p:nvSpPr>
          <p:cNvPr id="5" name="Rectangle 4"/>
          <p:cNvSpPr/>
          <p:nvPr/>
        </p:nvSpPr>
        <p:spPr>
          <a:xfrm>
            <a:off x="731520" y="4663440"/>
            <a:ext cx="5193792" cy="126187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96112" y="4800600"/>
            <a:ext cx="4846320" cy="346710"/>
          </a:xfrm>
          <a:prstGeom prst="rect">
            <a:avLst/>
          </a:prstGeom>
          <a:noFill/>
          <a:effectLst/>
        </p:spPr>
        <p:txBody>
          <a:bodyPr wrap="none" anchor="t" lIns="0" rIns="0" tIns="0" bIns="0">
            <a:noAutofit/>
          </a:bodyPr>
          <a:lstStyle/>
          <a:p>
            <a:pPr algn="l">
              <a:lnSpc>
                <a:spcPct val="118000"/>
              </a:lnSpc>
              <a:spcBef>
                <a:spcPts val="0"/>
              </a:spcBef>
              <a:spcAft>
                <a:spcPts val="0"/>
              </a:spcAft>
            </a:pPr>
            <a:r>
              <a:rPr sz="2100" b="1" lang="ko-KR">
                <a:solidFill>
                  <a:srgbClr val="00306C"/>
                </a:solidFill>
                <a:latin typeface="Pretendard"/>
                <a:ea typeface="Pretendard"/>
                <a:cs typeface="Pretendard"/>
              </a:rPr>
              <a:t>E-step의 배정 기준</a:t>
            </a:r>
          </a:p>
        </p:txBody>
      </p:sp>
      <p:sp>
        <p:nvSpPr>
          <p:cNvPr id="7" name="TextBox 6"/>
          <p:cNvSpPr txBox="1"/>
          <p:nvPr/>
        </p:nvSpPr>
        <p:spPr>
          <a:xfrm>
            <a:off x="896112" y="5257800"/>
            <a:ext cx="4846320" cy="571500"/>
          </a:xfrm>
          <a:prstGeom prst="rect">
            <a:avLst/>
          </a:prstGeom>
          <a:noFill/>
          <a:effectLst/>
        </p:spPr>
        <p:txBody>
          <a:bodyPr wrap="none" anchor="t" lIns="0" rIns="0" tIns="0" bIns="0">
            <a:noAutofit/>
          </a:bodyPr>
          <a:lstStyle/>
          <a:p>
            <a:pPr algn="l">
              <a:lnSpc>
                <a:spcPct val="118000"/>
              </a:lnSpc>
              <a:spcBef>
                <a:spcPts val="0"/>
              </a:spcBef>
              <a:spcAft>
                <a:spcPts val="0"/>
              </a:spcAft>
            </a:pPr>
            <a:r>
              <a:rPr sz="1800" b="0" lang="ko-KR">
                <a:solidFill>
                  <a:srgbClr val="20262E"/>
                </a:solidFill>
                <a:latin typeface="Pretendard"/>
                <a:ea typeface="Pretendard"/>
                <a:cs typeface="Pretendard"/>
              </a:rPr>
              <a:t>예측과 맞는 배정 + 추정 클래스 비율 유지</a:t>
            </a:r>
          </a:p>
          <a:p>
            <a:pPr algn="l">
              <a:lnSpc>
                <a:spcPct val="118000"/>
              </a:lnSpc>
              <a:spcBef>
                <a:spcPts val="0"/>
              </a:spcBef>
              <a:spcAft>
                <a:spcPts val="0"/>
              </a:spcAft>
            </a:pPr>
            <a:r>
              <a:rPr sz="1800" b="0" lang="ko-KR">
                <a:solidFill>
                  <a:srgbClr val="20262E"/>
                </a:solidFill>
                <a:latin typeface="Pretendard"/>
                <a:ea typeface="Pretendard"/>
                <a:cs typeface="Pretendard"/>
              </a:rPr>
              <a:t>예시  10개 사례 · prior 0.6 : 0.3 : 0.1</a:t>
            </a:r>
          </a:p>
        </p:txBody>
      </p:sp>
      <p:sp>
        <p:nvSpPr>
          <p:cNvPr id="8" name="Rectangle 7"/>
          <p:cNvSpPr/>
          <p:nvPr/>
        </p:nvSpPr>
        <p:spPr>
          <a:xfrm>
            <a:off x="6446520" y="1325880"/>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446520" y="1367028"/>
            <a:ext cx="356616" cy="286765"/>
          </a:xfrm>
          <a:prstGeom prst="rect">
            <a:avLst/>
          </a:prstGeom>
          <a:noFill/>
          <a:effectLst/>
        </p:spPr>
        <p:txBody>
          <a:bodyPr wrap="none" anchor="t" lIns="0" rIns="0" tIns="0" bIns="0">
            <a:noAutofit/>
          </a:bodyPr>
          <a:lstStyle/>
          <a:p>
            <a:pPr algn="ctr">
              <a:lnSpc>
                <a:spcPct val="118000"/>
              </a:lnSpc>
              <a:spcBef>
                <a:spcPts val="0"/>
              </a:spcBef>
              <a:spcAft>
                <a:spcPts val="0"/>
              </a:spcAft>
            </a:pPr>
            <a:r>
              <a:rPr sz="1700" b="1" lang="ko-KR">
                <a:solidFill>
                  <a:srgbClr val="FFFFFF"/>
                </a:solidFill>
                <a:latin typeface="Pretendard"/>
                <a:ea typeface="Pretendard"/>
                <a:cs typeface="Pretendard"/>
              </a:rPr>
              <a:t>1</a:t>
            </a:r>
          </a:p>
        </p:txBody>
      </p:sp>
      <p:sp>
        <p:nvSpPr>
          <p:cNvPr id="10" name="TextBox 9"/>
          <p:cNvSpPr txBox="1"/>
          <p:nvPr/>
        </p:nvSpPr>
        <p:spPr>
          <a:xfrm>
            <a:off x="6958583" y="1316736"/>
            <a:ext cx="4654296" cy="361696"/>
          </a:xfrm>
          <a:prstGeom prst="rect">
            <a:avLst/>
          </a:prstGeom>
          <a:noFill/>
          <a:effectLst/>
        </p:spPr>
        <p:txBody>
          <a:bodyPr wrap="none" anchor="t" lIns="0" rIns="0" tIns="0" bIns="0">
            <a:noAutofit/>
          </a:bodyPr>
          <a:lstStyle/>
          <a:p>
            <a:pPr algn="l">
              <a:lnSpc>
                <a:spcPct val="118000"/>
              </a:lnSpc>
              <a:spcBef>
                <a:spcPts val="0"/>
              </a:spcBef>
              <a:spcAft>
                <a:spcPts val="0"/>
              </a:spcAft>
            </a:pPr>
            <a:r>
              <a:rPr sz="2200" b="1" lang="ko-KR">
                <a:solidFill>
                  <a:srgbClr val="00306C"/>
                </a:solidFill>
                <a:latin typeface="Pretendard"/>
                <a:ea typeface="Pretendard"/>
                <a:cs typeface="Pretendard"/>
              </a:rPr>
              <a:t>E-step · batch 전체의 임시 정답</a:t>
            </a:r>
          </a:p>
        </p:txBody>
      </p:sp>
      <p:sp>
        <p:nvSpPr>
          <p:cNvPr id="11" name="TextBox 10"/>
          <p:cNvSpPr txBox="1"/>
          <p:nvPr/>
        </p:nvSpPr>
        <p:spPr>
          <a:xfrm>
            <a:off x="6958583" y="1764792"/>
            <a:ext cx="4654296" cy="631443"/>
          </a:xfrm>
          <a:prstGeom prst="rect">
            <a:avLst/>
          </a:prstGeom>
          <a:noFill/>
          <a:effectLst/>
        </p:spPr>
        <p:txBody>
          <a:bodyPr wrap="none" anchor="t" lIns="0" rIns="0" tIns="0" bIns="0">
            <a:noAutofit/>
          </a:bodyPr>
          <a:lstStyle/>
          <a:p>
            <a:pPr algn="l">
              <a:lnSpc>
                <a:spcPct val="118000"/>
              </a:lnSpc>
              <a:spcBef>
                <a:spcPts val="0"/>
              </a:spcBef>
              <a:spcAft>
                <a:spcPts val="0"/>
              </a:spcAft>
            </a:pPr>
            <a:r>
              <a:rPr sz="2000" b="0" lang="ko-KR">
                <a:solidFill>
                  <a:srgbClr val="20262E"/>
                </a:solidFill>
                <a:latin typeface="Pretendard"/>
                <a:ea typeface="Pretendard"/>
                <a:cs typeface="Pretendard"/>
              </a:rPr>
              <a:t>높은 예측 확률을 우선하되</a:t>
            </a:r>
          </a:p>
          <a:p>
            <a:pPr algn="l">
              <a:lnSpc>
                <a:spcPct val="118000"/>
              </a:lnSpc>
              <a:spcBef>
                <a:spcPts val="0"/>
              </a:spcBef>
              <a:spcAft>
                <a:spcPts val="0"/>
              </a:spcAft>
            </a:pPr>
            <a:r>
              <a:rPr sz="2000" b="0" lang="ko-KR">
                <a:solidFill>
                  <a:srgbClr val="20262E"/>
                </a:solidFill>
                <a:latin typeface="Pretendard"/>
                <a:ea typeface="Pretendard"/>
                <a:cs typeface="Pretendard"/>
              </a:rPr>
              <a:t>클래스별 총량을 추정 prior에 맞춤</a:t>
            </a:r>
          </a:p>
        </p:txBody>
      </p:sp>
      <p:sp>
        <p:nvSpPr>
          <p:cNvPr id="12" name="Rectangle 11"/>
          <p:cNvSpPr/>
          <p:nvPr/>
        </p:nvSpPr>
        <p:spPr>
          <a:xfrm>
            <a:off x="6446520" y="2834640"/>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446520" y="2875788"/>
            <a:ext cx="356616" cy="286765"/>
          </a:xfrm>
          <a:prstGeom prst="rect">
            <a:avLst/>
          </a:prstGeom>
          <a:noFill/>
          <a:effectLst/>
        </p:spPr>
        <p:txBody>
          <a:bodyPr wrap="none" anchor="t" lIns="0" rIns="0" tIns="0" bIns="0">
            <a:noAutofit/>
          </a:bodyPr>
          <a:lstStyle/>
          <a:p>
            <a:pPr algn="ctr">
              <a:lnSpc>
                <a:spcPct val="118000"/>
              </a:lnSpc>
              <a:spcBef>
                <a:spcPts val="0"/>
              </a:spcBef>
              <a:spcAft>
                <a:spcPts val="0"/>
              </a:spcAft>
            </a:pPr>
            <a:r>
              <a:rPr sz="1700" b="1" lang="ko-KR">
                <a:solidFill>
                  <a:srgbClr val="FFFFFF"/>
                </a:solidFill>
                <a:latin typeface="Pretendard"/>
                <a:ea typeface="Pretendard"/>
                <a:cs typeface="Pretendard"/>
              </a:rPr>
              <a:t>2</a:t>
            </a:r>
          </a:p>
        </p:txBody>
      </p:sp>
      <p:sp>
        <p:nvSpPr>
          <p:cNvPr id="14" name="TextBox 13"/>
          <p:cNvSpPr txBox="1"/>
          <p:nvPr/>
        </p:nvSpPr>
        <p:spPr>
          <a:xfrm>
            <a:off x="6958583" y="2825496"/>
            <a:ext cx="4654296" cy="361696"/>
          </a:xfrm>
          <a:prstGeom prst="rect">
            <a:avLst/>
          </a:prstGeom>
          <a:noFill/>
          <a:effectLst/>
        </p:spPr>
        <p:txBody>
          <a:bodyPr wrap="none" anchor="t" lIns="0" rIns="0" tIns="0" bIns="0">
            <a:noAutofit/>
          </a:bodyPr>
          <a:lstStyle/>
          <a:p>
            <a:pPr algn="l">
              <a:lnSpc>
                <a:spcPct val="118000"/>
              </a:lnSpc>
              <a:spcBef>
                <a:spcPts val="0"/>
              </a:spcBef>
              <a:spcAft>
                <a:spcPts val="0"/>
              </a:spcAft>
            </a:pPr>
            <a:r>
              <a:rPr sz="2200" b="1" lang="ko-KR">
                <a:solidFill>
                  <a:srgbClr val="00306C"/>
                </a:solidFill>
                <a:latin typeface="Pretendard"/>
                <a:ea typeface="Pretendard"/>
                <a:cs typeface="Pretendard"/>
              </a:rPr>
              <a:t>M-step · 클래스 대표 표현 갱신</a:t>
            </a:r>
          </a:p>
        </p:txBody>
      </p:sp>
      <p:sp>
        <p:nvSpPr>
          <p:cNvPr id="15" name="TextBox 14"/>
          <p:cNvSpPr txBox="1"/>
          <p:nvPr/>
        </p:nvSpPr>
        <p:spPr>
          <a:xfrm>
            <a:off x="6958583" y="3273552"/>
            <a:ext cx="4654296" cy="601472"/>
          </a:xfrm>
          <a:prstGeom prst="rect">
            <a:avLst/>
          </a:prstGeom>
          <a:noFill/>
          <a:effectLst/>
        </p:spPr>
        <p:txBody>
          <a:bodyPr wrap="none" anchor="t" lIns="0" rIns="0" tIns="0" bIns="0">
            <a:noAutofit/>
          </a:bodyPr>
          <a:lstStyle/>
          <a:p>
            <a:pPr algn="l">
              <a:lnSpc>
                <a:spcPct val="118000"/>
              </a:lnSpc>
              <a:spcBef>
                <a:spcPts val="0"/>
              </a:spcBef>
              <a:spcAft>
                <a:spcPts val="0"/>
              </a:spcAft>
            </a:pPr>
            <a:r>
              <a:rPr sz="1900" b="0" lang="ko-KR">
                <a:solidFill>
                  <a:srgbClr val="20262E"/>
                </a:solidFill>
                <a:latin typeface="Pretendard"/>
                <a:ea typeface="Pretendard"/>
                <a:cs typeface="Pretendard"/>
              </a:rPr>
              <a:t>Prototype(클래스 중심)·prior(빈도) 갱신</a:t>
            </a:r>
          </a:p>
          <a:p>
            <a:pPr algn="l">
              <a:lnSpc>
                <a:spcPct val="118000"/>
              </a:lnSpc>
              <a:spcBef>
                <a:spcPts val="0"/>
              </a:spcBef>
              <a:spcAft>
                <a:spcPts val="0"/>
              </a:spcAft>
            </a:pPr>
            <a:r>
              <a:rPr sz="1900" b="0" lang="ko-KR">
                <a:solidFill>
                  <a:srgbClr val="20262E"/>
                </a:solidFill>
                <a:latin typeface="Pretendard"/>
                <a:ea typeface="Pretendard"/>
                <a:cs typeface="Pretendard"/>
              </a:rPr>
              <a:t>이전 값과 새 값을 이동평균으로 결합</a:t>
            </a:r>
          </a:p>
        </p:txBody>
      </p:sp>
      <p:sp>
        <p:nvSpPr>
          <p:cNvPr id="16" name="Rectangle 15"/>
          <p:cNvSpPr/>
          <p:nvPr/>
        </p:nvSpPr>
        <p:spPr>
          <a:xfrm>
            <a:off x="6446520" y="4343400"/>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446520" y="4384548"/>
            <a:ext cx="356616" cy="286765"/>
          </a:xfrm>
          <a:prstGeom prst="rect">
            <a:avLst/>
          </a:prstGeom>
          <a:noFill/>
          <a:effectLst/>
        </p:spPr>
        <p:txBody>
          <a:bodyPr wrap="none" anchor="t" lIns="0" rIns="0" tIns="0" bIns="0">
            <a:noAutofit/>
          </a:bodyPr>
          <a:lstStyle/>
          <a:p>
            <a:pPr algn="ctr">
              <a:lnSpc>
                <a:spcPct val="118000"/>
              </a:lnSpc>
              <a:spcBef>
                <a:spcPts val="0"/>
              </a:spcBef>
              <a:spcAft>
                <a:spcPts val="0"/>
              </a:spcAft>
            </a:pPr>
            <a:r>
              <a:rPr sz="1700" b="1" lang="ko-KR">
                <a:solidFill>
                  <a:srgbClr val="FFFFFF"/>
                </a:solidFill>
                <a:latin typeface="Pretendard"/>
                <a:ea typeface="Pretendard"/>
                <a:cs typeface="Pretendard"/>
              </a:rPr>
              <a:t>3</a:t>
            </a:r>
          </a:p>
        </p:txBody>
      </p:sp>
      <p:sp>
        <p:nvSpPr>
          <p:cNvPr id="18" name="TextBox 17"/>
          <p:cNvSpPr txBox="1"/>
          <p:nvPr/>
        </p:nvSpPr>
        <p:spPr>
          <a:xfrm>
            <a:off x="6958583" y="4334256"/>
            <a:ext cx="4654296" cy="361696"/>
          </a:xfrm>
          <a:prstGeom prst="rect">
            <a:avLst/>
          </a:prstGeom>
          <a:noFill/>
          <a:effectLst/>
        </p:spPr>
        <p:txBody>
          <a:bodyPr wrap="none" anchor="t" lIns="0" rIns="0" tIns="0" bIns="0">
            <a:noAutofit/>
          </a:bodyPr>
          <a:lstStyle/>
          <a:p>
            <a:pPr algn="l">
              <a:lnSpc>
                <a:spcPct val="118000"/>
              </a:lnSpc>
              <a:spcBef>
                <a:spcPts val="0"/>
              </a:spcBef>
              <a:spcAft>
                <a:spcPts val="0"/>
              </a:spcAft>
            </a:pPr>
            <a:r>
              <a:rPr sz="2200" b="1" lang="ko-KR">
                <a:solidFill>
                  <a:srgbClr val="00306C"/>
                </a:solidFill>
                <a:latin typeface="Pretendard"/>
                <a:ea typeface="Pretendard"/>
                <a:cs typeface="Pretendard"/>
              </a:rPr>
              <a:t>표현이 좋아지도록 가중치 학습</a:t>
            </a:r>
          </a:p>
        </p:txBody>
      </p:sp>
      <p:sp>
        <p:nvSpPr>
          <p:cNvPr id="19" name="TextBox 18"/>
          <p:cNvSpPr txBox="1"/>
          <p:nvPr/>
        </p:nvSpPr>
        <p:spPr>
          <a:xfrm>
            <a:off x="6958583" y="4782312"/>
            <a:ext cx="4654296" cy="631443"/>
          </a:xfrm>
          <a:prstGeom prst="rect">
            <a:avLst/>
          </a:prstGeom>
          <a:noFill/>
          <a:effectLst/>
        </p:spPr>
        <p:txBody>
          <a:bodyPr wrap="none" anchor="t" lIns="0" rIns="0" tIns="0" bIns="0">
            <a:noAutofit/>
          </a:bodyPr>
          <a:lstStyle/>
          <a:p>
            <a:pPr algn="l">
              <a:lnSpc>
                <a:spcPct val="118000"/>
              </a:lnSpc>
              <a:spcBef>
                <a:spcPts val="0"/>
              </a:spcBef>
              <a:spcAft>
                <a:spcPts val="0"/>
              </a:spcAft>
            </a:pPr>
            <a:r>
              <a:rPr sz="2000" b="0" lang="ko-KR">
                <a:solidFill>
                  <a:srgbClr val="20262E"/>
                </a:solidFill>
                <a:latin typeface="Pretendard"/>
                <a:ea typeface="Pretendard"/>
                <a:cs typeface="Pretendard"/>
              </a:rPr>
              <a:t>대조 손실 + prototype 손실</a:t>
            </a:r>
          </a:p>
          <a:p>
            <a:pPr algn="l">
              <a:lnSpc>
                <a:spcPct val="118000"/>
              </a:lnSpc>
              <a:spcBef>
                <a:spcPts val="0"/>
              </a:spcBef>
              <a:spcAft>
                <a:spcPts val="0"/>
              </a:spcAft>
            </a:pPr>
            <a:r>
              <a:rPr sz="2000" b="0" lang="ko-KR">
                <a:solidFill>
                  <a:srgbClr val="20262E"/>
                </a:solidFill>
                <a:latin typeface="Pretendard"/>
                <a:ea typeface="Pretendard"/>
                <a:cs typeface="Pretendard"/>
              </a:rPr>
              <a:t>Encoder 가중치 θ 갱신 후 반복</a:t>
            </a:r>
          </a:p>
        </p:txBody>
      </p:sp>
      <p:sp>
        <p:nvSpPr>
          <p:cNvPr id="20" name="Rectangle 19"/>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48640" y="6537960"/>
            <a:ext cx="8732520" cy="241807"/>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참고점  라벨 없는 novel·긴 꼬리 학습 방식 · 우리 감독 분류 모델로 직접 채택하지 않음</a:t>
            </a:r>
          </a:p>
        </p:txBody>
      </p:sp>
      <p:sp>
        <p:nvSpPr>
          <p:cNvPr id="22" name="TextBox 21"/>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02 관련 연구</a:t>
            </a:r>
          </a:p>
        </p:txBody>
      </p:sp>
      <p:sp>
        <p:nvSpPr>
          <p:cNvPr id="23" name="TextBox 22"/>
          <p:cNvSpPr txBox="1"/>
          <p:nvPr/>
        </p:nvSpPr>
        <p:spPr>
          <a:xfrm>
            <a:off x="11411712" y="6533388"/>
            <a:ext cx="256032" cy="241807"/>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데이터 스트림 · 예측 순서와 context 비용의 분리</a:t>
            </a:r>
          </a:p>
        </p:txBody>
      </p:sp>
      <p:sp>
        <p:nvSpPr>
          <p:cNvPr id="3" name="TextBox 2"/>
          <p:cNvSpPr txBox="1"/>
          <p:nvPr/>
        </p:nvSpPr>
        <p:spPr>
          <a:xfrm>
            <a:off x="566928" y="960120"/>
            <a:ext cx="11018520" cy="256794"/>
          </a:xfrm>
          <a:prstGeom prst="rect">
            <a:avLst/>
          </a:prstGeom>
          <a:noFill/>
          <a:effectLst/>
        </p:spPr>
        <p:txBody>
          <a:bodyPr wrap="none" anchor="t" lIns="0" rIns="0" tIns="0" bIns="0">
            <a:noAutofit/>
          </a:bodyPr>
          <a:lstStyle/>
          <a:p>
            <a:pPr algn="l">
              <a:lnSpc>
                <a:spcPct val="118000"/>
              </a:lnSpc>
              <a:spcBef>
                <a:spcPts val="0"/>
              </a:spcBef>
              <a:spcAft>
                <a:spcPts val="0"/>
              </a:spcAft>
            </a:pPr>
            <a:r>
              <a:rPr sz="1500" b="0" lang="ko-KR">
                <a:solidFill>
                  <a:srgbClr val="617080"/>
                </a:solidFill>
                <a:latin typeface="Pretendard"/>
                <a:ea typeface="Pretendard"/>
                <a:cs typeface="Pretendard"/>
                <a:hlinkClick r:id="rId3"/>
              </a:rPr>
              <a:t>Rethinking Tabular Foundation Models On Data Streams · arXiv 2026</a:t>
            </a:r>
          </a:p>
        </p:txBody>
      </p:sp>
      <p:sp>
        <p:nvSpPr>
          <p:cNvPr id="4" name="Rectangle 3"/>
          <p:cNvSpPr/>
          <p:nvPr/>
        </p:nvSpPr>
        <p:spPr>
          <a:xfrm>
            <a:off x="676656" y="1490472"/>
            <a:ext cx="2350008" cy="960120"/>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76656" y="1490472"/>
            <a:ext cx="2350008"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768096" y="1559051"/>
            <a:ext cx="2167127"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새 사례 도착</a:t>
            </a:r>
          </a:p>
        </p:txBody>
      </p:sp>
      <p:sp>
        <p:nvSpPr>
          <p:cNvPr id="7" name="TextBox 6"/>
          <p:cNvSpPr txBox="1"/>
          <p:nvPr/>
        </p:nvSpPr>
        <p:spPr>
          <a:xfrm>
            <a:off x="786384" y="2066543"/>
            <a:ext cx="213055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0" lang="ko-KR">
                <a:solidFill>
                  <a:srgbClr val="20262E"/>
                </a:solidFill>
                <a:latin typeface="Pretendard"/>
                <a:ea typeface="Pretendard"/>
                <a:cs typeface="Pretendard"/>
              </a:rPr>
              <a:t>x_t</a:t>
            </a:r>
          </a:p>
        </p:txBody>
      </p:sp>
      <p:sp>
        <p:nvSpPr>
          <p:cNvPr id="8" name="Rectangle 7"/>
          <p:cNvSpPr/>
          <p:nvPr/>
        </p:nvSpPr>
        <p:spPr>
          <a:xfrm>
            <a:off x="3502152" y="1490472"/>
            <a:ext cx="2350008" cy="960120"/>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3502152" y="1490472"/>
            <a:ext cx="2350008"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3593592" y="1559051"/>
            <a:ext cx="2167127"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먼저 예측</a:t>
            </a:r>
          </a:p>
        </p:txBody>
      </p:sp>
      <p:sp>
        <p:nvSpPr>
          <p:cNvPr id="11" name="TextBox 10"/>
          <p:cNvSpPr txBox="1"/>
          <p:nvPr/>
        </p:nvSpPr>
        <p:spPr>
          <a:xfrm>
            <a:off x="3611880" y="2066543"/>
            <a:ext cx="213055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0" lang="ko-KR">
                <a:solidFill>
                  <a:srgbClr val="20262E"/>
                </a:solidFill>
                <a:latin typeface="Pretendard"/>
                <a:ea typeface="Pretendard"/>
                <a:cs typeface="Pretendard"/>
              </a:rPr>
              <a:t>현재 memory 사용</a:t>
            </a:r>
          </a:p>
        </p:txBody>
      </p:sp>
      <p:sp>
        <p:nvSpPr>
          <p:cNvPr id="12" name="Rectangle 11"/>
          <p:cNvSpPr/>
          <p:nvPr/>
        </p:nvSpPr>
        <p:spPr>
          <a:xfrm>
            <a:off x="6327648" y="1490472"/>
            <a:ext cx="2350008" cy="960120"/>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6327648" y="1490472"/>
            <a:ext cx="2350008"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419088" y="1559051"/>
            <a:ext cx="2167127"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정답 도착</a:t>
            </a:r>
          </a:p>
        </p:txBody>
      </p:sp>
      <p:sp>
        <p:nvSpPr>
          <p:cNvPr id="15" name="TextBox 14"/>
          <p:cNvSpPr txBox="1"/>
          <p:nvPr/>
        </p:nvSpPr>
        <p:spPr>
          <a:xfrm>
            <a:off x="6437376" y="2066543"/>
            <a:ext cx="213055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0" lang="ko-KR">
                <a:solidFill>
                  <a:srgbClr val="20262E"/>
                </a:solidFill>
                <a:latin typeface="Pretendard"/>
                <a:ea typeface="Pretendard"/>
                <a:cs typeface="Pretendard"/>
              </a:rPr>
              <a:t>d개 사례 뒤</a:t>
            </a:r>
          </a:p>
        </p:txBody>
      </p:sp>
      <p:sp>
        <p:nvSpPr>
          <p:cNvPr id="16" name="Rectangle 15"/>
          <p:cNvSpPr/>
          <p:nvPr/>
        </p:nvSpPr>
        <p:spPr>
          <a:xfrm>
            <a:off x="9153144" y="1490472"/>
            <a:ext cx="2350008" cy="960120"/>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153144" y="1490472"/>
            <a:ext cx="2350008"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9244584" y="1559051"/>
            <a:ext cx="2167127"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그다음 갱신</a:t>
            </a:r>
          </a:p>
        </p:txBody>
      </p:sp>
      <p:sp>
        <p:nvSpPr>
          <p:cNvPr id="19" name="TextBox 18"/>
          <p:cNvSpPr txBox="1"/>
          <p:nvPr/>
        </p:nvSpPr>
        <p:spPr>
          <a:xfrm>
            <a:off x="9262872" y="2066543"/>
            <a:ext cx="213055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0" lang="ko-KR">
                <a:solidFill>
                  <a:srgbClr val="20262E"/>
                </a:solidFill>
                <a:latin typeface="Pretendard"/>
                <a:ea typeface="Pretendard"/>
                <a:cs typeface="Pretendard"/>
              </a:rPr>
              <a:t>Memory M 변경</a:t>
            </a:r>
          </a:p>
        </p:txBody>
      </p:sp>
      <p:sp>
        <p:nvSpPr>
          <p:cNvPr id="20" name="Right Arrow 19"/>
          <p:cNvSpPr/>
          <p:nvPr/>
        </p:nvSpPr>
        <p:spPr>
          <a:xfrm>
            <a:off x="3108960" y="1856231"/>
            <a:ext cx="283464"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ight Arrow 20"/>
          <p:cNvSpPr/>
          <p:nvPr/>
        </p:nvSpPr>
        <p:spPr>
          <a:xfrm>
            <a:off x="5934456" y="1856231"/>
            <a:ext cx="283464"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ight Arrow 21"/>
          <p:cNvSpPr/>
          <p:nvPr/>
        </p:nvSpPr>
        <p:spPr>
          <a:xfrm>
            <a:off x="8759952" y="1856231"/>
            <a:ext cx="283464"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feedback_s5_21.png"/>
          <p:cNvPicPr>
            <a:picLocks noChangeAspect="1"/>
          </p:cNvPicPr>
          <p:nvPr/>
        </p:nvPicPr>
        <p:blipFill>
          <a:blip r:embed="rId4"/>
          <a:stretch>
            <a:fillRect/>
          </a:stretch>
        </p:blipFill>
        <p:spPr>
          <a:xfrm>
            <a:off x="685800" y="3096356"/>
            <a:ext cx="5358384" cy="1241358"/>
          </a:xfrm>
          <a:prstGeom prst="rect">
            <a:avLst/>
          </a:prstGeom>
          <a:effectLst/>
        </p:spPr>
      </p:pic>
      <p:sp>
        <p:nvSpPr>
          <p:cNvPr id="24" name="TextBox 23"/>
          <p:cNvSpPr txBox="1"/>
          <p:nvPr/>
        </p:nvSpPr>
        <p:spPr>
          <a:xfrm>
            <a:off x="768096" y="4590288"/>
            <a:ext cx="5129784" cy="241807"/>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617080"/>
                </a:solidFill>
                <a:latin typeface="Pretendard"/>
                <a:ea typeface="Pretendard"/>
                <a:cs typeface="Pretendard"/>
              </a:rPr>
              <a:t>매번 context 재계산 / 저장된 표현 재사용</a:t>
            </a:r>
          </a:p>
        </p:txBody>
      </p:sp>
      <p:sp>
        <p:nvSpPr>
          <p:cNvPr id="25" name="TextBox 24"/>
          <p:cNvSpPr txBox="1"/>
          <p:nvPr/>
        </p:nvSpPr>
        <p:spPr>
          <a:xfrm>
            <a:off x="777240" y="5193792"/>
            <a:ext cx="5129784" cy="601472"/>
          </a:xfrm>
          <a:prstGeom prst="rect">
            <a:avLst/>
          </a:prstGeom>
          <a:noFill/>
          <a:effectLst/>
        </p:spPr>
        <p:txBody>
          <a:bodyPr wrap="none" anchor="t" lIns="0" rIns="0" tIns="0" bIns="0">
            <a:noAutofit/>
          </a:bodyPr>
          <a:lstStyle/>
          <a:p>
            <a:pPr algn="l">
              <a:lnSpc>
                <a:spcPct val="118000"/>
              </a:lnSpc>
              <a:spcBef>
                <a:spcPts val="0"/>
              </a:spcBef>
              <a:spcAft>
                <a:spcPts val="0"/>
              </a:spcAft>
            </a:pPr>
            <a:r>
              <a:rPr sz="1900" b="0" lang="ko-KR">
                <a:solidFill>
                  <a:srgbClr val="20262E"/>
                </a:solidFill>
                <a:latin typeface="Pretendard"/>
                <a:ea typeface="Pretendard"/>
                <a:cs typeface="Pretendard"/>
              </a:rPr>
              <a:t>기본 조건  메모리 1,000행 · 즉시 라벨</a:t>
            </a:r>
          </a:p>
          <a:p>
            <a:pPr algn="l">
              <a:lnSpc>
                <a:spcPct val="118000"/>
              </a:lnSpc>
              <a:spcBef>
                <a:spcPts val="0"/>
              </a:spcBef>
              <a:spcAft>
                <a:spcPts val="0"/>
              </a:spcAft>
            </a:pPr>
            <a:r>
              <a:rPr sz="1900" b="0" lang="ko-KR">
                <a:solidFill>
                  <a:srgbClr val="20262E"/>
                </a:solidFill>
                <a:latin typeface="Pretendard"/>
                <a:ea typeface="Pretendard"/>
                <a:cs typeface="Pretendard"/>
              </a:rPr>
              <a:t>실제 stream 5개 + 합성 drift stream 4개</a:t>
            </a:r>
          </a:p>
        </p:txBody>
      </p:sp>
      <p:sp>
        <p:nvSpPr>
          <p:cNvPr id="26" name="Rectangle 25"/>
          <p:cNvSpPr/>
          <p:nvPr/>
        </p:nvSpPr>
        <p:spPr>
          <a:xfrm>
            <a:off x="6446520" y="2962656"/>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446520" y="3003804"/>
            <a:ext cx="356616" cy="286765"/>
          </a:xfrm>
          <a:prstGeom prst="rect">
            <a:avLst/>
          </a:prstGeom>
          <a:noFill/>
          <a:effectLst/>
        </p:spPr>
        <p:txBody>
          <a:bodyPr wrap="none" anchor="t" lIns="0" rIns="0" tIns="0" bIns="0">
            <a:noAutofit/>
          </a:bodyPr>
          <a:lstStyle/>
          <a:p>
            <a:pPr algn="ctr">
              <a:lnSpc>
                <a:spcPct val="118000"/>
              </a:lnSpc>
              <a:spcBef>
                <a:spcPts val="0"/>
              </a:spcBef>
              <a:spcAft>
                <a:spcPts val="0"/>
              </a:spcAft>
            </a:pPr>
            <a:r>
              <a:rPr sz="1700" b="1" lang="ko-KR">
                <a:solidFill>
                  <a:srgbClr val="FFFFFF"/>
                </a:solidFill>
                <a:latin typeface="Pretendard"/>
                <a:ea typeface="Pretendard"/>
                <a:cs typeface="Pretendard"/>
              </a:rPr>
              <a:t>1</a:t>
            </a:r>
          </a:p>
        </p:txBody>
      </p:sp>
      <p:sp>
        <p:nvSpPr>
          <p:cNvPr id="28" name="TextBox 27"/>
          <p:cNvSpPr txBox="1"/>
          <p:nvPr/>
        </p:nvSpPr>
        <p:spPr>
          <a:xfrm>
            <a:off x="6958583" y="2953512"/>
            <a:ext cx="4654296" cy="361696"/>
          </a:xfrm>
          <a:prstGeom prst="rect">
            <a:avLst/>
          </a:prstGeom>
          <a:noFill/>
          <a:effectLst/>
        </p:spPr>
        <p:txBody>
          <a:bodyPr wrap="none" anchor="t" lIns="0" rIns="0" tIns="0" bIns="0">
            <a:noAutofit/>
          </a:bodyPr>
          <a:lstStyle/>
          <a:p>
            <a:pPr algn="l">
              <a:lnSpc>
                <a:spcPct val="118000"/>
              </a:lnSpc>
              <a:spcBef>
                <a:spcPts val="0"/>
              </a:spcBef>
              <a:spcAft>
                <a:spcPts val="0"/>
              </a:spcAft>
            </a:pPr>
            <a:r>
              <a:rPr sz="2200" b="1" lang="ko-KR">
                <a:solidFill>
                  <a:srgbClr val="00306C"/>
                </a:solidFill>
                <a:latin typeface="Pretendard"/>
                <a:ea typeface="Pretendard"/>
                <a:cs typeface="Pretendard"/>
              </a:rPr>
              <a:t>메모리 정책과 backbone을 분리</a:t>
            </a:r>
          </a:p>
        </p:txBody>
      </p:sp>
      <p:sp>
        <p:nvSpPr>
          <p:cNvPr id="29" name="TextBox 28"/>
          <p:cNvSpPr txBox="1"/>
          <p:nvPr/>
        </p:nvSpPr>
        <p:spPr>
          <a:xfrm>
            <a:off x="6958583" y="3401568"/>
            <a:ext cx="4654296" cy="631443"/>
          </a:xfrm>
          <a:prstGeom prst="rect">
            <a:avLst/>
          </a:prstGeom>
          <a:noFill/>
          <a:effectLst/>
        </p:spPr>
        <p:txBody>
          <a:bodyPr wrap="none" anchor="t" lIns="0" rIns="0" tIns="0" bIns="0">
            <a:noAutofit/>
          </a:bodyPr>
          <a:lstStyle/>
          <a:p>
            <a:pPr algn="l">
              <a:lnSpc>
                <a:spcPct val="118000"/>
              </a:lnSpc>
              <a:spcBef>
                <a:spcPts val="0"/>
              </a:spcBef>
              <a:spcAft>
                <a:spcPts val="0"/>
              </a:spcAft>
            </a:pPr>
            <a:r>
              <a:rPr sz="2000" b="0" lang="ko-KR">
                <a:solidFill>
                  <a:srgbClr val="20262E"/>
                </a:solidFill>
                <a:latin typeface="Pretendard"/>
                <a:ea typeface="Pretendard"/>
                <a:cs typeface="Pretendard"/>
              </a:rPr>
              <a:t>같은 모델에서 FIFO와 선택 정책 비교</a:t>
            </a:r>
          </a:p>
          <a:p>
            <a:pPr algn="l">
              <a:lnSpc>
                <a:spcPct val="118000"/>
              </a:lnSpc>
              <a:spcBef>
                <a:spcPts val="0"/>
              </a:spcBef>
              <a:spcAft>
                <a:spcPts val="0"/>
              </a:spcAft>
            </a:pPr>
            <a:r>
              <a:rPr sz="2000" b="0" lang="ko-KR">
                <a:solidFill>
                  <a:srgbClr val="20262E"/>
                </a:solidFill>
                <a:latin typeface="Pretendard"/>
                <a:ea typeface="Pretendard"/>
                <a:cs typeface="Pretendard"/>
              </a:rPr>
              <a:t>단순 FIFO도 강한 기준선</a:t>
            </a:r>
          </a:p>
        </p:txBody>
      </p:sp>
      <p:sp>
        <p:nvSpPr>
          <p:cNvPr id="30" name="Rectangle 29"/>
          <p:cNvSpPr/>
          <p:nvPr/>
        </p:nvSpPr>
        <p:spPr>
          <a:xfrm>
            <a:off x="6446520" y="4434840"/>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446520" y="4475988"/>
            <a:ext cx="356616" cy="286765"/>
          </a:xfrm>
          <a:prstGeom prst="rect">
            <a:avLst/>
          </a:prstGeom>
          <a:noFill/>
          <a:effectLst/>
        </p:spPr>
        <p:txBody>
          <a:bodyPr wrap="none" anchor="t" lIns="0" rIns="0" tIns="0" bIns="0">
            <a:noAutofit/>
          </a:bodyPr>
          <a:lstStyle/>
          <a:p>
            <a:pPr algn="ctr">
              <a:lnSpc>
                <a:spcPct val="118000"/>
              </a:lnSpc>
              <a:spcBef>
                <a:spcPts val="0"/>
              </a:spcBef>
              <a:spcAft>
                <a:spcPts val="0"/>
              </a:spcAft>
            </a:pPr>
            <a:r>
              <a:rPr sz="1700" b="1" lang="ko-KR">
                <a:solidFill>
                  <a:srgbClr val="FFFFFF"/>
                </a:solidFill>
                <a:latin typeface="Pretendard"/>
                <a:ea typeface="Pretendard"/>
                <a:cs typeface="Pretendard"/>
              </a:rPr>
              <a:t>2</a:t>
            </a:r>
          </a:p>
        </p:txBody>
      </p:sp>
      <p:sp>
        <p:nvSpPr>
          <p:cNvPr id="32" name="TextBox 31"/>
          <p:cNvSpPr txBox="1"/>
          <p:nvPr/>
        </p:nvSpPr>
        <p:spPr>
          <a:xfrm>
            <a:off x="6958583" y="4425696"/>
            <a:ext cx="4654296" cy="361696"/>
          </a:xfrm>
          <a:prstGeom prst="rect">
            <a:avLst/>
          </a:prstGeom>
          <a:noFill/>
          <a:effectLst/>
        </p:spPr>
        <p:txBody>
          <a:bodyPr wrap="none" anchor="t" lIns="0" rIns="0" tIns="0" bIns="0">
            <a:noAutofit/>
          </a:bodyPr>
          <a:lstStyle/>
          <a:p>
            <a:pPr algn="l">
              <a:lnSpc>
                <a:spcPct val="118000"/>
              </a:lnSpc>
              <a:spcBef>
                <a:spcPts val="0"/>
              </a:spcBef>
              <a:spcAft>
                <a:spcPts val="0"/>
              </a:spcAft>
            </a:pPr>
            <a:r>
              <a:rPr sz="2200" b="1" lang="ko-KR">
                <a:solidFill>
                  <a:srgbClr val="00306C"/>
                </a:solidFill>
                <a:latin typeface="Pretendard"/>
                <a:ea typeface="Pretendard"/>
                <a:cs typeface="Pretendard"/>
              </a:rPr>
              <a:t>행 교체와 context encoding 구분</a:t>
            </a:r>
          </a:p>
        </p:txBody>
      </p:sp>
      <p:sp>
        <p:nvSpPr>
          <p:cNvPr id="33" name="TextBox 32"/>
          <p:cNvSpPr txBox="1"/>
          <p:nvPr/>
        </p:nvSpPr>
        <p:spPr>
          <a:xfrm>
            <a:off x="6958583" y="4873752"/>
            <a:ext cx="4654296" cy="631443"/>
          </a:xfrm>
          <a:prstGeom prst="rect">
            <a:avLst/>
          </a:prstGeom>
          <a:noFill/>
          <a:effectLst/>
        </p:spPr>
        <p:txBody>
          <a:bodyPr wrap="none" anchor="t" lIns="0" rIns="0" tIns="0" bIns="0">
            <a:noAutofit/>
          </a:bodyPr>
          <a:lstStyle/>
          <a:p>
            <a:pPr algn="l">
              <a:lnSpc>
                <a:spcPct val="118000"/>
              </a:lnSpc>
              <a:spcBef>
                <a:spcPts val="0"/>
              </a:spcBef>
              <a:spcAft>
                <a:spcPts val="0"/>
              </a:spcAft>
            </a:pPr>
            <a:r>
              <a:rPr sz="2000" b="0" lang="ko-KR">
                <a:solidFill>
                  <a:srgbClr val="20262E"/>
                </a:solidFill>
                <a:latin typeface="Pretendard"/>
                <a:ea typeface="Pretendard"/>
                <a:cs typeface="Pretendard"/>
              </a:rPr>
              <a:t>갱신 빈도를 줄여도 예측마다 재계산하면</a:t>
            </a:r>
          </a:p>
          <a:p>
            <a:pPr algn="l">
              <a:lnSpc>
                <a:spcPct val="118000"/>
              </a:lnSpc>
              <a:spcBef>
                <a:spcPts val="0"/>
              </a:spcBef>
              <a:spcAft>
                <a:spcPts val="0"/>
              </a:spcAft>
            </a:pPr>
            <a:r>
              <a:rPr sz="2000" b="0" lang="ko-KR">
                <a:solidFill>
                  <a:srgbClr val="20262E"/>
                </a:solidFill>
                <a:latin typeface="Pretendard"/>
                <a:ea typeface="Pretendard"/>
                <a:cs typeface="Pretendard"/>
              </a:rPr>
              <a:t>큰 비용은 계속 발생</a:t>
            </a:r>
          </a:p>
        </p:txBody>
      </p:sp>
      <p:sp>
        <p:nvSpPr>
          <p:cNvPr id="34" name="Rectangle 33"/>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48640" y="6537960"/>
            <a:ext cx="8732520" cy="241807"/>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평가 설계에 직접 참고  예측 → 라벨 확보 → 갱신 · 메모리와 처리 비용 분리</a:t>
            </a:r>
          </a:p>
        </p:txBody>
      </p:sp>
      <p:sp>
        <p:nvSpPr>
          <p:cNvPr id="36" name="TextBox 35"/>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02 관련 연구</a:t>
            </a:r>
          </a:p>
        </p:txBody>
      </p:sp>
      <p:sp>
        <p:nvSpPr>
          <p:cNvPr id="37" name="TextBox 36"/>
          <p:cNvSpPr txBox="1"/>
          <p:nvPr/>
        </p:nvSpPr>
        <p:spPr>
          <a:xfrm>
            <a:off x="11411712" y="6533388"/>
            <a:ext cx="256032" cy="241807"/>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ICD · 모델 대신 context의 특징값 학습</a:t>
            </a:r>
          </a:p>
        </p:txBody>
      </p:sp>
      <p:sp>
        <p:nvSpPr>
          <p:cNvPr id="3" name="TextBox 2"/>
          <p:cNvSpPr txBox="1"/>
          <p:nvPr/>
        </p:nvSpPr>
        <p:spPr>
          <a:xfrm>
            <a:off x="566928" y="960120"/>
            <a:ext cx="11018520" cy="256794"/>
          </a:xfrm>
          <a:prstGeom prst="rect">
            <a:avLst/>
          </a:prstGeom>
          <a:noFill/>
          <a:effectLst/>
        </p:spPr>
        <p:txBody>
          <a:bodyPr wrap="none" anchor="t" lIns="0" rIns="0" tIns="0" bIns="0">
            <a:noAutofit/>
          </a:bodyPr>
          <a:lstStyle/>
          <a:p>
            <a:pPr algn="l">
              <a:lnSpc>
                <a:spcPct val="118000"/>
              </a:lnSpc>
              <a:spcBef>
                <a:spcPts val="0"/>
              </a:spcBef>
              <a:spcAft>
                <a:spcPts val="0"/>
              </a:spcAft>
            </a:pPr>
            <a:r>
              <a:rPr sz="1500" b="0" lang="ko-KR">
                <a:solidFill>
                  <a:srgbClr val="617080"/>
                </a:solidFill>
                <a:latin typeface="Pretendard"/>
                <a:ea typeface="Pretendard"/>
                <a:cs typeface="Pretendard"/>
                <a:hlinkClick r:id="rId3"/>
              </a:rPr>
              <a:t>In-Context Data Distillation with TabPFN · ICLR ME-FoMo Workshop 2024</a:t>
            </a:r>
          </a:p>
        </p:txBody>
      </p:sp>
      <p:pic>
        <p:nvPicPr>
          <p:cNvPr id="4" name="Picture 3" descr="feedback_s6_2.png"/>
          <p:cNvPicPr>
            <a:picLocks noChangeAspect="1"/>
          </p:cNvPicPr>
          <p:nvPr/>
        </p:nvPicPr>
        <p:blipFill>
          <a:blip r:embed="rId4"/>
          <a:stretch>
            <a:fillRect/>
          </a:stretch>
        </p:blipFill>
        <p:spPr>
          <a:xfrm>
            <a:off x="640080" y="1699869"/>
            <a:ext cx="5340096" cy="1602028"/>
          </a:xfrm>
          <a:prstGeom prst="rect">
            <a:avLst/>
          </a:prstGeom>
          <a:effectLst/>
        </p:spPr>
      </p:pic>
      <p:sp>
        <p:nvSpPr>
          <p:cNvPr id="5" name="TextBox 4"/>
          <p:cNvSpPr txBox="1"/>
          <p:nvPr/>
        </p:nvSpPr>
        <p:spPr>
          <a:xfrm>
            <a:off x="768096" y="3602736"/>
            <a:ext cx="5084064" cy="241807"/>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617080"/>
                </a:solidFill>
                <a:latin typeface="Pretendard"/>
                <a:ea typeface="Pretendard"/>
                <a:cs typeface="Pretendard"/>
              </a:rPr>
              <a:t>왼쪽  모델 학습을 포함한 증류 / 오른쪽  context 직접 최적화</a:t>
            </a:r>
          </a:p>
        </p:txBody>
      </p:sp>
      <p:sp>
        <p:nvSpPr>
          <p:cNvPr id="6" name="Rectangle 5"/>
          <p:cNvSpPr/>
          <p:nvPr/>
        </p:nvSpPr>
        <p:spPr>
          <a:xfrm>
            <a:off x="749808" y="4160520"/>
            <a:ext cx="5184648" cy="176479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32688" y="4352544"/>
            <a:ext cx="4818888" cy="316738"/>
          </a:xfrm>
          <a:prstGeom prst="rect">
            <a:avLst/>
          </a:prstGeom>
          <a:noFill/>
          <a:effectLst/>
        </p:spPr>
        <p:txBody>
          <a:bodyPr wrap="none" anchor="t" lIns="0" rIns="0" tIns="0" bIns="0">
            <a:noAutofit/>
          </a:bodyPr>
          <a:lstStyle/>
          <a:p>
            <a:pPr algn="l">
              <a:lnSpc>
                <a:spcPct val="118000"/>
              </a:lnSpc>
              <a:spcBef>
                <a:spcPts val="0"/>
              </a:spcBef>
              <a:spcAft>
                <a:spcPts val="0"/>
              </a:spcAft>
            </a:pPr>
            <a:r>
              <a:rPr sz="1900" b="1" lang="ko-KR">
                <a:solidFill>
                  <a:srgbClr val="00306C"/>
                </a:solidFill>
                <a:latin typeface="Pretendard"/>
                <a:ea typeface="Pretendard"/>
                <a:cs typeface="Pretendard"/>
              </a:rPr>
              <a:t>고정하는 것  모델 가중치 θ, context 라벨 y</a:t>
            </a:r>
          </a:p>
        </p:txBody>
      </p:sp>
      <p:sp>
        <p:nvSpPr>
          <p:cNvPr id="8" name="TextBox 7"/>
          <p:cNvSpPr txBox="1"/>
          <p:nvPr/>
        </p:nvSpPr>
        <p:spPr>
          <a:xfrm>
            <a:off x="932688" y="4855464"/>
            <a:ext cx="4818888" cy="361696"/>
          </a:xfrm>
          <a:prstGeom prst="rect">
            <a:avLst/>
          </a:prstGeom>
          <a:noFill/>
          <a:effectLst/>
        </p:spPr>
        <p:txBody>
          <a:bodyPr wrap="none" anchor="t" lIns="0" rIns="0" tIns="0" bIns="0">
            <a:noAutofit/>
          </a:bodyPr>
          <a:lstStyle/>
          <a:p>
            <a:pPr algn="l">
              <a:lnSpc>
                <a:spcPct val="118000"/>
              </a:lnSpc>
              <a:spcBef>
                <a:spcPts val="0"/>
              </a:spcBef>
              <a:spcAft>
                <a:spcPts val="0"/>
              </a:spcAft>
            </a:pPr>
            <a:r>
              <a:rPr sz="2200" b="1" lang="ko-KR">
                <a:solidFill>
                  <a:srgbClr val="007BC6"/>
                </a:solidFill>
                <a:latin typeface="Pretendard"/>
                <a:ea typeface="Pretendard"/>
                <a:cs typeface="Pretendard"/>
              </a:rPr>
              <a:t>바꾸는 것  context의 특징값 X</a:t>
            </a:r>
          </a:p>
        </p:txBody>
      </p:sp>
      <p:sp>
        <p:nvSpPr>
          <p:cNvPr id="9" name="TextBox 8"/>
          <p:cNvSpPr txBox="1"/>
          <p:nvPr/>
        </p:nvSpPr>
        <p:spPr>
          <a:xfrm>
            <a:off x="932688" y="5404104"/>
            <a:ext cx="4818888" cy="391668"/>
          </a:xfrm>
          <a:prstGeom prst="rect">
            <a:avLst/>
          </a:prstGeom>
          <a:noFill/>
          <a:effectLst/>
        </p:spPr>
        <p:txBody>
          <a:bodyPr wrap="none" anchor="t" lIns="0" rIns="0" tIns="0" bIns="0">
            <a:noAutofit/>
          </a:bodyPr>
          <a:lstStyle/>
          <a:p>
            <a:pPr algn="l">
              <a:lnSpc>
                <a:spcPct val="118000"/>
              </a:lnSpc>
              <a:spcBef>
                <a:spcPts val="0"/>
              </a:spcBef>
              <a:spcAft>
                <a:spcPts val="0"/>
              </a:spcAft>
            </a:pPr>
            <a:r>
              <a:rPr sz="2400" b="1" lang="ko-KR">
                <a:solidFill>
                  <a:srgbClr val="00306C"/>
                </a:solidFill>
                <a:latin typeface="Pretendard"/>
                <a:ea typeface="Pretendard"/>
                <a:cs typeface="Pretendard"/>
              </a:rPr>
              <a:t>X ← X − α · ∂Loss/∂X</a:t>
            </a:r>
          </a:p>
        </p:txBody>
      </p:sp>
      <p:sp>
        <p:nvSpPr>
          <p:cNvPr id="10" name="Rectangle 9"/>
          <p:cNvSpPr/>
          <p:nvPr/>
        </p:nvSpPr>
        <p:spPr>
          <a:xfrm>
            <a:off x="6446520" y="1545336"/>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446520" y="1586484"/>
            <a:ext cx="356616" cy="286765"/>
          </a:xfrm>
          <a:prstGeom prst="rect">
            <a:avLst/>
          </a:prstGeom>
          <a:noFill/>
          <a:effectLst/>
        </p:spPr>
        <p:txBody>
          <a:bodyPr wrap="none" anchor="t" lIns="0" rIns="0" tIns="0" bIns="0">
            <a:noAutofit/>
          </a:bodyPr>
          <a:lstStyle/>
          <a:p>
            <a:pPr algn="ctr">
              <a:lnSpc>
                <a:spcPct val="118000"/>
              </a:lnSpc>
              <a:spcBef>
                <a:spcPts val="0"/>
              </a:spcBef>
              <a:spcAft>
                <a:spcPts val="0"/>
              </a:spcAft>
            </a:pPr>
            <a:r>
              <a:rPr sz="1700" b="1" lang="ko-KR">
                <a:solidFill>
                  <a:srgbClr val="FFFFFF"/>
                </a:solidFill>
                <a:latin typeface="Pretendard"/>
                <a:ea typeface="Pretendard"/>
                <a:cs typeface="Pretendard"/>
              </a:rPr>
              <a:t>1</a:t>
            </a:r>
          </a:p>
        </p:txBody>
      </p:sp>
      <p:sp>
        <p:nvSpPr>
          <p:cNvPr id="12" name="TextBox 11"/>
          <p:cNvSpPr txBox="1"/>
          <p:nvPr/>
        </p:nvSpPr>
        <p:spPr>
          <a:xfrm>
            <a:off x="6958583" y="1536192"/>
            <a:ext cx="4654296" cy="361696"/>
          </a:xfrm>
          <a:prstGeom prst="rect">
            <a:avLst/>
          </a:prstGeom>
          <a:noFill/>
          <a:effectLst/>
        </p:spPr>
        <p:txBody>
          <a:bodyPr wrap="none" anchor="t" lIns="0" rIns="0" tIns="0" bIns="0">
            <a:noAutofit/>
          </a:bodyPr>
          <a:lstStyle/>
          <a:p>
            <a:pPr algn="l">
              <a:lnSpc>
                <a:spcPct val="118000"/>
              </a:lnSpc>
              <a:spcBef>
                <a:spcPts val="0"/>
              </a:spcBef>
              <a:spcAft>
                <a:spcPts val="0"/>
              </a:spcAft>
            </a:pPr>
            <a:r>
              <a:rPr sz="2200" b="1" lang="ko-KR">
                <a:solidFill>
                  <a:srgbClr val="00306C"/>
                </a:solidFill>
                <a:latin typeface="Pretendard"/>
                <a:ea typeface="Pretendard"/>
                <a:cs typeface="Pretendard"/>
              </a:rPr>
              <a:t>작은 합성 context 준비</a:t>
            </a:r>
          </a:p>
        </p:txBody>
      </p:sp>
      <p:sp>
        <p:nvSpPr>
          <p:cNvPr id="13" name="TextBox 12"/>
          <p:cNvSpPr txBox="1"/>
          <p:nvPr/>
        </p:nvSpPr>
        <p:spPr>
          <a:xfrm>
            <a:off x="6958583" y="1984248"/>
            <a:ext cx="4654296" cy="631443"/>
          </a:xfrm>
          <a:prstGeom prst="rect">
            <a:avLst/>
          </a:prstGeom>
          <a:noFill/>
          <a:effectLst/>
        </p:spPr>
        <p:txBody>
          <a:bodyPr wrap="none" anchor="t" lIns="0" rIns="0" tIns="0" bIns="0">
            <a:noAutofit/>
          </a:bodyPr>
          <a:lstStyle/>
          <a:p>
            <a:pPr algn="l">
              <a:lnSpc>
                <a:spcPct val="118000"/>
              </a:lnSpc>
              <a:spcBef>
                <a:spcPts val="0"/>
              </a:spcBef>
              <a:spcAft>
                <a:spcPts val="0"/>
              </a:spcAft>
            </a:pPr>
            <a:r>
              <a:rPr sz="2000" b="0" lang="ko-KR">
                <a:solidFill>
                  <a:srgbClr val="20262E"/>
                </a:solidFill>
                <a:latin typeface="Pretendard"/>
                <a:ea typeface="Pretendard"/>
                <a:cs typeface="Pretendard"/>
              </a:rPr>
              <a:t>클래스별 같은 수의 라벨 고정</a:t>
            </a:r>
          </a:p>
          <a:p>
            <a:pPr algn="l">
              <a:lnSpc>
                <a:spcPct val="118000"/>
              </a:lnSpc>
              <a:spcBef>
                <a:spcPts val="0"/>
              </a:spcBef>
              <a:spcAft>
                <a:spcPts val="0"/>
              </a:spcAft>
            </a:pPr>
            <a:r>
              <a:rPr sz="2000" b="0" lang="ko-KR">
                <a:solidFill>
                  <a:srgbClr val="20262E"/>
                </a:solidFill>
                <a:latin typeface="Pretendard"/>
                <a:ea typeface="Pretendard"/>
                <a:cs typeface="Pretendard"/>
              </a:rPr>
              <a:t>특징값은 최적화 가능한 변수</a:t>
            </a:r>
          </a:p>
        </p:txBody>
      </p:sp>
      <p:sp>
        <p:nvSpPr>
          <p:cNvPr id="14" name="Rectangle 13"/>
          <p:cNvSpPr/>
          <p:nvPr/>
        </p:nvSpPr>
        <p:spPr>
          <a:xfrm>
            <a:off x="6446520" y="2935224"/>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46520" y="2976372"/>
            <a:ext cx="356616" cy="286765"/>
          </a:xfrm>
          <a:prstGeom prst="rect">
            <a:avLst/>
          </a:prstGeom>
          <a:noFill/>
          <a:effectLst/>
        </p:spPr>
        <p:txBody>
          <a:bodyPr wrap="none" anchor="t" lIns="0" rIns="0" tIns="0" bIns="0">
            <a:noAutofit/>
          </a:bodyPr>
          <a:lstStyle/>
          <a:p>
            <a:pPr algn="ctr">
              <a:lnSpc>
                <a:spcPct val="118000"/>
              </a:lnSpc>
              <a:spcBef>
                <a:spcPts val="0"/>
              </a:spcBef>
              <a:spcAft>
                <a:spcPts val="0"/>
              </a:spcAft>
            </a:pPr>
            <a:r>
              <a:rPr sz="1700" b="1" lang="ko-KR">
                <a:solidFill>
                  <a:srgbClr val="FFFFFF"/>
                </a:solidFill>
                <a:latin typeface="Pretendard"/>
                <a:ea typeface="Pretendard"/>
                <a:cs typeface="Pretendard"/>
              </a:rPr>
              <a:t>2</a:t>
            </a:r>
          </a:p>
        </p:txBody>
      </p:sp>
      <p:sp>
        <p:nvSpPr>
          <p:cNvPr id="16" name="TextBox 15"/>
          <p:cNvSpPr txBox="1"/>
          <p:nvPr/>
        </p:nvSpPr>
        <p:spPr>
          <a:xfrm>
            <a:off x="6958583" y="2926080"/>
            <a:ext cx="4654296" cy="361696"/>
          </a:xfrm>
          <a:prstGeom prst="rect">
            <a:avLst/>
          </a:prstGeom>
          <a:noFill/>
          <a:effectLst/>
        </p:spPr>
        <p:txBody>
          <a:bodyPr wrap="none" anchor="t" lIns="0" rIns="0" tIns="0" bIns="0">
            <a:noAutofit/>
          </a:bodyPr>
          <a:lstStyle/>
          <a:p>
            <a:pPr algn="l">
              <a:lnSpc>
                <a:spcPct val="118000"/>
              </a:lnSpc>
              <a:spcBef>
                <a:spcPts val="0"/>
              </a:spcBef>
              <a:spcAft>
                <a:spcPts val="0"/>
              </a:spcAft>
            </a:pPr>
            <a:r>
              <a:rPr sz="2200" b="1" lang="ko-KR">
                <a:solidFill>
                  <a:srgbClr val="00306C"/>
                </a:solidFill>
                <a:latin typeface="Pretendard"/>
                <a:ea typeface="Pretendard"/>
                <a:cs typeface="Pretendard"/>
              </a:rPr>
              <a:t>실제 train 사례를 query로 예측</a:t>
            </a:r>
          </a:p>
        </p:txBody>
      </p:sp>
      <p:sp>
        <p:nvSpPr>
          <p:cNvPr id="17" name="TextBox 16"/>
          <p:cNvSpPr txBox="1"/>
          <p:nvPr/>
        </p:nvSpPr>
        <p:spPr>
          <a:xfrm>
            <a:off x="6958583" y="3374136"/>
            <a:ext cx="4654296" cy="631443"/>
          </a:xfrm>
          <a:prstGeom prst="rect">
            <a:avLst/>
          </a:prstGeom>
          <a:noFill/>
          <a:effectLst/>
        </p:spPr>
        <p:txBody>
          <a:bodyPr wrap="none" anchor="t" lIns="0" rIns="0" tIns="0" bIns="0">
            <a:noAutofit/>
          </a:bodyPr>
          <a:lstStyle/>
          <a:p>
            <a:pPr algn="l">
              <a:lnSpc>
                <a:spcPct val="118000"/>
              </a:lnSpc>
              <a:spcBef>
                <a:spcPts val="0"/>
              </a:spcBef>
              <a:spcAft>
                <a:spcPts val="0"/>
              </a:spcAft>
            </a:pPr>
            <a:r>
              <a:rPr sz="2000" b="0" lang="ko-KR">
                <a:solidFill>
                  <a:srgbClr val="20262E"/>
                </a:solidFill>
                <a:latin typeface="Pretendard"/>
                <a:ea typeface="Pretendard"/>
                <a:cs typeface="Pretendard"/>
              </a:rPr>
              <a:t>현재 합성 context + 고정 TabPFN</a:t>
            </a:r>
          </a:p>
          <a:p>
            <a:pPr algn="l">
              <a:lnSpc>
                <a:spcPct val="118000"/>
              </a:lnSpc>
              <a:spcBef>
                <a:spcPts val="0"/>
              </a:spcBef>
              <a:spcAft>
                <a:spcPts val="0"/>
              </a:spcAft>
            </a:pPr>
            <a:r>
              <a:rPr sz="2000" b="0" lang="ko-KR">
                <a:solidFill>
                  <a:srgbClr val="20262E"/>
                </a:solidFill>
                <a:latin typeface="Pretendard"/>
                <a:ea typeface="Pretendard"/>
                <a:cs typeface="Pretendard"/>
              </a:rPr>
              <a:t>실제 정답과의 오차 계산</a:t>
            </a:r>
          </a:p>
        </p:txBody>
      </p:sp>
      <p:sp>
        <p:nvSpPr>
          <p:cNvPr id="18" name="Rectangle 17"/>
          <p:cNvSpPr/>
          <p:nvPr/>
        </p:nvSpPr>
        <p:spPr>
          <a:xfrm>
            <a:off x="6446520" y="4325112"/>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446520" y="4366260"/>
            <a:ext cx="356616" cy="286765"/>
          </a:xfrm>
          <a:prstGeom prst="rect">
            <a:avLst/>
          </a:prstGeom>
          <a:noFill/>
          <a:effectLst/>
        </p:spPr>
        <p:txBody>
          <a:bodyPr wrap="none" anchor="t" lIns="0" rIns="0" tIns="0" bIns="0">
            <a:noAutofit/>
          </a:bodyPr>
          <a:lstStyle/>
          <a:p>
            <a:pPr algn="ctr">
              <a:lnSpc>
                <a:spcPct val="118000"/>
              </a:lnSpc>
              <a:spcBef>
                <a:spcPts val="0"/>
              </a:spcBef>
              <a:spcAft>
                <a:spcPts val="0"/>
              </a:spcAft>
            </a:pPr>
            <a:r>
              <a:rPr sz="1700" b="1" lang="ko-KR">
                <a:solidFill>
                  <a:srgbClr val="FFFFFF"/>
                </a:solidFill>
                <a:latin typeface="Pretendard"/>
                <a:ea typeface="Pretendard"/>
                <a:cs typeface="Pretendard"/>
              </a:rPr>
              <a:t>3</a:t>
            </a:r>
          </a:p>
        </p:txBody>
      </p:sp>
      <p:sp>
        <p:nvSpPr>
          <p:cNvPr id="20" name="TextBox 19"/>
          <p:cNvSpPr txBox="1"/>
          <p:nvPr/>
        </p:nvSpPr>
        <p:spPr>
          <a:xfrm>
            <a:off x="6958583" y="4315968"/>
            <a:ext cx="4654296" cy="361696"/>
          </a:xfrm>
          <a:prstGeom prst="rect">
            <a:avLst/>
          </a:prstGeom>
          <a:noFill/>
          <a:effectLst/>
        </p:spPr>
        <p:txBody>
          <a:bodyPr wrap="none" anchor="t" lIns="0" rIns="0" tIns="0" bIns="0">
            <a:noAutofit/>
          </a:bodyPr>
          <a:lstStyle/>
          <a:p>
            <a:pPr algn="l">
              <a:lnSpc>
                <a:spcPct val="118000"/>
              </a:lnSpc>
              <a:spcBef>
                <a:spcPts val="0"/>
              </a:spcBef>
              <a:spcAft>
                <a:spcPts val="0"/>
              </a:spcAft>
            </a:pPr>
            <a:r>
              <a:rPr sz="2200" b="1" lang="ko-KR">
                <a:solidFill>
                  <a:srgbClr val="00306C"/>
                </a:solidFill>
                <a:latin typeface="Pretendard"/>
                <a:ea typeface="Pretendard"/>
                <a:cs typeface="Pretendard"/>
              </a:rPr>
              <a:t>오차로 context 특징값 수정</a:t>
            </a:r>
          </a:p>
        </p:txBody>
      </p:sp>
      <p:sp>
        <p:nvSpPr>
          <p:cNvPr id="21" name="TextBox 20"/>
          <p:cNvSpPr txBox="1"/>
          <p:nvPr/>
        </p:nvSpPr>
        <p:spPr>
          <a:xfrm>
            <a:off x="6958583" y="4764024"/>
            <a:ext cx="4654296" cy="631443"/>
          </a:xfrm>
          <a:prstGeom prst="rect">
            <a:avLst/>
          </a:prstGeom>
          <a:noFill/>
          <a:effectLst/>
        </p:spPr>
        <p:txBody>
          <a:bodyPr wrap="none" anchor="t" lIns="0" rIns="0" tIns="0" bIns="0">
            <a:noAutofit/>
          </a:bodyPr>
          <a:lstStyle/>
          <a:p>
            <a:pPr algn="l">
              <a:lnSpc>
                <a:spcPct val="118000"/>
              </a:lnSpc>
              <a:spcBef>
                <a:spcPts val="0"/>
              </a:spcBef>
              <a:spcAft>
                <a:spcPts val="0"/>
              </a:spcAft>
            </a:pPr>
            <a:r>
              <a:rPr sz="2000" b="0" lang="ko-KR">
                <a:solidFill>
                  <a:srgbClr val="20262E"/>
                </a:solidFill>
                <a:latin typeface="Pretendard"/>
                <a:ea typeface="Pretendard"/>
                <a:cs typeface="Pretendard"/>
              </a:rPr>
              <a:t>Gradient를 입력 X까지 전달</a:t>
            </a:r>
          </a:p>
          <a:p>
            <a:pPr algn="l">
              <a:lnSpc>
                <a:spcPct val="118000"/>
              </a:lnSpc>
              <a:spcBef>
                <a:spcPts val="0"/>
              </a:spcBef>
              <a:spcAft>
                <a:spcPts val="0"/>
              </a:spcAft>
            </a:pPr>
            <a:r>
              <a:rPr sz="2000" b="0" lang="ko-KR">
                <a:solidFill>
                  <a:srgbClr val="20262E"/>
                </a:solidFill>
                <a:latin typeface="Pretendard"/>
                <a:ea typeface="Pretendard"/>
                <a:cs typeface="Pretendard"/>
              </a:rPr>
              <a:t>가중치 θ를 바꾸지 않고 반복</a:t>
            </a:r>
          </a:p>
        </p:txBody>
      </p:sp>
      <p:sp>
        <p:nvSpPr>
          <p:cNvPr id="22" name="Rectangle 21"/>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48640" y="6537960"/>
            <a:ext cx="8732520" cy="241807"/>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후속 방법 후보  큰 라벨 이력을 작은 context로 압축 · 극소 라벨 성능 근거와 구분</a:t>
            </a:r>
          </a:p>
        </p:txBody>
      </p:sp>
      <p:sp>
        <p:nvSpPr>
          <p:cNvPr id="24" name="TextBox 23"/>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02 관련 연구</a:t>
            </a:r>
          </a:p>
        </p:txBody>
      </p:sp>
      <p:sp>
        <p:nvSpPr>
          <p:cNvPr id="25" name="TextBox 24"/>
          <p:cNvSpPr txBox="1"/>
          <p:nvPr/>
        </p:nvSpPr>
        <p:spPr>
          <a:xfrm>
            <a:off x="11411712" y="6533388"/>
            <a:ext cx="256032" cy="241807"/>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극소수 공격 사례 실험과 TabPFN 관련 연구 검토</dc:title>
  <dc:subject>교수 2 검토 자료 · 선행실험, LotBoNC, data streams, ICD</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