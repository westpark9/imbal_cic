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기존 XGB·TabPFN·SOTA·제안 모델 실험은 CICFlowMeter CSV를 분류 입력으로 사용했다. 많은 IDS 표 분류 연구도 제공된 flow 통계를 같은 방식으로 학습·평가에 사용했다. 오른쪽은 CIC-IDS2017에서 이 CSV가 만들어진 경로다. 실험망 패킷을 PCAP으로 기록하고, CICFlowMeter가 일정 규칙으로 flow를 묶어 지속 시간·패킷 수·IAT와 flag 통계 등을 계산한다. CSV의 한 행은 패킷 sequence 그 자체가 아니라 이 고정 통계량의 요약이다.</a:t>
            </a:r>
          </a:p>
          <a:p/>
          <a:p>
            <a:r>
              <a:t>원문 근거</a:t>
            </a:r>
          </a:p>
          <a:p>
            <a:r>
              <a:t>CIC-IDS2017 official dataset</a:t>
            </a:r>
          </a:p>
          <a:p>
            <a:r>
              <a:t>UNB CIC, 2017</a:t>
            </a:r>
          </a:p>
          <a:p>
            <a:r>
              <a:t>PCAP, labeled CICFlowMeter CSV, capture setup and attack timetable</a:t>
            </a:r>
          </a:p>
          <a:p>
            <a:r>
              <a:t>https://www.unb.ca/cic/datasets/ids-2017.html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CSV 기반 기존 평가에서는 두 문제를 확인했다. 첫째, 일부 head 공격은 라벨을 극단적으로 줄여도 높은 F1을 보여 추가 라벨보다 데이터 표현과 평가 난이도를 먼저 점검할 필요가 있었다. 둘째, 여러 flow 통계가 완전히 같아도 다른 라벨이 붙은 행이 존재했다. 이는 모든 라벨이 잘못되었다는 뜻이 아니라, 현재 통계 표현으로는 하나의 결정적 예측으로 동시에 맞힐 수 없는 사례가 있음을 뜻한다. 다음 두 슬라이드에서 두 관측을 각각 수치와 실제 원본 행으로 보인다.</a:t>
            </a:r>
          </a:p>
          <a:p/>
          <a:p>
            <a:r>
              <a:t>원문 근거</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이 그림은 이전 CSV 기반 EXP87의 attack-only 조건을 n=2부터 n=450까지 확장해 다시 그린 것이다. macro-F1은 n=20 이후에도 상승하므로 전체 데이터가 완전히 포화됐다고 말할 수는 없다. 그러나 DDoS와 Bot 같은 head 클래스는 n=20 전후 이미 매우 높은 F1에 도달하고, n=450 heatmap과 비교해도 변화 폭이 작다. 반대로 Web attacks는 많은 라벨에서도 낮게 남는다. 따라서 높은 평균은 모든 공격이 쉬웠다는 뜻이 아니며, head의 조기 포화와 tail의 잔여 오류를 분리해 볼 필요가 있다. 이 결과는 정상 포함 IDS 탐지 성능이 아니라 공격 간 분류의 진단 결과다.</a:t>
            </a:r>
          </a:p>
          <a:p/>
          <a:p>
            <a:r>
              <a:t>원문 근거</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위 표와 왼쪽 막대는 NF-v3 파생 입력이 아니라 원본 CIC2018 CICFlowMeter CSV 10개 파일 전체를 직접 감사한 결과다. Timestamp와 flow 식별자를 제외하고 모든 파일에 공통인 78개 통계 field가 같은 행을 묶었다. 위 표는 실제 원본 CSV 값이며, 보이는 열과 생략한 69개 field가 모두 같지만 label은 다르다. 오른쪽 ToN-IoT 막대는 원본 PCAP이나 모든 CSV field가 아니라 현재 실험이 쓰는 NF-v3 46개 input field와 Attack label로 계산했다. 두 막대는 상이 label feature group에 속한 행 수로 내림차순 정렬했고, 끝 숫자는 클래스 내 비율이다. 이 값은 모든 충돌을 같은 단일 원인이나 모든 라벨 오류로 단정하지 않는다. 다만 동일 통계 입력으로 하나의 분류기가 두 label을 동시에 맞힐 수 없으므로, 표현과 라벨 생성 근거를 함께 다시 점검해야 함을 보여 준다.</a:t>
            </a:r>
          </a:p>
          <a:p/>
          <a:p>
            <a:r>
              <a:t>원문 근거</a:t>
            </a:r>
          </a:p>
          <a:p>
            <a:r>
              <a:t>CSE-CIC-IDS2018 official dataset</a:t>
            </a:r>
          </a:p>
          <a:p>
            <a:r>
              <a:t>UNB CIC, 2018</a:t>
            </a:r>
          </a:p>
          <a:p>
            <a:r>
              <a:t>PCAP/system logs, feature list and attack setup</a:t>
            </a:r>
          </a:p>
          <a:p>
            <a:r>
              <a:t>https://www.unb.ca/cic/datasets/ids-2018.html</a:t>
            </a:r>
          </a:p>
          <a:p/>
          <a:p>
            <a:r>
              <a:t>Error Prevalence in NIDS datasets: A Case Study on CIC-IDS-2017 and CSE-CIC-IDS-2018</a:t>
            </a:r>
          </a:p>
          <a:p>
            <a:r>
              <a:t>IEEE CNS, 2022</a:t>
            </a:r>
          </a:p>
          <a:p>
            <a:r>
              <a:t>Author tools and dataset documentation, corrected labels updated 2023; 2018 FTP closed-port example</a:t>
            </a:r>
          </a:p>
          <a:p>
            <a:r>
              <a:t>https://intrusion-detection.distrinet-research.be/CNS2022/index.html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CICFlowMeter는 미리 정한 flow 규칙과 통계식으로 CSV를 계산한다. 새 파이프라인은 PCAP·시간·라벨 연결을 보존한 상태에서 packet sequence encoder로 embedding을 생성하고, 학습 분할로만 차원 변환을 적합한다. 인코더는 교체 가능하게 설계해 netFound뿐 아니라 ET-BERT와 NetMamba도 같은 입력·분할·평가로 비교할 수 있게 한다. 생성한 벡터에서는 먼저 동일 embedding·상이 label 비율과 PCAP 라벨 근거를 감사한다. 이어 기존 XGB·TabPFN baseline과 few-shot learning curve, 클래스별 F1으로 head 조기 포화가 새 표현에서도 반복되는지 측정한다.</a:t>
            </a:r>
          </a:p>
          <a:p/>
          <a:p>
            <a:r>
              <a:t>원문 근거</a:t>
            </a:r>
          </a:p>
          <a:p>
            <a:r>
              <a:t>netFound: Principled Design for Network Foundation Models</a:t>
            </a:r>
          </a:p>
          <a:p>
            <a:r>
              <a:t>arXiv v5 / implementation v2, 2026</a:t>
            </a:r>
          </a:p>
          <a:p>
            <a:r>
              <a:t>Frozen header/metadata encoder, excludes IP and payload; repo b3ab5a3, HF e27221d</a:t>
            </a:r>
          </a:p>
          <a:p>
            <a:r>
              <a:t>https://arxiv.org/abs/2310.17025v5</a:t>
            </a:r>
          </a:p>
          <a:p/>
          <a:p>
            <a:r>
              <a:t>ET-BERT: A Contextualized Datagram Representation with Pre-training Transformers for Encrypted Traffic Classification</a:t>
            </a:r>
          </a:p>
          <a:p>
            <a:r>
              <a:t>The Web Conference (WWW), 2022</a:t>
            </a:r>
          </a:p>
          <a:p>
            <a:r>
              <a:t>Datagram byte representations with Transformer; https://github.com/linwhitehat/ET-BERT</a:t>
            </a:r>
          </a:p>
          <a:p>
            <a:r>
              <a:t>https://arxiv.org/abs/2202.06335</a:t>
            </a:r>
          </a:p>
          <a:p/>
          <a:p>
            <a:r>
              <a:t>NetMamba: Efficient Network Traffic Classification via Pre-training Unidirectional Mamba</a:t>
            </a:r>
          </a:p>
          <a:p>
            <a:r>
              <a:t>IEEE ICNP, 2024</a:t>
            </a:r>
          </a:p>
          <a:p>
            <a:r>
              <a:t>Byte-sequence representation with state-space model; ICNP 2024 implementation, distinct from NetMamba+ 2026</a:t>
            </a:r>
          </a:p>
          <a:p>
            <a:r>
              <a:t>https://github.com/wangtz19/NetMamba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발표의 흐름은 세 단계다. 기존 IDS 분류는 CICFlowMeter CSV의 고정 flow 통계를 입력으로 사용했다. 그 입력을 확인하면서 일부 head 공격의 조기 포화와 원본 CSV의 동일 feature·상이 label을 관찰했다. 다음 단계는 PCAP encoder가 만든 새 CIC2018 벡터에서 두 현상을 같은 감사와 baseline 조건으로 다시 측정하는 것이다. 표현이 충돌을 줄이고 tail 또는 새로운 공격의 구분을 보완하는지 확인한 뒤에야 새 표현과 모델 구조의 분류 이점을 판단할 수 있다.</a:t>
            </a:r>
          </a:p>
          <a:p/>
          <a:p>
            <a:r>
              <a:t>원문 근거</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IDS 분류의 기존 입력은 CICFlowMeter CSV</a:t>
            </a:r>
          </a:p>
        </p:txBody>
      </p:sp>
      <p:sp>
        <p:nvSpPr>
          <p:cNvPr id="3" name="TextBox 2"/>
          <p:cNvSpPr txBox="1"/>
          <p:nvPr/>
        </p:nvSpPr>
        <p:spPr>
          <a:xfrm>
            <a:off x="594360" y="987552"/>
            <a:ext cx="10972800" cy="361696"/>
          </a:xfrm>
          <a:prstGeom prst="rect">
            <a:avLst/>
          </a:prstGeom>
          <a:noFill/>
          <a:effectLst/>
        </p:spPr>
        <p:txBody>
          <a:bodyPr wrap="none" anchor="t" lIns="0" rIns="0" tIns="0" bIns="0">
            <a:noAutofit/>
          </a:bodyPr>
          <a:lstStyle/>
          <a:p>
            <a:pPr algn="l">
              <a:lnSpc>
                <a:spcPct val="118000"/>
              </a:lnSpc>
              <a:spcBef>
                <a:spcPts val="0"/>
              </a:spcBef>
              <a:spcAft>
                <a:spcPts val="0"/>
              </a:spcAft>
            </a:pPr>
            <a:r>
              <a:rPr sz="2200" b="1" lang="ko-KR">
                <a:solidFill>
                  <a:srgbClr val="00306C"/>
                </a:solidFill>
                <a:latin typeface="Pretendard"/>
                <a:ea typeface="Pretendard"/>
                <a:cs typeface="Pretendard"/>
              </a:rPr>
              <a:t>기존 실험  XGB · TabPFN · SOTA · 제안 모델  →  CICFlowMeter CSV 벡터 입력</a:t>
            </a:r>
          </a:p>
        </p:txBody>
      </p:sp>
      <p:sp>
        <p:nvSpPr>
          <p:cNvPr id="4" name="TextBox 3"/>
          <p:cNvSpPr txBox="1"/>
          <p:nvPr/>
        </p:nvSpPr>
        <p:spPr>
          <a:xfrm>
            <a:off x="594360" y="1389888"/>
            <a:ext cx="10972800" cy="286765"/>
          </a:xfrm>
          <a:prstGeom prst="rect">
            <a:avLst/>
          </a:prstGeom>
          <a:noFill/>
          <a:effectLst/>
        </p:spPr>
        <p:txBody>
          <a:bodyPr wrap="none" anchor="t" lIns="0" rIns="0" tIns="0" bIns="0">
            <a:noAutofit/>
          </a:bodyPr>
          <a:lstStyle/>
          <a:p>
            <a:pPr algn="l">
              <a:lnSpc>
                <a:spcPct val="118000"/>
              </a:lnSpc>
              <a:spcBef>
                <a:spcPts val="0"/>
              </a:spcBef>
              <a:spcAft>
                <a:spcPts val="0"/>
              </a:spcAft>
            </a:pPr>
            <a:r>
              <a:rPr sz="1700" b="0" lang="ko-KR">
                <a:solidFill>
                  <a:srgbClr val="617080"/>
                </a:solidFill>
                <a:latin typeface="Pretendard"/>
                <a:ea typeface="Pretendard"/>
                <a:cs typeface="Pretendard"/>
              </a:rPr>
              <a:t>일반적인 IDS 표 분류 연구도 제공된 CSV의 flow 통계를 학습·평가에 사용</a:t>
            </a:r>
          </a:p>
        </p:txBody>
      </p:sp>
      <p:sp>
        <p:nvSpPr>
          <p:cNvPr id="5" name="TextBox 4"/>
          <p:cNvSpPr txBox="1"/>
          <p:nvPr/>
        </p:nvSpPr>
        <p:spPr>
          <a:xfrm>
            <a:off x="594360" y="1975104"/>
            <a:ext cx="4069080" cy="346710"/>
          </a:xfrm>
          <a:prstGeom prst="rect">
            <a:avLst/>
          </a:prstGeom>
          <a:noFill/>
          <a:effectLst/>
        </p:spPr>
        <p:txBody>
          <a:bodyPr wrap="none" anchor="t" lIns="0" rIns="0" tIns="0" bIns="0">
            <a:noAutofit/>
          </a:bodyPr>
          <a:lstStyle/>
          <a:p>
            <a:pPr algn="l">
              <a:lnSpc>
                <a:spcPct val="118000"/>
              </a:lnSpc>
              <a:spcBef>
                <a:spcPts val="0"/>
              </a:spcBef>
              <a:spcAft>
                <a:spcPts val="0"/>
              </a:spcAft>
            </a:pPr>
            <a:r>
              <a:rPr sz="2100" b="1" lang="ko-KR">
                <a:solidFill>
                  <a:srgbClr val="00306C"/>
                </a:solidFill>
                <a:latin typeface="Pretendard"/>
                <a:ea typeface="Pretendard"/>
                <a:cs typeface="Pretendard"/>
              </a:rPr>
              <a:t>기존 분류기의 입력</a:t>
            </a:r>
          </a:p>
        </p:txBody>
      </p:sp>
      <p:sp>
        <p:nvSpPr>
          <p:cNvPr id="6" name="Rectangle 5"/>
          <p:cNvSpPr/>
          <p:nvPr/>
        </p:nvSpPr>
        <p:spPr>
          <a:xfrm>
            <a:off x="594360" y="2414016"/>
            <a:ext cx="4069080" cy="1188720"/>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94360" y="2414016"/>
            <a:ext cx="4069080" cy="393192"/>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704088" y="2482596"/>
            <a:ext cx="3849624"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1" lang="ko-KR">
                <a:solidFill>
                  <a:srgbClr val="FFFFFF"/>
                </a:solidFill>
                <a:latin typeface="Pretendard"/>
                <a:ea typeface="Pretendard"/>
                <a:cs typeface="Pretendard"/>
              </a:rPr>
              <a:t>CSV 한 행</a:t>
            </a:r>
          </a:p>
        </p:txBody>
      </p:sp>
      <p:sp>
        <p:nvSpPr>
          <p:cNvPr id="9" name="TextBox 8"/>
          <p:cNvSpPr txBox="1"/>
          <p:nvPr/>
        </p:nvSpPr>
        <p:spPr>
          <a:xfrm>
            <a:off x="740664" y="2980944"/>
            <a:ext cx="3776472" cy="511555"/>
          </a:xfrm>
          <a:prstGeom prst="rect">
            <a:avLst/>
          </a:prstGeom>
          <a:noFill/>
          <a:effectLst/>
        </p:spPr>
        <p:txBody>
          <a:bodyPr wrap="none" anchor="t" lIns="0" rIns="0" tIns="0" bIns="0">
            <a:noAutofit/>
          </a:bodyPr>
          <a:lstStyle/>
          <a:p>
            <a:pPr algn="ctr">
              <a:lnSpc>
                <a:spcPct val="118000"/>
              </a:lnSpc>
              <a:spcBef>
                <a:spcPts val="0"/>
              </a:spcBef>
              <a:spcAft>
                <a:spcPts val="0"/>
              </a:spcAft>
            </a:pPr>
            <a:r>
              <a:rPr sz="1600" b="0" lang="ko-KR">
                <a:solidFill>
                  <a:srgbClr val="20262E"/>
                </a:solidFill>
                <a:latin typeface="Pretendard"/>
                <a:ea typeface="Pretendard"/>
                <a:cs typeface="Pretendard"/>
              </a:rPr>
              <a:t>[지속 시간, 패킷 수, 길이, IAT, flag, …]</a:t>
            </a:r>
          </a:p>
          <a:p>
            <a:pPr algn="ctr">
              <a:lnSpc>
                <a:spcPct val="118000"/>
              </a:lnSpc>
              <a:spcBef>
                <a:spcPts val="0"/>
              </a:spcBef>
              <a:spcAft>
                <a:spcPts val="0"/>
              </a:spcAft>
            </a:pPr>
            <a:r>
              <a:rPr sz="1600" b="0" lang="ko-KR">
                <a:solidFill>
                  <a:srgbClr val="20262E"/>
                </a:solidFill>
                <a:latin typeface="Pretendard"/>
                <a:ea typeface="Pretendard"/>
                <a:cs typeface="Pretendard"/>
              </a:rPr>
              <a:t>→ 숫자 벡터 + Label</a:t>
            </a:r>
          </a:p>
        </p:txBody>
      </p:sp>
      <p:sp>
        <p:nvSpPr>
          <p:cNvPr id="10" name="Right Arrow 9"/>
          <p:cNvSpPr/>
          <p:nvPr/>
        </p:nvSpPr>
        <p:spPr>
          <a:xfrm>
            <a:off x="2441448" y="3840480"/>
            <a:ext cx="384048"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594360" y="4370832"/>
            <a:ext cx="406908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007BC6"/>
                </a:solidFill>
                <a:latin typeface="Pretendard"/>
                <a:ea typeface="Pretendard"/>
                <a:cs typeface="Pretendard"/>
              </a:rPr>
              <a:t>각 행을 독립 표본으로 사용</a:t>
            </a:r>
          </a:p>
        </p:txBody>
      </p:sp>
      <p:sp>
        <p:nvSpPr>
          <p:cNvPr id="12" name="TextBox 11"/>
          <p:cNvSpPr txBox="1"/>
          <p:nvPr/>
        </p:nvSpPr>
        <p:spPr>
          <a:xfrm>
            <a:off x="5074920" y="1975104"/>
            <a:ext cx="6446520" cy="346710"/>
          </a:xfrm>
          <a:prstGeom prst="rect">
            <a:avLst/>
          </a:prstGeom>
          <a:noFill/>
          <a:effectLst/>
        </p:spPr>
        <p:txBody>
          <a:bodyPr wrap="none" anchor="t" lIns="0" rIns="0" tIns="0" bIns="0">
            <a:noAutofit/>
          </a:bodyPr>
          <a:lstStyle/>
          <a:p>
            <a:pPr algn="l">
              <a:lnSpc>
                <a:spcPct val="118000"/>
              </a:lnSpc>
              <a:spcBef>
                <a:spcPts val="0"/>
              </a:spcBef>
              <a:spcAft>
                <a:spcPts val="0"/>
              </a:spcAft>
            </a:pPr>
            <a:r>
              <a:rPr sz="2100" b="1" lang="ko-KR">
                <a:solidFill>
                  <a:srgbClr val="00306C"/>
                </a:solidFill>
                <a:latin typeface="Pretendard"/>
                <a:ea typeface="Pretendard"/>
                <a:cs typeface="Pretendard"/>
              </a:rPr>
              <a:t>CIC-IDS2017: PCAP에서 CSV가 만들어지는 과정</a:t>
            </a:r>
          </a:p>
        </p:txBody>
      </p:sp>
      <p:sp>
        <p:nvSpPr>
          <p:cNvPr id="13" name="Rectangle 12"/>
          <p:cNvSpPr/>
          <p:nvPr/>
        </p:nvSpPr>
        <p:spPr>
          <a:xfrm>
            <a:off x="5074920" y="2423160"/>
            <a:ext cx="1307592" cy="121615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074920" y="2423160"/>
            <a:ext cx="1307592"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166359" y="2491740"/>
            <a:ext cx="112471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실험망</a:t>
            </a:r>
          </a:p>
        </p:txBody>
      </p:sp>
      <p:sp>
        <p:nvSpPr>
          <p:cNvPr id="16" name="TextBox 15"/>
          <p:cNvSpPr txBox="1"/>
          <p:nvPr/>
        </p:nvSpPr>
        <p:spPr>
          <a:xfrm>
            <a:off x="5184648" y="2999232"/>
            <a:ext cx="1088136"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정상·공격</a:t>
            </a:r>
          </a:p>
          <a:p>
            <a:pPr algn="ctr">
              <a:lnSpc>
                <a:spcPct val="118000"/>
              </a:lnSpc>
              <a:spcBef>
                <a:spcPts val="0"/>
              </a:spcBef>
              <a:spcAft>
                <a:spcPts val="0"/>
              </a:spcAft>
            </a:pPr>
            <a:r>
              <a:rPr sz="1500" b="0" lang="ko-KR">
                <a:solidFill>
                  <a:srgbClr val="20262E"/>
                </a:solidFill>
                <a:latin typeface="Pretendard"/>
                <a:ea typeface="Pretendard"/>
                <a:cs typeface="Pretendard"/>
              </a:rPr>
              <a:t>통신</a:t>
            </a:r>
          </a:p>
        </p:txBody>
      </p:sp>
      <p:sp>
        <p:nvSpPr>
          <p:cNvPr id="17" name="Rectangle 16"/>
          <p:cNvSpPr/>
          <p:nvPr/>
        </p:nvSpPr>
        <p:spPr>
          <a:xfrm>
            <a:off x="6675120" y="2423160"/>
            <a:ext cx="1307592" cy="121615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6675120" y="2423160"/>
            <a:ext cx="1307592"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766559" y="2491740"/>
            <a:ext cx="112471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PCAP</a:t>
            </a:r>
          </a:p>
        </p:txBody>
      </p:sp>
      <p:sp>
        <p:nvSpPr>
          <p:cNvPr id="20" name="TextBox 19"/>
          <p:cNvSpPr txBox="1"/>
          <p:nvPr/>
        </p:nvSpPr>
        <p:spPr>
          <a:xfrm>
            <a:off x="6784848" y="2999232"/>
            <a:ext cx="1088136"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시간순</a:t>
            </a:r>
          </a:p>
          <a:p>
            <a:pPr algn="ctr">
              <a:lnSpc>
                <a:spcPct val="118000"/>
              </a:lnSpc>
              <a:spcBef>
                <a:spcPts val="0"/>
              </a:spcBef>
              <a:spcAft>
                <a:spcPts val="0"/>
              </a:spcAft>
            </a:pPr>
            <a:r>
              <a:rPr sz="1500" b="0" lang="ko-KR">
                <a:solidFill>
                  <a:srgbClr val="20262E"/>
                </a:solidFill>
                <a:latin typeface="Pretendard"/>
                <a:ea typeface="Pretendard"/>
                <a:cs typeface="Pretendard"/>
              </a:rPr>
              <a:t>원시 패킷</a:t>
            </a:r>
          </a:p>
        </p:txBody>
      </p:sp>
      <p:sp>
        <p:nvSpPr>
          <p:cNvPr id="21" name="Rectangle 20"/>
          <p:cNvSpPr/>
          <p:nvPr/>
        </p:nvSpPr>
        <p:spPr>
          <a:xfrm>
            <a:off x="8275320" y="2423160"/>
            <a:ext cx="1920240" cy="121615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ectangle 21"/>
          <p:cNvSpPr/>
          <p:nvPr/>
        </p:nvSpPr>
        <p:spPr>
          <a:xfrm>
            <a:off x="8275320" y="2423160"/>
            <a:ext cx="192024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366760" y="2491740"/>
            <a:ext cx="173736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CICFlowMeter</a:t>
            </a:r>
          </a:p>
        </p:txBody>
      </p:sp>
      <p:sp>
        <p:nvSpPr>
          <p:cNvPr id="24" name="TextBox 23"/>
          <p:cNvSpPr txBox="1"/>
          <p:nvPr/>
        </p:nvSpPr>
        <p:spPr>
          <a:xfrm>
            <a:off x="8385048" y="2999232"/>
            <a:ext cx="1700784"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flow를 묶고</a:t>
            </a:r>
          </a:p>
          <a:p>
            <a:pPr algn="ctr">
              <a:lnSpc>
                <a:spcPct val="118000"/>
              </a:lnSpc>
              <a:spcBef>
                <a:spcPts val="0"/>
              </a:spcBef>
              <a:spcAft>
                <a:spcPts val="0"/>
              </a:spcAft>
            </a:pPr>
            <a:r>
              <a:rPr sz="1500" b="0" lang="ko-KR">
                <a:solidFill>
                  <a:srgbClr val="20262E"/>
                </a:solidFill>
                <a:latin typeface="Pretendard"/>
                <a:ea typeface="Pretendard"/>
                <a:cs typeface="Pretendard"/>
              </a:rPr>
              <a:t>고정 통계 계산</a:t>
            </a:r>
          </a:p>
        </p:txBody>
      </p:sp>
      <p:sp>
        <p:nvSpPr>
          <p:cNvPr id="25" name="Rectangle 24"/>
          <p:cNvSpPr/>
          <p:nvPr/>
        </p:nvSpPr>
        <p:spPr>
          <a:xfrm>
            <a:off x="10533888" y="2423160"/>
            <a:ext cx="1033271" cy="121615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ectangle 25"/>
          <p:cNvSpPr/>
          <p:nvPr/>
        </p:nvSpPr>
        <p:spPr>
          <a:xfrm>
            <a:off x="10533888" y="2423160"/>
            <a:ext cx="1033271"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10625328" y="2491740"/>
            <a:ext cx="85039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CSV</a:t>
            </a:r>
          </a:p>
        </p:txBody>
      </p:sp>
      <p:sp>
        <p:nvSpPr>
          <p:cNvPr id="28" name="TextBox 27"/>
          <p:cNvSpPr txBox="1"/>
          <p:nvPr/>
        </p:nvSpPr>
        <p:spPr>
          <a:xfrm>
            <a:off x="10643615" y="2999232"/>
            <a:ext cx="813815"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벡터</a:t>
            </a:r>
          </a:p>
          <a:p>
            <a:pPr algn="ctr">
              <a:lnSpc>
                <a:spcPct val="118000"/>
              </a:lnSpc>
              <a:spcBef>
                <a:spcPts val="0"/>
              </a:spcBef>
              <a:spcAft>
                <a:spcPts val="0"/>
              </a:spcAft>
            </a:pPr>
            <a:r>
              <a:rPr sz="1500" b="0" lang="ko-KR">
                <a:solidFill>
                  <a:srgbClr val="20262E"/>
                </a:solidFill>
                <a:latin typeface="Pretendard"/>
                <a:ea typeface="Pretendard"/>
                <a:cs typeface="Pretendard"/>
              </a:rPr>
              <a:t>+ label</a:t>
            </a:r>
          </a:p>
        </p:txBody>
      </p:sp>
      <p:sp>
        <p:nvSpPr>
          <p:cNvPr id="29" name="Right Arrow 28"/>
          <p:cNvSpPr/>
          <p:nvPr/>
        </p:nvSpPr>
        <p:spPr>
          <a:xfrm>
            <a:off x="6446520" y="2880360"/>
            <a:ext cx="182880"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ight Arrow 29"/>
          <p:cNvSpPr/>
          <p:nvPr/>
        </p:nvSpPr>
        <p:spPr>
          <a:xfrm>
            <a:off x="8046720" y="2880360"/>
            <a:ext cx="182880"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ight Arrow 30"/>
          <p:cNvSpPr/>
          <p:nvPr/>
        </p:nvSpPr>
        <p:spPr>
          <a:xfrm>
            <a:off x="9875520" y="2880360"/>
            <a:ext cx="182880"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74920" y="4041648"/>
            <a:ext cx="6400800" cy="331724"/>
          </a:xfrm>
          <a:prstGeom prst="rect">
            <a:avLst/>
          </a:prstGeom>
          <a:noFill/>
          <a:effectLst/>
        </p:spPr>
        <p:txBody>
          <a:bodyPr wrap="none" anchor="t" lIns="0" rIns="0" tIns="0" bIns="0">
            <a:noAutofit/>
          </a:bodyPr>
          <a:lstStyle/>
          <a:p>
            <a:pPr algn="l">
              <a:lnSpc>
                <a:spcPct val="118000"/>
              </a:lnSpc>
              <a:spcBef>
                <a:spcPts val="0"/>
              </a:spcBef>
              <a:spcAft>
                <a:spcPts val="0"/>
              </a:spcAft>
            </a:pPr>
            <a:r>
              <a:rPr sz="2000" b="1" lang="ko-KR">
                <a:solidFill>
                  <a:srgbClr val="00306C"/>
                </a:solidFill>
                <a:latin typeface="Pretendard"/>
                <a:ea typeface="Pretendard"/>
                <a:cs typeface="Pretendard"/>
              </a:rPr>
              <a:t>CSV의 고정 flow 통계 예</a:t>
            </a:r>
          </a:p>
        </p:txBody>
      </p:sp>
      <p:sp>
        <p:nvSpPr>
          <p:cNvPr id="33" name="Rectangle 32"/>
          <p:cNvSpPr/>
          <p:nvPr/>
        </p:nvSpPr>
        <p:spPr>
          <a:xfrm>
            <a:off x="5074920" y="4498848"/>
            <a:ext cx="1901952" cy="1115568"/>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ectangle 33"/>
          <p:cNvSpPr/>
          <p:nvPr/>
        </p:nvSpPr>
        <p:spPr>
          <a:xfrm>
            <a:off x="5074920" y="4498848"/>
            <a:ext cx="1901952"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166359" y="4567428"/>
            <a:ext cx="171907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지속 시간</a:t>
            </a:r>
          </a:p>
        </p:txBody>
      </p:sp>
      <p:sp>
        <p:nvSpPr>
          <p:cNvPr id="36" name="TextBox 35"/>
          <p:cNvSpPr txBox="1"/>
          <p:nvPr/>
        </p:nvSpPr>
        <p:spPr>
          <a:xfrm>
            <a:off x="5184648" y="5074920"/>
            <a:ext cx="1682496" cy="249301"/>
          </a:xfrm>
          <a:prstGeom prst="rect">
            <a:avLst/>
          </a:prstGeom>
          <a:noFill/>
          <a:effectLst/>
        </p:spPr>
        <p:txBody>
          <a:bodyPr wrap="none" anchor="t" lIns="0" rIns="0" tIns="0" bIns="0">
            <a:noAutofit/>
          </a:bodyPr>
          <a:lstStyle/>
          <a:p>
            <a:pPr algn="ctr">
              <a:lnSpc>
                <a:spcPct val="118000"/>
              </a:lnSpc>
              <a:spcBef>
                <a:spcPts val="0"/>
              </a:spcBef>
              <a:spcAft>
                <a:spcPts val="0"/>
              </a:spcAft>
            </a:pPr>
            <a:r>
              <a:rPr sz="1450" b="0" lang="ko-KR">
                <a:solidFill>
                  <a:srgbClr val="20262E"/>
                </a:solidFill>
                <a:latin typeface="Pretendard"/>
                <a:ea typeface="Pretendard"/>
                <a:cs typeface="Pretendard"/>
              </a:rPr>
              <a:t>처음~마지막 패킷</a:t>
            </a:r>
          </a:p>
        </p:txBody>
      </p:sp>
      <p:sp>
        <p:nvSpPr>
          <p:cNvPr id="37" name="Rectangle 36"/>
          <p:cNvSpPr/>
          <p:nvPr/>
        </p:nvSpPr>
        <p:spPr>
          <a:xfrm>
            <a:off x="7242048" y="4498848"/>
            <a:ext cx="1901952" cy="1115568"/>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ectangle 37"/>
          <p:cNvSpPr/>
          <p:nvPr/>
        </p:nvSpPr>
        <p:spPr>
          <a:xfrm>
            <a:off x="7242048" y="4498848"/>
            <a:ext cx="1901952"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7333488" y="4567428"/>
            <a:ext cx="171907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순방향 패킷 수</a:t>
            </a:r>
          </a:p>
        </p:txBody>
      </p:sp>
      <p:sp>
        <p:nvSpPr>
          <p:cNvPr id="40" name="TextBox 39"/>
          <p:cNvSpPr txBox="1"/>
          <p:nvPr/>
        </p:nvSpPr>
        <p:spPr>
          <a:xfrm>
            <a:off x="7351775" y="5074920"/>
            <a:ext cx="1682496" cy="249301"/>
          </a:xfrm>
          <a:prstGeom prst="rect">
            <a:avLst/>
          </a:prstGeom>
          <a:noFill/>
          <a:effectLst/>
        </p:spPr>
        <p:txBody>
          <a:bodyPr wrap="none" anchor="t" lIns="0" rIns="0" tIns="0" bIns="0">
            <a:noAutofit/>
          </a:bodyPr>
          <a:lstStyle/>
          <a:p>
            <a:pPr algn="ctr">
              <a:lnSpc>
                <a:spcPct val="118000"/>
              </a:lnSpc>
              <a:spcBef>
                <a:spcPts val="0"/>
              </a:spcBef>
              <a:spcAft>
                <a:spcPts val="0"/>
              </a:spcAft>
            </a:pPr>
            <a:r>
              <a:rPr sz="1450" b="0" lang="ko-KR">
                <a:solidFill>
                  <a:srgbClr val="20262E"/>
                </a:solidFill>
                <a:latin typeface="Pretendard"/>
                <a:ea typeface="Pretendard"/>
                <a:cs typeface="Pretendard"/>
              </a:rPr>
              <a:t>보낸 패킷의 개수</a:t>
            </a:r>
          </a:p>
        </p:txBody>
      </p:sp>
      <p:sp>
        <p:nvSpPr>
          <p:cNvPr id="41" name="Rectangle 40"/>
          <p:cNvSpPr/>
          <p:nvPr/>
        </p:nvSpPr>
        <p:spPr>
          <a:xfrm>
            <a:off x="9409176" y="4498848"/>
            <a:ext cx="1901952" cy="1115568"/>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ectangle 41"/>
          <p:cNvSpPr/>
          <p:nvPr/>
        </p:nvSpPr>
        <p:spPr>
          <a:xfrm>
            <a:off x="9409176" y="4498848"/>
            <a:ext cx="1901952"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9500615" y="4567428"/>
            <a:ext cx="1719072"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패킷 간 시간</a:t>
            </a:r>
          </a:p>
        </p:txBody>
      </p:sp>
      <p:sp>
        <p:nvSpPr>
          <p:cNvPr id="44" name="TextBox 43"/>
          <p:cNvSpPr txBox="1"/>
          <p:nvPr/>
        </p:nvSpPr>
        <p:spPr>
          <a:xfrm>
            <a:off x="9518903" y="5074920"/>
            <a:ext cx="1682496" cy="249301"/>
          </a:xfrm>
          <a:prstGeom prst="rect">
            <a:avLst/>
          </a:prstGeom>
          <a:noFill/>
          <a:effectLst/>
        </p:spPr>
        <p:txBody>
          <a:bodyPr wrap="none" anchor="t" lIns="0" rIns="0" tIns="0" bIns="0">
            <a:noAutofit/>
          </a:bodyPr>
          <a:lstStyle/>
          <a:p>
            <a:pPr algn="ctr">
              <a:lnSpc>
                <a:spcPct val="118000"/>
              </a:lnSpc>
              <a:spcBef>
                <a:spcPts val="0"/>
              </a:spcBef>
              <a:spcAft>
                <a:spcPts val="0"/>
              </a:spcAft>
            </a:pPr>
            <a:r>
              <a:rPr sz="1450" b="0" lang="ko-KR">
                <a:solidFill>
                  <a:srgbClr val="20262E"/>
                </a:solidFill>
                <a:latin typeface="Pretendard"/>
                <a:ea typeface="Pretendard"/>
                <a:cs typeface="Pretendard"/>
              </a:rPr>
              <a:t>도착 간격 통계</a:t>
            </a:r>
          </a:p>
        </p:txBody>
      </p:sp>
      <p:sp>
        <p:nvSpPr>
          <p:cNvPr id="45" name="TextBox 44"/>
          <p:cNvSpPr txBox="1"/>
          <p:nvPr/>
        </p:nvSpPr>
        <p:spPr>
          <a:xfrm>
            <a:off x="5120640" y="5852160"/>
            <a:ext cx="6309360" cy="286765"/>
          </a:xfrm>
          <a:prstGeom prst="rect">
            <a:avLst/>
          </a:prstGeom>
          <a:noFill/>
          <a:effectLst/>
        </p:spPr>
        <p:txBody>
          <a:bodyPr wrap="none" anchor="t" lIns="0" rIns="0" tIns="0" bIns="0">
            <a:noAutofit/>
          </a:bodyPr>
          <a:lstStyle/>
          <a:p>
            <a:pPr algn="ctr">
              <a:lnSpc>
                <a:spcPct val="118000"/>
              </a:lnSpc>
              <a:spcBef>
                <a:spcPts val="0"/>
              </a:spcBef>
              <a:spcAft>
                <a:spcPts val="0"/>
              </a:spcAft>
            </a:pPr>
            <a:r>
              <a:rPr sz="1700" b="0" lang="ko-KR">
                <a:solidFill>
                  <a:srgbClr val="617080"/>
                </a:solidFill>
                <a:latin typeface="Pretendard"/>
                <a:ea typeface="Pretendard"/>
                <a:cs typeface="Pretendard"/>
              </a:rPr>
              <a:t>패킷 sequence 자체가 아니라, 미리 정한 flow 통계의 요약값</a:t>
            </a:r>
          </a:p>
        </p:txBody>
      </p:sp>
      <p:sp>
        <p:nvSpPr>
          <p:cNvPr id="46" name="Rectangle 45"/>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기존 모델은 제공된 flow 통계 CSV를 입력으로 사용</a:t>
            </a:r>
          </a:p>
        </p:txBody>
      </p:sp>
      <p:sp>
        <p:nvSpPr>
          <p:cNvPr id="48" name="TextBox 47"/>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01 기존 CSV</a:t>
            </a:r>
          </a:p>
        </p:txBody>
      </p:sp>
      <p:sp>
        <p:nvSpPr>
          <p:cNvPr id="49" name="TextBox 48"/>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CSV 기반 IDS 분류에서 확인한 두 문제</a:t>
            </a:r>
          </a:p>
        </p:txBody>
      </p:sp>
      <p:sp>
        <p:nvSpPr>
          <p:cNvPr id="3" name="Rectangle 2"/>
          <p:cNvSpPr/>
          <p:nvPr/>
        </p:nvSpPr>
        <p:spPr>
          <a:xfrm>
            <a:off x="594360" y="1719072"/>
            <a:ext cx="5276088" cy="3355848"/>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594360" y="1719072"/>
            <a:ext cx="5276088" cy="393192"/>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04088" y="1787651"/>
            <a:ext cx="5056631"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1" lang="ko-KR">
                <a:solidFill>
                  <a:srgbClr val="FFFFFF"/>
                </a:solidFill>
                <a:latin typeface="Pretendard"/>
                <a:ea typeface="Pretendard"/>
                <a:cs typeface="Pretendard"/>
              </a:rPr>
              <a:t>문제 1  일부 공격의 조기 포화</a:t>
            </a:r>
          </a:p>
        </p:txBody>
      </p:sp>
      <p:sp>
        <p:nvSpPr>
          <p:cNvPr id="6" name="TextBox 5"/>
          <p:cNvSpPr txBox="1"/>
          <p:nvPr/>
        </p:nvSpPr>
        <p:spPr>
          <a:xfrm>
            <a:off x="740664" y="2286000"/>
            <a:ext cx="4983479" cy="1230883"/>
          </a:xfrm>
          <a:prstGeom prst="rect">
            <a:avLst/>
          </a:prstGeom>
          <a:noFill/>
          <a:effectLst/>
        </p:spPr>
        <p:txBody>
          <a:bodyPr wrap="none" anchor="t" lIns="0" rIns="0" tIns="0" bIns="0">
            <a:noAutofit/>
          </a:bodyPr>
          <a:lstStyle/>
          <a:p>
            <a:pPr algn="ctr">
              <a:lnSpc>
                <a:spcPct val="118000"/>
              </a:lnSpc>
              <a:spcBef>
                <a:spcPts val="0"/>
              </a:spcBef>
              <a:spcAft>
                <a:spcPts val="0"/>
              </a:spcAft>
            </a:pPr>
            <a:r>
              <a:rPr sz="2000" b="0" lang="ko-KR">
                <a:solidFill>
                  <a:srgbClr val="20262E"/>
                </a:solidFill>
                <a:latin typeface="Pretendard"/>
                <a:ea typeface="Pretendard"/>
                <a:cs typeface="Pretendard"/>
              </a:rPr>
              <a:t>DDoS·Bot 등 head 공격은</a:t>
            </a:r>
          </a:p>
          <a:p>
            <a:pPr algn="ctr">
              <a:lnSpc>
                <a:spcPct val="118000"/>
              </a:lnSpc>
              <a:spcBef>
                <a:spcPts val="0"/>
              </a:spcBef>
              <a:spcAft>
                <a:spcPts val="0"/>
              </a:spcAft>
            </a:pPr>
            <a:r>
              <a:rPr sz="2000" b="0" lang="ko-KR">
                <a:solidFill>
                  <a:srgbClr val="20262E"/>
                </a:solidFill>
                <a:latin typeface="Pretendard"/>
                <a:ea typeface="Pretendard"/>
                <a:cs typeface="Pretendard"/>
              </a:rPr>
              <a:t>클래스당 n=2~20개에도 F1 90%대</a:t>
            </a:r>
          </a:p>
          <a:p>
            <a:pPr algn="ctr">
              <a:lnSpc>
                <a:spcPct val="118000"/>
              </a:lnSpc>
              <a:spcBef>
                <a:spcPts val="0"/>
              </a:spcBef>
              <a:spcAft>
                <a:spcPts val="0"/>
              </a:spcAft>
            </a:pPr>
            <a:r>
              <a:rPr sz="2000" b="0" lang="ko-KR">
                <a:solidFill>
                  <a:srgbClr val="20262E"/>
                </a:solidFill>
                <a:latin typeface="Pretendard"/>
                <a:ea typeface="Pretendard"/>
                <a:cs typeface="Pretendard"/>
              </a:rPr>
              <a:t/>
            </a:r>
          </a:p>
          <a:p>
            <a:pPr algn="ctr">
              <a:lnSpc>
                <a:spcPct val="118000"/>
              </a:lnSpc>
              <a:spcBef>
                <a:spcPts val="0"/>
              </a:spcBef>
              <a:spcAft>
                <a:spcPts val="0"/>
              </a:spcAft>
            </a:pPr>
            <a:r>
              <a:rPr sz="2000" b="0" lang="ko-KR">
                <a:solidFill>
                  <a:srgbClr val="20262E"/>
                </a:solidFill>
                <a:latin typeface="Pretendard"/>
                <a:ea typeface="Pretendard"/>
                <a:cs typeface="Pretendard"/>
              </a:rPr>
              <a:t>→ 추가 라벨 전에 이미 높은 data ceiling</a:t>
            </a:r>
          </a:p>
        </p:txBody>
      </p:sp>
      <p:sp>
        <p:nvSpPr>
          <p:cNvPr id="7" name="Rectangle 6"/>
          <p:cNvSpPr/>
          <p:nvPr/>
        </p:nvSpPr>
        <p:spPr>
          <a:xfrm>
            <a:off x="6318504" y="1719072"/>
            <a:ext cx="5276088" cy="3355848"/>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6318504" y="1719072"/>
            <a:ext cx="5276088" cy="393192"/>
          </a:xfrm>
          <a:prstGeom prst="rect">
            <a:avLst/>
          </a:prstGeom>
          <a:solidFill>
            <a:srgbClr val="B449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6428232" y="1787651"/>
            <a:ext cx="5056631"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1" lang="ko-KR">
                <a:solidFill>
                  <a:srgbClr val="FFFFFF"/>
                </a:solidFill>
                <a:latin typeface="Pretendard"/>
                <a:ea typeface="Pretendard"/>
                <a:cs typeface="Pretendard"/>
              </a:rPr>
              <a:t>문제 2  동일 특징·상이 라벨</a:t>
            </a:r>
          </a:p>
        </p:txBody>
      </p:sp>
      <p:sp>
        <p:nvSpPr>
          <p:cNvPr id="10" name="TextBox 9"/>
          <p:cNvSpPr txBox="1"/>
          <p:nvPr/>
        </p:nvSpPr>
        <p:spPr>
          <a:xfrm>
            <a:off x="6464808" y="2286000"/>
            <a:ext cx="4983479" cy="1230883"/>
          </a:xfrm>
          <a:prstGeom prst="rect">
            <a:avLst/>
          </a:prstGeom>
          <a:noFill/>
          <a:effectLst/>
        </p:spPr>
        <p:txBody>
          <a:bodyPr wrap="none" anchor="t" lIns="0" rIns="0" tIns="0" bIns="0">
            <a:noAutofit/>
          </a:bodyPr>
          <a:lstStyle/>
          <a:p>
            <a:pPr algn="ctr">
              <a:lnSpc>
                <a:spcPct val="118000"/>
              </a:lnSpc>
              <a:spcBef>
                <a:spcPts val="0"/>
              </a:spcBef>
              <a:spcAft>
                <a:spcPts val="0"/>
              </a:spcAft>
            </a:pPr>
            <a:r>
              <a:rPr sz="2000" b="0" lang="ko-KR">
                <a:solidFill>
                  <a:srgbClr val="20262E"/>
                </a:solidFill>
                <a:latin typeface="Pretendard"/>
                <a:ea typeface="Pretendard"/>
                <a:cs typeface="Pretendard"/>
              </a:rPr>
              <a:t>수십 개 flow 통계가 모두 같아도</a:t>
            </a:r>
          </a:p>
          <a:p>
            <a:pPr algn="ctr">
              <a:lnSpc>
                <a:spcPct val="118000"/>
              </a:lnSpc>
              <a:spcBef>
                <a:spcPts val="0"/>
              </a:spcBef>
              <a:spcAft>
                <a:spcPts val="0"/>
              </a:spcAft>
            </a:pPr>
            <a:r>
              <a:rPr sz="2000" b="0" lang="ko-KR">
                <a:solidFill>
                  <a:srgbClr val="20262E"/>
                </a:solidFill>
                <a:latin typeface="Pretendard"/>
                <a:ea typeface="Pretendard"/>
                <a:cs typeface="Pretendard"/>
              </a:rPr>
              <a:t>서로 다른 Label이 기록된 행 존재</a:t>
            </a:r>
          </a:p>
          <a:p>
            <a:pPr algn="ctr">
              <a:lnSpc>
                <a:spcPct val="118000"/>
              </a:lnSpc>
              <a:spcBef>
                <a:spcPts val="0"/>
              </a:spcBef>
              <a:spcAft>
                <a:spcPts val="0"/>
              </a:spcAft>
            </a:pPr>
            <a:r>
              <a:rPr sz="2000" b="0" lang="ko-KR">
                <a:solidFill>
                  <a:srgbClr val="20262E"/>
                </a:solidFill>
                <a:latin typeface="Pretendard"/>
                <a:ea typeface="Pretendard"/>
                <a:cs typeface="Pretendard"/>
              </a:rPr>
              <a:t/>
            </a:r>
          </a:p>
          <a:p>
            <a:pPr algn="ctr">
              <a:lnSpc>
                <a:spcPct val="118000"/>
              </a:lnSpc>
              <a:spcBef>
                <a:spcPts val="0"/>
              </a:spcBef>
              <a:spcAft>
                <a:spcPts val="0"/>
              </a:spcAft>
            </a:pPr>
            <a:r>
              <a:rPr sz="2000" b="0" lang="ko-KR">
                <a:solidFill>
                  <a:srgbClr val="20262E"/>
                </a:solidFill>
                <a:latin typeface="Pretendard"/>
                <a:ea typeface="Pretendard"/>
                <a:cs typeface="Pretendard"/>
              </a:rPr>
              <a:t>→ 결정적 분류기가 동시에 맞힐 수 없음</a:t>
            </a:r>
          </a:p>
        </p:txBody>
      </p:sp>
      <p:sp>
        <p:nvSpPr>
          <p:cNvPr id="11" name="Rectangle 10"/>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일부 head 공격의 조기 포화와 동일 feature·상이 label을 분리해 진단</a:t>
            </a:r>
          </a:p>
        </p:txBody>
      </p:sp>
      <p:sp>
        <p:nvSpPr>
          <p:cNvPr id="13" name="TextBox 12"/>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01 기존 CSV</a:t>
            </a:r>
          </a:p>
        </p:txBody>
      </p:sp>
      <p:sp>
        <p:nvSpPr>
          <p:cNvPr id="14" name="TextBox 13"/>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일부 head 공격은 적은 라벨에서 이미 높은 F1</a:t>
            </a:r>
          </a:p>
        </p:txBody>
      </p:sp>
      <p:sp>
        <p:nvSpPr>
          <p:cNvPr id="3" name="TextBox 2"/>
          <p:cNvSpPr txBox="1"/>
          <p:nvPr/>
        </p:nvSpPr>
        <p:spPr>
          <a:xfrm>
            <a:off x="594360" y="1005840"/>
            <a:ext cx="10972800" cy="286765"/>
          </a:xfrm>
          <a:prstGeom prst="rect">
            <a:avLst/>
          </a:prstGeom>
          <a:noFill/>
          <a:effectLst/>
        </p:spPr>
        <p:txBody>
          <a:bodyPr wrap="none" anchor="t" lIns="0" rIns="0" tIns="0" bIns="0">
            <a:noAutofit/>
          </a:bodyPr>
          <a:lstStyle/>
          <a:p>
            <a:pPr algn="l">
              <a:lnSpc>
                <a:spcPct val="118000"/>
              </a:lnSpc>
              <a:spcBef>
                <a:spcPts val="0"/>
              </a:spcBef>
              <a:spcAft>
                <a:spcPts val="0"/>
              </a:spcAft>
            </a:pPr>
            <a:r>
              <a:rPr sz="1700" b="0" lang="ko-KR">
                <a:solidFill>
                  <a:srgbClr val="617080"/>
                </a:solidFill>
                <a:latin typeface="Pretendard"/>
                <a:ea typeface="Pretendard"/>
                <a:cs typeface="Pretendard"/>
              </a:rPr>
              <a:t>n=450까지 늘리면 macro-F1은 계속 변하지만, DDoS·Bot은 적은 라벨에서 먼저 고점에 도달</a:t>
            </a:r>
          </a:p>
        </p:txBody>
      </p:sp>
      <p:pic>
        <p:nvPicPr>
          <p:cNvPr id="4" name="Picture 3" descr="ceiling_curve_heatmaps.png"/>
          <p:cNvPicPr>
            <a:picLocks noChangeAspect="1"/>
          </p:cNvPicPr>
          <p:nvPr/>
        </p:nvPicPr>
        <p:blipFill>
          <a:blip r:embed="rId3"/>
          <a:stretch>
            <a:fillRect/>
          </a:stretch>
        </p:blipFill>
        <p:spPr>
          <a:xfrm>
            <a:off x="620833" y="1353312"/>
            <a:ext cx="10938141" cy="4160520"/>
          </a:xfrm>
          <a:prstGeom prst="rect">
            <a:avLst/>
          </a:prstGeom>
          <a:effectLst/>
        </p:spPr>
      </p:pic>
      <p:sp>
        <p:nvSpPr>
          <p:cNvPr id="5" name="TextBox 4"/>
          <p:cNvSpPr txBox="1"/>
          <p:nvPr/>
        </p:nvSpPr>
        <p:spPr>
          <a:xfrm>
            <a:off x="658368" y="5751576"/>
            <a:ext cx="10789920" cy="249301"/>
          </a:xfrm>
          <a:prstGeom prst="rect">
            <a:avLst/>
          </a:prstGeom>
          <a:noFill/>
          <a:effectLst/>
        </p:spPr>
        <p:txBody>
          <a:bodyPr wrap="none" anchor="t" lIns="0" rIns="0" tIns="0" bIns="0">
            <a:noAutofit/>
          </a:bodyPr>
          <a:lstStyle/>
          <a:p>
            <a:pPr algn="l">
              <a:lnSpc>
                <a:spcPct val="118000"/>
              </a:lnSpc>
              <a:spcBef>
                <a:spcPts val="0"/>
              </a:spcBef>
              <a:spcAft>
                <a:spcPts val="0"/>
              </a:spcAft>
            </a:pPr>
            <a:r>
              <a:rPr sz="1450" b="0" lang="ko-KR">
                <a:solidFill>
                  <a:srgbClr val="617080"/>
                </a:solidFill>
                <a:latin typeface="Pretendard"/>
                <a:ea typeface="Pretendard"/>
                <a:cs typeface="Pretendard"/>
              </a:rPr>
              <a:t>EXP87 · 공격만 학습·평가 · 정상 제외 · 5 seeds · conflict-free 고정 test · n=450은 균등 라벨 예산의 상한</a:t>
            </a:r>
          </a:p>
        </p:txBody>
      </p:sp>
      <p:sp>
        <p:nvSpPr>
          <p:cNvPr id="6" name="Rectangle 5"/>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전체 macro-F1의 변화와 클래스별 포화를 함께 확인</a:t>
            </a:r>
          </a:p>
        </p:txBody>
      </p:sp>
      <p:sp>
        <p:nvSpPr>
          <p:cNvPr id="8" name="TextBox 7"/>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02 data ceiling</a:t>
            </a:r>
          </a:p>
        </p:txBody>
      </p:sp>
      <p:sp>
        <p:nvSpPr>
          <p:cNvPr id="9" name="TextBox 8"/>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원본 CIC2018 CSV의 동일 feature·상이 label</a:t>
            </a:r>
          </a:p>
        </p:txBody>
      </p:sp>
      <p:sp>
        <p:nvSpPr>
          <p:cNvPr id="3" name="TextBox 2"/>
          <p:cNvSpPr txBox="1"/>
          <p:nvPr/>
        </p:nvSpPr>
        <p:spPr>
          <a:xfrm>
            <a:off x="594360" y="1005840"/>
            <a:ext cx="10972800" cy="256794"/>
          </a:xfrm>
          <a:prstGeom prst="rect">
            <a:avLst/>
          </a:prstGeom>
          <a:noFill/>
          <a:effectLst/>
        </p:spPr>
        <p:txBody>
          <a:bodyPr wrap="none" anchor="t" lIns="0" rIns="0" tIns="0" bIns="0">
            <a:noAutofit/>
          </a:bodyPr>
          <a:lstStyle/>
          <a:p>
            <a:pPr algn="l">
              <a:lnSpc>
                <a:spcPct val="118000"/>
              </a:lnSpc>
              <a:spcBef>
                <a:spcPts val="0"/>
              </a:spcBef>
              <a:spcAft>
                <a:spcPts val="0"/>
              </a:spcAft>
            </a:pPr>
            <a:r>
              <a:rPr sz="1500" b="0" lang="ko-KR">
                <a:solidFill>
                  <a:srgbClr val="617080"/>
                </a:solidFill>
                <a:latin typeface="Pretendard"/>
                <a:ea typeface="Pretendard"/>
                <a:cs typeface="Pretendard"/>
              </a:rPr>
              <a:t>Timestamp·Flow ID·Src IP/Src Port·Dst IP·Label을 제외한 78개 공통 CICFlowMeter 통계의 정확 일치 기준</a:t>
            </a:r>
          </a:p>
        </p:txBody>
      </p:sp>
      <p:sp>
        <p:nvSpPr>
          <p:cNvPr id="4" name="Rectangle 3"/>
          <p:cNvSpPr/>
          <p:nvPr/>
        </p:nvSpPr>
        <p:spPr>
          <a:xfrm>
            <a:off x="594360" y="1481328"/>
            <a:ext cx="960120"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640080" y="1613916"/>
            <a:ext cx="868680"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Dst Port</a:t>
            </a:r>
          </a:p>
        </p:txBody>
      </p:sp>
      <p:sp>
        <p:nvSpPr>
          <p:cNvPr id="6" name="Rectangle 5"/>
          <p:cNvSpPr/>
          <p:nvPr/>
        </p:nvSpPr>
        <p:spPr>
          <a:xfrm>
            <a:off x="1554480" y="1481328"/>
            <a:ext cx="640080"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600200" y="1613916"/>
            <a:ext cx="548640"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Protocol</a:t>
            </a:r>
          </a:p>
        </p:txBody>
      </p:sp>
      <p:sp>
        <p:nvSpPr>
          <p:cNvPr id="8" name="Rectangle 7"/>
          <p:cNvSpPr/>
          <p:nvPr/>
        </p:nvSpPr>
        <p:spPr>
          <a:xfrm>
            <a:off x="2194560" y="1481328"/>
            <a:ext cx="1261872"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2240280" y="1613916"/>
            <a:ext cx="1170431"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Flow Duration</a:t>
            </a:r>
          </a:p>
        </p:txBody>
      </p:sp>
      <p:sp>
        <p:nvSpPr>
          <p:cNvPr id="10" name="Rectangle 9"/>
          <p:cNvSpPr/>
          <p:nvPr/>
        </p:nvSpPr>
        <p:spPr>
          <a:xfrm>
            <a:off x="3456432" y="1481328"/>
            <a:ext cx="850392"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3502152" y="1613916"/>
            <a:ext cx="758952" cy="325729"/>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Tot Fwd</a:t>
            </a:r>
          </a:p>
          <a:p>
            <a:pPr algn="ctr">
              <a:lnSpc>
                <a:spcPct val="118000"/>
              </a:lnSpc>
              <a:spcBef>
                <a:spcPts val="0"/>
              </a:spcBef>
              <a:spcAft>
                <a:spcPts val="0"/>
              </a:spcAft>
            </a:pPr>
            <a:r>
              <a:rPr sz="980" b="0" lang="ko-KR">
                <a:solidFill>
                  <a:srgbClr val="20262E"/>
                </a:solidFill>
                <a:latin typeface="Pretendard"/>
                <a:ea typeface="Pretendard"/>
                <a:cs typeface="Pretendard"/>
              </a:rPr>
              <a:t>Pkts</a:t>
            </a:r>
          </a:p>
        </p:txBody>
      </p:sp>
      <p:sp>
        <p:nvSpPr>
          <p:cNvPr id="12" name="Rectangle 11"/>
          <p:cNvSpPr/>
          <p:nvPr/>
        </p:nvSpPr>
        <p:spPr>
          <a:xfrm>
            <a:off x="4306824" y="1481328"/>
            <a:ext cx="850392"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352544" y="1613916"/>
            <a:ext cx="758952" cy="325729"/>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Tot Bwd</a:t>
            </a:r>
          </a:p>
          <a:p>
            <a:pPr algn="ctr">
              <a:lnSpc>
                <a:spcPct val="118000"/>
              </a:lnSpc>
              <a:spcBef>
                <a:spcPts val="0"/>
              </a:spcBef>
              <a:spcAft>
                <a:spcPts val="0"/>
              </a:spcAft>
            </a:pPr>
            <a:r>
              <a:rPr sz="980" b="0" lang="ko-KR">
                <a:solidFill>
                  <a:srgbClr val="20262E"/>
                </a:solidFill>
                <a:latin typeface="Pretendard"/>
                <a:ea typeface="Pretendard"/>
                <a:cs typeface="Pretendard"/>
              </a:rPr>
              <a:t>Pkts</a:t>
            </a:r>
          </a:p>
        </p:txBody>
      </p:sp>
      <p:sp>
        <p:nvSpPr>
          <p:cNvPr id="14" name="Rectangle 13"/>
          <p:cNvSpPr/>
          <p:nvPr/>
        </p:nvSpPr>
        <p:spPr>
          <a:xfrm>
            <a:off x="5157216" y="1481328"/>
            <a:ext cx="1207008"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202936" y="1613916"/>
            <a:ext cx="111556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 69 fields …</a:t>
            </a:r>
          </a:p>
        </p:txBody>
      </p:sp>
      <p:sp>
        <p:nvSpPr>
          <p:cNvPr id="16" name="Rectangle 15"/>
          <p:cNvSpPr/>
          <p:nvPr/>
        </p:nvSpPr>
        <p:spPr>
          <a:xfrm>
            <a:off x="6364224" y="1481328"/>
            <a:ext cx="1143000"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09944" y="1613916"/>
            <a:ext cx="1051560" cy="325729"/>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TotLen Bwd</a:t>
            </a:r>
          </a:p>
          <a:p>
            <a:pPr algn="ctr">
              <a:lnSpc>
                <a:spcPct val="118000"/>
              </a:lnSpc>
              <a:spcBef>
                <a:spcPts val="0"/>
              </a:spcBef>
              <a:spcAft>
                <a:spcPts val="0"/>
              </a:spcAft>
            </a:pPr>
            <a:r>
              <a:rPr sz="980" b="0" lang="ko-KR">
                <a:solidFill>
                  <a:srgbClr val="20262E"/>
                </a:solidFill>
                <a:latin typeface="Pretendard"/>
                <a:ea typeface="Pretendard"/>
                <a:cs typeface="Pretendard"/>
              </a:rPr>
              <a:t>Pkts</a:t>
            </a:r>
          </a:p>
        </p:txBody>
      </p:sp>
      <p:sp>
        <p:nvSpPr>
          <p:cNvPr id="18" name="Rectangle 17"/>
          <p:cNvSpPr/>
          <p:nvPr/>
        </p:nvSpPr>
        <p:spPr>
          <a:xfrm>
            <a:off x="7507224" y="1481328"/>
            <a:ext cx="758952"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7552944" y="1613916"/>
            <a:ext cx="667512"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Flow Byts/s</a:t>
            </a:r>
          </a:p>
        </p:txBody>
      </p:sp>
      <p:sp>
        <p:nvSpPr>
          <p:cNvPr id="20" name="Rectangle 19"/>
          <p:cNvSpPr/>
          <p:nvPr/>
        </p:nvSpPr>
        <p:spPr>
          <a:xfrm>
            <a:off x="8266176" y="1481328"/>
            <a:ext cx="1024128"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311896" y="1613916"/>
            <a:ext cx="93268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Flow Pkts/s</a:t>
            </a:r>
          </a:p>
        </p:txBody>
      </p:sp>
      <p:sp>
        <p:nvSpPr>
          <p:cNvPr id="22" name="Rectangle 21"/>
          <p:cNvSpPr/>
          <p:nvPr/>
        </p:nvSpPr>
        <p:spPr>
          <a:xfrm>
            <a:off x="9290304" y="1481328"/>
            <a:ext cx="749808"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336024" y="1613916"/>
            <a:ext cx="65836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Idle Min</a:t>
            </a:r>
          </a:p>
        </p:txBody>
      </p:sp>
      <p:sp>
        <p:nvSpPr>
          <p:cNvPr id="24" name="Rectangle 23"/>
          <p:cNvSpPr/>
          <p:nvPr/>
        </p:nvSpPr>
        <p:spPr>
          <a:xfrm>
            <a:off x="10040112" y="1481328"/>
            <a:ext cx="1554480" cy="438912"/>
          </a:xfrm>
          <a:prstGeom prst="rect">
            <a:avLst/>
          </a:prstGeom>
          <a:solidFill>
            <a:srgbClr val="00306C"/>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10085832" y="1613916"/>
            <a:ext cx="1463039"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1" lang="ko-KR">
                <a:solidFill>
                  <a:srgbClr val="20262E"/>
                </a:solidFill>
                <a:latin typeface="Pretendard"/>
                <a:ea typeface="Pretendard"/>
                <a:cs typeface="Pretendard"/>
              </a:rPr>
              <a:t>Label</a:t>
            </a:r>
          </a:p>
        </p:txBody>
      </p:sp>
      <p:sp>
        <p:nvSpPr>
          <p:cNvPr id="26" name="Rectangle 25"/>
          <p:cNvSpPr/>
          <p:nvPr/>
        </p:nvSpPr>
        <p:spPr>
          <a:xfrm>
            <a:off x="594360" y="1929384"/>
            <a:ext cx="960120"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40080" y="2061972"/>
            <a:ext cx="868680"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21</a:t>
            </a:r>
          </a:p>
        </p:txBody>
      </p:sp>
      <p:sp>
        <p:nvSpPr>
          <p:cNvPr id="28" name="Rectangle 27"/>
          <p:cNvSpPr/>
          <p:nvPr/>
        </p:nvSpPr>
        <p:spPr>
          <a:xfrm>
            <a:off x="1554480" y="1929384"/>
            <a:ext cx="640080"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1600200" y="2061972"/>
            <a:ext cx="548640"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6</a:t>
            </a:r>
          </a:p>
        </p:txBody>
      </p:sp>
      <p:sp>
        <p:nvSpPr>
          <p:cNvPr id="30" name="Rectangle 29"/>
          <p:cNvSpPr/>
          <p:nvPr/>
        </p:nvSpPr>
        <p:spPr>
          <a:xfrm>
            <a:off x="2194560" y="1929384"/>
            <a:ext cx="1261872"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2240280" y="2061972"/>
            <a:ext cx="1170431"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2</a:t>
            </a:r>
          </a:p>
        </p:txBody>
      </p:sp>
      <p:sp>
        <p:nvSpPr>
          <p:cNvPr id="32" name="Rectangle 31"/>
          <p:cNvSpPr/>
          <p:nvPr/>
        </p:nvSpPr>
        <p:spPr>
          <a:xfrm>
            <a:off x="3456432" y="1929384"/>
            <a:ext cx="850392"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3502152" y="2061972"/>
            <a:ext cx="758952"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1</a:t>
            </a:r>
          </a:p>
        </p:txBody>
      </p:sp>
      <p:sp>
        <p:nvSpPr>
          <p:cNvPr id="34" name="Rectangle 33"/>
          <p:cNvSpPr/>
          <p:nvPr/>
        </p:nvSpPr>
        <p:spPr>
          <a:xfrm>
            <a:off x="4306824" y="1929384"/>
            <a:ext cx="850392"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4352544" y="2061972"/>
            <a:ext cx="758952"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1</a:t>
            </a:r>
          </a:p>
        </p:txBody>
      </p:sp>
      <p:sp>
        <p:nvSpPr>
          <p:cNvPr id="36" name="Rectangle 35"/>
          <p:cNvSpPr/>
          <p:nvPr/>
        </p:nvSpPr>
        <p:spPr>
          <a:xfrm>
            <a:off x="5157216" y="1929384"/>
            <a:ext cx="1207008"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5202936" y="2061972"/>
            <a:ext cx="111556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 69 fields …</a:t>
            </a:r>
          </a:p>
        </p:txBody>
      </p:sp>
      <p:sp>
        <p:nvSpPr>
          <p:cNvPr id="38" name="Rectangle 37"/>
          <p:cNvSpPr/>
          <p:nvPr/>
        </p:nvSpPr>
        <p:spPr>
          <a:xfrm>
            <a:off x="6364224" y="1929384"/>
            <a:ext cx="1143000"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409944" y="2061972"/>
            <a:ext cx="1051560"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0</a:t>
            </a:r>
          </a:p>
        </p:txBody>
      </p:sp>
      <p:sp>
        <p:nvSpPr>
          <p:cNvPr id="40" name="Rectangle 39"/>
          <p:cNvSpPr/>
          <p:nvPr/>
        </p:nvSpPr>
        <p:spPr>
          <a:xfrm>
            <a:off x="7507224" y="1929384"/>
            <a:ext cx="758952"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552944" y="2061972"/>
            <a:ext cx="667512"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0</a:t>
            </a:r>
          </a:p>
        </p:txBody>
      </p:sp>
      <p:sp>
        <p:nvSpPr>
          <p:cNvPr id="42" name="Rectangle 41"/>
          <p:cNvSpPr/>
          <p:nvPr/>
        </p:nvSpPr>
        <p:spPr>
          <a:xfrm>
            <a:off x="8266176" y="1929384"/>
            <a:ext cx="1024128"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TextBox 42"/>
          <p:cNvSpPr txBox="1"/>
          <p:nvPr/>
        </p:nvSpPr>
        <p:spPr>
          <a:xfrm>
            <a:off x="8311896" y="2061972"/>
            <a:ext cx="93268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1000000</a:t>
            </a:r>
          </a:p>
        </p:txBody>
      </p:sp>
      <p:sp>
        <p:nvSpPr>
          <p:cNvPr id="44" name="Rectangle 43"/>
          <p:cNvSpPr/>
          <p:nvPr/>
        </p:nvSpPr>
        <p:spPr>
          <a:xfrm>
            <a:off x="9290304" y="1929384"/>
            <a:ext cx="749808"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9336024" y="2061972"/>
            <a:ext cx="65836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0</a:t>
            </a:r>
          </a:p>
        </p:txBody>
      </p:sp>
      <p:sp>
        <p:nvSpPr>
          <p:cNvPr id="46" name="Rectangle 45"/>
          <p:cNvSpPr/>
          <p:nvPr/>
        </p:nvSpPr>
        <p:spPr>
          <a:xfrm>
            <a:off x="10040112" y="1929384"/>
            <a:ext cx="1554480" cy="438912"/>
          </a:xfrm>
          <a:prstGeom prst="rect">
            <a:avLst/>
          </a:prstGeom>
          <a:solidFill>
            <a:srgbClr val="FBE8E7"/>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10085832" y="2061972"/>
            <a:ext cx="1463039"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1" lang="ko-KR">
                <a:solidFill>
                  <a:srgbClr val="20262E"/>
                </a:solidFill>
                <a:latin typeface="Pretendard"/>
                <a:ea typeface="Pretendard"/>
                <a:cs typeface="Pretendard"/>
              </a:rPr>
              <a:t>DoS SlowHTTPTest</a:t>
            </a:r>
          </a:p>
        </p:txBody>
      </p:sp>
      <p:sp>
        <p:nvSpPr>
          <p:cNvPr id="48" name="Rectangle 47"/>
          <p:cNvSpPr/>
          <p:nvPr/>
        </p:nvSpPr>
        <p:spPr>
          <a:xfrm>
            <a:off x="594360" y="2377440"/>
            <a:ext cx="960120"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0080" y="2510028"/>
            <a:ext cx="868680"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21</a:t>
            </a:r>
          </a:p>
        </p:txBody>
      </p:sp>
      <p:sp>
        <p:nvSpPr>
          <p:cNvPr id="50" name="Rectangle 49"/>
          <p:cNvSpPr/>
          <p:nvPr/>
        </p:nvSpPr>
        <p:spPr>
          <a:xfrm>
            <a:off x="1554480" y="2377440"/>
            <a:ext cx="640080"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1600200" y="2510028"/>
            <a:ext cx="548640"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6</a:t>
            </a:r>
          </a:p>
        </p:txBody>
      </p:sp>
      <p:sp>
        <p:nvSpPr>
          <p:cNvPr id="52" name="Rectangle 51"/>
          <p:cNvSpPr/>
          <p:nvPr/>
        </p:nvSpPr>
        <p:spPr>
          <a:xfrm>
            <a:off x="2194560" y="2377440"/>
            <a:ext cx="1261872"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2240280" y="2510028"/>
            <a:ext cx="1170431"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2</a:t>
            </a:r>
          </a:p>
        </p:txBody>
      </p:sp>
      <p:sp>
        <p:nvSpPr>
          <p:cNvPr id="54" name="Rectangle 53"/>
          <p:cNvSpPr/>
          <p:nvPr/>
        </p:nvSpPr>
        <p:spPr>
          <a:xfrm>
            <a:off x="3456432" y="2377440"/>
            <a:ext cx="850392"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3502152" y="2510028"/>
            <a:ext cx="758952"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1</a:t>
            </a:r>
          </a:p>
        </p:txBody>
      </p:sp>
      <p:sp>
        <p:nvSpPr>
          <p:cNvPr id="56" name="Rectangle 55"/>
          <p:cNvSpPr/>
          <p:nvPr/>
        </p:nvSpPr>
        <p:spPr>
          <a:xfrm>
            <a:off x="4306824" y="2377440"/>
            <a:ext cx="850392"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4352544" y="2510028"/>
            <a:ext cx="758952"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1</a:t>
            </a:r>
          </a:p>
        </p:txBody>
      </p:sp>
      <p:sp>
        <p:nvSpPr>
          <p:cNvPr id="58" name="Rectangle 57"/>
          <p:cNvSpPr/>
          <p:nvPr/>
        </p:nvSpPr>
        <p:spPr>
          <a:xfrm>
            <a:off x="5157216" y="2377440"/>
            <a:ext cx="1207008"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5202936" y="2510028"/>
            <a:ext cx="111556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 69 fields …</a:t>
            </a:r>
          </a:p>
        </p:txBody>
      </p:sp>
      <p:sp>
        <p:nvSpPr>
          <p:cNvPr id="60" name="Rectangle 59"/>
          <p:cNvSpPr/>
          <p:nvPr/>
        </p:nvSpPr>
        <p:spPr>
          <a:xfrm>
            <a:off x="6364224" y="2377440"/>
            <a:ext cx="1143000"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6409944" y="2510028"/>
            <a:ext cx="1051560"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0</a:t>
            </a:r>
          </a:p>
        </p:txBody>
      </p:sp>
      <p:sp>
        <p:nvSpPr>
          <p:cNvPr id="62" name="Rectangle 61"/>
          <p:cNvSpPr/>
          <p:nvPr/>
        </p:nvSpPr>
        <p:spPr>
          <a:xfrm>
            <a:off x="7507224" y="2377440"/>
            <a:ext cx="758952"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7552944" y="2510028"/>
            <a:ext cx="667512"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0</a:t>
            </a:r>
          </a:p>
        </p:txBody>
      </p:sp>
      <p:sp>
        <p:nvSpPr>
          <p:cNvPr id="64" name="Rectangle 63"/>
          <p:cNvSpPr/>
          <p:nvPr/>
        </p:nvSpPr>
        <p:spPr>
          <a:xfrm>
            <a:off x="8266176" y="2377440"/>
            <a:ext cx="1024128" cy="438912"/>
          </a:xfrm>
          <a:prstGeom prst="rect">
            <a:avLst/>
          </a:prstGeom>
          <a:solidFill>
            <a:srgbClr val="F1F5F9"/>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8311896" y="2510028"/>
            <a:ext cx="93268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1000000</a:t>
            </a:r>
          </a:p>
        </p:txBody>
      </p:sp>
      <p:sp>
        <p:nvSpPr>
          <p:cNvPr id="66" name="Rectangle 65"/>
          <p:cNvSpPr/>
          <p:nvPr/>
        </p:nvSpPr>
        <p:spPr>
          <a:xfrm>
            <a:off x="9290304" y="2377440"/>
            <a:ext cx="749808" cy="43891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9336024" y="2510028"/>
            <a:ext cx="658368"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0" lang="ko-KR">
                <a:solidFill>
                  <a:srgbClr val="20262E"/>
                </a:solidFill>
                <a:latin typeface="Pretendard"/>
                <a:ea typeface="Pretendard"/>
                <a:cs typeface="Pretendard"/>
              </a:rPr>
              <a:t>0</a:t>
            </a:r>
          </a:p>
        </p:txBody>
      </p:sp>
      <p:sp>
        <p:nvSpPr>
          <p:cNvPr id="68" name="Rectangle 67"/>
          <p:cNvSpPr/>
          <p:nvPr/>
        </p:nvSpPr>
        <p:spPr>
          <a:xfrm>
            <a:off x="10040112" y="2377440"/>
            <a:ext cx="1554480" cy="438912"/>
          </a:xfrm>
          <a:prstGeom prst="rect">
            <a:avLst/>
          </a:prstGeom>
          <a:solidFill>
            <a:srgbClr val="E6F1F8"/>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10085832" y="2510028"/>
            <a:ext cx="1463039" cy="178866"/>
          </a:xfrm>
          <a:prstGeom prst="rect">
            <a:avLst/>
          </a:prstGeom>
          <a:noFill/>
          <a:effectLst/>
        </p:spPr>
        <p:txBody>
          <a:bodyPr wrap="none" anchor="t" lIns="0" rIns="0" tIns="0" bIns="0">
            <a:noAutofit/>
          </a:bodyPr>
          <a:lstStyle/>
          <a:p>
            <a:pPr algn="ctr">
              <a:lnSpc>
                <a:spcPct val="118000"/>
              </a:lnSpc>
              <a:spcBef>
                <a:spcPts val="0"/>
              </a:spcBef>
              <a:spcAft>
                <a:spcPts val="0"/>
              </a:spcAft>
            </a:pPr>
            <a:r>
              <a:rPr sz="980" b="1" lang="ko-KR">
                <a:solidFill>
                  <a:srgbClr val="20262E"/>
                </a:solidFill>
                <a:latin typeface="Pretendard"/>
                <a:ea typeface="Pretendard"/>
                <a:cs typeface="Pretendard"/>
              </a:rPr>
              <a:t>FTP-BruteForce</a:t>
            </a:r>
          </a:p>
        </p:txBody>
      </p:sp>
      <p:sp>
        <p:nvSpPr>
          <p:cNvPr id="70" name="TextBox 69"/>
          <p:cNvSpPr txBox="1"/>
          <p:nvPr/>
        </p:nvSpPr>
        <p:spPr>
          <a:xfrm>
            <a:off x="658368" y="2962656"/>
            <a:ext cx="10789920" cy="264287"/>
          </a:xfrm>
          <a:prstGeom prst="rect">
            <a:avLst/>
          </a:prstGeom>
          <a:noFill/>
          <a:effectLst/>
        </p:spPr>
        <p:txBody>
          <a:bodyPr wrap="none" anchor="t" lIns="0" rIns="0" tIns="0" bIns="0">
            <a:noAutofit/>
          </a:bodyPr>
          <a:lstStyle/>
          <a:p>
            <a:pPr algn="l">
              <a:lnSpc>
                <a:spcPct val="118000"/>
              </a:lnSpc>
              <a:spcBef>
                <a:spcPts val="0"/>
              </a:spcBef>
              <a:spcAft>
                <a:spcPts val="0"/>
              </a:spcAft>
            </a:pPr>
            <a:r>
              <a:rPr sz="1550" b="1" lang="ko-KR">
                <a:solidFill>
                  <a:srgbClr val="B44948"/>
                </a:solidFill>
                <a:latin typeface="Pretendard"/>
                <a:ea typeface="Pretendard"/>
                <a:cs typeface="Pretendard"/>
              </a:rPr>
              <a:t>위 두 행: DoS SlowHTTPTest · FTP-BruteForce · SSH-Bruteforce  ·  가운데 생략 표시는 나머지 69개도 동일함</a:t>
            </a:r>
          </a:p>
        </p:txBody>
      </p:sp>
      <p:pic>
        <p:nvPicPr>
          <p:cNvPr id="71" name="Picture 70" descr="original_csv_conflict_rates.png"/>
          <p:cNvPicPr>
            <a:picLocks noChangeAspect="1"/>
          </p:cNvPicPr>
          <p:nvPr/>
        </p:nvPicPr>
        <p:blipFill>
          <a:blip r:embed="rId3"/>
          <a:stretch>
            <a:fillRect/>
          </a:stretch>
        </p:blipFill>
        <p:spPr>
          <a:xfrm>
            <a:off x="1008415" y="3172968"/>
            <a:ext cx="10162977" cy="2130552"/>
          </a:xfrm>
          <a:prstGeom prst="rect">
            <a:avLst/>
          </a:prstGeom>
          <a:effectLst/>
        </p:spPr>
      </p:pic>
      <p:sp>
        <p:nvSpPr>
          <p:cNvPr id="72" name="TextBox 71"/>
          <p:cNvSpPr txBox="1"/>
          <p:nvPr/>
        </p:nvSpPr>
        <p:spPr>
          <a:xfrm>
            <a:off x="658368" y="5532120"/>
            <a:ext cx="10835640" cy="238810"/>
          </a:xfrm>
          <a:prstGeom prst="rect">
            <a:avLst/>
          </a:prstGeom>
          <a:noFill/>
          <a:effectLst/>
        </p:spPr>
        <p:txBody>
          <a:bodyPr wrap="none" anchor="t" lIns="0" rIns="0" tIns="0" bIns="0">
            <a:noAutofit/>
          </a:bodyPr>
          <a:lstStyle/>
          <a:p>
            <a:pPr algn="l">
              <a:lnSpc>
                <a:spcPct val="118000"/>
              </a:lnSpc>
              <a:spcBef>
                <a:spcPts val="0"/>
              </a:spcBef>
              <a:spcAft>
                <a:spcPts val="0"/>
              </a:spcAft>
            </a:pPr>
            <a:r>
              <a:rPr sz="1380" b="0" lang="ko-KR">
                <a:solidFill>
                  <a:srgbClr val="617080"/>
                </a:solidFill>
                <a:latin typeface="Pretendard"/>
                <a:ea typeface="Pretendard"/>
                <a:cs typeface="Pretendard"/>
              </a:rPr>
              <a:t>CIC는 원본 CSV, ToN은 현재 NF-v3 46-feature 입력 기준  ·  동일 feature·상이 label은 표현 한계 또는 라벨 근거를 재점검할 사례</a:t>
            </a:r>
          </a:p>
        </p:txBody>
      </p:sp>
      <p:sp>
        <p:nvSpPr>
          <p:cNvPr id="73" name="Rectangle 72"/>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원본 CSV의 78개 공통 flow 통계가 완전히 같은 실제 행을 확인</a:t>
            </a:r>
          </a:p>
        </p:txBody>
      </p:sp>
      <p:sp>
        <p:nvSpPr>
          <p:cNvPr id="75" name="TextBox 74"/>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03 label conflict</a:t>
            </a:r>
          </a:p>
        </p:txBody>
      </p:sp>
      <p:sp>
        <p:nvSpPr>
          <p:cNvPr id="76" name="TextBox 75"/>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PCAP 기반 CIC2018 재표현 파이프라인</a:t>
            </a:r>
          </a:p>
        </p:txBody>
      </p:sp>
      <p:sp>
        <p:nvSpPr>
          <p:cNvPr id="3" name="TextBox 2"/>
          <p:cNvSpPr txBox="1"/>
          <p:nvPr/>
        </p:nvSpPr>
        <p:spPr>
          <a:xfrm>
            <a:off x="594360" y="1005840"/>
            <a:ext cx="10972800" cy="286765"/>
          </a:xfrm>
          <a:prstGeom prst="rect">
            <a:avLst/>
          </a:prstGeom>
          <a:noFill/>
          <a:effectLst/>
        </p:spPr>
        <p:txBody>
          <a:bodyPr wrap="none" anchor="t" lIns="0" rIns="0" tIns="0" bIns="0">
            <a:noAutofit/>
          </a:bodyPr>
          <a:lstStyle/>
          <a:p>
            <a:pPr algn="l">
              <a:lnSpc>
                <a:spcPct val="118000"/>
              </a:lnSpc>
              <a:spcBef>
                <a:spcPts val="0"/>
              </a:spcBef>
              <a:spcAft>
                <a:spcPts val="0"/>
              </a:spcAft>
            </a:pPr>
            <a:r>
              <a:rPr sz="1700" b="0" lang="ko-KR">
                <a:solidFill>
                  <a:srgbClr val="617080"/>
                </a:solidFill>
                <a:latin typeface="Pretendard"/>
                <a:ea typeface="Pretendard"/>
                <a:cs typeface="Pretendard"/>
              </a:rPr>
              <a:t>고정 통계식을 다시 쓰지 않고 패킷 sequence에서 표현을 생성해, 두 문제의 재발 여부를 같은 방식으로 확인</a:t>
            </a:r>
          </a:p>
        </p:txBody>
      </p:sp>
      <p:sp>
        <p:nvSpPr>
          <p:cNvPr id="4" name="Rectangle 3"/>
          <p:cNvSpPr/>
          <p:nvPr/>
        </p:nvSpPr>
        <p:spPr>
          <a:xfrm>
            <a:off x="594360" y="1783080"/>
            <a:ext cx="1828800" cy="126187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Rectangle 4"/>
          <p:cNvSpPr/>
          <p:nvPr/>
        </p:nvSpPr>
        <p:spPr>
          <a:xfrm>
            <a:off x="594360" y="1783080"/>
            <a:ext cx="182880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685800" y="1851660"/>
            <a:ext cx="164592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PCAP·라벨</a:t>
            </a:r>
          </a:p>
        </p:txBody>
      </p:sp>
      <p:sp>
        <p:nvSpPr>
          <p:cNvPr id="7" name="TextBox 6"/>
          <p:cNvSpPr txBox="1"/>
          <p:nvPr/>
        </p:nvSpPr>
        <p:spPr>
          <a:xfrm>
            <a:off x="704088" y="2359152"/>
            <a:ext cx="1609344"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패킷·시각</a:t>
            </a:r>
          </a:p>
          <a:p>
            <a:pPr algn="ctr">
              <a:lnSpc>
                <a:spcPct val="118000"/>
              </a:lnSpc>
              <a:spcBef>
                <a:spcPts val="0"/>
              </a:spcBef>
              <a:spcAft>
                <a:spcPts val="0"/>
              </a:spcAft>
            </a:pPr>
            <a:r>
              <a:rPr sz="1500" b="0" lang="ko-KR">
                <a:solidFill>
                  <a:srgbClr val="20262E"/>
                </a:solidFill>
                <a:latin typeface="Pretendard"/>
                <a:ea typeface="Pretendard"/>
                <a:cs typeface="Pretendard"/>
              </a:rPr>
              <a:t>라벨 근거 보존</a:t>
            </a:r>
          </a:p>
        </p:txBody>
      </p:sp>
      <p:sp>
        <p:nvSpPr>
          <p:cNvPr id="8" name="Rectangle 7"/>
          <p:cNvSpPr/>
          <p:nvPr/>
        </p:nvSpPr>
        <p:spPr>
          <a:xfrm>
            <a:off x="2880360" y="1783080"/>
            <a:ext cx="1828800" cy="126187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2880360" y="1783080"/>
            <a:ext cx="182880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2971800" y="1851660"/>
            <a:ext cx="164592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flow 연결</a:t>
            </a:r>
          </a:p>
        </p:txBody>
      </p:sp>
      <p:sp>
        <p:nvSpPr>
          <p:cNvPr id="11" name="TextBox 10"/>
          <p:cNvSpPr txBox="1"/>
          <p:nvPr/>
        </p:nvSpPr>
        <p:spPr>
          <a:xfrm>
            <a:off x="2990088" y="2359152"/>
            <a:ext cx="1609344"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통신·라벨</a:t>
            </a:r>
          </a:p>
          <a:p>
            <a:pPr algn="ctr">
              <a:lnSpc>
                <a:spcPct val="118000"/>
              </a:lnSpc>
              <a:spcBef>
                <a:spcPts val="0"/>
              </a:spcBef>
              <a:spcAft>
                <a:spcPts val="0"/>
              </a:spcAft>
            </a:pPr>
            <a:r>
              <a:rPr sz="1500" b="0" lang="ko-KR">
                <a:solidFill>
                  <a:srgbClr val="20262E"/>
                </a:solidFill>
                <a:latin typeface="Pretendard"/>
                <a:ea typeface="Pretendard"/>
                <a:cs typeface="Pretendard"/>
              </a:rPr>
              <a:t>추적 가능하게 유지</a:t>
            </a:r>
          </a:p>
        </p:txBody>
      </p:sp>
      <p:sp>
        <p:nvSpPr>
          <p:cNvPr id="12" name="Rectangle 11"/>
          <p:cNvSpPr/>
          <p:nvPr/>
        </p:nvSpPr>
        <p:spPr>
          <a:xfrm>
            <a:off x="5166360" y="1783080"/>
            <a:ext cx="1828800" cy="126187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5166360" y="1783080"/>
            <a:ext cx="182880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257800" y="1851660"/>
            <a:ext cx="164592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인코더 교체</a:t>
            </a:r>
          </a:p>
        </p:txBody>
      </p:sp>
      <p:sp>
        <p:nvSpPr>
          <p:cNvPr id="15" name="TextBox 14"/>
          <p:cNvSpPr txBox="1"/>
          <p:nvPr/>
        </p:nvSpPr>
        <p:spPr>
          <a:xfrm>
            <a:off x="5276088" y="2359152"/>
            <a:ext cx="1609344"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packet sequence</a:t>
            </a:r>
          </a:p>
          <a:p>
            <a:pPr algn="ctr">
              <a:lnSpc>
                <a:spcPct val="118000"/>
              </a:lnSpc>
              <a:spcBef>
                <a:spcPts val="0"/>
              </a:spcBef>
              <a:spcAft>
                <a:spcPts val="0"/>
              </a:spcAft>
            </a:pPr>
            <a:r>
              <a:rPr sz="1500" b="0" lang="ko-KR">
                <a:solidFill>
                  <a:srgbClr val="20262E"/>
                </a:solidFill>
                <a:latin typeface="Pretendard"/>
                <a:ea typeface="Pretendard"/>
                <a:cs typeface="Pretendard"/>
              </a:rPr>
              <a:t>embedding</a:t>
            </a:r>
          </a:p>
        </p:txBody>
      </p:sp>
      <p:sp>
        <p:nvSpPr>
          <p:cNvPr id="16" name="Rectangle 15"/>
          <p:cNvSpPr/>
          <p:nvPr/>
        </p:nvSpPr>
        <p:spPr>
          <a:xfrm>
            <a:off x="7452360" y="1783080"/>
            <a:ext cx="1828800" cy="126187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7452360" y="1783080"/>
            <a:ext cx="182880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543800" y="1851660"/>
            <a:ext cx="164592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차원 변환</a:t>
            </a:r>
          </a:p>
        </p:txBody>
      </p:sp>
      <p:sp>
        <p:nvSpPr>
          <p:cNvPr id="19" name="TextBox 18"/>
          <p:cNvSpPr txBox="1"/>
          <p:nvPr/>
        </p:nvSpPr>
        <p:spPr>
          <a:xfrm>
            <a:off x="7562088" y="2359152"/>
            <a:ext cx="1609344"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학습 split만</a:t>
            </a:r>
          </a:p>
          <a:p>
            <a:pPr algn="ctr">
              <a:lnSpc>
                <a:spcPct val="118000"/>
              </a:lnSpc>
              <a:spcBef>
                <a:spcPts val="0"/>
              </a:spcBef>
              <a:spcAft>
                <a:spcPts val="0"/>
              </a:spcAft>
            </a:pPr>
            <a:r>
              <a:rPr sz="1500" b="0" lang="ko-KR">
                <a:solidFill>
                  <a:srgbClr val="20262E"/>
                </a:solidFill>
                <a:latin typeface="Pretendard"/>
                <a:ea typeface="Pretendard"/>
                <a:cs typeface="Pretendard"/>
              </a:rPr>
              <a:t>PCA 적합</a:t>
            </a:r>
          </a:p>
        </p:txBody>
      </p:sp>
      <p:sp>
        <p:nvSpPr>
          <p:cNvPr id="20" name="Rectangle 19"/>
          <p:cNvSpPr/>
          <p:nvPr/>
        </p:nvSpPr>
        <p:spPr>
          <a:xfrm>
            <a:off x="9738360" y="1783080"/>
            <a:ext cx="1828800" cy="1261872"/>
          </a:xfrm>
          <a:prstGeom prst="rect">
            <a:avLst/>
          </a:prstGeom>
          <a:solidFill>
            <a:srgbClr val="FFFFFF"/>
          </a:solidFill>
          <a:ln w="10160">
            <a:solidFill>
              <a:srgbClr val="CEDAE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Rectangle 20"/>
          <p:cNvSpPr/>
          <p:nvPr/>
        </p:nvSpPr>
        <p:spPr>
          <a:xfrm>
            <a:off x="9738360" y="1783080"/>
            <a:ext cx="1828800" cy="402336"/>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9829800" y="1851660"/>
            <a:ext cx="164592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FFFFFF"/>
                </a:solidFill>
                <a:latin typeface="Pretendard"/>
                <a:ea typeface="Pretendard"/>
                <a:cs typeface="Pretendard"/>
              </a:rPr>
              <a:t>새 학습 벡터</a:t>
            </a:r>
          </a:p>
        </p:txBody>
      </p:sp>
      <p:sp>
        <p:nvSpPr>
          <p:cNvPr id="23" name="TextBox 22"/>
          <p:cNvSpPr txBox="1"/>
          <p:nvPr/>
        </p:nvSpPr>
        <p:spPr>
          <a:xfrm>
            <a:off x="9848088" y="2359152"/>
            <a:ext cx="1609344" cy="481583"/>
          </a:xfrm>
          <a:prstGeom prst="rect">
            <a:avLst/>
          </a:prstGeom>
          <a:noFill/>
          <a:effectLst/>
        </p:spPr>
        <p:txBody>
          <a:bodyPr wrap="none" anchor="t" lIns="0" rIns="0" tIns="0" bIns="0">
            <a:noAutofit/>
          </a:bodyPr>
          <a:lstStyle/>
          <a:p>
            <a:pPr algn="ctr">
              <a:lnSpc>
                <a:spcPct val="118000"/>
              </a:lnSpc>
              <a:spcBef>
                <a:spcPts val="0"/>
              </a:spcBef>
              <a:spcAft>
                <a:spcPts val="0"/>
              </a:spcAft>
            </a:pPr>
            <a:r>
              <a:rPr sz="1500" b="0" lang="ko-KR">
                <a:solidFill>
                  <a:srgbClr val="20262E"/>
                </a:solidFill>
                <a:latin typeface="Pretendard"/>
                <a:ea typeface="Pretendard"/>
                <a:cs typeface="Pretendard"/>
              </a:rPr>
              <a:t>XGB·TabPFN</a:t>
            </a:r>
          </a:p>
          <a:p>
            <a:pPr algn="ctr">
              <a:lnSpc>
                <a:spcPct val="118000"/>
              </a:lnSpc>
              <a:spcBef>
                <a:spcPts val="0"/>
              </a:spcBef>
              <a:spcAft>
                <a:spcPts val="0"/>
              </a:spcAft>
            </a:pPr>
            <a:r>
              <a:rPr sz="1500" b="0" lang="ko-KR">
                <a:solidFill>
                  <a:srgbClr val="20262E"/>
                </a:solidFill>
                <a:latin typeface="Pretendard"/>
                <a:ea typeface="Pretendard"/>
                <a:cs typeface="Pretendard"/>
              </a:rPr>
              <a:t>동일 평가</a:t>
            </a:r>
          </a:p>
        </p:txBody>
      </p:sp>
      <p:sp>
        <p:nvSpPr>
          <p:cNvPr id="24" name="Right Arrow 23"/>
          <p:cNvSpPr/>
          <p:nvPr/>
        </p:nvSpPr>
        <p:spPr>
          <a:xfrm>
            <a:off x="2551176" y="2276856"/>
            <a:ext cx="219456"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Right Arrow 24"/>
          <p:cNvSpPr/>
          <p:nvPr/>
        </p:nvSpPr>
        <p:spPr>
          <a:xfrm>
            <a:off x="4837176" y="2276856"/>
            <a:ext cx="219456"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ight Arrow 25"/>
          <p:cNvSpPr/>
          <p:nvPr/>
        </p:nvSpPr>
        <p:spPr>
          <a:xfrm>
            <a:off x="7123176" y="2276856"/>
            <a:ext cx="219456"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ight Arrow 26"/>
          <p:cNvSpPr/>
          <p:nvPr/>
        </p:nvSpPr>
        <p:spPr>
          <a:xfrm>
            <a:off x="9409176" y="2276856"/>
            <a:ext cx="219456"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594360" y="3593592"/>
            <a:ext cx="5285232" cy="117043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594360" y="3593592"/>
            <a:ext cx="5285232" cy="393192"/>
          </a:xfrm>
          <a:prstGeom prst="rect">
            <a:avLst/>
          </a:prstGeom>
          <a:solidFill>
            <a:srgbClr val="B449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704088" y="3662172"/>
            <a:ext cx="5065776"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1" lang="ko-KR">
                <a:solidFill>
                  <a:srgbClr val="FFFFFF"/>
                </a:solidFill>
                <a:latin typeface="Pretendard"/>
                <a:ea typeface="Pretendard"/>
                <a:cs typeface="Pretendard"/>
              </a:rPr>
              <a:t>표현 감사</a:t>
            </a:r>
          </a:p>
        </p:txBody>
      </p:sp>
      <p:sp>
        <p:nvSpPr>
          <p:cNvPr id="31" name="TextBox 30"/>
          <p:cNvSpPr txBox="1"/>
          <p:nvPr/>
        </p:nvSpPr>
        <p:spPr>
          <a:xfrm>
            <a:off x="740664" y="4160520"/>
            <a:ext cx="4992624" cy="541528"/>
          </a:xfrm>
          <a:prstGeom prst="rect">
            <a:avLst/>
          </a:prstGeom>
          <a:noFill/>
          <a:effectLst/>
        </p:spPr>
        <p:txBody>
          <a:bodyPr wrap="none" anchor="t" lIns="0" rIns="0" tIns="0" bIns="0">
            <a:noAutofit/>
          </a:bodyPr>
          <a:lstStyle/>
          <a:p>
            <a:pPr algn="ctr">
              <a:lnSpc>
                <a:spcPct val="118000"/>
              </a:lnSpc>
              <a:spcBef>
                <a:spcPts val="0"/>
              </a:spcBef>
              <a:spcAft>
                <a:spcPts val="0"/>
              </a:spcAft>
            </a:pPr>
            <a:r>
              <a:rPr sz="1700" b="0" lang="ko-KR">
                <a:solidFill>
                  <a:srgbClr val="20262E"/>
                </a:solidFill>
                <a:latin typeface="Pretendard"/>
                <a:ea typeface="Pretendard"/>
                <a:cs typeface="Pretendard"/>
              </a:rPr>
              <a:t>동일 embedding·상이 Label 비율과</a:t>
            </a:r>
          </a:p>
          <a:p>
            <a:pPr algn="ctr">
              <a:lnSpc>
                <a:spcPct val="118000"/>
              </a:lnSpc>
              <a:spcBef>
                <a:spcPts val="0"/>
              </a:spcBef>
              <a:spcAft>
                <a:spcPts val="0"/>
              </a:spcAft>
            </a:pPr>
            <a:r>
              <a:rPr sz="1700" b="0" lang="ko-KR">
                <a:solidFill>
                  <a:srgbClr val="20262E"/>
                </a:solidFill>
                <a:latin typeface="Pretendard"/>
                <a:ea typeface="Pretendard"/>
                <a:cs typeface="Pretendard"/>
              </a:rPr>
              <a:t>PCAP의 라벨 근거를 다시 확인</a:t>
            </a:r>
          </a:p>
        </p:txBody>
      </p:sp>
      <p:sp>
        <p:nvSpPr>
          <p:cNvPr id="32" name="Rectangle 31"/>
          <p:cNvSpPr/>
          <p:nvPr/>
        </p:nvSpPr>
        <p:spPr>
          <a:xfrm>
            <a:off x="6309360" y="3593592"/>
            <a:ext cx="5285232" cy="117043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ectangle 32"/>
          <p:cNvSpPr/>
          <p:nvPr/>
        </p:nvSpPr>
        <p:spPr>
          <a:xfrm>
            <a:off x="6309360" y="3593592"/>
            <a:ext cx="5285232" cy="393192"/>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419088" y="3662172"/>
            <a:ext cx="5065776"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1" lang="ko-KR">
                <a:solidFill>
                  <a:srgbClr val="FFFFFF"/>
                </a:solidFill>
                <a:latin typeface="Pretendard"/>
                <a:ea typeface="Pretendard"/>
                <a:cs typeface="Pretendard"/>
              </a:rPr>
              <a:t>분류 평가</a:t>
            </a:r>
          </a:p>
        </p:txBody>
      </p:sp>
      <p:sp>
        <p:nvSpPr>
          <p:cNvPr id="35" name="TextBox 34"/>
          <p:cNvSpPr txBox="1"/>
          <p:nvPr/>
        </p:nvSpPr>
        <p:spPr>
          <a:xfrm>
            <a:off x="6455664" y="4160520"/>
            <a:ext cx="4992624" cy="541528"/>
          </a:xfrm>
          <a:prstGeom prst="rect">
            <a:avLst/>
          </a:prstGeom>
          <a:noFill/>
          <a:effectLst/>
        </p:spPr>
        <p:txBody>
          <a:bodyPr wrap="none" anchor="t" lIns="0" rIns="0" tIns="0" bIns="0">
            <a:noAutofit/>
          </a:bodyPr>
          <a:lstStyle/>
          <a:p>
            <a:pPr algn="ctr">
              <a:lnSpc>
                <a:spcPct val="118000"/>
              </a:lnSpc>
              <a:spcBef>
                <a:spcPts val="0"/>
              </a:spcBef>
              <a:spcAft>
                <a:spcPts val="0"/>
              </a:spcAft>
            </a:pPr>
            <a:r>
              <a:rPr sz="1700" b="0" lang="ko-KR">
                <a:solidFill>
                  <a:srgbClr val="20262E"/>
                </a:solidFill>
                <a:latin typeface="Pretendard"/>
                <a:ea typeface="Pretendard"/>
                <a:cs typeface="Pretendard"/>
              </a:rPr>
              <a:t>baseline·few-shot curve·클래스별 F1으로</a:t>
            </a:r>
          </a:p>
          <a:p>
            <a:pPr algn="ctr">
              <a:lnSpc>
                <a:spcPct val="118000"/>
              </a:lnSpc>
              <a:spcBef>
                <a:spcPts val="0"/>
              </a:spcBef>
              <a:spcAft>
                <a:spcPts val="0"/>
              </a:spcAft>
            </a:pPr>
            <a:r>
              <a:rPr sz="1700" b="0" lang="ko-KR">
                <a:solidFill>
                  <a:srgbClr val="20262E"/>
                </a:solidFill>
                <a:latin typeface="Pretendard"/>
                <a:ea typeface="Pretendard"/>
                <a:cs typeface="Pretendard"/>
              </a:rPr>
              <a:t>head 조기 포화가 반복되는지 확인</a:t>
            </a:r>
          </a:p>
        </p:txBody>
      </p:sp>
      <p:sp>
        <p:nvSpPr>
          <p:cNvPr id="36" name="TextBox 35"/>
          <p:cNvSpPr txBox="1"/>
          <p:nvPr/>
        </p:nvSpPr>
        <p:spPr>
          <a:xfrm>
            <a:off x="658368" y="5148072"/>
            <a:ext cx="10881360" cy="249301"/>
          </a:xfrm>
          <a:prstGeom prst="rect">
            <a:avLst/>
          </a:prstGeom>
          <a:noFill/>
          <a:effectLst/>
        </p:spPr>
        <p:txBody>
          <a:bodyPr wrap="none" anchor="t" lIns="0" rIns="0" tIns="0" bIns="0">
            <a:noAutofit/>
          </a:bodyPr>
          <a:lstStyle/>
          <a:p>
            <a:pPr algn="l">
              <a:lnSpc>
                <a:spcPct val="118000"/>
              </a:lnSpc>
              <a:spcBef>
                <a:spcPts val="0"/>
              </a:spcBef>
              <a:spcAft>
                <a:spcPts val="0"/>
              </a:spcAft>
            </a:pPr>
            <a:r>
              <a:rPr sz="1450" b="0" lang="ko-KR">
                <a:solidFill>
                  <a:srgbClr val="617080"/>
                </a:solidFill>
                <a:latin typeface="Pretendard"/>
                <a:ea typeface="Pretendard"/>
                <a:cs typeface="Pretendard"/>
              </a:rPr>
              <a:t>인코더 후보  netFound (arXiv, 26) · ET-BERT (WWW, 22) · NetMamba (ICNP, 24)</a:t>
            </a:r>
          </a:p>
        </p:txBody>
      </p:sp>
      <p:sp>
        <p:nvSpPr>
          <p:cNvPr id="37" name="TextBox 36"/>
          <p:cNvSpPr txBox="1"/>
          <p:nvPr/>
        </p:nvSpPr>
        <p:spPr>
          <a:xfrm>
            <a:off x="658368" y="5495544"/>
            <a:ext cx="10881360" cy="279273"/>
          </a:xfrm>
          <a:prstGeom prst="rect">
            <a:avLst/>
          </a:prstGeom>
          <a:noFill/>
          <a:effectLst/>
        </p:spPr>
        <p:txBody>
          <a:bodyPr wrap="none" anchor="t" lIns="0" rIns="0" tIns="0" bIns="0">
            <a:noAutofit/>
          </a:bodyPr>
          <a:lstStyle/>
          <a:p>
            <a:pPr algn="l">
              <a:lnSpc>
                <a:spcPct val="118000"/>
              </a:lnSpc>
              <a:spcBef>
                <a:spcPts val="0"/>
              </a:spcBef>
              <a:spcAft>
                <a:spcPts val="0"/>
              </a:spcAft>
            </a:pPr>
            <a:r>
              <a:rPr sz="1650" b="1" lang="ko-KR">
                <a:solidFill>
                  <a:srgbClr val="00306C"/>
                </a:solidFill>
                <a:latin typeface="Pretendard"/>
                <a:ea typeface="Pretendard"/>
                <a:cs typeface="Pretendard"/>
              </a:rPr>
              <a:t>CICFlowMeter는 정해진 flow·통계식을 계산하고, 인코더는 패킷 순서·시간·헤더 패턴에서 표현을 생성</a:t>
            </a:r>
          </a:p>
        </p:txBody>
      </p:sp>
      <p:sp>
        <p:nvSpPr>
          <p:cNvPr id="38" name="Rectangle 37"/>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인코더를 교체 가능하게 두고, 표현 감사와 분류 평가를 함께 반복</a:t>
            </a:r>
          </a:p>
        </p:txBody>
      </p:sp>
      <p:sp>
        <p:nvSpPr>
          <p:cNvPr id="40" name="TextBox 39"/>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04 PCAP 재구축</a:t>
            </a:r>
          </a:p>
        </p:txBody>
      </p:sp>
      <p:sp>
        <p:nvSpPr>
          <p:cNvPr id="41" name="TextBox 40"/>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92608"/>
            <a:ext cx="11045952" cy="481583"/>
          </a:xfrm>
          <a:prstGeom prst="rect">
            <a:avLst/>
          </a:prstGeom>
          <a:noFill/>
          <a:effectLst/>
        </p:spPr>
        <p:txBody>
          <a:bodyPr wrap="none" anchor="t" lIns="0" rIns="0" tIns="0" bIns="0">
            <a:noAutofit/>
          </a:bodyPr>
          <a:lstStyle/>
          <a:p>
            <a:pPr algn="l">
              <a:lnSpc>
                <a:spcPct val="118000"/>
              </a:lnSpc>
              <a:spcBef>
                <a:spcPts val="0"/>
              </a:spcBef>
              <a:spcAft>
                <a:spcPts val="0"/>
              </a:spcAft>
            </a:pPr>
            <a:r>
              <a:rPr sz="3000" b="1" lang="ko-KR">
                <a:solidFill>
                  <a:srgbClr val="00306C"/>
                </a:solidFill>
                <a:latin typeface="Pretendard"/>
                <a:ea typeface="Pretendard"/>
                <a:cs typeface="Pretendard"/>
              </a:rPr>
              <a:t>Summary</a:t>
            </a:r>
          </a:p>
        </p:txBody>
      </p:sp>
      <p:sp>
        <p:nvSpPr>
          <p:cNvPr id="3" name="Rectangle 2"/>
          <p:cNvSpPr/>
          <p:nvPr/>
        </p:nvSpPr>
        <p:spPr>
          <a:xfrm>
            <a:off x="594360" y="1353312"/>
            <a:ext cx="3246120" cy="235915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Rectangle 3"/>
          <p:cNvSpPr/>
          <p:nvPr/>
        </p:nvSpPr>
        <p:spPr>
          <a:xfrm>
            <a:off x="594360" y="1353312"/>
            <a:ext cx="3246120" cy="393192"/>
          </a:xfrm>
          <a:prstGeom prst="rect">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704088" y="1421892"/>
            <a:ext cx="3026663"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1" lang="ko-KR">
                <a:solidFill>
                  <a:srgbClr val="FFFFFF"/>
                </a:solidFill>
                <a:latin typeface="Pretendard"/>
                <a:ea typeface="Pretendard"/>
                <a:cs typeface="Pretendard"/>
              </a:rPr>
              <a:t>1  기존 CSV 입력</a:t>
            </a:r>
          </a:p>
        </p:txBody>
      </p:sp>
      <p:sp>
        <p:nvSpPr>
          <p:cNvPr id="6" name="TextBox 5"/>
          <p:cNvSpPr txBox="1"/>
          <p:nvPr/>
        </p:nvSpPr>
        <p:spPr>
          <a:xfrm>
            <a:off x="740664" y="1920240"/>
            <a:ext cx="2953512" cy="796290"/>
          </a:xfrm>
          <a:prstGeom prst="rect">
            <a:avLst/>
          </a:prstGeom>
          <a:noFill/>
          <a:effectLst/>
        </p:spPr>
        <p:txBody>
          <a:bodyPr wrap="none" anchor="t" lIns="0" rIns="0" tIns="0" bIns="0">
            <a:noAutofit/>
          </a:bodyPr>
          <a:lstStyle/>
          <a:p>
            <a:pPr algn="ctr">
              <a:lnSpc>
                <a:spcPct val="118000"/>
              </a:lnSpc>
              <a:spcBef>
                <a:spcPts val="0"/>
              </a:spcBef>
              <a:spcAft>
                <a:spcPts val="0"/>
              </a:spcAft>
            </a:pPr>
            <a:r>
              <a:rPr sz="1700" b="0" lang="ko-KR">
                <a:solidFill>
                  <a:srgbClr val="20262E"/>
                </a:solidFill>
                <a:latin typeface="Pretendard"/>
                <a:ea typeface="Pretendard"/>
                <a:cs typeface="Pretendard"/>
              </a:rPr>
              <a:t>XGB·TabPFN·SOTA</a:t>
            </a:r>
          </a:p>
          <a:p>
            <a:pPr algn="ctr">
              <a:lnSpc>
                <a:spcPct val="118000"/>
              </a:lnSpc>
              <a:spcBef>
                <a:spcPts val="0"/>
              </a:spcBef>
              <a:spcAft>
                <a:spcPts val="0"/>
              </a:spcAft>
            </a:pPr>
            <a:r>
              <a:rPr sz="1700" b="0" lang="ko-KR">
                <a:solidFill>
                  <a:srgbClr val="20262E"/>
                </a:solidFill>
                <a:latin typeface="Pretendard"/>
                <a:ea typeface="Pretendard"/>
                <a:cs typeface="Pretendard"/>
              </a:rPr>
              <a:t>CICFlowMeter flow 통계</a:t>
            </a:r>
          </a:p>
          <a:p>
            <a:pPr algn="ctr">
              <a:lnSpc>
                <a:spcPct val="118000"/>
              </a:lnSpc>
              <a:spcBef>
                <a:spcPts val="0"/>
              </a:spcBef>
              <a:spcAft>
                <a:spcPts val="0"/>
              </a:spcAft>
            </a:pPr>
            <a:r>
              <a:rPr sz="1700" b="0" lang="ko-KR">
                <a:solidFill>
                  <a:srgbClr val="20262E"/>
                </a:solidFill>
                <a:latin typeface="Pretendard"/>
                <a:ea typeface="Pretendard"/>
                <a:cs typeface="Pretendard"/>
              </a:rPr>
              <a:t>행 단위 입력</a:t>
            </a:r>
          </a:p>
        </p:txBody>
      </p:sp>
      <p:sp>
        <p:nvSpPr>
          <p:cNvPr id="7" name="Right Arrow 6"/>
          <p:cNvSpPr/>
          <p:nvPr/>
        </p:nvSpPr>
        <p:spPr>
          <a:xfrm>
            <a:off x="4050791" y="2368296"/>
            <a:ext cx="402336"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4608576" y="1353312"/>
            <a:ext cx="3246120" cy="235915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4608576" y="1353312"/>
            <a:ext cx="3246120" cy="393192"/>
          </a:xfrm>
          <a:prstGeom prst="rect">
            <a:avLst/>
          </a:prstGeom>
          <a:solidFill>
            <a:srgbClr val="B4494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4718304" y="1421892"/>
            <a:ext cx="3026663"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1" lang="ko-KR">
                <a:solidFill>
                  <a:srgbClr val="FFFFFF"/>
                </a:solidFill>
                <a:latin typeface="Pretendard"/>
                <a:ea typeface="Pretendard"/>
                <a:cs typeface="Pretendard"/>
              </a:rPr>
              <a:t>2  확인한 데이터 문제</a:t>
            </a:r>
          </a:p>
        </p:txBody>
      </p:sp>
      <p:sp>
        <p:nvSpPr>
          <p:cNvPr id="11" name="TextBox 10"/>
          <p:cNvSpPr txBox="1"/>
          <p:nvPr/>
        </p:nvSpPr>
        <p:spPr>
          <a:xfrm>
            <a:off x="4754880" y="1920240"/>
            <a:ext cx="2953512" cy="1305813"/>
          </a:xfrm>
          <a:prstGeom prst="rect">
            <a:avLst/>
          </a:prstGeom>
          <a:noFill/>
          <a:effectLst/>
        </p:spPr>
        <p:txBody>
          <a:bodyPr wrap="none" anchor="t" lIns="0" rIns="0" tIns="0" bIns="0">
            <a:noAutofit/>
          </a:bodyPr>
          <a:lstStyle/>
          <a:p>
            <a:pPr algn="ctr">
              <a:lnSpc>
                <a:spcPct val="118000"/>
              </a:lnSpc>
              <a:spcBef>
                <a:spcPts val="0"/>
              </a:spcBef>
              <a:spcAft>
                <a:spcPts val="0"/>
              </a:spcAft>
            </a:pPr>
            <a:r>
              <a:rPr sz="1700" b="0" lang="ko-KR">
                <a:solidFill>
                  <a:srgbClr val="20262E"/>
                </a:solidFill>
                <a:latin typeface="Pretendard"/>
                <a:ea typeface="Pretendard"/>
                <a:cs typeface="Pretendard"/>
              </a:rPr>
              <a:t>head 조기 포화</a:t>
            </a:r>
          </a:p>
          <a:p>
            <a:pPr algn="ctr">
              <a:lnSpc>
                <a:spcPct val="118000"/>
              </a:lnSpc>
              <a:spcBef>
                <a:spcPts val="0"/>
              </a:spcBef>
              <a:spcAft>
                <a:spcPts val="0"/>
              </a:spcAft>
            </a:pPr>
            <a:r>
              <a:rPr sz="1700" b="0" lang="ko-KR">
                <a:solidFill>
                  <a:srgbClr val="20262E"/>
                </a:solidFill>
                <a:latin typeface="Pretendard"/>
                <a:ea typeface="Pretendard"/>
                <a:cs typeface="Pretendard"/>
              </a:rPr>
              <a:t>+ 동일 feature·상이 label</a:t>
            </a:r>
          </a:p>
          <a:p>
            <a:pPr algn="ctr">
              <a:lnSpc>
                <a:spcPct val="118000"/>
              </a:lnSpc>
              <a:spcBef>
                <a:spcPts val="0"/>
              </a:spcBef>
              <a:spcAft>
                <a:spcPts val="0"/>
              </a:spcAft>
            </a:pPr>
            <a:r>
              <a:rPr sz="1700" b="0" lang="ko-KR">
                <a:solidFill>
                  <a:srgbClr val="20262E"/>
                </a:solidFill>
                <a:latin typeface="Pretendard"/>
                <a:ea typeface="Pretendard"/>
                <a:cs typeface="Pretendard"/>
              </a:rPr>
              <a:t/>
            </a:r>
          </a:p>
          <a:p>
            <a:pPr algn="ctr">
              <a:lnSpc>
                <a:spcPct val="118000"/>
              </a:lnSpc>
              <a:spcBef>
                <a:spcPts val="0"/>
              </a:spcBef>
              <a:spcAft>
                <a:spcPts val="0"/>
              </a:spcAft>
            </a:pPr>
            <a:r>
              <a:rPr sz="1700" b="0" lang="ko-KR">
                <a:solidFill>
                  <a:srgbClr val="20262E"/>
                </a:solidFill>
                <a:latin typeface="Pretendard"/>
                <a:ea typeface="Pretendard"/>
                <a:cs typeface="Pretendard"/>
              </a:rPr>
              <a:t>높은 평균만으로</a:t>
            </a:r>
          </a:p>
          <a:p>
            <a:pPr algn="ctr">
              <a:lnSpc>
                <a:spcPct val="118000"/>
              </a:lnSpc>
              <a:spcBef>
                <a:spcPts val="0"/>
              </a:spcBef>
              <a:spcAft>
                <a:spcPts val="0"/>
              </a:spcAft>
            </a:pPr>
            <a:r>
              <a:rPr sz="1700" b="0" lang="ko-KR">
                <a:solidFill>
                  <a:srgbClr val="20262E"/>
                </a:solidFill>
                <a:latin typeface="Pretendard"/>
                <a:ea typeface="Pretendard"/>
                <a:cs typeface="Pretendard"/>
              </a:rPr>
              <a:t>난이도 판단 불가</a:t>
            </a:r>
          </a:p>
        </p:txBody>
      </p:sp>
      <p:sp>
        <p:nvSpPr>
          <p:cNvPr id="12" name="Right Arrow 11"/>
          <p:cNvSpPr/>
          <p:nvPr/>
        </p:nvSpPr>
        <p:spPr>
          <a:xfrm>
            <a:off x="8065008" y="2368296"/>
            <a:ext cx="402336" cy="228600"/>
          </a:xfrm>
          <a:prstGeom prst="rightArrow">
            <a:avLst/>
          </a:prstGeom>
          <a:solidFill>
            <a:srgbClr val="007BC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8622792" y="1353312"/>
            <a:ext cx="2971800" cy="2359152"/>
          </a:xfrm>
          <a:prstGeom prst="rect">
            <a:avLst/>
          </a:prstGeom>
          <a:solidFill>
            <a:srgbClr val="FFFFFF"/>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8622792" y="1353312"/>
            <a:ext cx="2971800" cy="393192"/>
          </a:xfrm>
          <a:prstGeom prst="rect">
            <a:avLst/>
          </a:prstGeom>
          <a:solidFill>
            <a:srgbClr val="227B7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732519" y="1421892"/>
            <a:ext cx="2752344" cy="301751"/>
          </a:xfrm>
          <a:prstGeom prst="rect">
            <a:avLst/>
          </a:prstGeom>
          <a:noFill/>
          <a:effectLst/>
        </p:spPr>
        <p:txBody>
          <a:bodyPr wrap="none" anchor="t" lIns="0" rIns="0" tIns="0" bIns="0">
            <a:noAutofit/>
          </a:bodyPr>
          <a:lstStyle/>
          <a:p>
            <a:pPr algn="ctr">
              <a:lnSpc>
                <a:spcPct val="118000"/>
              </a:lnSpc>
              <a:spcBef>
                <a:spcPts val="0"/>
              </a:spcBef>
              <a:spcAft>
                <a:spcPts val="0"/>
              </a:spcAft>
            </a:pPr>
            <a:r>
              <a:rPr sz="1800" b="1" lang="ko-KR">
                <a:solidFill>
                  <a:srgbClr val="FFFFFF"/>
                </a:solidFill>
                <a:latin typeface="Pretendard"/>
                <a:ea typeface="Pretendard"/>
                <a:cs typeface="Pretendard"/>
              </a:rPr>
              <a:t>3  다음 검증</a:t>
            </a:r>
          </a:p>
        </p:txBody>
      </p:sp>
      <p:sp>
        <p:nvSpPr>
          <p:cNvPr id="16" name="TextBox 15"/>
          <p:cNvSpPr txBox="1"/>
          <p:nvPr/>
        </p:nvSpPr>
        <p:spPr>
          <a:xfrm>
            <a:off x="8769096" y="1920240"/>
            <a:ext cx="2679192" cy="1343278"/>
          </a:xfrm>
          <a:prstGeom prst="rect">
            <a:avLst/>
          </a:prstGeom>
          <a:noFill/>
          <a:effectLst/>
        </p:spPr>
        <p:txBody>
          <a:bodyPr wrap="none" anchor="t" lIns="0" rIns="0" tIns="0" bIns="0">
            <a:noAutofit/>
          </a:bodyPr>
          <a:lstStyle/>
          <a:p>
            <a:pPr algn="ctr">
              <a:lnSpc>
                <a:spcPct val="118000"/>
              </a:lnSpc>
              <a:spcBef>
                <a:spcPts val="0"/>
              </a:spcBef>
              <a:spcAft>
                <a:spcPts val="0"/>
              </a:spcAft>
            </a:pPr>
            <a:r>
              <a:rPr sz="1750" b="0" lang="ko-KR">
                <a:solidFill>
                  <a:srgbClr val="20262E"/>
                </a:solidFill>
                <a:latin typeface="Pretendard"/>
                <a:ea typeface="Pretendard"/>
                <a:cs typeface="Pretendard"/>
              </a:rPr>
              <a:t>PCAP encoder로</a:t>
            </a:r>
          </a:p>
          <a:p>
            <a:pPr algn="ctr">
              <a:lnSpc>
                <a:spcPct val="118000"/>
              </a:lnSpc>
              <a:spcBef>
                <a:spcPts val="0"/>
              </a:spcBef>
              <a:spcAft>
                <a:spcPts val="0"/>
              </a:spcAft>
            </a:pPr>
            <a:r>
              <a:rPr sz="1750" b="0" lang="ko-KR">
                <a:solidFill>
                  <a:srgbClr val="20262E"/>
                </a:solidFill>
                <a:latin typeface="Pretendard"/>
                <a:ea typeface="Pretendard"/>
                <a:cs typeface="Pretendard"/>
              </a:rPr>
              <a:t>새 CIC2018 벡터 생성</a:t>
            </a:r>
          </a:p>
          <a:p>
            <a:pPr algn="ctr">
              <a:lnSpc>
                <a:spcPct val="118000"/>
              </a:lnSpc>
              <a:spcBef>
                <a:spcPts val="0"/>
              </a:spcBef>
              <a:spcAft>
                <a:spcPts val="0"/>
              </a:spcAft>
            </a:pPr>
            <a:r>
              <a:rPr sz="1750" b="0" lang="ko-KR">
                <a:solidFill>
                  <a:srgbClr val="20262E"/>
                </a:solidFill>
                <a:latin typeface="Pretendard"/>
                <a:ea typeface="Pretendard"/>
                <a:cs typeface="Pretendard"/>
              </a:rPr>
              <a:t/>
            </a:r>
          </a:p>
          <a:p>
            <a:pPr algn="ctr">
              <a:lnSpc>
                <a:spcPct val="118000"/>
              </a:lnSpc>
              <a:spcBef>
                <a:spcPts val="0"/>
              </a:spcBef>
              <a:spcAft>
                <a:spcPts val="0"/>
              </a:spcAft>
            </a:pPr>
            <a:r>
              <a:rPr sz="1750" b="0" lang="ko-KR">
                <a:solidFill>
                  <a:srgbClr val="20262E"/>
                </a:solidFill>
                <a:latin typeface="Pretendard"/>
                <a:ea typeface="Pretendard"/>
                <a:cs typeface="Pretendard"/>
              </a:rPr>
              <a:t>표현 감사와 baseline을</a:t>
            </a:r>
          </a:p>
          <a:p>
            <a:pPr algn="ctr">
              <a:lnSpc>
                <a:spcPct val="118000"/>
              </a:lnSpc>
              <a:spcBef>
                <a:spcPts val="0"/>
              </a:spcBef>
              <a:spcAft>
                <a:spcPts val="0"/>
              </a:spcAft>
            </a:pPr>
            <a:r>
              <a:rPr sz="1750" b="0" lang="ko-KR">
                <a:solidFill>
                  <a:srgbClr val="20262E"/>
                </a:solidFill>
                <a:latin typeface="Pretendard"/>
                <a:ea typeface="Pretendard"/>
                <a:cs typeface="Pretendard"/>
              </a:rPr>
              <a:t>같은 조건에서 반복</a:t>
            </a:r>
          </a:p>
        </p:txBody>
      </p:sp>
      <p:sp>
        <p:nvSpPr>
          <p:cNvPr id="17" name="Rectangle 16"/>
          <p:cNvSpPr/>
          <p:nvPr/>
        </p:nvSpPr>
        <p:spPr>
          <a:xfrm>
            <a:off x="594360" y="4361688"/>
            <a:ext cx="11000232" cy="1005840"/>
          </a:xfrm>
          <a:prstGeom prst="rect">
            <a:avLst/>
          </a:prstGeom>
          <a:solidFill>
            <a:srgbClr val="F6F9FC"/>
          </a:solidFill>
          <a:ln w="10160">
            <a:solidFill>
              <a:srgbClr val="D3DFE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841248" y="4626864"/>
            <a:ext cx="10515600" cy="316738"/>
          </a:xfrm>
          <a:prstGeom prst="rect">
            <a:avLst/>
          </a:prstGeom>
          <a:noFill/>
          <a:effectLst/>
        </p:spPr>
        <p:txBody>
          <a:bodyPr wrap="none" anchor="t" lIns="0" rIns="0" tIns="0" bIns="0">
            <a:noAutofit/>
          </a:bodyPr>
          <a:lstStyle/>
          <a:p>
            <a:pPr algn="ctr">
              <a:lnSpc>
                <a:spcPct val="118000"/>
              </a:lnSpc>
              <a:spcBef>
                <a:spcPts val="0"/>
              </a:spcBef>
              <a:spcAft>
                <a:spcPts val="0"/>
              </a:spcAft>
            </a:pPr>
            <a:r>
              <a:rPr sz="1900" b="1" lang="ko-KR">
                <a:solidFill>
                  <a:srgbClr val="00306C"/>
                </a:solidFill>
                <a:latin typeface="Pretendard"/>
                <a:ea typeface="Pretendard"/>
                <a:cs typeface="Pretendard"/>
              </a:rPr>
              <a:t>목표  모델 간 단순 비교가 아니라, 새 표현이 데이터 상한과 feature–label 충돌을 완화하는지 검증</a:t>
            </a:r>
          </a:p>
        </p:txBody>
      </p:sp>
      <p:sp>
        <p:nvSpPr>
          <p:cNvPr id="19" name="TextBox 18"/>
          <p:cNvSpPr txBox="1"/>
          <p:nvPr/>
        </p:nvSpPr>
        <p:spPr>
          <a:xfrm>
            <a:off x="841248" y="5148072"/>
            <a:ext cx="10515600" cy="264287"/>
          </a:xfrm>
          <a:prstGeom prst="rect">
            <a:avLst/>
          </a:prstGeom>
          <a:noFill/>
          <a:effectLst/>
        </p:spPr>
        <p:txBody>
          <a:bodyPr wrap="none" anchor="t" lIns="0" rIns="0" tIns="0" bIns="0">
            <a:noAutofit/>
          </a:bodyPr>
          <a:lstStyle/>
          <a:p>
            <a:pPr algn="ctr">
              <a:lnSpc>
                <a:spcPct val="118000"/>
              </a:lnSpc>
              <a:spcBef>
                <a:spcPts val="0"/>
              </a:spcBef>
              <a:spcAft>
                <a:spcPts val="0"/>
              </a:spcAft>
            </a:pPr>
            <a:r>
              <a:rPr sz="1550" b="0" lang="ko-KR">
                <a:solidFill>
                  <a:srgbClr val="617080"/>
                </a:solidFill>
                <a:latin typeface="Pretendard"/>
                <a:ea typeface="Pretendard"/>
                <a:cs typeface="Pretendard"/>
              </a:rPr>
              <a:t>완화되면 기존 TabPFN·XGB 비교를 새 벡터에서 다시 수행하고, 남으면 PCAP 라벨 연결을 추가 감사</a:t>
            </a:r>
          </a:p>
        </p:txBody>
      </p:sp>
      <p:sp>
        <p:nvSpPr>
          <p:cNvPr id="20" name="Rectangle 19"/>
          <p:cNvSpPr/>
          <p:nvPr/>
        </p:nvSpPr>
        <p:spPr>
          <a:xfrm>
            <a:off x="0" y="6437376"/>
            <a:ext cx="12191999" cy="420624"/>
          </a:xfrm>
          <a:prstGeom prst="rect">
            <a:avLst/>
          </a:prstGeom>
          <a:solidFill>
            <a:srgbClr val="00306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48640" y="6537960"/>
            <a:ext cx="8732520" cy="241808"/>
          </a:xfrm>
          <a:prstGeom prst="rect">
            <a:avLst/>
          </a:prstGeom>
          <a:noFill/>
          <a:effectLst/>
        </p:spPr>
        <p:txBody>
          <a:bodyPr wrap="none" anchor="t" lIns="0" rIns="0" tIns="0" bIns="0">
            <a:noAutofit/>
          </a:bodyPr>
          <a:lstStyle/>
          <a:p>
            <a:pPr algn="l">
              <a:lnSpc>
                <a:spcPct val="118000"/>
              </a:lnSpc>
              <a:spcBef>
                <a:spcPts val="0"/>
              </a:spcBef>
              <a:spcAft>
                <a:spcPts val="0"/>
              </a:spcAft>
            </a:pPr>
            <a:r>
              <a:rPr sz="1400" b="0" lang="ko-KR">
                <a:solidFill>
                  <a:srgbClr val="FFFFFF"/>
                </a:solidFill>
                <a:latin typeface="Pretendard"/>
                <a:ea typeface="Pretendard"/>
                <a:cs typeface="Pretendard"/>
              </a:rPr>
              <a:t>CSV의 두 관측을 PCAP 기반 새 표현에서 재검증</a:t>
            </a:r>
          </a:p>
        </p:txBody>
      </p:sp>
      <p:sp>
        <p:nvSpPr>
          <p:cNvPr id="22" name="TextBox 21"/>
          <p:cNvSpPr txBox="1"/>
          <p:nvPr/>
        </p:nvSpPr>
        <p:spPr>
          <a:xfrm>
            <a:off x="9281160" y="6547104"/>
            <a:ext cx="1965960" cy="211836"/>
          </a:xfrm>
          <a:prstGeom prst="rect">
            <a:avLst/>
          </a:prstGeom>
          <a:noFill/>
          <a:effectLst/>
        </p:spPr>
        <p:txBody>
          <a:bodyPr wrap="none" anchor="t" lIns="0" rIns="0" tIns="0" bIns="0">
            <a:noAutofit/>
          </a:bodyPr>
          <a:lstStyle/>
          <a:p>
            <a:pPr algn="r">
              <a:lnSpc>
                <a:spcPct val="118000"/>
              </a:lnSpc>
              <a:spcBef>
                <a:spcPts val="0"/>
              </a:spcBef>
              <a:spcAft>
                <a:spcPts val="0"/>
              </a:spcAft>
            </a:pPr>
            <a:r>
              <a:rPr sz="1200" b="0" lang="ko-KR">
                <a:solidFill>
                  <a:srgbClr val="C9D8EB"/>
                </a:solidFill>
                <a:latin typeface="Pretendard"/>
                <a:ea typeface="Pretendard"/>
                <a:cs typeface="Pretendard"/>
              </a:rPr>
              <a:t>05 summary</a:t>
            </a:r>
          </a:p>
        </p:txBody>
      </p:sp>
      <p:sp>
        <p:nvSpPr>
          <p:cNvPr id="23" name="TextBox 22"/>
          <p:cNvSpPr txBox="1"/>
          <p:nvPr/>
        </p:nvSpPr>
        <p:spPr>
          <a:xfrm>
            <a:off x="11411712" y="6533388"/>
            <a:ext cx="256032" cy="241808"/>
          </a:xfrm>
          <a:prstGeom prst="rect">
            <a:avLst/>
          </a:prstGeom>
          <a:noFill/>
          <a:effectLst/>
        </p:spPr>
        <p:txBody>
          <a:bodyPr wrap="none" anchor="t" lIns="0" rIns="0" tIns="0" bIns="0">
            <a:noAutofit/>
          </a:bodyPr>
          <a:lstStyle/>
          <a:p>
            <a:pPr algn="r">
              <a:lnSpc>
                <a:spcPct val="118000"/>
              </a:lnSpc>
              <a:spcBef>
                <a:spcPts val="0"/>
              </a:spcBef>
              <a:spcAft>
                <a:spcPts val="0"/>
              </a:spcAft>
            </a:pPr>
            <a:r>
              <a:rPr sz="1400" b="0" lang="ko-KR">
                <a:solidFill>
                  <a:srgbClr val="FFFFFF"/>
                </a:solidFill>
                <a:latin typeface="Pretendard"/>
                <a:ea typeface="Pretendard"/>
                <a:cs typeface="Pretendard"/>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CIC CSV 입력의 한계와 PCAP 기반 재표현</dc:title>
  <dc:subject>원본 CIC2018 CSV 감사와 EXP87 long learning curve</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