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왼쪽부터 설명한다. 기존 실험과 많은 IDS 표 분류 연구는 제공된 CSV의 flow 통계 벡터를 바로 분류기의 입력으로 썼다. 이어서 오른쪽에서 그 CSV가 실험망 트래픽의 PCAP을 CICFlowMeter가 통신 단위로 묶고, 미리 정의된 통계량을 계산한 결과임을 보여 준다. 여기서 flow는 같은 연결에서 오간 요청·응답 패킷을 하나의 레코드로 모은 것이다. CICFlowMeter는 공격에 중요한 특징을 학습해 고르는 모델이 아니라, 구현에 정해진 flow·통계 정의로 수치를 계산하는 도구다. 따라서 어떤 패킷 순서와 내용이 최종 벡터에서 사라지는지도 이후 검증 대상이 된다.</a:t>
            </a:r>
          </a:p>
          <a:p/>
          <a:p>
            <a:r>
              <a:t>원문 근거</a:t>
            </a:r>
          </a:p>
          <a:p>
            <a:r>
              <a:t>CIC-IDS2017 official dataset</a:t>
            </a:r>
          </a:p>
          <a:p>
            <a:r>
              <a:t>UNB CIC, 2017</a:t>
            </a:r>
          </a:p>
          <a:p>
            <a:r>
              <a:t>PCAP, labeled CICFlowMeter CSV, capture setup and attack timetable</a:t>
            </a:r>
          </a:p>
          <a:p>
            <a:r>
              <a:t>https://www.unb.ca/cic/datasets/ids-2017.html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few-shot을 먼저 한 이유는 TabPFN의 우위를 주장하려는 것이 아니라, 기존 baseline이 일부 공격에서 이미 매우 높았기 때문이다. 클래스당 라벨을 n=2, 3, 5, 10, 20개로 줄이고 동일한 attack-only test로 분류해 조기 포화 여부를 본다. macro-F1은 n=2에서 n=20으로 XGB 60.0에서 78.1, TabPFN 65.1에서 78.3으로 올라가므로 전체 변화가 없다고 해석하지 않는다. 다만 n=10에서 n=20의 증가는 XGB 2.9%p, TabPFN 2.2%p로 둔화하고 DDoS·Bot은 n=20에서 98–99%에 도달한다. Web attacks는 11–12%에 머물러, 모든 공격이 쉬웠다는 뜻도 아니다. 이 결과는 정상 포함 IDS 성능이 아니며, 왜 특정 head가 쉽게 분리되는지와 tail의 낮은 성능 원인을 별도로 점검해야 한다.</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이 슬라이드의 감사는 기존 실험에 사용한 CIC2018 기반 46개 flow 통계 벡터를 대상으로 했다. 따라서 공식 CICFlowMeter CSV 원본 자체의 중복률이라고 바꾸어 말하지 않는다. 전체 2,011만 행 중 26.6%가 상이한 라벨을 가진 동일 벡터 그룹에 속했고, 그런 그룹은 20,609개였다. 예시 하나는 TCP의 매우 짧은 요청·응답 형태로, 정확히 같은 벡터가 brute force 386,780행과 DoS 105,550행에 붙어 있다. Infiltration과 Web attacks도 각각 benign과 상당수의 동일 벡터를 공유한다. 이것은 모든 라벨이 잘못되었다는 증거가 아니라, 현재 통계 표현만으로는 두 정답을 동시에 분리할 수 없거나 라벨 근거를 점검해야 한다는 증거다. 실제 full XGB에서 DoS·Infiltration이 상대적으로 낮게 남은 이유를 분석할 때 이 구조를 먼저 봐야 한다.</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앞 슬라이드가 우리 입력에서 직접 센 현상이라면, 이 슬라이드는 가능한 원인을 확인한 문헌 근거다. Engelen 등은 CICIDS2017의 TCP 종료 처리와 flow 경계 문제를 분석했다. Liu 등은 CIC2017·2018의 공격 수행·특징·라벨 오류를 재검토하고, 닫힌 FTP 포트로 인해 실제 brute force가 진행되지 않은 사례를 구분했다. Rosay 등은 세션 종료와 특징 계산에서 유사 flow에 다른 라벨이 생길 수 있는 경로를 논의했다. 이 논문들은 현재 46개 값이 일치한 모든 사례가 동일한 한 가지 오류 때문이라고 증명하지 않는다. 그래서 다음 단계는 PCAP에서 packet·flow·label 근거를 다시 연결해 표현 부족과 라벨 문제를 분리하는 것이다.</a:t>
            </a:r>
          </a:p>
          <a:p/>
          <a:p>
            <a:r>
              <a:t>원문 근거</a:t>
            </a:r>
          </a:p>
          <a:p>
            <a:r>
              <a:t>Troubleshooting an Intrusion Detection Dataset: the CICIDS2017 Case Study</a:t>
            </a:r>
          </a:p>
          <a:p>
            <a:r>
              <a:t>IEEE SPW / WTMC, 2021</a:t>
            </a:r>
          </a:p>
          <a:p>
            <a:r>
              <a:t>§III-A/B: first-FIN split, TCP appendices, ignored RST, timing/IP-only labels; §IV: reconstruction</a:t>
            </a:r>
          </a:p>
          <a:p>
            <a:r>
              <a:t>https://intrusion-detection.distrinet-research.be/WTMC2021/Resources/wtmc2021_Engelen_Troubleshooting.pdf</a:t>
            </a:r>
          </a:p>
          <a:p/>
          <a:p>
            <a:r>
              <a:t>Error Prevalence in NIDS datasets: A Case Study on CIC-IDS-2017 and CSE-CIC-IDS-2018</a:t>
            </a:r>
          </a:p>
          <a:p>
            <a:r>
              <a:t>IEEE CNS, 2022</a:t>
            </a:r>
          </a:p>
          <a:p>
            <a:r>
              <a:t>Author tools and dataset documentation, corrected labels updated 2023; 2018 FTP closed-port example</a:t>
            </a:r>
          </a:p>
          <a:p>
            <a:r>
              <a:t>https://intrusion-detection.distrinet-research.be/CNS2022/index.html</a:t>
            </a:r>
          </a:p>
          <a:p/>
          <a:p>
            <a:r>
              <a:t>Network Intrusion Detection: A Comprehensive Analysis of CIC-IDS2017</a:t>
            </a:r>
          </a:p>
          <a:p>
            <a:r>
              <a:t>ICISSP, 2022</a:t>
            </a:r>
          </a:p>
          <a:p>
            <a:r>
              <a:t>§3.2.2–3.2.5, especially improper session termination producing similar flows with different labels</a:t>
            </a:r>
          </a:p>
          <a:p>
            <a:r>
              <a:t>https://www.scitepress.org/Papers/2022/107740/107740.pdf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CICFlowMeter는 원시 패킷을 flow로 묶고 구현에 미리 정해진 통계량을 계산한다. 공격을 가장 잘 구분할 특징을 데이터에서 학습해 선택하는 인코더는 아니다. 따라서 현재 CSV에서 빠진 패킷 순서와 시간·헤더 상호작용이 분류에 필요한지 직접 확인할 여지가 있다. PCAP 인코더는 이런 정보를 사용해 새로운 벡터를 만들지만, 어떤 정보가 쓰이는지는 인코더에 따라 다르며 라벨 오류를 자동으로 고치지 않는다. 그래서 PCAP과 label rule을 분리해 보존하고, 새 벡터에서도 동일 입력·상이 라벨 비율과 baseline의 조기 포화를 각각 다시 측정한다. PCA는 벡터 차원을 맞추는 변환이며, 적합 자료는 학습 분할로 제한한다. 현재 제시한 인코더들은 앙상블이 아니라 같은 재사용 파이프라인에서 교체해 비교할 후보들이다.</a:t>
            </a:r>
          </a:p>
          <a:p/>
          <a:p>
            <a:r>
              <a:t>원문 근거</a:t>
            </a:r>
          </a:p>
          <a:p>
            <a:r>
              <a:t>netFound: Principled Design for Network Foundation Models</a:t>
            </a:r>
          </a:p>
          <a:p>
            <a:r>
              <a:t>arXiv v5 / implementation v2, 2026</a:t>
            </a:r>
          </a:p>
          <a:p>
            <a:r>
              <a:t>Frozen header/metadata encoder, excludes IP and payload; repo b3ab5a3, HF e27221d</a:t>
            </a:r>
          </a:p>
          <a:p>
            <a:r>
              <a:t>https://arxiv.org/abs/2310.17025v5</a:t>
            </a:r>
          </a:p>
          <a:p/>
          <a:p>
            <a:r>
              <a:t>ET-BERT: A Contextualized Datagram Representation with Pre-training Transformers for Encrypted Traffic Classification</a:t>
            </a:r>
          </a:p>
          <a:p>
            <a:r>
              <a:t>The Web Conference (WWW), 2022</a:t>
            </a:r>
          </a:p>
          <a:p>
            <a:r>
              <a:t>Datagram byte representations with Transformer; https://github.com/linwhitehat/ET-BERT</a:t>
            </a:r>
          </a:p>
          <a:p>
            <a:r>
              <a:t>https://arxiv.org/abs/2202.06335</a:t>
            </a:r>
          </a:p>
          <a:p/>
          <a:p>
            <a:r>
              <a:t>NetMamba: Efficient Network Traffic Classification via Pre-training Unidirectional Mamba</a:t>
            </a:r>
          </a:p>
          <a:p>
            <a:r>
              <a:t>IEEE ICNP, 2024</a:t>
            </a:r>
          </a:p>
          <a:p>
            <a:r>
              <a:t>Byte-sequence representation with state-space model; ICNP 2024 implementation, distinct from NetMamba+ 2026</a:t>
            </a:r>
          </a:p>
          <a:p>
            <a:r>
              <a:t>https://github.com/wangtz19/NetMamba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데이터 후보는 단순히 PCAP을 제공하는지보다, 새로 만든 flow와 원래 라벨 근거를 다시 연결할 수 있는지로 고른다. CIC2017과 CIC2018은 우선 대상이다. IoT-23은 개별 scenario의 PCAP과 라벨 Zeek connection log가 있어 작은 규모에서 연결 규칙을 먼저 검증할 후속 후보다. UNSW-NB15, TON_IoT, CICIoT2023은 원시 패킷과 부가 로그 또는 ground truth를 제공하지만, 각 자료의 label join 규칙은 별도 구현·감사가 필요하다. 이 표는 모든 데이터를 이미 다운로드하거나 재구축했다는 주장이 아니다.</a:t>
            </a:r>
          </a:p>
          <a:p/>
          <a:p>
            <a:r>
              <a:t>원문 근거</a:t>
            </a:r>
          </a:p>
          <a:p>
            <a:r>
              <a:t>CIC-IDS2017 official dataset</a:t>
            </a:r>
          </a:p>
          <a:p>
            <a:r>
              <a:t>UNB CIC, 2017</a:t>
            </a:r>
          </a:p>
          <a:p>
            <a:r>
              <a:t>PCAP, labeled CICFlowMeter CSV, capture setup and attack timetable</a:t>
            </a:r>
          </a:p>
          <a:p>
            <a:r>
              <a:t>https://www.unb.ca/cic/datasets/ids-2017.html</a:t>
            </a:r>
          </a:p>
          <a:p/>
          <a:p>
            <a:r>
              <a:t>CSE-CIC-IDS2018 official dataset</a:t>
            </a:r>
          </a:p>
          <a:p>
            <a:r>
              <a:t>UNB CIC, 2018</a:t>
            </a:r>
          </a:p>
          <a:p>
            <a:r>
              <a:t>PCAP/system logs, feature list and attack setup</a:t>
            </a:r>
          </a:p>
          <a:p>
            <a:r>
              <a:t>https://www.unb.ca/cic/datasets/ids-2018.html</a:t>
            </a:r>
          </a:p>
          <a:p/>
          <a:p>
            <a:r>
              <a:t>IoT-23: labeled malicious and benign IoT network traffic</a:t>
            </a:r>
          </a:p>
          <a:p>
            <a:r>
              <a:t>Stratosphere Laboratory, 2020</a:t>
            </a:r>
          </a:p>
          <a:p>
            <a:r>
              <a:t>20 malicious and 3 benign scenarios; PCAP plus labeled Zeek conn logs; use individual scenarios</a:t>
            </a:r>
          </a:p>
          <a:p>
            <a:r>
              <a:t>https://www.stratosphereips.org/datasets-iot23</a:t>
            </a:r>
          </a:p>
          <a:p/>
          <a:p>
            <a:r>
              <a:t>UNSW-NB15 official dataset</a:t>
            </a:r>
          </a:p>
          <a:p>
            <a:r>
              <a:t>UNSW, 2015</a:t>
            </a:r>
          </a:p>
          <a:p>
            <a:r>
              <a:t>100 GB PCAP; UNSW-NB15_GT.csv and LIST_EVENTS; flow join required</a:t>
            </a:r>
          </a:p>
          <a:p>
            <a:r>
              <a:t>https://research.unsw.edu.au/projects/unsw-nb15-dataset</a:t>
            </a:r>
          </a:p>
          <a:p/>
          <a:p>
            <a:r>
              <a:t>TON_IoT official datasets</a:t>
            </a:r>
          </a:p>
          <a:p>
            <a:r>
              <a:t>UNSW, 2020</a:t>
            </a:r>
          </a:p>
          <a:p>
            <a:r>
              <a:t>Network PCAP plus Zeek logs/CSV; distinguish network from telemetry/OS</a:t>
            </a:r>
          </a:p>
          <a:p>
            <a:r>
              <a:t>https://research.unsw.edu.au/projects/toniot-datasets</a:t>
            </a:r>
          </a:p>
          <a:p/>
          <a:p>
            <a:r>
              <a:t>CICIoT2023 official dataset</a:t>
            </a:r>
          </a:p>
          <a:p>
            <a:r>
              <a:t>UNB CIC, 2023</a:t>
            </a:r>
          </a:p>
          <a:p>
            <a:r>
              <a:t>PCAP and extracted CSV; 33 attacks/7 groups/105 devices; per-flow label reconstruction needs validation</a:t>
            </a:r>
          </a:p>
          <a:p>
            <a:r>
              <a:t>https://www.unb.ca/cic/datasets/iotdataset-2023.html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완료 실행은 tabpfn/results/v7/exp92/20261029_210839_cic2018_verified_pcap_4d62ceac이다. CIC2018의 2018-02-14 대상 host 한 대에서 패킷을 읽고 flow·라벨·분할 정보를 보존한 채 netFound embedding과 64차원 변환 벡터를 만들었다. 그룹 중복 없이 분리하고, 차원 축소 변환은 학습 행만으로 적합했다. 이 표본은 자연 클래스 분포 benchmark가 아니며 일부 라벨은 미확정으로 보존했다. 따라서 현재 파일럿으로 분류 성능, 정상 오탐률, TabPFN의 우위를 주장하지 않는다. 새 CIC2018 전체에서 공격군과 정상 범위를 확장한 뒤, 슬라이드 5의 두 감사와 기존 baseline·few-shot 조건을 같은 분할에서 반복하는 것이 다음 단계다.</a:t>
            </a:r>
          </a:p>
          <a:p/>
          <a:p>
            <a:r>
              <a:t>원문 근거</a:t>
            </a:r>
          </a:p>
          <a:p>
            <a:r>
              <a:t>CSE-CIC-IDS2018 public S3 bucket</a:t>
            </a:r>
          </a:p>
          <a:p>
            <a:r>
              <a:t>AWS Open Data Registry, 2018</a:t>
            </a:r>
          </a:p>
          <a:p>
            <a:r>
              <a:t>Public ca-central-1 bucket; actual selective member download recorded</a:t>
            </a:r>
          </a:p>
          <a:p>
            <a:r>
              <a:t>https://registry.opendata.aws/cse-cic-ids2018/</a:t>
            </a:r>
          </a:p>
          <a:p/>
          <a:p>
            <a:r>
              <a:t>Corrected CSE-CIC-IDS2018 labeling logic</a:t>
            </a:r>
          </a:p>
          <a:p>
            <a:r>
              <a:t>CNS2022 author supplement, updated 2023, 2022</a:t>
            </a:r>
          </a:p>
          <a:p>
            <a:r>
              <a:t>14 February FTP closed port and SSH rules, UTC microsecond boundaries</a:t>
            </a:r>
          </a:p>
          <a:p>
            <a:r>
              <a:t>https://intrusion-detection.distrinet-research.be/CNS2022/CSECICIDS2018.html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이 표는 기존 SOTA 비교의 역사적 결과다. 정제 후·정상 포함·100,000행 공통 학습·전체 test 조건으로, 본문 few-shot의 정제 전·정상 미포함·클래스당 n개 조건과 다르다. 주요 공격은 높지만 Infiltration과 Web은 낮아, 평균 수치만으로 데이터와 모델의 한계를 판단할 수 없었다. BoostPFN과 LoCalPFN은 TabPFN v1 기반이고 LoCalPFN은 validation fine-tuning을 사용했다. 이 수치를 새 PCAP 표현 또는 현재 제안 모델의 결과로 사용하지 않는다. 기존의 2×2 A–D 비교 계획 슬라이드는 이번 자료에서 제거했다. 아직 실행하지 않은 라벨 교정 arm을 현재 결론처럼 보이게 하고, CSV의 관측 문제와 PCAP 재구축의 동기를 끊었기 때문이다.</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intrusion-detection.distrinet-research.be/WTMC2021/Resources/wtmc2021_Engelen_Troubleshooting.pdf" TargetMode="External"/><Relationship Id="rId4" Type="http://schemas.openxmlformats.org/officeDocument/2006/relationships/hyperlink" Target="https://intrusion-detection.distrinet-research.be/CNS2022/index.html" TargetMode="External"/><Relationship Id="rId5" Type="http://schemas.openxmlformats.org/officeDocument/2006/relationships/hyperlink" Target="https://www.scitepress.org/Papers/2022/107740/107740.pdf"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www.unb.ca/cic/datasets/ids-2017.html" TargetMode="External"/><Relationship Id="rId4" Type="http://schemas.openxmlformats.org/officeDocument/2006/relationships/hyperlink" Target="https://www.unb.ca/cic/datasets/ids-2018.html" TargetMode="External"/><Relationship Id="rId5" Type="http://schemas.openxmlformats.org/officeDocument/2006/relationships/hyperlink" Target="https://www.stratosphereips.org/datasets-iot23" TargetMode="External"/><Relationship Id="rId6" Type="http://schemas.openxmlformats.org/officeDocument/2006/relationships/hyperlink" Target="https://research.unsw.edu.au/projects/unsw-nb15-dataset" TargetMode="External"/><Relationship Id="rId7" Type="http://schemas.openxmlformats.org/officeDocument/2006/relationships/hyperlink" Target="https://research.unsw.edu.au/projects/toniot-datasets" TargetMode="External"/><Relationship Id="rId8" Type="http://schemas.openxmlformats.org/officeDocument/2006/relationships/hyperlink" Target="https://www.unb.ca/cic/datasets/iotdataset-2023.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CIC-IDS2017은 PCAP과 CICFlowMeter CSV를 함께 제공</a:t>
            </a:r>
          </a:p>
        </p:txBody>
      </p:sp>
      <p:sp>
        <p:nvSpPr>
          <p:cNvPr id="3" name="TextBox 2"/>
          <p:cNvSpPr txBox="1"/>
          <p:nvPr/>
        </p:nvSpPr>
        <p:spPr>
          <a:xfrm>
            <a:off x="594360" y="1014984"/>
            <a:ext cx="4069080" cy="406654"/>
          </a:xfrm>
          <a:prstGeom prst="rect">
            <a:avLst/>
          </a:prstGeom>
          <a:noFill/>
          <a:effectLst/>
        </p:spPr>
        <p:txBody>
          <a:bodyPr wrap="none" anchor="t" lIns="0" rIns="0" tIns="0" bIns="0">
            <a:noAutofit/>
          </a:bodyPr>
          <a:lstStyle/>
          <a:p>
            <a:pPr algn="l">
              <a:lnSpc>
                <a:spcPct val="118000"/>
              </a:lnSpc>
              <a:spcBef>
                <a:spcPts val="0"/>
              </a:spcBef>
              <a:spcAft>
                <a:spcPts val="0"/>
              </a:spcAft>
            </a:pPr>
            <a:r>
              <a:rPr sz="2500" b="1" lang="ko-KR">
                <a:solidFill>
                  <a:srgbClr val="00306C"/>
                </a:solidFill>
                <a:latin typeface="Pretendard"/>
                <a:ea typeface="Pretendard"/>
                <a:cs typeface="Pretendard"/>
              </a:rPr>
              <a:t>기존 실험의 입력은 CSV였다</a:t>
            </a:r>
          </a:p>
        </p:txBody>
      </p:sp>
      <p:sp>
        <p:nvSpPr>
          <p:cNvPr id="4" name="TextBox 3"/>
          <p:cNvSpPr txBox="1"/>
          <p:nvPr/>
        </p:nvSpPr>
        <p:spPr>
          <a:xfrm>
            <a:off x="594360" y="1499616"/>
            <a:ext cx="4069080" cy="631443"/>
          </a:xfrm>
          <a:prstGeom prst="rect">
            <a:avLst/>
          </a:prstGeom>
          <a:noFill/>
          <a:effectLst/>
        </p:spPr>
        <p:txBody>
          <a:bodyPr wrap="none" anchor="t" lIns="0" rIns="0" tIns="0" bIns="0">
            <a:noAutofit/>
          </a:bodyPr>
          <a:lstStyle/>
          <a:p>
            <a:pPr algn="l">
              <a:lnSpc>
                <a:spcPct val="118000"/>
              </a:lnSpc>
              <a:spcBef>
                <a:spcPts val="0"/>
              </a:spcBef>
              <a:spcAft>
                <a:spcPts val="0"/>
              </a:spcAft>
            </a:pPr>
            <a:r>
              <a:rPr sz="2000" b="0" lang="ko-KR">
                <a:solidFill>
                  <a:srgbClr val="20262E"/>
                </a:solidFill>
                <a:latin typeface="Pretendard"/>
                <a:ea typeface="Pretendard"/>
                <a:cs typeface="Pretendard"/>
              </a:rPr>
              <a:t>CIC-IDS2017은 PCAP과</a:t>
            </a:r>
          </a:p>
          <a:p>
            <a:pPr algn="l">
              <a:lnSpc>
                <a:spcPct val="118000"/>
              </a:lnSpc>
              <a:spcBef>
                <a:spcPts val="0"/>
              </a:spcBef>
              <a:spcAft>
                <a:spcPts val="0"/>
              </a:spcAft>
            </a:pPr>
            <a:r>
              <a:rPr sz="2000" b="0" lang="ko-KR">
                <a:solidFill>
                  <a:srgbClr val="20262E"/>
                </a:solidFill>
                <a:latin typeface="Pretendard"/>
                <a:ea typeface="Pretendard"/>
                <a:cs typeface="Pretendard"/>
              </a:rPr>
              <a:t>특징 CSV·라벨을 함께 제공</a:t>
            </a:r>
          </a:p>
        </p:txBody>
      </p:sp>
      <p:sp>
        <p:nvSpPr>
          <p:cNvPr id="5" name="Rectangle 4"/>
          <p:cNvSpPr/>
          <p:nvPr/>
        </p:nvSpPr>
        <p:spPr>
          <a:xfrm>
            <a:off x="594360" y="2286000"/>
            <a:ext cx="4069080" cy="1152144"/>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594360" y="2286000"/>
            <a:ext cx="4069080"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740664" y="2368296"/>
            <a:ext cx="3776472"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그동안의 실험</a:t>
            </a:r>
          </a:p>
        </p:txBody>
      </p:sp>
      <p:sp>
        <p:nvSpPr>
          <p:cNvPr id="8" name="TextBox 7"/>
          <p:cNvSpPr txBox="1"/>
          <p:nvPr/>
        </p:nvSpPr>
        <p:spPr>
          <a:xfrm>
            <a:off x="758952" y="2944368"/>
            <a:ext cx="3739896" cy="601472"/>
          </a:xfrm>
          <a:prstGeom prst="rect">
            <a:avLst/>
          </a:prstGeom>
          <a:noFill/>
          <a:effectLst/>
        </p:spPr>
        <p:txBody>
          <a:bodyPr wrap="none" anchor="t" lIns="0" rIns="0" tIns="0" bIns="0">
            <a:noAutofit/>
          </a:bodyPr>
          <a:lstStyle/>
          <a:p>
            <a:pPr algn="l">
              <a:lnSpc>
                <a:spcPct val="118000"/>
              </a:lnSpc>
              <a:spcBef>
                <a:spcPts val="0"/>
              </a:spcBef>
              <a:spcAft>
                <a:spcPts val="0"/>
              </a:spcAft>
            </a:pPr>
            <a:r>
              <a:rPr sz="1900" b="0" lang="ko-KR">
                <a:solidFill>
                  <a:srgbClr val="20262E"/>
                </a:solidFill>
                <a:latin typeface="Pretendard"/>
                <a:ea typeface="Pretendard"/>
                <a:cs typeface="Pretendard"/>
              </a:rPr>
              <a:t>CSV의 flow 통계 벡터를</a:t>
            </a:r>
          </a:p>
          <a:p>
            <a:pPr algn="l">
              <a:lnSpc>
                <a:spcPct val="118000"/>
              </a:lnSpc>
              <a:spcBef>
                <a:spcPts val="0"/>
              </a:spcBef>
              <a:spcAft>
                <a:spcPts val="0"/>
              </a:spcAft>
            </a:pPr>
            <a:r>
              <a:rPr sz="1900" b="0" lang="ko-KR">
                <a:solidFill>
                  <a:srgbClr val="20262E"/>
                </a:solidFill>
                <a:latin typeface="Pretendard"/>
                <a:ea typeface="Pretendard"/>
                <a:cs typeface="Pretendard"/>
              </a:rPr>
              <a:t>XGB·TabPFN에 입력</a:t>
            </a:r>
          </a:p>
        </p:txBody>
      </p:sp>
      <p:sp>
        <p:nvSpPr>
          <p:cNvPr id="9" name="Rectangle 8"/>
          <p:cNvSpPr/>
          <p:nvPr/>
        </p:nvSpPr>
        <p:spPr>
          <a:xfrm>
            <a:off x="594360" y="3657600"/>
            <a:ext cx="4069080" cy="1152144"/>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594360" y="3657600"/>
            <a:ext cx="4069080"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40664" y="3739896"/>
            <a:ext cx="3776472"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일반적인 IDS 표 분류 연구</a:t>
            </a:r>
          </a:p>
        </p:txBody>
      </p:sp>
      <p:sp>
        <p:nvSpPr>
          <p:cNvPr id="12" name="TextBox 11"/>
          <p:cNvSpPr txBox="1"/>
          <p:nvPr/>
        </p:nvSpPr>
        <p:spPr>
          <a:xfrm>
            <a:off x="758952" y="4315968"/>
            <a:ext cx="3739896" cy="601472"/>
          </a:xfrm>
          <a:prstGeom prst="rect">
            <a:avLst/>
          </a:prstGeom>
          <a:noFill/>
          <a:effectLst/>
        </p:spPr>
        <p:txBody>
          <a:bodyPr wrap="none" anchor="t" lIns="0" rIns="0" tIns="0" bIns="0">
            <a:noAutofit/>
          </a:bodyPr>
          <a:lstStyle/>
          <a:p>
            <a:pPr algn="l">
              <a:lnSpc>
                <a:spcPct val="118000"/>
              </a:lnSpc>
              <a:spcBef>
                <a:spcPts val="0"/>
              </a:spcBef>
              <a:spcAft>
                <a:spcPts val="0"/>
              </a:spcAft>
            </a:pPr>
            <a:r>
              <a:rPr sz="1900" b="0" lang="ko-KR">
                <a:solidFill>
                  <a:srgbClr val="20262E"/>
                </a:solidFill>
                <a:latin typeface="Pretendard"/>
                <a:ea typeface="Pretendard"/>
                <a:cs typeface="Pretendard"/>
              </a:rPr>
              <a:t>제공된 CSV를 바로</a:t>
            </a:r>
          </a:p>
          <a:p>
            <a:pPr algn="l">
              <a:lnSpc>
                <a:spcPct val="118000"/>
              </a:lnSpc>
              <a:spcBef>
                <a:spcPts val="0"/>
              </a:spcBef>
              <a:spcAft>
                <a:spcPts val="0"/>
              </a:spcAft>
            </a:pPr>
            <a:r>
              <a:rPr sz="1900" b="0" lang="ko-KR">
                <a:solidFill>
                  <a:srgbClr val="20262E"/>
                </a:solidFill>
                <a:latin typeface="Pretendard"/>
                <a:ea typeface="Pretendard"/>
                <a:cs typeface="Pretendard"/>
              </a:rPr>
              <a:t>학습·평가 입력으로 사용</a:t>
            </a:r>
          </a:p>
        </p:txBody>
      </p:sp>
      <p:sp>
        <p:nvSpPr>
          <p:cNvPr id="13" name="TextBox 12"/>
          <p:cNvSpPr txBox="1"/>
          <p:nvPr/>
        </p:nvSpPr>
        <p:spPr>
          <a:xfrm>
            <a:off x="658368" y="5285232"/>
            <a:ext cx="3913632" cy="691388"/>
          </a:xfrm>
          <a:prstGeom prst="rect">
            <a:avLst/>
          </a:prstGeom>
          <a:noFill/>
          <a:effectLst/>
        </p:spPr>
        <p:txBody>
          <a:bodyPr wrap="none" anchor="t" lIns="0" rIns="0" tIns="0" bIns="0">
            <a:noAutofit/>
          </a:bodyPr>
          <a:lstStyle/>
          <a:p>
            <a:pPr algn="l">
              <a:lnSpc>
                <a:spcPct val="118000"/>
              </a:lnSpc>
              <a:spcBef>
                <a:spcPts val="0"/>
              </a:spcBef>
              <a:spcAft>
                <a:spcPts val="0"/>
              </a:spcAft>
            </a:pPr>
            <a:r>
              <a:rPr sz="2200" b="1" lang="ko-KR">
                <a:solidFill>
                  <a:srgbClr val="007BC6"/>
                </a:solidFill>
                <a:latin typeface="Pretendard"/>
                <a:ea typeface="Pretendard"/>
                <a:cs typeface="Pretendard"/>
              </a:rPr>
              <a:t>질문  이 CSV는 패킷에서</a:t>
            </a:r>
          </a:p>
          <a:p>
            <a:pPr algn="l">
              <a:lnSpc>
                <a:spcPct val="118000"/>
              </a:lnSpc>
              <a:spcBef>
                <a:spcPts val="0"/>
              </a:spcBef>
              <a:spcAft>
                <a:spcPts val="0"/>
              </a:spcAft>
            </a:pPr>
            <a:r>
              <a:rPr sz="2200" b="1" lang="ko-KR">
                <a:solidFill>
                  <a:srgbClr val="007BC6"/>
                </a:solidFill>
                <a:latin typeface="Pretendard"/>
                <a:ea typeface="Pretendard"/>
                <a:cs typeface="Pretendard"/>
              </a:rPr>
              <a:t>어떤 정보를 남긴 표현인가?</a:t>
            </a:r>
          </a:p>
        </p:txBody>
      </p:sp>
      <p:sp>
        <p:nvSpPr>
          <p:cNvPr id="14" name="TextBox 13"/>
          <p:cNvSpPr txBox="1"/>
          <p:nvPr/>
        </p:nvSpPr>
        <p:spPr>
          <a:xfrm>
            <a:off x="5102352" y="1014984"/>
            <a:ext cx="6172200" cy="406654"/>
          </a:xfrm>
          <a:prstGeom prst="rect">
            <a:avLst/>
          </a:prstGeom>
          <a:noFill/>
          <a:effectLst/>
        </p:spPr>
        <p:txBody>
          <a:bodyPr wrap="none" anchor="t" lIns="0" rIns="0" tIns="0" bIns="0">
            <a:noAutofit/>
          </a:bodyPr>
          <a:lstStyle/>
          <a:p>
            <a:pPr algn="l">
              <a:lnSpc>
                <a:spcPct val="118000"/>
              </a:lnSpc>
              <a:spcBef>
                <a:spcPts val="0"/>
              </a:spcBef>
              <a:spcAft>
                <a:spcPts val="0"/>
              </a:spcAft>
            </a:pPr>
            <a:r>
              <a:rPr sz="2500" b="1" lang="ko-KR">
                <a:solidFill>
                  <a:srgbClr val="00306C"/>
                </a:solidFill>
                <a:latin typeface="Pretendard"/>
                <a:ea typeface="Pretendard"/>
                <a:cs typeface="Pretendard"/>
              </a:rPr>
              <a:t>CIC-IDS2017에서 CSV가 만들어지는 과정</a:t>
            </a:r>
          </a:p>
        </p:txBody>
      </p:sp>
      <p:sp>
        <p:nvSpPr>
          <p:cNvPr id="15" name="Rectangle 14"/>
          <p:cNvSpPr/>
          <p:nvPr/>
        </p:nvSpPr>
        <p:spPr>
          <a:xfrm>
            <a:off x="5102352" y="1773936"/>
            <a:ext cx="1353312" cy="125272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ectangle 15"/>
          <p:cNvSpPr/>
          <p:nvPr/>
        </p:nvSpPr>
        <p:spPr>
          <a:xfrm>
            <a:off x="5102352" y="1773936"/>
            <a:ext cx="135331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5193792" y="1842516"/>
            <a:ext cx="117043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실험망</a:t>
            </a:r>
          </a:p>
        </p:txBody>
      </p:sp>
      <p:sp>
        <p:nvSpPr>
          <p:cNvPr id="18" name="TextBox 17"/>
          <p:cNvSpPr txBox="1"/>
          <p:nvPr/>
        </p:nvSpPr>
        <p:spPr>
          <a:xfrm>
            <a:off x="5212080" y="2350008"/>
            <a:ext cx="1133856" cy="496569"/>
          </a:xfrm>
          <a:prstGeom prst="rect">
            <a:avLst/>
          </a:prstGeom>
          <a:noFill/>
          <a:effectLst/>
        </p:spPr>
        <p:txBody>
          <a:bodyPr wrap="none" anchor="t" lIns="0" rIns="0" tIns="0" bIns="0">
            <a:noAutofit/>
          </a:bodyPr>
          <a:lstStyle/>
          <a:p>
            <a:pPr algn="ctr">
              <a:lnSpc>
                <a:spcPct val="118000"/>
              </a:lnSpc>
              <a:spcBef>
                <a:spcPts val="0"/>
              </a:spcBef>
              <a:spcAft>
                <a:spcPts val="0"/>
              </a:spcAft>
            </a:pPr>
            <a:r>
              <a:rPr sz="1550" b="0" lang="ko-KR">
                <a:solidFill>
                  <a:srgbClr val="20262E"/>
                </a:solidFill>
                <a:latin typeface="Pretendard"/>
                <a:ea typeface="Pretendard"/>
                <a:cs typeface="Pretendard"/>
              </a:rPr>
              <a:t>정상·공격</a:t>
            </a:r>
          </a:p>
          <a:p>
            <a:pPr algn="ctr">
              <a:lnSpc>
                <a:spcPct val="118000"/>
              </a:lnSpc>
              <a:spcBef>
                <a:spcPts val="0"/>
              </a:spcBef>
              <a:spcAft>
                <a:spcPts val="0"/>
              </a:spcAft>
            </a:pPr>
            <a:r>
              <a:rPr sz="1550" b="0" lang="ko-KR">
                <a:solidFill>
                  <a:srgbClr val="20262E"/>
                </a:solidFill>
                <a:latin typeface="Pretendard"/>
                <a:ea typeface="Pretendard"/>
                <a:cs typeface="Pretendard"/>
              </a:rPr>
              <a:t>트래픽</a:t>
            </a:r>
          </a:p>
        </p:txBody>
      </p:sp>
      <p:sp>
        <p:nvSpPr>
          <p:cNvPr id="19" name="Rectangle 18"/>
          <p:cNvSpPr/>
          <p:nvPr/>
        </p:nvSpPr>
        <p:spPr>
          <a:xfrm>
            <a:off x="6748272" y="1773936"/>
            <a:ext cx="1353312" cy="125272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6748272" y="1773936"/>
            <a:ext cx="135331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839712" y="1842516"/>
            <a:ext cx="117043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PCAP</a:t>
            </a:r>
          </a:p>
        </p:txBody>
      </p:sp>
      <p:sp>
        <p:nvSpPr>
          <p:cNvPr id="22" name="TextBox 21"/>
          <p:cNvSpPr txBox="1"/>
          <p:nvPr/>
        </p:nvSpPr>
        <p:spPr>
          <a:xfrm>
            <a:off x="6858000" y="2350008"/>
            <a:ext cx="1133856" cy="496569"/>
          </a:xfrm>
          <a:prstGeom prst="rect">
            <a:avLst/>
          </a:prstGeom>
          <a:noFill/>
          <a:effectLst/>
        </p:spPr>
        <p:txBody>
          <a:bodyPr wrap="none" anchor="t" lIns="0" rIns="0" tIns="0" bIns="0">
            <a:noAutofit/>
          </a:bodyPr>
          <a:lstStyle/>
          <a:p>
            <a:pPr algn="ctr">
              <a:lnSpc>
                <a:spcPct val="118000"/>
              </a:lnSpc>
              <a:spcBef>
                <a:spcPts val="0"/>
              </a:spcBef>
              <a:spcAft>
                <a:spcPts val="0"/>
              </a:spcAft>
            </a:pPr>
            <a:r>
              <a:rPr sz="1550" b="0" lang="ko-KR">
                <a:solidFill>
                  <a:srgbClr val="20262E"/>
                </a:solidFill>
                <a:latin typeface="Pretendard"/>
                <a:ea typeface="Pretendard"/>
                <a:cs typeface="Pretendard"/>
              </a:rPr>
              <a:t>시간순 원시</a:t>
            </a:r>
          </a:p>
          <a:p>
            <a:pPr algn="ctr">
              <a:lnSpc>
                <a:spcPct val="118000"/>
              </a:lnSpc>
              <a:spcBef>
                <a:spcPts val="0"/>
              </a:spcBef>
              <a:spcAft>
                <a:spcPts val="0"/>
              </a:spcAft>
            </a:pPr>
            <a:r>
              <a:rPr sz="1550" b="0" lang="ko-KR">
                <a:solidFill>
                  <a:srgbClr val="20262E"/>
                </a:solidFill>
                <a:latin typeface="Pretendard"/>
                <a:ea typeface="Pretendard"/>
                <a:cs typeface="Pretendard"/>
              </a:rPr>
              <a:t>패킷 기록</a:t>
            </a:r>
          </a:p>
        </p:txBody>
      </p:sp>
      <p:sp>
        <p:nvSpPr>
          <p:cNvPr id="23" name="Rectangle 22"/>
          <p:cNvSpPr/>
          <p:nvPr/>
        </p:nvSpPr>
        <p:spPr>
          <a:xfrm>
            <a:off x="8394192" y="1773936"/>
            <a:ext cx="1828800" cy="125272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ectangle 23"/>
          <p:cNvSpPr/>
          <p:nvPr/>
        </p:nvSpPr>
        <p:spPr>
          <a:xfrm>
            <a:off x="8394192" y="1773936"/>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8485632" y="1842516"/>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CICFlowMeter</a:t>
            </a:r>
          </a:p>
        </p:txBody>
      </p:sp>
      <p:sp>
        <p:nvSpPr>
          <p:cNvPr id="26" name="TextBox 25"/>
          <p:cNvSpPr txBox="1"/>
          <p:nvPr/>
        </p:nvSpPr>
        <p:spPr>
          <a:xfrm>
            <a:off x="8503919" y="2350008"/>
            <a:ext cx="1609344" cy="496569"/>
          </a:xfrm>
          <a:prstGeom prst="rect">
            <a:avLst/>
          </a:prstGeom>
          <a:noFill/>
          <a:effectLst/>
        </p:spPr>
        <p:txBody>
          <a:bodyPr wrap="none" anchor="t" lIns="0" rIns="0" tIns="0" bIns="0">
            <a:noAutofit/>
          </a:bodyPr>
          <a:lstStyle/>
          <a:p>
            <a:pPr algn="ctr">
              <a:lnSpc>
                <a:spcPct val="118000"/>
              </a:lnSpc>
              <a:spcBef>
                <a:spcPts val="0"/>
              </a:spcBef>
              <a:spcAft>
                <a:spcPts val="0"/>
              </a:spcAft>
            </a:pPr>
            <a:r>
              <a:rPr sz="1550" b="0" lang="ko-KR">
                <a:solidFill>
                  <a:srgbClr val="20262E"/>
                </a:solidFill>
                <a:latin typeface="Pretendard"/>
                <a:ea typeface="Pretendard"/>
                <a:cs typeface="Pretendard"/>
              </a:rPr>
              <a:t>통신 단위로 묶고</a:t>
            </a:r>
          </a:p>
          <a:p>
            <a:pPr algn="ctr">
              <a:lnSpc>
                <a:spcPct val="118000"/>
              </a:lnSpc>
              <a:spcBef>
                <a:spcPts val="0"/>
              </a:spcBef>
              <a:spcAft>
                <a:spcPts val="0"/>
              </a:spcAft>
            </a:pPr>
            <a:r>
              <a:rPr sz="1550" b="0" lang="ko-KR">
                <a:solidFill>
                  <a:srgbClr val="20262E"/>
                </a:solidFill>
                <a:latin typeface="Pretendard"/>
                <a:ea typeface="Pretendard"/>
                <a:cs typeface="Pretendard"/>
              </a:rPr>
              <a:t>고정 통계량 계산</a:t>
            </a:r>
          </a:p>
        </p:txBody>
      </p:sp>
      <p:sp>
        <p:nvSpPr>
          <p:cNvPr id="27" name="Rectangle 26"/>
          <p:cNvSpPr/>
          <p:nvPr/>
        </p:nvSpPr>
        <p:spPr>
          <a:xfrm>
            <a:off x="10469880" y="1773936"/>
            <a:ext cx="1078992" cy="125272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ectangle 27"/>
          <p:cNvSpPr/>
          <p:nvPr/>
        </p:nvSpPr>
        <p:spPr>
          <a:xfrm>
            <a:off x="10469880" y="1773936"/>
            <a:ext cx="107899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10561319" y="1842516"/>
            <a:ext cx="89611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CSV</a:t>
            </a:r>
          </a:p>
        </p:txBody>
      </p:sp>
      <p:sp>
        <p:nvSpPr>
          <p:cNvPr id="30" name="TextBox 29"/>
          <p:cNvSpPr txBox="1"/>
          <p:nvPr/>
        </p:nvSpPr>
        <p:spPr>
          <a:xfrm>
            <a:off x="10579607" y="2350008"/>
            <a:ext cx="859536" cy="496569"/>
          </a:xfrm>
          <a:prstGeom prst="rect">
            <a:avLst/>
          </a:prstGeom>
          <a:noFill/>
          <a:effectLst/>
        </p:spPr>
        <p:txBody>
          <a:bodyPr wrap="none" anchor="t" lIns="0" rIns="0" tIns="0" bIns="0">
            <a:noAutofit/>
          </a:bodyPr>
          <a:lstStyle/>
          <a:p>
            <a:pPr algn="ctr">
              <a:lnSpc>
                <a:spcPct val="118000"/>
              </a:lnSpc>
              <a:spcBef>
                <a:spcPts val="0"/>
              </a:spcBef>
              <a:spcAft>
                <a:spcPts val="0"/>
              </a:spcAft>
            </a:pPr>
            <a:r>
              <a:rPr sz="1550" b="0" lang="ko-KR">
                <a:solidFill>
                  <a:srgbClr val="20262E"/>
                </a:solidFill>
                <a:latin typeface="Pretendard"/>
                <a:ea typeface="Pretendard"/>
                <a:cs typeface="Pretendard"/>
              </a:rPr>
              <a:t>숫자 벡터</a:t>
            </a:r>
          </a:p>
          <a:p>
            <a:pPr algn="ctr">
              <a:lnSpc>
                <a:spcPct val="118000"/>
              </a:lnSpc>
              <a:spcBef>
                <a:spcPts val="0"/>
              </a:spcBef>
              <a:spcAft>
                <a:spcPts val="0"/>
              </a:spcAft>
            </a:pPr>
            <a:r>
              <a:rPr sz="1550" b="0" lang="ko-KR">
                <a:solidFill>
                  <a:srgbClr val="20262E"/>
                </a:solidFill>
                <a:latin typeface="Pretendard"/>
                <a:ea typeface="Pretendard"/>
                <a:cs typeface="Pretendard"/>
              </a:rPr>
              <a:t>+ 라벨</a:t>
            </a:r>
          </a:p>
        </p:txBody>
      </p:sp>
      <p:sp>
        <p:nvSpPr>
          <p:cNvPr id="31" name="Right Arrow 30"/>
          <p:cNvSpPr/>
          <p:nvPr/>
        </p:nvSpPr>
        <p:spPr>
          <a:xfrm>
            <a:off x="6501384" y="2240280"/>
            <a:ext cx="164592"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ight Arrow 31"/>
          <p:cNvSpPr/>
          <p:nvPr/>
        </p:nvSpPr>
        <p:spPr>
          <a:xfrm>
            <a:off x="8147304" y="2240280"/>
            <a:ext cx="164592"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Right Arrow 32"/>
          <p:cNvSpPr/>
          <p:nvPr/>
        </p:nvSpPr>
        <p:spPr>
          <a:xfrm>
            <a:off x="10222992" y="2240280"/>
            <a:ext cx="164592"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8394192" y="3191256"/>
            <a:ext cx="3675887" cy="511555"/>
          </a:xfrm>
          <a:prstGeom prst="rect">
            <a:avLst/>
          </a:prstGeom>
          <a:noFill/>
          <a:effectLst/>
        </p:spPr>
        <p:txBody>
          <a:bodyPr wrap="none" anchor="t" lIns="0" rIns="0" tIns="0" bIns="0">
            <a:noAutofit/>
          </a:bodyPr>
          <a:lstStyle/>
          <a:p>
            <a:pPr algn="ctr">
              <a:lnSpc>
                <a:spcPct val="118000"/>
              </a:lnSpc>
              <a:spcBef>
                <a:spcPts val="0"/>
              </a:spcBef>
              <a:spcAft>
                <a:spcPts val="0"/>
              </a:spcAft>
            </a:pPr>
            <a:r>
              <a:rPr sz="1600" b="0" lang="ko-KR">
                <a:solidFill>
                  <a:srgbClr val="617080"/>
                </a:solidFill>
                <a:latin typeface="Pretendard"/>
                <a:ea typeface="Pretendard"/>
                <a:cs typeface="Pretendard"/>
              </a:rPr>
              <a:t>하나의 연결에서 오간 요청·응답 패킷을</a:t>
            </a:r>
          </a:p>
          <a:p>
            <a:pPr algn="ctr">
              <a:lnSpc>
                <a:spcPct val="118000"/>
              </a:lnSpc>
              <a:spcBef>
                <a:spcPts val="0"/>
              </a:spcBef>
              <a:spcAft>
                <a:spcPts val="0"/>
              </a:spcAft>
            </a:pPr>
            <a:r>
              <a:rPr sz="1600" b="0" lang="ko-KR">
                <a:solidFill>
                  <a:srgbClr val="617080"/>
                </a:solidFill>
                <a:latin typeface="Pretendard"/>
                <a:ea typeface="Pretendard"/>
                <a:cs typeface="Pretendard"/>
              </a:rPr>
              <a:t>한 flow 레코드로 묶음</a:t>
            </a:r>
          </a:p>
        </p:txBody>
      </p:sp>
      <p:sp>
        <p:nvSpPr>
          <p:cNvPr id="35" name="TextBox 34"/>
          <p:cNvSpPr txBox="1"/>
          <p:nvPr/>
        </p:nvSpPr>
        <p:spPr>
          <a:xfrm>
            <a:off x="5102352" y="3794760"/>
            <a:ext cx="6400800" cy="331724"/>
          </a:xfrm>
          <a:prstGeom prst="rect">
            <a:avLst/>
          </a:prstGeom>
          <a:noFill/>
          <a:effectLst/>
        </p:spPr>
        <p:txBody>
          <a:bodyPr wrap="none" anchor="t" lIns="0" rIns="0" tIns="0" bIns="0">
            <a:noAutofit/>
          </a:bodyPr>
          <a:lstStyle/>
          <a:p>
            <a:pPr algn="l">
              <a:lnSpc>
                <a:spcPct val="118000"/>
              </a:lnSpc>
              <a:spcBef>
                <a:spcPts val="0"/>
              </a:spcBef>
              <a:spcAft>
                <a:spcPts val="0"/>
              </a:spcAft>
            </a:pPr>
            <a:r>
              <a:rPr sz="2000" b="1" lang="ko-KR">
                <a:solidFill>
                  <a:srgbClr val="00306C"/>
                </a:solidFill>
                <a:latin typeface="Pretendard"/>
                <a:ea typeface="Pretendard"/>
                <a:cs typeface="Pretendard"/>
              </a:rPr>
              <a:t>CSV에 남는 특징의 예</a:t>
            </a:r>
          </a:p>
        </p:txBody>
      </p:sp>
      <p:sp>
        <p:nvSpPr>
          <p:cNvPr id="36" name="Rectangle 35"/>
          <p:cNvSpPr/>
          <p:nvPr/>
        </p:nvSpPr>
        <p:spPr>
          <a:xfrm>
            <a:off x="5102352" y="4270248"/>
            <a:ext cx="1901952" cy="1143000"/>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Rectangle 36"/>
          <p:cNvSpPr/>
          <p:nvPr/>
        </p:nvSpPr>
        <p:spPr>
          <a:xfrm>
            <a:off x="5102352" y="4270248"/>
            <a:ext cx="190195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5193792" y="4338828"/>
            <a:ext cx="171907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지속 시간</a:t>
            </a:r>
          </a:p>
        </p:txBody>
      </p:sp>
      <p:sp>
        <p:nvSpPr>
          <p:cNvPr id="39" name="TextBox 38"/>
          <p:cNvSpPr txBox="1"/>
          <p:nvPr/>
        </p:nvSpPr>
        <p:spPr>
          <a:xfrm>
            <a:off x="5212080" y="4846320"/>
            <a:ext cx="1682496" cy="451612"/>
          </a:xfrm>
          <a:prstGeom prst="rect">
            <a:avLst/>
          </a:prstGeom>
          <a:noFill/>
          <a:effectLst/>
        </p:spPr>
        <p:txBody>
          <a:bodyPr wrap="none" anchor="t" lIns="0" rIns="0" tIns="0" bIns="0">
            <a:noAutofit/>
          </a:bodyPr>
          <a:lstStyle/>
          <a:p>
            <a:pPr algn="ctr">
              <a:lnSpc>
                <a:spcPct val="118000"/>
              </a:lnSpc>
              <a:spcBef>
                <a:spcPts val="0"/>
              </a:spcBef>
              <a:spcAft>
                <a:spcPts val="0"/>
              </a:spcAft>
            </a:pPr>
            <a:r>
              <a:rPr sz="1400" b="0" lang="ko-KR">
                <a:solidFill>
                  <a:srgbClr val="20262E"/>
                </a:solidFill>
                <a:latin typeface="Pretendard"/>
                <a:ea typeface="Pretendard"/>
                <a:cs typeface="Pretendard"/>
              </a:rPr>
              <a:t>첫 패킷부터</a:t>
            </a:r>
          </a:p>
          <a:p>
            <a:pPr algn="ctr">
              <a:lnSpc>
                <a:spcPct val="118000"/>
              </a:lnSpc>
              <a:spcBef>
                <a:spcPts val="0"/>
              </a:spcBef>
              <a:spcAft>
                <a:spcPts val="0"/>
              </a:spcAft>
            </a:pPr>
            <a:r>
              <a:rPr sz="1400" b="0" lang="ko-KR">
                <a:solidFill>
                  <a:srgbClr val="20262E"/>
                </a:solidFill>
                <a:latin typeface="Pretendard"/>
                <a:ea typeface="Pretendard"/>
                <a:cs typeface="Pretendard"/>
              </a:rPr>
              <a:t>마지막 패킷까지</a:t>
            </a:r>
          </a:p>
        </p:txBody>
      </p:sp>
      <p:sp>
        <p:nvSpPr>
          <p:cNvPr id="40" name="Rectangle 39"/>
          <p:cNvSpPr/>
          <p:nvPr/>
        </p:nvSpPr>
        <p:spPr>
          <a:xfrm>
            <a:off x="7251192" y="4270248"/>
            <a:ext cx="1901952" cy="1143000"/>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Rectangle 40"/>
          <p:cNvSpPr/>
          <p:nvPr/>
        </p:nvSpPr>
        <p:spPr>
          <a:xfrm>
            <a:off x="7251192" y="4270248"/>
            <a:ext cx="190195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7342631" y="4338828"/>
            <a:ext cx="171907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순방향 패킷 수</a:t>
            </a:r>
          </a:p>
        </p:txBody>
      </p:sp>
      <p:sp>
        <p:nvSpPr>
          <p:cNvPr id="43" name="TextBox 42"/>
          <p:cNvSpPr txBox="1"/>
          <p:nvPr/>
        </p:nvSpPr>
        <p:spPr>
          <a:xfrm>
            <a:off x="7360919" y="4846320"/>
            <a:ext cx="1682496" cy="451612"/>
          </a:xfrm>
          <a:prstGeom prst="rect">
            <a:avLst/>
          </a:prstGeom>
          <a:noFill/>
          <a:effectLst/>
        </p:spPr>
        <p:txBody>
          <a:bodyPr wrap="none" anchor="t" lIns="0" rIns="0" tIns="0" bIns="0">
            <a:noAutofit/>
          </a:bodyPr>
          <a:lstStyle/>
          <a:p>
            <a:pPr algn="ctr">
              <a:lnSpc>
                <a:spcPct val="118000"/>
              </a:lnSpc>
              <a:spcBef>
                <a:spcPts val="0"/>
              </a:spcBef>
              <a:spcAft>
                <a:spcPts val="0"/>
              </a:spcAft>
            </a:pPr>
            <a:r>
              <a:rPr sz="1400" b="0" lang="ko-KR">
                <a:solidFill>
                  <a:srgbClr val="20262E"/>
                </a:solidFill>
                <a:latin typeface="Pretendard"/>
                <a:ea typeface="Pretendard"/>
                <a:cs typeface="Pretendard"/>
              </a:rPr>
              <a:t>한 방향으로</a:t>
            </a:r>
          </a:p>
          <a:p>
            <a:pPr algn="ctr">
              <a:lnSpc>
                <a:spcPct val="118000"/>
              </a:lnSpc>
              <a:spcBef>
                <a:spcPts val="0"/>
              </a:spcBef>
              <a:spcAft>
                <a:spcPts val="0"/>
              </a:spcAft>
            </a:pPr>
            <a:r>
              <a:rPr sz="1400" b="0" lang="ko-KR">
                <a:solidFill>
                  <a:srgbClr val="20262E"/>
                </a:solidFill>
                <a:latin typeface="Pretendard"/>
                <a:ea typeface="Pretendard"/>
                <a:cs typeface="Pretendard"/>
              </a:rPr>
              <a:t>보낸 패킷 수</a:t>
            </a:r>
          </a:p>
        </p:txBody>
      </p:sp>
      <p:sp>
        <p:nvSpPr>
          <p:cNvPr id="44" name="Rectangle 43"/>
          <p:cNvSpPr/>
          <p:nvPr/>
        </p:nvSpPr>
        <p:spPr>
          <a:xfrm>
            <a:off x="9400032" y="4270248"/>
            <a:ext cx="1901952" cy="1143000"/>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Rectangle 44"/>
          <p:cNvSpPr/>
          <p:nvPr/>
        </p:nvSpPr>
        <p:spPr>
          <a:xfrm>
            <a:off x="9400032" y="4270248"/>
            <a:ext cx="190195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9491472" y="4338828"/>
            <a:ext cx="171907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순방향 평균 길이</a:t>
            </a:r>
          </a:p>
        </p:txBody>
      </p:sp>
      <p:sp>
        <p:nvSpPr>
          <p:cNvPr id="47" name="TextBox 46"/>
          <p:cNvSpPr txBox="1"/>
          <p:nvPr/>
        </p:nvSpPr>
        <p:spPr>
          <a:xfrm>
            <a:off x="9509759" y="4846320"/>
            <a:ext cx="1682496" cy="451612"/>
          </a:xfrm>
          <a:prstGeom prst="rect">
            <a:avLst/>
          </a:prstGeom>
          <a:noFill/>
          <a:effectLst/>
        </p:spPr>
        <p:txBody>
          <a:bodyPr wrap="none" anchor="t" lIns="0" rIns="0" tIns="0" bIns="0">
            <a:noAutofit/>
          </a:bodyPr>
          <a:lstStyle/>
          <a:p>
            <a:pPr algn="ctr">
              <a:lnSpc>
                <a:spcPct val="118000"/>
              </a:lnSpc>
              <a:spcBef>
                <a:spcPts val="0"/>
              </a:spcBef>
              <a:spcAft>
                <a:spcPts val="0"/>
              </a:spcAft>
            </a:pPr>
            <a:r>
              <a:rPr sz="1400" b="0" lang="ko-KR">
                <a:solidFill>
                  <a:srgbClr val="20262E"/>
                </a:solidFill>
                <a:latin typeface="Pretendard"/>
                <a:ea typeface="Pretendard"/>
                <a:cs typeface="Pretendard"/>
              </a:rPr>
              <a:t>한 방향 패킷</a:t>
            </a:r>
          </a:p>
          <a:p>
            <a:pPr algn="ctr">
              <a:lnSpc>
                <a:spcPct val="118000"/>
              </a:lnSpc>
              <a:spcBef>
                <a:spcPts val="0"/>
              </a:spcBef>
              <a:spcAft>
                <a:spcPts val="0"/>
              </a:spcAft>
            </a:pPr>
            <a:r>
              <a:rPr sz="1400" b="0" lang="ko-KR">
                <a:solidFill>
                  <a:srgbClr val="20262E"/>
                </a:solidFill>
                <a:latin typeface="Pretendard"/>
                <a:ea typeface="Pretendard"/>
                <a:cs typeface="Pretendard"/>
              </a:rPr>
              <a:t>길이의 평균</a:t>
            </a:r>
          </a:p>
        </p:txBody>
      </p:sp>
      <p:sp>
        <p:nvSpPr>
          <p:cNvPr id="48" name="TextBox 47"/>
          <p:cNvSpPr txBox="1"/>
          <p:nvPr/>
        </p:nvSpPr>
        <p:spPr>
          <a:xfrm>
            <a:off x="5138928" y="5724144"/>
            <a:ext cx="6355080"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1" lang="ko-KR">
                <a:solidFill>
                  <a:srgbClr val="007BC6"/>
                </a:solidFill>
                <a:latin typeface="Pretendard"/>
                <a:ea typeface="Pretendard"/>
                <a:cs typeface="Pretendard"/>
              </a:rPr>
              <a:t>[지속시간, 패킷 수, 평균 길이, …]  →  분류 모델 입력</a:t>
            </a:r>
          </a:p>
        </p:txBody>
      </p:sp>
      <p:sp>
        <p:nvSpPr>
          <p:cNvPr id="49" name="Rectangle 48"/>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CSV 기반 기존 실험에서 시작해, 그 입력이 패킷을 어떻게 요약했는지 확인</a:t>
            </a:r>
          </a:p>
        </p:txBody>
      </p:sp>
      <p:sp>
        <p:nvSpPr>
          <p:cNvPr id="51" name="TextBox 50"/>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01 기존 CSV와 진단</a:t>
            </a:r>
          </a:p>
        </p:txBody>
      </p:sp>
      <p:sp>
        <p:nvSpPr>
          <p:cNvPr id="52" name="TextBox 51"/>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few-shot은 높은 baseline을 점검한 진단</a:t>
            </a:r>
          </a:p>
        </p:txBody>
      </p:sp>
      <p:sp>
        <p:nvSpPr>
          <p:cNvPr id="3" name="TextBox 2"/>
          <p:cNvSpPr txBox="1"/>
          <p:nvPr/>
        </p:nvSpPr>
        <p:spPr>
          <a:xfrm>
            <a:off x="594360" y="1005840"/>
            <a:ext cx="10972800" cy="361696"/>
          </a:xfrm>
          <a:prstGeom prst="rect">
            <a:avLst/>
          </a:prstGeom>
          <a:noFill/>
          <a:effectLst/>
        </p:spPr>
        <p:txBody>
          <a:bodyPr wrap="none" anchor="t" lIns="0" rIns="0" tIns="0" bIns="0">
            <a:noAutofit/>
          </a:bodyPr>
          <a:lstStyle/>
          <a:p>
            <a:pPr algn="l">
              <a:lnSpc>
                <a:spcPct val="118000"/>
              </a:lnSpc>
              <a:spcBef>
                <a:spcPts val="0"/>
              </a:spcBef>
              <a:spcAft>
                <a:spcPts val="0"/>
              </a:spcAft>
            </a:pPr>
            <a:r>
              <a:rPr sz="2200" b="1" lang="ko-KR">
                <a:solidFill>
                  <a:srgbClr val="00306C"/>
                </a:solidFill>
                <a:latin typeface="Pretendard"/>
                <a:ea typeface="Pretendard"/>
                <a:cs typeface="Pretendard"/>
              </a:rPr>
              <a:t>일부 공격의 baseline이 이미 높았다  →  라벨을 극단적으로 줄여도 같은가?</a:t>
            </a:r>
          </a:p>
        </p:txBody>
      </p:sp>
      <p:sp>
        <p:nvSpPr>
          <p:cNvPr id="4" name="Rectangle 3"/>
          <p:cNvSpPr/>
          <p:nvPr/>
        </p:nvSpPr>
        <p:spPr>
          <a:xfrm>
            <a:off x="594360" y="1545336"/>
            <a:ext cx="3456432" cy="822960"/>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594360" y="1545336"/>
            <a:ext cx="345643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1613916"/>
            <a:ext cx="3273551"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출발점</a:t>
            </a:r>
          </a:p>
        </p:txBody>
      </p:sp>
      <p:sp>
        <p:nvSpPr>
          <p:cNvPr id="7" name="TextBox 6"/>
          <p:cNvSpPr txBox="1"/>
          <p:nvPr/>
        </p:nvSpPr>
        <p:spPr>
          <a:xfrm>
            <a:off x="704088" y="2121408"/>
            <a:ext cx="3236976" cy="271779"/>
          </a:xfrm>
          <a:prstGeom prst="rect">
            <a:avLst/>
          </a:prstGeom>
          <a:noFill/>
          <a:effectLst/>
        </p:spPr>
        <p:txBody>
          <a:bodyPr wrap="none" anchor="t" lIns="0" rIns="0" tIns="0" bIns="0">
            <a:noAutofit/>
          </a:bodyPr>
          <a:lstStyle/>
          <a:p>
            <a:pPr algn="ctr">
              <a:lnSpc>
                <a:spcPct val="118000"/>
              </a:lnSpc>
              <a:spcBef>
                <a:spcPts val="0"/>
              </a:spcBef>
              <a:spcAft>
                <a:spcPts val="0"/>
              </a:spcAft>
            </a:pPr>
            <a:r>
              <a:rPr sz="1600" b="0" lang="ko-KR">
                <a:solidFill>
                  <a:srgbClr val="20262E"/>
                </a:solidFill>
                <a:latin typeface="Pretendard"/>
                <a:ea typeface="Pretendard"/>
                <a:cs typeface="Pretendard"/>
              </a:rPr>
              <a:t>일부 공격 F1 90%대</a:t>
            </a:r>
          </a:p>
        </p:txBody>
      </p:sp>
      <p:sp>
        <p:nvSpPr>
          <p:cNvPr id="8" name="Rectangle 7"/>
          <p:cNvSpPr/>
          <p:nvPr/>
        </p:nvSpPr>
        <p:spPr>
          <a:xfrm>
            <a:off x="4370832" y="1545336"/>
            <a:ext cx="3456432" cy="822960"/>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4370832" y="1545336"/>
            <a:ext cx="345643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462272" y="1613916"/>
            <a:ext cx="3273551"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진단 질문</a:t>
            </a:r>
          </a:p>
        </p:txBody>
      </p:sp>
      <p:sp>
        <p:nvSpPr>
          <p:cNvPr id="11" name="TextBox 10"/>
          <p:cNvSpPr txBox="1"/>
          <p:nvPr/>
        </p:nvSpPr>
        <p:spPr>
          <a:xfrm>
            <a:off x="4480560" y="2121408"/>
            <a:ext cx="3236976" cy="271779"/>
          </a:xfrm>
          <a:prstGeom prst="rect">
            <a:avLst/>
          </a:prstGeom>
          <a:noFill/>
          <a:effectLst/>
        </p:spPr>
        <p:txBody>
          <a:bodyPr wrap="none" anchor="t" lIns="0" rIns="0" tIns="0" bIns="0">
            <a:noAutofit/>
          </a:bodyPr>
          <a:lstStyle/>
          <a:p>
            <a:pPr algn="ctr">
              <a:lnSpc>
                <a:spcPct val="118000"/>
              </a:lnSpc>
              <a:spcBef>
                <a:spcPts val="0"/>
              </a:spcBef>
              <a:spcAft>
                <a:spcPts val="0"/>
              </a:spcAft>
            </a:pPr>
            <a:r>
              <a:rPr sz="1600" b="0" lang="ko-KR">
                <a:solidFill>
                  <a:srgbClr val="20262E"/>
                </a:solidFill>
                <a:latin typeface="Pretendard"/>
                <a:ea typeface="Pretendard"/>
                <a:cs typeface="Pretendard"/>
              </a:rPr>
              <a:t>클래스당 n=2까지 낮춰도 높은가?</a:t>
            </a:r>
          </a:p>
        </p:txBody>
      </p:sp>
      <p:sp>
        <p:nvSpPr>
          <p:cNvPr id="12" name="Rectangle 11"/>
          <p:cNvSpPr/>
          <p:nvPr/>
        </p:nvSpPr>
        <p:spPr>
          <a:xfrm>
            <a:off x="8147304" y="1545336"/>
            <a:ext cx="3447288" cy="822960"/>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8147304" y="1545336"/>
            <a:ext cx="3447288"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238744" y="1613916"/>
            <a:ext cx="3264408"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고정 조건</a:t>
            </a:r>
          </a:p>
        </p:txBody>
      </p:sp>
      <p:sp>
        <p:nvSpPr>
          <p:cNvPr id="15" name="TextBox 14"/>
          <p:cNvSpPr txBox="1"/>
          <p:nvPr/>
        </p:nvSpPr>
        <p:spPr>
          <a:xfrm>
            <a:off x="8257031" y="2121408"/>
            <a:ext cx="3227832" cy="219329"/>
          </a:xfrm>
          <a:prstGeom prst="rect">
            <a:avLst/>
          </a:prstGeom>
          <a:noFill/>
          <a:effectLst/>
        </p:spPr>
        <p:txBody>
          <a:bodyPr wrap="none" anchor="t" lIns="0" rIns="0" tIns="0" bIns="0">
            <a:noAutofit/>
          </a:bodyPr>
          <a:lstStyle/>
          <a:p>
            <a:pPr algn="ctr">
              <a:lnSpc>
                <a:spcPct val="118000"/>
              </a:lnSpc>
              <a:spcBef>
                <a:spcPts val="0"/>
              </a:spcBef>
              <a:spcAft>
                <a:spcPts val="0"/>
              </a:spcAft>
            </a:pPr>
            <a:r>
              <a:rPr sz="1250" b="0" lang="ko-KR">
                <a:solidFill>
                  <a:srgbClr val="20262E"/>
                </a:solidFill>
                <a:latin typeface="Pretendard"/>
                <a:ea typeface="Pretendard"/>
                <a:cs typeface="Pretendard"/>
              </a:rPr>
              <a:t>정제 전·정상 미포함 · 동일 attack test · 5 seeds</a:t>
            </a:r>
          </a:p>
        </p:txBody>
      </p:sp>
      <p:pic>
        <p:nvPicPr>
          <p:cNvPr id="16" name="Picture 15" descr="fewshot_diagnostic.png"/>
          <p:cNvPicPr>
            <a:picLocks noChangeAspect="1"/>
          </p:cNvPicPr>
          <p:nvPr/>
        </p:nvPicPr>
        <p:blipFill>
          <a:blip r:embed="rId3"/>
          <a:stretch>
            <a:fillRect/>
          </a:stretch>
        </p:blipFill>
        <p:spPr>
          <a:xfrm>
            <a:off x="628135" y="2432304"/>
            <a:ext cx="10941824" cy="3364992"/>
          </a:xfrm>
          <a:prstGeom prst="rect">
            <a:avLst/>
          </a:prstGeom>
          <a:effectLst/>
        </p:spPr>
      </p:pic>
      <p:sp>
        <p:nvSpPr>
          <p:cNvPr id="17" name="TextBox 16"/>
          <p:cNvSpPr txBox="1"/>
          <p:nvPr/>
        </p:nvSpPr>
        <p:spPr>
          <a:xfrm>
            <a:off x="658368" y="5971032"/>
            <a:ext cx="1088136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1" lang="ko-KR">
                <a:solidFill>
                  <a:srgbClr val="00306C"/>
                </a:solidFill>
                <a:latin typeface="Pretendard"/>
                <a:ea typeface="Pretendard"/>
                <a:cs typeface="Pretendard"/>
              </a:rPr>
              <a:t>few-shot은 방법의 주 성능 주장이 아니라, head 클래스의 조기 포화와 data ceiling을 드러내는 진단</a:t>
            </a:r>
          </a:p>
        </p:txBody>
      </p:sp>
      <p:sp>
        <p:nvSpPr>
          <p:cNvPr id="18" name="Rectangle 17"/>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n을 2개까지 낮춰도 일부 head 공격이 고점에 도달하는지 확인</a:t>
            </a:r>
          </a:p>
        </p:txBody>
      </p:sp>
      <p:sp>
        <p:nvSpPr>
          <p:cNvPr id="20" name="TextBox 19"/>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01 기존 CSV와 진단</a:t>
            </a:r>
          </a:p>
        </p:txBody>
      </p:sp>
      <p:sp>
        <p:nvSpPr>
          <p:cNvPr id="21" name="TextBox 20"/>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기존 입력 CSV에는 동일 벡터·상이 라벨이 실제로 존재</a:t>
            </a:r>
          </a:p>
        </p:txBody>
      </p:sp>
      <p:sp>
        <p:nvSpPr>
          <p:cNvPr id="3" name="TextBox 2"/>
          <p:cNvSpPr txBox="1"/>
          <p:nvPr/>
        </p:nvSpPr>
        <p:spPr>
          <a:xfrm>
            <a:off x="594360" y="987552"/>
            <a:ext cx="10972800" cy="391668"/>
          </a:xfrm>
          <a:prstGeom prst="rect">
            <a:avLst/>
          </a:prstGeom>
          <a:noFill/>
          <a:effectLst/>
        </p:spPr>
        <p:txBody>
          <a:bodyPr wrap="none" anchor="t" lIns="0" rIns="0" tIns="0" bIns="0">
            <a:noAutofit/>
          </a:bodyPr>
          <a:lstStyle/>
          <a:p>
            <a:pPr algn="l">
              <a:lnSpc>
                <a:spcPct val="118000"/>
              </a:lnSpc>
              <a:spcBef>
                <a:spcPts val="0"/>
              </a:spcBef>
              <a:spcAft>
                <a:spcPts val="0"/>
              </a:spcAft>
            </a:pPr>
            <a:r>
              <a:rPr sz="2400" b="1" lang="ko-KR">
                <a:solidFill>
                  <a:srgbClr val="00306C"/>
                </a:solidFill>
                <a:latin typeface="Pretendard"/>
                <a:ea typeface="Pretendard"/>
                <a:cs typeface="Pretendard"/>
              </a:rPr>
              <a:t>기존 입력 CSV의 46개 숫자가 모두 같아도 라벨은 둘 이상</a:t>
            </a:r>
          </a:p>
        </p:txBody>
      </p:sp>
      <p:sp>
        <p:nvSpPr>
          <p:cNvPr id="4" name="Rectangle 3"/>
          <p:cNvSpPr/>
          <p:nvPr/>
        </p:nvSpPr>
        <p:spPr>
          <a:xfrm>
            <a:off x="594360" y="1527048"/>
            <a:ext cx="1965960" cy="1051560"/>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85800" y="1709928"/>
            <a:ext cx="1783080" cy="406654"/>
          </a:xfrm>
          <a:prstGeom prst="rect">
            <a:avLst/>
          </a:prstGeom>
          <a:noFill/>
          <a:effectLst/>
        </p:spPr>
        <p:txBody>
          <a:bodyPr wrap="none" anchor="t" lIns="0" rIns="0" tIns="0" bIns="0">
            <a:noAutofit/>
          </a:bodyPr>
          <a:lstStyle/>
          <a:p>
            <a:pPr algn="ctr">
              <a:lnSpc>
                <a:spcPct val="118000"/>
              </a:lnSpc>
              <a:spcBef>
                <a:spcPts val="0"/>
              </a:spcBef>
              <a:spcAft>
                <a:spcPts val="0"/>
              </a:spcAft>
            </a:pPr>
            <a:r>
              <a:rPr sz="2500" b="1" lang="ko-KR">
                <a:solidFill>
                  <a:srgbClr val="007BC6"/>
                </a:solidFill>
                <a:latin typeface="Pretendard"/>
                <a:ea typeface="Pretendard"/>
                <a:cs typeface="Pretendard"/>
              </a:rPr>
              <a:t>20,115,529</a:t>
            </a:r>
          </a:p>
        </p:txBody>
      </p:sp>
      <p:sp>
        <p:nvSpPr>
          <p:cNvPr id="6" name="TextBox 5"/>
          <p:cNvSpPr txBox="1"/>
          <p:nvPr/>
        </p:nvSpPr>
        <p:spPr>
          <a:xfrm>
            <a:off x="685800" y="2157984"/>
            <a:ext cx="1783080" cy="241808"/>
          </a:xfrm>
          <a:prstGeom prst="rect">
            <a:avLst/>
          </a:prstGeom>
          <a:noFill/>
          <a:effectLst/>
        </p:spPr>
        <p:txBody>
          <a:bodyPr wrap="none" anchor="t" lIns="0" rIns="0" tIns="0" bIns="0">
            <a:noAutofit/>
          </a:bodyPr>
          <a:lstStyle/>
          <a:p>
            <a:pPr algn="ctr">
              <a:lnSpc>
                <a:spcPct val="118000"/>
              </a:lnSpc>
              <a:spcBef>
                <a:spcPts val="0"/>
              </a:spcBef>
              <a:spcAft>
                <a:spcPts val="0"/>
              </a:spcAft>
            </a:pPr>
            <a:r>
              <a:rPr sz="1400" b="0" lang="ko-KR">
                <a:solidFill>
                  <a:srgbClr val="617080"/>
                </a:solidFill>
                <a:latin typeface="Pretendard"/>
                <a:ea typeface="Pretendard"/>
                <a:cs typeface="Pretendard"/>
              </a:rPr>
              <a:t>감사한 전체 행</a:t>
            </a:r>
          </a:p>
        </p:txBody>
      </p:sp>
      <p:sp>
        <p:nvSpPr>
          <p:cNvPr id="7" name="Rectangle 6"/>
          <p:cNvSpPr/>
          <p:nvPr/>
        </p:nvSpPr>
        <p:spPr>
          <a:xfrm>
            <a:off x="2880360" y="1527048"/>
            <a:ext cx="1965960" cy="1051560"/>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2971800" y="1709928"/>
            <a:ext cx="1783080" cy="406654"/>
          </a:xfrm>
          <a:prstGeom prst="rect">
            <a:avLst/>
          </a:prstGeom>
          <a:noFill/>
          <a:effectLst/>
        </p:spPr>
        <p:txBody>
          <a:bodyPr wrap="none" anchor="t" lIns="0" rIns="0" tIns="0" bIns="0">
            <a:noAutofit/>
          </a:bodyPr>
          <a:lstStyle/>
          <a:p>
            <a:pPr algn="ctr">
              <a:lnSpc>
                <a:spcPct val="118000"/>
              </a:lnSpc>
              <a:spcBef>
                <a:spcPts val="0"/>
              </a:spcBef>
              <a:spcAft>
                <a:spcPts val="0"/>
              </a:spcAft>
            </a:pPr>
            <a:r>
              <a:rPr sz="2500" b="1" lang="ko-KR">
                <a:solidFill>
                  <a:srgbClr val="007BC6"/>
                </a:solidFill>
                <a:latin typeface="Pretendard"/>
                <a:ea typeface="Pretendard"/>
                <a:cs typeface="Pretendard"/>
              </a:rPr>
              <a:t>20,609</a:t>
            </a:r>
          </a:p>
        </p:txBody>
      </p:sp>
      <p:sp>
        <p:nvSpPr>
          <p:cNvPr id="9" name="TextBox 8"/>
          <p:cNvSpPr txBox="1"/>
          <p:nvPr/>
        </p:nvSpPr>
        <p:spPr>
          <a:xfrm>
            <a:off x="2971800" y="2157984"/>
            <a:ext cx="1783080" cy="241808"/>
          </a:xfrm>
          <a:prstGeom prst="rect">
            <a:avLst/>
          </a:prstGeom>
          <a:noFill/>
          <a:effectLst/>
        </p:spPr>
        <p:txBody>
          <a:bodyPr wrap="none" anchor="t" lIns="0" rIns="0" tIns="0" bIns="0">
            <a:noAutofit/>
          </a:bodyPr>
          <a:lstStyle/>
          <a:p>
            <a:pPr algn="ctr">
              <a:lnSpc>
                <a:spcPct val="118000"/>
              </a:lnSpc>
              <a:spcBef>
                <a:spcPts val="0"/>
              </a:spcBef>
              <a:spcAft>
                <a:spcPts val="0"/>
              </a:spcAft>
            </a:pPr>
            <a:r>
              <a:rPr sz="1400" b="0" lang="ko-KR">
                <a:solidFill>
                  <a:srgbClr val="617080"/>
                </a:solidFill>
                <a:latin typeface="Pretendard"/>
                <a:ea typeface="Pretendard"/>
                <a:cs typeface="Pretendard"/>
              </a:rPr>
              <a:t>상이 라벨 벡터 그룹</a:t>
            </a:r>
          </a:p>
        </p:txBody>
      </p:sp>
      <p:sp>
        <p:nvSpPr>
          <p:cNvPr id="10" name="Rectangle 9"/>
          <p:cNvSpPr/>
          <p:nvPr/>
        </p:nvSpPr>
        <p:spPr>
          <a:xfrm>
            <a:off x="5166360" y="1527048"/>
            <a:ext cx="1965960" cy="1051560"/>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257800" y="1709928"/>
            <a:ext cx="1783080" cy="406654"/>
          </a:xfrm>
          <a:prstGeom prst="rect">
            <a:avLst/>
          </a:prstGeom>
          <a:noFill/>
          <a:effectLst/>
        </p:spPr>
        <p:txBody>
          <a:bodyPr wrap="none" anchor="t" lIns="0" rIns="0" tIns="0" bIns="0">
            <a:noAutofit/>
          </a:bodyPr>
          <a:lstStyle/>
          <a:p>
            <a:pPr algn="ctr">
              <a:lnSpc>
                <a:spcPct val="118000"/>
              </a:lnSpc>
              <a:spcBef>
                <a:spcPts val="0"/>
              </a:spcBef>
              <a:spcAft>
                <a:spcPts val="0"/>
              </a:spcAft>
            </a:pPr>
            <a:r>
              <a:rPr sz="2500" b="1" lang="ko-KR">
                <a:solidFill>
                  <a:srgbClr val="007BC6"/>
                </a:solidFill>
                <a:latin typeface="Pretendard"/>
                <a:ea typeface="Pretendard"/>
                <a:cs typeface="Pretendard"/>
              </a:rPr>
              <a:t>26.6%</a:t>
            </a:r>
          </a:p>
        </p:txBody>
      </p:sp>
      <p:sp>
        <p:nvSpPr>
          <p:cNvPr id="12" name="TextBox 11"/>
          <p:cNvSpPr txBox="1"/>
          <p:nvPr/>
        </p:nvSpPr>
        <p:spPr>
          <a:xfrm>
            <a:off x="5257800" y="2157984"/>
            <a:ext cx="1783080" cy="241808"/>
          </a:xfrm>
          <a:prstGeom prst="rect">
            <a:avLst/>
          </a:prstGeom>
          <a:noFill/>
          <a:effectLst/>
        </p:spPr>
        <p:txBody>
          <a:bodyPr wrap="none" anchor="t" lIns="0" rIns="0" tIns="0" bIns="0">
            <a:noAutofit/>
          </a:bodyPr>
          <a:lstStyle/>
          <a:p>
            <a:pPr algn="ctr">
              <a:lnSpc>
                <a:spcPct val="118000"/>
              </a:lnSpc>
              <a:spcBef>
                <a:spcPts val="0"/>
              </a:spcBef>
              <a:spcAft>
                <a:spcPts val="0"/>
              </a:spcAft>
            </a:pPr>
            <a:r>
              <a:rPr sz="1400" b="0" lang="ko-KR">
                <a:solidFill>
                  <a:srgbClr val="617080"/>
                </a:solidFill>
                <a:latin typeface="Pretendard"/>
                <a:ea typeface="Pretendard"/>
                <a:cs typeface="Pretendard"/>
              </a:rPr>
              <a:t>상이 라벨 그룹에 속한 행</a:t>
            </a:r>
          </a:p>
        </p:txBody>
      </p:sp>
      <p:sp>
        <p:nvSpPr>
          <p:cNvPr id="13" name="TextBox 12"/>
          <p:cNvSpPr txBox="1"/>
          <p:nvPr/>
        </p:nvSpPr>
        <p:spPr>
          <a:xfrm>
            <a:off x="7543800" y="1636776"/>
            <a:ext cx="3840480" cy="571500"/>
          </a:xfrm>
          <a:prstGeom prst="rect">
            <a:avLst/>
          </a:prstGeom>
          <a:noFill/>
          <a:effectLst/>
        </p:spPr>
        <p:txBody>
          <a:bodyPr wrap="none" anchor="t" lIns="0" rIns="0" tIns="0" bIns="0">
            <a:noAutofit/>
          </a:bodyPr>
          <a:lstStyle/>
          <a:p>
            <a:pPr algn="l">
              <a:lnSpc>
                <a:spcPct val="118000"/>
              </a:lnSpc>
              <a:spcBef>
                <a:spcPts val="0"/>
              </a:spcBef>
              <a:spcAft>
                <a:spcPts val="0"/>
              </a:spcAft>
            </a:pPr>
            <a:r>
              <a:rPr sz="1800" b="1" lang="ko-KR">
                <a:solidFill>
                  <a:srgbClr val="00306C"/>
                </a:solidFill>
                <a:latin typeface="Pretendard"/>
                <a:ea typeface="Pretendard"/>
                <a:cs typeface="Pretendard"/>
              </a:rPr>
              <a:t>감사 대상  기존 실험 입력의</a:t>
            </a:r>
          </a:p>
          <a:p>
            <a:pPr algn="l">
              <a:lnSpc>
                <a:spcPct val="118000"/>
              </a:lnSpc>
              <a:spcBef>
                <a:spcPts val="0"/>
              </a:spcBef>
              <a:spcAft>
                <a:spcPts val="0"/>
              </a:spcAft>
            </a:pPr>
            <a:r>
              <a:rPr sz="1800" b="1" lang="ko-KR">
                <a:solidFill>
                  <a:srgbClr val="00306C"/>
                </a:solidFill>
                <a:latin typeface="Pretendard"/>
                <a:ea typeface="Pretendard"/>
                <a:cs typeface="Pretendard"/>
              </a:rPr>
              <a:t>CIC2018 기반 46개 flow 통계 벡터</a:t>
            </a:r>
          </a:p>
        </p:txBody>
      </p:sp>
      <p:sp>
        <p:nvSpPr>
          <p:cNvPr id="14" name="TextBox 13"/>
          <p:cNvSpPr txBox="1"/>
          <p:nvPr/>
        </p:nvSpPr>
        <p:spPr>
          <a:xfrm>
            <a:off x="7543800" y="2286000"/>
            <a:ext cx="3840480"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1500" b="0" lang="ko-KR">
                <a:solidFill>
                  <a:srgbClr val="617080"/>
                </a:solidFill>
                <a:latin typeface="Pretendard"/>
                <a:ea typeface="Pretendard"/>
                <a:cs typeface="Pretendard"/>
              </a:rPr>
              <a:t>공식 CICFlowMeter CSV 그대로의</a:t>
            </a:r>
          </a:p>
          <a:p>
            <a:pPr algn="l">
              <a:lnSpc>
                <a:spcPct val="118000"/>
              </a:lnSpc>
              <a:spcBef>
                <a:spcPts val="0"/>
              </a:spcBef>
              <a:spcAft>
                <a:spcPts val="0"/>
              </a:spcAft>
            </a:pPr>
            <a:r>
              <a:rPr sz="1500" b="0" lang="ko-KR">
                <a:solidFill>
                  <a:srgbClr val="617080"/>
                </a:solidFill>
                <a:latin typeface="Pretendard"/>
                <a:ea typeface="Pretendard"/>
                <a:cs typeface="Pretendard"/>
              </a:rPr>
              <a:t>중복률 측정과는 구분</a:t>
            </a:r>
          </a:p>
        </p:txBody>
      </p:sp>
      <p:sp>
        <p:nvSpPr>
          <p:cNvPr id="15" name="Rectangle 14"/>
          <p:cNvSpPr/>
          <p:nvPr/>
        </p:nvSpPr>
        <p:spPr>
          <a:xfrm>
            <a:off x="594360" y="3063240"/>
            <a:ext cx="2761488" cy="125272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ectangle 15"/>
          <p:cNvSpPr/>
          <p:nvPr/>
        </p:nvSpPr>
        <p:spPr>
          <a:xfrm>
            <a:off x="594360" y="3063240"/>
            <a:ext cx="2761488"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85800" y="3131820"/>
            <a:ext cx="2578608"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같은 특징 벡터 x</a:t>
            </a:r>
          </a:p>
        </p:txBody>
      </p:sp>
      <p:sp>
        <p:nvSpPr>
          <p:cNvPr id="18" name="TextBox 17"/>
          <p:cNvSpPr txBox="1"/>
          <p:nvPr/>
        </p:nvSpPr>
        <p:spPr>
          <a:xfrm>
            <a:off x="704088" y="3639312"/>
            <a:ext cx="2542032" cy="541528"/>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TCP · 60B/40B</a:t>
            </a:r>
          </a:p>
          <a:p>
            <a:pPr algn="ctr">
              <a:lnSpc>
                <a:spcPct val="118000"/>
              </a:lnSpc>
              <a:spcBef>
                <a:spcPts val="0"/>
              </a:spcBef>
              <a:spcAft>
                <a:spcPts val="0"/>
              </a:spcAft>
            </a:pPr>
            <a:r>
              <a:rPr sz="1700" b="0" lang="ko-KR">
                <a:solidFill>
                  <a:srgbClr val="20262E"/>
                </a:solidFill>
                <a:latin typeface="Pretendard"/>
                <a:ea typeface="Pretendard"/>
                <a:cs typeface="Pretendard"/>
              </a:rPr>
              <a:t>각 1 packet · 1 ms</a:t>
            </a:r>
          </a:p>
        </p:txBody>
      </p:sp>
      <p:sp>
        <p:nvSpPr>
          <p:cNvPr id="19" name="Right Arrow 18"/>
          <p:cNvSpPr/>
          <p:nvPr/>
        </p:nvSpPr>
        <p:spPr>
          <a:xfrm>
            <a:off x="3547872" y="3529584"/>
            <a:ext cx="320040"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ight Arrow 19"/>
          <p:cNvSpPr/>
          <p:nvPr/>
        </p:nvSpPr>
        <p:spPr>
          <a:xfrm>
            <a:off x="3547872" y="4041648"/>
            <a:ext cx="320040"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ectangle 20"/>
          <p:cNvSpPr/>
          <p:nvPr/>
        </p:nvSpPr>
        <p:spPr>
          <a:xfrm>
            <a:off x="4096512" y="3063240"/>
            <a:ext cx="3090672" cy="557784"/>
          </a:xfrm>
          <a:prstGeom prst="rect">
            <a:avLst/>
          </a:prstGeom>
          <a:solidFill>
            <a:srgbClr val="FBE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4251960" y="3236976"/>
            <a:ext cx="2779776"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B44948"/>
                </a:solidFill>
                <a:latin typeface="Pretendard"/>
                <a:ea typeface="Pretendard"/>
                <a:cs typeface="Pretendard"/>
              </a:rPr>
              <a:t>Brute force  386,780행</a:t>
            </a:r>
          </a:p>
        </p:txBody>
      </p:sp>
      <p:sp>
        <p:nvSpPr>
          <p:cNvPr id="23" name="Rectangle 22"/>
          <p:cNvSpPr/>
          <p:nvPr/>
        </p:nvSpPr>
        <p:spPr>
          <a:xfrm>
            <a:off x="4096512" y="3758184"/>
            <a:ext cx="3090672" cy="557784"/>
          </a:xfrm>
          <a:prstGeom prst="rect">
            <a:avLst/>
          </a:prstGeom>
          <a:solidFill>
            <a:srgbClr val="E6F1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4251960" y="3931920"/>
            <a:ext cx="2779776"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007BC6"/>
                </a:solidFill>
                <a:latin typeface="Pretendard"/>
                <a:ea typeface="Pretendard"/>
                <a:cs typeface="Pretendard"/>
              </a:rPr>
              <a:t>DoS  105,550행</a:t>
            </a:r>
          </a:p>
        </p:txBody>
      </p:sp>
      <p:sp>
        <p:nvSpPr>
          <p:cNvPr id="25" name="TextBox 24"/>
          <p:cNvSpPr txBox="1"/>
          <p:nvPr/>
        </p:nvSpPr>
        <p:spPr>
          <a:xfrm>
            <a:off x="7589520" y="3163824"/>
            <a:ext cx="3785615" cy="631443"/>
          </a:xfrm>
          <a:prstGeom prst="rect">
            <a:avLst/>
          </a:prstGeom>
          <a:noFill/>
          <a:effectLst/>
        </p:spPr>
        <p:txBody>
          <a:bodyPr wrap="none" anchor="t" lIns="0" rIns="0" tIns="0" bIns="0">
            <a:noAutofit/>
          </a:bodyPr>
          <a:lstStyle/>
          <a:p>
            <a:pPr algn="l">
              <a:lnSpc>
                <a:spcPct val="118000"/>
              </a:lnSpc>
              <a:spcBef>
                <a:spcPts val="0"/>
              </a:spcBef>
              <a:spcAft>
                <a:spcPts val="0"/>
              </a:spcAft>
            </a:pPr>
            <a:r>
              <a:rPr sz="2000" b="1" lang="ko-KR">
                <a:solidFill>
                  <a:srgbClr val="00306C"/>
                </a:solidFill>
                <a:latin typeface="Pretendard"/>
                <a:ea typeface="Pretendard"/>
                <a:cs typeface="Pretendard"/>
              </a:rPr>
              <a:t>한 개의 특징 벡터가</a:t>
            </a:r>
          </a:p>
          <a:p>
            <a:pPr algn="l">
              <a:lnSpc>
                <a:spcPct val="118000"/>
              </a:lnSpc>
              <a:spcBef>
                <a:spcPts val="0"/>
              </a:spcBef>
              <a:spcAft>
                <a:spcPts val="0"/>
              </a:spcAft>
            </a:pPr>
            <a:r>
              <a:rPr sz="2000" b="1" lang="ko-KR">
                <a:solidFill>
                  <a:srgbClr val="00306C"/>
                </a:solidFill>
                <a:latin typeface="Pretendard"/>
                <a:ea typeface="Pretendard"/>
                <a:cs typeface="Pretendard"/>
              </a:rPr>
              <a:t>두 공격에 반복 등장</a:t>
            </a:r>
          </a:p>
        </p:txBody>
      </p:sp>
      <p:sp>
        <p:nvSpPr>
          <p:cNvPr id="26" name="TextBox 25"/>
          <p:cNvSpPr txBox="1"/>
          <p:nvPr/>
        </p:nvSpPr>
        <p:spPr>
          <a:xfrm>
            <a:off x="7589520" y="3858768"/>
            <a:ext cx="3785615" cy="511555"/>
          </a:xfrm>
          <a:prstGeom prst="rect">
            <a:avLst/>
          </a:prstGeom>
          <a:noFill/>
          <a:effectLst/>
        </p:spPr>
        <p:txBody>
          <a:bodyPr wrap="none" anchor="t" lIns="0" rIns="0" tIns="0" bIns="0">
            <a:noAutofit/>
          </a:bodyPr>
          <a:lstStyle/>
          <a:p>
            <a:pPr algn="l">
              <a:lnSpc>
                <a:spcPct val="118000"/>
              </a:lnSpc>
              <a:spcBef>
                <a:spcPts val="0"/>
              </a:spcBef>
              <a:spcAft>
                <a:spcPts val="0"/>
              </a:spcAft>
            </a:pPr>
            <a:r>
              <a:rPr sz="1600" b="0" lang="ko-KR">
                <a:solidFill>
                  <a:srgbClr val="617080"/>
                </a:solidFill>
                <a:latin typeface="Pretendard"/>
                <a:ea typeface="Pretendard"/>
                <a:cs typeface="Pretendard"/>
              </a:rPr>
              <a:t>Brute force 67.2% · DoS 34.8%</a:t>
            </a:r>
          </a:p>
          <a:p>
            <a:pPr algn="l">
              <a:lnSpc>
                <a:spcPct val="118000"/>
              </a:lnSpc>
              <a:spcBef>
                <a:spcPts val="0"/>
              </a:spcBef>
              <a:spcAft>
                <a:spcPts val="0"/>
              </a:spcAft>
            </a:pPr>
            <a:r>
              <a:rPr sz="1600" b="0" lang="ko-KR">
                <a:solidFill>
                  <a:srgbClr val="617080"/>
                </a:solidFill>
                <a:latin typeface="Pretendard"/>
                <a:ea typeface="Pretendard"/>
                <a:cs typeface="Pretendard"/>
              </a:rPr>
              <a:t>각 클래스 행이 이 충돌에 포함</a:t>
            </a:r>
          </a:p>
        </p:txBody>
      </p:sp>
      <p:sp>
        <p:nvSpPr>
          <p:cNvPr id="27" name="Rectangle 26"/>
          <p:cNvSpPr/>
          <p:nvPr/>
        </p:nvSpPr>
        <p:spPr>
          <a:xfrm>
            <a:off x="594360" y="5001768"/>
            <a:ext cx="11000232" cy="18288"/>
          </a:xfrm>
          <a:prstGeom prst="rect">
            <a:avLst/>
          </a:prstGeom>
          <a:solidFill>
            <a:srgbClr val="C8D5E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658368" y="5266944"/>
            <a:ext cx="5358384" cy="571500"/>
          </a:xfrm>
          <a:prstGeom prst="rect">
            <a:avLst/>
          </a:prstGeom>
          <a:noFill/>
          <a:effectLst/>
        </p:spPr>
        <p:txBody>
          <a:bodyPr wrap="none" anchor="t" lIns="0" rIns="0" tIns="0" bIns="0">
            <a:noAutofit/>
          </a:bodyPr>
          <a:lstStyle/>
          <a:p>
            <a:pPr algn="l">
              <a:lnSpc>
                <a:spcPct val="118000"/>
              </a:lnSpc>
              <a:spcBef>
                <a:spcPts val="0"/>
              </a:spcBef>
              <a:spcAft>
                <a:spcPts val="0"/>
              </a:spcAft>
            </a:pPr>
            <a:r>
              <a:rPr sz="1800" b="1" lang="ko-KR">
                <a:solidFill>
                  <a:srgbClr val="00306C"/>
                </a:solidFill>
                <a:latin typeface="Pretendard"/>
                <a:ea typeface="Pretendard"/>
                <a:cs typeface="Pretendard"/>
              </a:rPr>
              <a:t>Infiltration–Benign</a:t>
            </a:r>
          </a:p>
          <a:p>
            <a:pPr algn="l">
              <a:lnSpc>
                <a:spcPct val="118000"/>
              </a:lnSpc>
              <a:spcBef>
                <a:spcPts val="0"/>
              </a:spcBef>
              <a:spcAft>
                <a:spcPts val="0"/>
              </a:spcAft>
            </a:pPr>
            <a:r>
              <a:rPr sz="1800" b="1" lang="ko-KR">
                <a:solidFill>
                  <a:srgbClr val="00306C"/>
                </a:solidFill>
                <a:latin typeface="Pretendard"/>
                <a:ea typeface="Pretendard"/>
                <a:cs typeface="Pretendard"/>
              </a:rPr>
              <a:t>20,378개 벡터 · infiltration의 75.1%</a:t>
            </a:r>
          </a:p>
        </p:txBody>
      </p:sp>
      <p:sp>
        <p:nvSpPr>
          <p:cNvPr id="29" name="TextBox 28"/>
          <p:cNvSpPr txBox="1"/>
          <p:nvPr/>
        </p:nvSpPr>
        <p:spPr>
          <a:xfrm>
            <a:off x="6199632" y="5266944"/>
            <a:ext cx="5303520" cy="571500"/>
          </a:xfrm>
          <a:prstGeom prst="rect">
            <a:avLst/>
          </a:prstGeom>
          <a:noFill/>
          <a:effectLst/>
        </p:spPr>
        <p:txBody>
          <a:bodyPr wrap="none" anchor="t" lIns="0" rIns="0" tIns="0" bIns="0">
            <a:noAutofit/>
          </a:bodyPr>
          <a:lstStyle/>
          <a:p>
            <a:pPr algn="l">
              <a:lnSpc>
                <a:spcPct val="118000"/>
              </a:lnSpc>
              <a:spcBef>
                <a:spcPts val="0"/>
              </a:spcBef>
              <a:spcAft>
                <a:spcPts val="0"/>
              </a:spcAft>
            </a:pPr>
            <a:r>
              <a:rPr sz="1800" b="1" lang="ko-KR">
                <a:solidFill>
                  <a:srgbClr val="00306C"/>
                </a:solidFill>
                <a:latin typeface="Pretendard"/>
                <a:ea typeface="Pretendard"/>
                <a:cs typeface="Pretendard"/>
              </a:rPr>
              <a:t>Web attacks–Benign</a:t>
            </a:r>
          </a:p>
          <a:p>
            <a:pPr algn="l">
              <a:lnSpc>
                <a:spcPct val="118000"/>
              </a:lnSpc>
              <a:spcBef>
                <a:spcPts val="0"/>
              </a:spcBef>
              <a:spcAft>
                <a:spcPts val="0"/>
              </a:spcAft>
            </a:pPr>
            <a:r>
              <a:rPr sz="1800" b="1" lang="ko-KR">
                <a:solidFill>
                  <a:srgbClr val="00306C"/>
                </a:solidFill>
                <a:latin typeface="Pretendard"/>
                <a:ea typeface="Pretendard"/>
                <a:cs typeface="Pretendard"/>
              </a:rPr>
              <a:t>298개 벡터 · web의 69.5%</a:t>
            </a:r>
          </a:p>
        </p:txBody>
      </p:sp>
      <p:sp>
        <p:nvSpPr>
          <p:cNvPr id="30" name="TextBox 29"/>
          <p:cNvSpPr txBox="1"/>
          <p:nvPr/>
        </p:nvSpPr>
        <p:spPr>
          <a:xfrm>
            <a:off x="658368" y="5971032"/>
            <a:ext cx="10881360" cy="271779"/>
          </a:xfrm>
          <a:prstGeom prst="rect">
            <a:avLst/>
          </a:prstGeom>
          <a:noFill/>
          <a:effectLst/>
        </p:spPr>
        <p:txBody>
          <a:bodyPr wrap="none" anchor="t" lIns="0" rIns="0" tIns="0" bIns="0">
            <a:noAutofit/>
          </a:bodyPr>
          <a:lstStyle/>
          <a:p>
            <a:pPr algn="l">
              <a:lnSpc>
                <a:spcPct val="118000"/>
              </a:lnSpc>
              <a:spcBef>
                <a:spcPts val="0"/>
              </a:spcBef>
              <a:spcAft>
                <a:spcPts val="0"/>
              </a:spcAft>
            </a:pPr>
            <a:r>
              <a:rPr sz="1600" b="0" lang="ko-KR">
                <a:solidFill>
                  <a:srgbClr val="617080"/>
                </a:solidFill>
                <a:latin typeface="Pretendard"/>
                <a:ea typeface="Pretendard"/>
                <a:cs typeface="Pretendard"/>
              </a:rPr>
              <a:t>같은 x에는 하나의 결정적 예측만 가능  →  기존 full XGB에서도 DoS F1 0.782, Infiltration F1 0.429</a:t>
            </a:r>
          </a:p>
        </p:txBody>
      </p:sp>
      <p:sp>
        <p:nvSpPr>
          <p:cNvPr id="31" name="Rectangle 30"/>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정확히 같은 입력을 서로 다른 정답으로 학습시키는 구조를 먼저 계량</a:t>
            </a:r>
          </a:p>
        </p:txBody>
      </p:sp>
      <p:sp>
        <p:nvSpPr>
          <p:cNvPr id="33" name="TextBox 32"/>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01 기존 CSV와 진단</a:t>
            </a:r>
          </a:p>
        </p:txBody>
      </p:sp>
      <p:sp>
        <p:nvSpPr>
          <p:cNvPr id="34" name="TextBox 33"/>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문헌은 CIC의 flow 생성·라벨 규칙 결함을 지적</a:t>
            </a:r>
          </a:p>
        </p:txBody>
      </p:sp>
      <p:sp>
        <p:nvSpPr>
          <p:cNvPr id="3" name="TextBox 2"/>
          <p:cNvSpPr txBox="1"/>
          <p:nvPr/>
        </p:nvSpPr>
        <p:spPr>
          <a:xfrm>
            <a:off x="594360" y="987552"/>
            <a:ext cx="10972800" cy="361696"/>
          </a:xfrm>
          <a:prstGeom prst="rect">
            <a:avLst/>
          </a:prstGeom>
          <a:noFill/>
          <a:effectLst/>
        </p:spPr>
        <p:txBody>
          <a:bodyPr wrap="none" anchor="t" lIns="0" rIns="0" tIns="0" bIns="0">
            <a:noAutofit/>
          </a:bodyPr>
          <a:lstStyle/>
          <a:p>
            <a:pPr algn="l">
              <a:lnSpc>
                <a:spcPct val="118000"/>
              </a:lnSpc>
              <a:spcBef>
                <a:spcPts val="0"/>
              </a:spcBef>
              <a:spcAft>
                <a:spcPts val="0"/>
              </a:spcAft>
            </a:pPr>
            <a:r>
              <a:rPr sz="2200" b="1" lang="ko-KR">
                <a:solidFill>
                  <a:srgbClr val="00306C"/>
                </a:solidFill>
                <a:latin typeface="Pretendard"/>
                <a:ea typeface="Pretendard"/>
                <a:cs typeface="Pretendard"/>
              </a:rPr>
              <a:t>선행연구는 CIC의 flow 생성·라벨 규칙에서 가능한 원인을 제시</a:t>
            </a:r>
          </a:p>
        </p:txBody>
      </p:sp>
      <p:sp>
        <p:nvSpPr>
          <p:cNvPr id="4" name="Rectangle 3"/>
          <p:cNvSpPr/>
          <p:nvPr/>
        </p:nvSpPr>
        <p:spPr>
          <a:xfrm>
            <a:off x="594360" y="1554480"/>
            <a:ext cx="11000232" cy="112471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86384" y="1682495"/>
            <a:ext cx="4224528"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1" lang="ko-KR">
                <a:solidFill>
                  <a:srgbClr val="00306C"/>
                </a:solidFill>
                <a:latin typeface="Pretendard"/>
                <a:ea typeface="Pretendard"/>
                <a:cs typeface="Pretendard"/>
                <a:hlinkClick r:id="rId3"/>
              </a:rPr>
              <a:t>Engelen et al. (IEEE SPW/WTMC, 2021)</a:t>
            </a:r>
          </a:p>
        </p:txBody>
      </p:sp>
      <p:sp>
        <p:nvSpPr>
          <p:cNvPr id="6" name="TextBox 5"/>
          <p:cNvSpPr txBox="1"/>
          <p:nvPr/>
        </p:nvSpPr>
        <p:spPr>
          <a:xfrm>
            <a:off x="5212080" y="1755648"/>
            <a:ext cx="6080760" cy="571500"/>
          </a:xfrm>
          <a:prstGeom prst="rect">
            <a:avLst/>
          </a:prstGeom>
          <a:noFill/>
          <a:effectLst/>
        </p:spPr>
        <p:txBody>
          <a:bodyPr wrap="none" anchor="t" lIns="0" rIns="0" tIns="0" bIns="0">
            <a:noAutofit/>
          </a:bodyPr>
          <a:lstStyle/>
          <a:p>
            <a:pPr algn="l">
              <a:lnSpc>
                <a:spcPct val="118000"/>
              </a:lnSpc>
              <a:spcBef>
                <a:spcPts val="0"/>
              </a:spcBef>
              <a:spcAft>
                <a:spcPts val="0"/>
              </a:spcAft>
            </a:pPr>
            <a:r>
              <a:rPr sz="1800" b="0" lang="ko-KR">
                <a:solidFill>
                  <a:srgbClr val="20262E"/>
                </a:solidFill>
                <a:latin typeface="Pretendard"/>
                <a:ea typeface="Pretendard"/>
                <a:cs typeface="Pretendard"/>
              </a:rPr>
              <a:t>첫 FIN 뒤 잔여 패킷이 별도 flow로 분리되고</a:t>
            </a:r>
          </a:p>
          <a:p>
            <a:pPr algn="l">
              <a:lnSpc>
                <a:spcPct val="118000"/>
              </a:lnSpc>
              <a:spcBef>
                <a:spcPts val="0"/>
              </a:spcBef>
              <a:spcAft>
                <a:spcPts val="0"/>
              </a:spcAft>
            </a:pPr>
            <a:r>
              <a:rPr sz="1800" b="0" lang="ko-KR">
                <a:solidFill>
                  <a:srgbClr val="20262E"/>
                </a:solidFill>
                <a:latin typeface="Pretendard"/>
                <a:ea typeface="Pretendard"/>
                <a:cs typeface="Pretendard"/>
              </a:rPr>
              <a:t>RST를 무시한 flow 경계 문제를 분석</a:t>
            </a:r>
          </a:p>
        </p:txBody>
      </p:sp>
      <p:sp>
        <p:nvSpPr>
          <p:cNvPr id="7" name="Rectangle 6"/>
          <p:cNvSpPr/>
          <p:nvPr/>
        </p:nvSpPr>
        <p:spPr>
          <a:xfrm>
            <a:off x="594360" y="2999232"/>
            <a:ext cx="11000232" cy="112471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86384" y="3127248"/>
            <a:ext cx="4224528"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1" lang="ko-KR">
                <a:solidFill>
                  <a:srgbClr val="00306C"/>
                </a:solidFill>
                <a:latin typeface="Pretendard"/>
                <a:ea typeface="Pretendard"/>
                <a:cs typeface="Pretendard"/>
                <a:hlinkClick r:id="rId4"/>
              </a:rPr>
              <a:t>Liu et al. (IEEE CNS, 2022)</a:t>
            </a:r>
          </a:p>
        </p:txBody>
      </p:sp>
      <p:sp>
        <p:nvSpPr>
          <p:cNvPr id="9" name="TextBox 8"/>
          <p:cNvSpPr txBox="1"/>
          <p:nvPr/>
        </p:nvSpPr>
        <p:spPr>
          <a:xfrm>
            <a:off x="5212080" y="3200400"/>
            <a:ext cx="6080760" cy="571500"/>
          </a:xfrm>
          <a:prstGeom prst="rect">
            <a:avLst/>
          </a:prstGeom>
          <a:noFill/>
          <a:effectLst/>
        </p:spPr>
        <p:txBody>
          <a:bodyPr wrap="none" anchor="t" lIns="0" rIns="0" tIns="0" bIns="0">
            <a:noAutofit/>
          </a:bodyPr>
          <a:lstStyle/>
          <a:p>
            <a:pPr algn="l">
              <a:lnSpc>
                <a:spcPct val="118000"/>
              </a:lnSpc>
              <a:spcBef>
                <a:spcPts val="0"/>
              </a:spcBef>
              <a:spcAft>
                <a:spcPts val="0"/>
              </a:spcAft>
            </a:pPr>
            <a:r>
              <a:rPr sz="1800" b="0" lang="ko-KR">
                <a:solidFill>
                  <a:srgbClr val="20262E"/>
                </a:solidFill>
                <a:latin typeface="Pretendard"/>
                <a:ea typeface="Pretendard"/>
                <a:cs typeface="Pretendard"/>
              </a:rPr>
              <a:t>CIC2017·2018의 생성·특징·라벨 오류를 재검토</a:t>
            </a:r>
          </a:p>
          <a:p>
            <a:pPr algn="l">
              <a:lnSpc>
                <a:spcPct val="118000"/>
              </a:lnSpc>
              <a:spcBef>
                <a:spcPts val="0"/>
              </a:spcBef>
              <a:spcAft>
                <a:spcPts val="0"/>
              </a:spcAft>
            </a:pPr>
            <a:r>
              <a:rPr sz="1800" b="0" lang="ko-KR">
                <a:solidFill>
                  <a:srgbClr val="20262E"/>
                </a:solidFill>
                <a:latin typeface="Pretendard"/>
                <a:ea typeface="Pretendard"/>
                <a:cs typeface="Pretendard"/>
              </a:rPr>
              <a:t>CIC2018 FTP closed-port 사례를 Attempted로 구분</a:t>
            </a:r>
          </a:p>
        </p:txBody>
      </p:sp>
      <p:sp>
        <p:nvSpPr>
          <p:cNvPr id="10" name="Rectangle 9"/>
          <p:cNvSpPr/>
          <p:nvPr/>
        </p:nvSpPr>
        <p:spPr>
          <a:xfrm>
            <a:off x="594360" y="4443984"/>
            <a:ext cx="11000232" cy="112471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86384" y="4572000"/>
            <a:ext cx="4224528"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1" lang="ko-KR">
                <a:solidFill>
                  <a:srgbClr val="00306C"/>
                </a:solidFill>
                <a:latin typeface="Pretendard"/>
                <a:ea typeface="Pretendard"/>
                <a:cs typeface="Pretendard"/>
                <a:hlinkClick r:id="rId5"/>
              </a:rPr>
              <a:t>Rosay et al. (ICISSP, 2022)</a:t>
            </a:r>
          </a:p>
        </p:txBody>
      </p:sp>
      <p:sp>
        <p:nvSpPr>
          <p:cNvPr id="12" name="TextBox 11"/>
          <p:cNvSpPr txBox="1"/>
          <p:nvPr/>
        </p:nvSpPr>
        <p:spPr>
          <a:xfrm>
            <a:off x="5212080" y="4645152"/>
            <a:ext cx="6080760" cy="571500"/>
          </a:xfrm>
          <a:prstGeom prst="rect">
            <a:avLst/>
          </a:prstGeom>
          <a:noFill/>
          <a:effectLst/>
        </p:spPr>
        <p:txBody>
          <a:bodyPr wrap="none" anchor="t" lIns="0" rIns="0" tIns="0" bIns="0">
            <a:noAutofit/>
          </a:bodyPr>
          <a:lstStyle/>
          <a:p>
            <a:pPr algn="l">
              <a:lnSpc>
                <a:spcPct val="118000"/>
              </a:lnSpc>
              <a:spcBef>
                <a:spcPts val="0"/>
              </a:spcBef>
              <a:spcAft>
                <a:spcPts val="0"/>
              </a:spcAft>
            </a:pPr>
            <a:r>
              <a:rPr sz="1800" b="0" lang="ko-KR">
                <a:solidFill>
                  <a:srgbClr val="20262E"/>
                </a:solidFill>
                <a:latin typeface="Pretendard"/>
                <a:ea typeface="Pretendard"/>
                <a:cs typeface="Pretendard"/>
              </a:rPr>
              <a:t>세션 종료와 특징 계산을 점검</a:t>
            </a:r>
          </a:p>
          <a:p>
            <a:pPr algn="l">
              <a:lnSpc>
                <a:spcPct val="118000"/>
              </a:lnSpc>
              <a:spcBef>
                <a:spcPts val="0"/>
              </a:spcBef>
              <a:spcAft>
                <a:spcPts val="0"/>
              </a:spcAft>
            </a:pPr>
            <a:r>
              <a:rPr sz="1800" b="0" lang="ko-KR">
                <a:solidFill>
                  <a:srgbClr val="20262E"/>
                </a:solidFill>
                <a:latin typeface="Pretendard"/>
                <a:ea typeface="Pretendard"/>
                <a:cs typeface="Pretendard"/>
              </a:rPr>
              <a:t>유사 flow에 상이한 라벨이 생기는 경로를 논의</a:t>
            </a:r>
          </a:p>
        </p:txBody>
      </p:sp>
      <p:sp>
        <p:nvSpPr>
          <p:cNvPr id="13" name="TextBox 12"/>
          <p:cNvSpPr txBox="1"/>
          <p:nvPr/>
        </p:nvSpPr>
        <p:spPr>
          <a:xfrm>
            <a:off x="658368" y="5806440"/>
            <a:ext cx="10789920" cy="271779"/>
          </a:xfrm>
          <a:prstGeom prst="rect">
            <a:avLst/>
          </a:prstGeom>
          <a:noFill/>
          <a:effectLst/>
        </p:spPr>
        <p:txBody>
          <a:bodyPr wrap="none" anchor="t" lIns="0" rIns="0" tIns="0" bIns="0">
            <a:noAutofit/>
          </a:bodyPr>
          <a:lstStyle/>
          <a:p>
            <a:pPr algn="l">
              <a:lnSpc>
                <a:spcPct val="118000"/>
              </a:lnSpc>
              <a:spcBef>
                <a:spcPts val="0"/>
              </a:spcBef>
              <a:spcAft>
                <a:spcPts val="0"/>
              </a:spcAft>
            </a:pPr>
            <a:r>
              <a:rPr sz="1600" b="1" lang="ko-KR">
                <a:solidFill>
                  <a:srgbClr val="007BC6"/>
                </a:solidFill>
                <a:latin typeface="Pretendard"/>
                <a:ea typeface="Pretendard"/>
                <a:cs typeface="Pretendard"/>
              </a:rPr>
              <a:t>문헌은 가능한 원인, 슬라이드 3은 현재 입력에서 관측한 현상  ·  모든 exact collision을 한 원인으로 단정하지 않음</a:t>
            </a:r>
          </a:p>
        </p:txBody>
      </p:sp>
      <p:sp>
        <p:nvSpPr>
          <p:cNvPr id="14" name="Rectangle 13"/>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현재 감사의 exact collision을 문헌의 가능 원인과 구분해 해석</a:t>
            </a:r>
          </a:p>
        </p:txBody>
      </p:sp>
      <p:sp>
        <p:nvSpPr>
          <p:cNvPr id="16" name="TextBox 15"/>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01 기존 CSV와 진단</a:t>
            </a:r>
          </a:p>
        </p:txBody>
      </p:sp>
      <p:sp>
        <p:nvSpPr>
          <p:cNvPr id="17" name="TextBox 16"/>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PCAP 인코더로 새 학습 벡터를 만들 이유</a:t>
            </a:r>
          </a:p>
        </p:txBody>
      </p:sp>
      <p:sp>
        <p:nvSpPr>
          <p:cNvPr id="3" name="TextBox 2"/>
          <p:cNvSpPr txBox="1"/>
          <p:nvPr/>
        </p:nvSpPr>
        <p:spPr>
          <a:xfrm>
            <a:off x="594360" y="987552"/>
            <a:ext cx="10972800" cy="361696"/>
          </a:xfrm>
          <a:prstGeom prst="rect">
            <a:avLst/>
          </a:prstGeom>
          <a:noFill/>
          <a:effectLst/>
        </p:spPr>
        <p:txBody>
          <a:bodyPr wrap="none" anchor="t" lIns="0" rIns="0" tIns="0" bIns="0">
            <a:noAutofit/>
          </a:bodyPr>
          <a:lstStyle/>
          <a:p>
            <a:pPr algn="l">
              <a:lnSpc>
                <a:spcPct val="118000"/>
              </a:lnSpc>
              <a:spcBef>
                <a:spcPts val="0"/>
              </a:spcBef>
              <a:spcAft>
                <a:spcPts val="0"/>
              </a:spcAft>
            </a:pPr>
            <a:r>
              <a:rPr sz="2200" b="1" lang="ko-KR">
                <a:solidFill>
                  <a:srgbClr val="00306C"/>
                </a:solidFill>
                <a:latin typeface="Pretendard"/>
                <a:ea typeface="Pretendard"/>
                <a:cs typeface="Pretendard"/>
              </a:rPr>
              <a:t>고정 flow 통계 요약을 PCAP 인코더 표현으로 다시 만들고 두 결함을 재검증</a:t>
            </a:r>
          </a:p>
        </p:txBody>
      </p:sp>
      <p:sp>
        <p:nvSpPr>
          <p:cNvPr id="4" name="Rectangle 3"/>
          <p:cNvSpPr/>
          <p:nvPr/>
        </p:nvSpPr>
        <p:spPr>
          <a:xfrm>
            <a:off x="594360" y="1554480"/>
            <a:ext cx="5266944" cy="1417320"/>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594360" y="1554480"/>
            <a:ext cx="5266944"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740664" y="1636776"/>
            <a:ext cx="4974336"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CICFlowMeter CSV</a:t>
            </a:r>
          </a:p>
        </p:txBody>
      </p:sp>
      <p:sp>
        <p:nvSpPr>
          <p:cNvPr id="7" name="TextBox 6"/>
          <p:cNvSpPr txBox="1"/>
          <p:nvPr/>
        </p:nvSpPr>
        <p:spPr>
          <a:xfrm>
            <a:off x="758952" y="2212848"/>
            <a:ext cx="4937759" cy="601472"/>
          </a:xfrm>
          <a:prstGeom prst="rect">
            <a:avLst/>
          </a:prstGeom>
          <a:noFill/>
          <a:effectLst/>
        </p:spPr>
        <p:txBody>
          <a:bodyPr wrap="none" anchor="t" lIns="0" rIns="0" tIns="0" bIns="0">
            <a:noAutofit/>
          </a:bodyPr>
          <a:lstStyle/>
          <a:p>
            <a:pPr algn="l">
              <a:lnSpc>
                <a:spcPct val="118000"/>
              </a:lnSpc>
              <a:spcBef>
                <a:spcPts val="0"/>
              </a:spcBef>
              <a:spcAft>
                <a:spcPts val="0"/>
              </a:spcAft>
            </a:pPr>
            <a:r>
              <a:rPr sz="1900" b="0" lang="ko-KR">
                <a:solidFill>
                  <a:srgbClr val="20262E"/>
                </a:solidFill>
                <a:latin typeface="Pretendard"/>
                <a:ea typeface="Pretendard"/>
                <a:cs typeface="Pretendard"/>
              </a:rPr>
              <a:t>미리 정한 flow 경계와 통계식으로</a:t>
            </a:r>
          </a:p>
          <a:p>
            <a:pPr algn="l">
              <a:lnSpc>
                <a:spcPct val="118000"/>
              </a:lnSpc>
              <a:spcBef>
                <a:spcPts val="0"/>
              </a:spcBef>
              <a:spcAft>
                <a:spcPts val="0"/>
              </a:spcAft>
            </a:pPr>
            <a:r>
              <a:rPr sz="1900" b="0" lang="ko-KR">
                <a:solidFill>
                  <a:srgbClr val="20262E"/>
                </a:solidFill>
                <a:latin typeface="Pretendard"/>
                <a:ea typeface="Pretendard"/>
                <a:cs typeface="Pretendard"/>
              </a:rPr>
              <a:t>지속시간·패킷 수·길이·IAT·flag 등을 계산</a:t>
            </a:r>
          </a:p>
        </p:txBody>
      </p:sp>
      <p:sp>
        <p:nvSpPr>
          <p:cNvPr id="8" name="Rectangle 7"/>
          <p:cNvSpPr/>
          <p:nvPr/>
        </p:nvSpPr>
        <p:spPr>
          <a:xfrm>
            <a:off x="6245352" y="1554480"/>
            <a:ext cx="5266944" cy="1417320"/>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6245352" y="1554480"/>
            <a:ext cx="5266944"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391656" y="1636776"/>
            <a:ext cx="4974336"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PCAP 사전학습 인코더</a:t>
            </a:r>
          </a:p>
        </p:txBody>
      </p:sp>
      <p:sp>
        <p:nvSpPr>
          <p:cNvPr id="11" name="TextBox 10"/>
          <p:cNvSpPr txBox="1"/>
          <p:nvPr/>
        </p:nvSpPr>
        <p:spPr>
          <a:xfrm>
            <a:off x="6409944" y="2212848"/>
            <a:ext cx="4937759" cy="601472"/>
          </a:xfrm>
          <a:prstGeom prst="rect">
            <a:avLst/>
          </a:prstGeom>
          <a:noFill/>
          <a:effectLst/>
        </p:spPr>
        <p:txBody>
          <a:bodyPr wrap="none" anchor="t" lIns="0" rIns="0" tIns="0" bIns="0">
            <a:noAutofit/>
          </a:bodyPr>
          <a:lstStyle/>
          <a:p>
            <a:pPr algn="l">
              <a:lnSpc>
                <a:spcPct val="118000"/>
              </a:lnSpc>
              <a:spcBef>
                <a:spcPts val="0"/>
              </a:spcBef>
              <a:spcAft>
                <a:spcPts val="0"/>
              </a:spcAft>
            </a:pPr>
            <a:r>
              <a:rPr sz="1900" b="0" lang="ko-KR">
                <a:solidFill>
                  <a:srgbClr val="20262E"/>
                </a:solidFill>
                <a:latin typeface="Pretendard"/>
                <a:ea typeface="Pretendard"/>
                <a:cs typeface="Pretendard"/>
              </a:rPr>
              <a:t>패킷 순서·시간·헤더 패턴을 입력으로</a:t>
            </a:r>
          </a:p>
          <a:p>
            <a:pPr algn="l">
              <a:lnSpc>
                <a:spcPct val="118000"/>
              </a:lnSpc>
              <a:spcBef>
                <a:spcPts val="0"/>
              </a:spcBef>
              <a:spcAft>
                <a:spcPts val="0"/>
              </a:spcAft>
            </a:pPr>
            <a:r>
              <a:rPr sz="1900" b="0" lang="ko-KR">
                <a:solidFill>
                  <a:srgbClr val="20262E"/>
                </a:solidFill>
                <a:latin typeface="Pretendard"/>
                <a:ea typeface="Pretendard"/>
                <a:cs typeface="Pretendard"/>
              </a:rPr>
              <a:t>인코더별 표현 벡터를 생성</a:t>
            </a:r>
          </a:p>
        </p:txBody>
      </p:sp>
      <p:sp>
        <p:nvSpPr>
          <p:cNvPr id="12" name="TextBox 11"/>
          <p:cNvSpPr txBox="1"/>
          <p:nvPr/>
        </p:nvSpPr>
        <p:spPr>
          <a:xfrm>
            <a:off x="731520" y="3246120"/>
            <a:ext cx="4992624" cy="541528"/>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617080"/>
                </a:solidFill>
                <a:latin typeface="Pretendard"/>
                <a:ea typeface="Pretendard"/>
                <a:cs typeface="Pretendard"/>
              </a:rPr>
              <a:t>고정 통계량은 학습으로 고른 특징이 아니다.</a:t>
            </a:r>
          </a:p>
          <a:p>
            <a:pPr algn="l">
              <a:lnSpc>
                <a:spcPct val="118000"/>
              </a:lnSpc>
              <a:spcBef>
                <a:spcPts val="0"/>
              </a:spcBef>
              <a:spcAft>
                <a:spcPts val="0"/>
              </a:spcAft>
            </a:pPr>
            <a:r>
              <a:rPr sz="1700" b="0" lang="ko-KR">
                <a:solidFill>
                  <a:srgbClr val="617080"/>
                </a:solidFill>
                <a:latin typeface="Pretendard"/>
                <a:ea typeface="Pretendard"/>
                <a:cs typeface="Pretendard"/>
              </a:rPr>
              <a:t>패킷 순서·상호작용은 요약에서 사라질 수 있다.</a:t>
            </a:r>
          </a:p>
        </p:txBody>
      </p:sp>
      <p:sp>
        <p:nvSpPr>
          <p:cNvPr id="13" name="TextBox 12"/>
          <p:cNvSpPr txBox="1"/>
          <p:nvPr/>
        </p:nvSpPr>
        <p:spPr>
          <a:xfrm>
            <a:off x="6419088" y="3246120"/>
            <a:ext cx="4992624" cy="541528"/>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617080"/>
                </a:solidFill>
                <a:latin typeface="Pretendard"/>
                <a:ea typeface="Pretendard"/>
                <a:cs typeface="Pretendard"/>
              </a:rPr>
              <a:t>새 임베딩도 라벨 오류를 자동으로 고치지 않는다.</a:t>
            </a:r>
          </a:p>
          <a:p>
            <a:pPr algn="l">
              <a:lnSpc>
                <a:spcPct val="118000"/>
              </a:lnSpc>
              <a:spcBef>
                <a:spcPts val="0"/>
              </a:spcBef>
              <a:spcAft>
                <a:spcPts val="0"/>
              </a:spcAft>
            </a:pPr>
            <a:r>
              <a:rPr sz="1700" b="0" lang="ko-KR">
                <a:solidFill>
                  <a:srgbClr val="617080"/>
                </a:solidFill>
                <a:latin typeface="Pretendard"/>
                <a:ea typeface="Pretendard"/>
                <a:cs typeface="Pretendard"/>
              </a:rPr>
              <a:t>PCAP·시간·host·port 근거를 따로 보존한다.</a:t>
            </a:r>
          </a:p>
        </p:txBody>
      </p:sp>
      <p:sp>
        <p:nvSpPr>
          <p:cNvPr id="14" name="Rectangle 13"/>
          <p:cNvSpPr/>
          <p:nvPr/>
        </p:nvSpPr>
        <p:spPr>
          <a:xfrm>
            <a:off x="594360" y="3986784"/>
            <a:ext cx="1828800" cy="116128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594360" y="3986784"/>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85800" y="4055364"/>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PCAP·라벨</a:t>
            </a:r>
          </a:p>
        </p:txBody>
      </p:sp>
      <p:sp>
        <p:nvSpPr>
          <p:cNvPr id="17" name="TextBox 16"/>
          <p:cNvSpPr txBox="1"/>
          <p:nvPr/>
        </p:nvSpPr>
        <p:spPr>
          <a:xfrm>
            <a:off x="704088" y="4562856"/>
            <a:ext cx="1609344" cy="264287"/>
          </a:xfrm>
          <a:prstGeom prst="rect">
            <a:avLst/>
          </a:prstGeom>
          <a:noFill/>
          <a:effectLst/>
        </p:spPr>
        <p:txBody>
          <a:bodyPr wrap="none" anchor="t" lIns="0" rIns="0" tIns="0" bIns="0">
            <a:noAutofit/>
          </a:bodyPr>
          <a:lstStyle/>
          <a:p>
            <a:pPr algn="ctr">
              <a:lnSpc>
                <a:spcPct val="118000"/>
              </a:lnSpc>
              <a:spcBef>
                <a:spcPts val="0"/>
              </a:spcBef>
              <a:spcAft>
                <a:spcPts val="0"/>
              </a:spcAft>
            </a:pPr>
            <a:r>
              <a:rPr sz="1550" b="0" lang="ko-KR">
                <a:solidFill>
                  <a:srgbClr val="20262E"/>
                </a:solidFill>
                <a:latin typeface="Pretendard"/>
                <a:ea typeface="Pretendard"/>
                <a:cs typeface="Pretendard"/>
              </a:rPr>
              <a:t>패킷·시각·키</a:t>
            </a:r>
          </a:p>
        </p:txBody>
      </p:sp>
      <p:sp>
        <p:nvSpPr>
          <p:cNvPr id="18" name="Rectangle 17"/>
          <p:cNvSpPr/>
          <p:nvPr/>
        </p:nvSpPr>
        <p:spPr>
          <a:xfrm>
            <a:off x="2880360" y="3986784"/>
            <a:ext cx="1828800" cy="116128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2880360" y="3986784"/>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2971800" y="4055364"/>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flow 추적</a:t>
            </a:r>
          </a:p>
        </p:txBody>
      </p:sp>
      <p:sp>
        <p:nvSpPr>
          <p:cNvPr id="21" name="TextBox 20"/>
          <p:cNvSpPr txBox="1"/>
          <p:nvPr/>
        </p:nvSpPr>
        <p:spPr>
          <a:xfrm>
            <a:off x="2990088" y="4562856"/>
            <a:ext cx="1609344" cy="264287"/>
          </a:xfrm>
          <a:prstGeom prst="rect">
            <a:avLst/>
          </a:prstGeom>
          <a:noFill/>
          <a:effectLst/>
        </p:spPr>
        <p:txBody>
          <a:bodyPr wrap="none" anchor="t" lIns="0" rIns="0" tIns="0" bIns="0">
            <a:noAutofit/>
          </a:bodyPr>
          <a:lstStyle/>
          <a:p>
            <a:pPr algn="ctr">
              <a:lnSpc>
                <a:spcPct val="118000"/>
              </a:lnSpc>
              <a:spcBef>
                <a:spcPts val="0"/>
              </a:spcBef>
              <a:spcAft>
                <a:spcPts val="0"/>
              </a:spcAft>
            </a:pPr>
            <a:r>
              <a:rPr sz="1550" b="0" lang="ko-KR">
                <a:solidFill>
                  <a:srgbClr val="20262E"/>
                </a:solidFill>
                <a:latin typeface="Pretendard"/>
                <a:ea typeface="Pretendard"/>
                <a:cs typeface="Pretendard"/>
              </a:rPr>
              <a:t>원시 통신·라벨</a:t>
            </a:r>
          </a:p>
        </p:txBody>
      </p:sp>
      <p:sp>
        <p:nvSpPr>
          <p:cNvPr id="22" name="Rectangle 21"/>
          <p:cNvSpPr/>
          <p:nvPr/>
        </p:nvSpPr>
        <p:spPr>
          <a:xfrm>
            <a:off x="5166360" y="3986784"/>
            <a:ext cx="1828800" cy="116128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5166360" y="3986784"/>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5257800" y="4055364"/>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고정 인코더</a:t>
            </a:r>
          </a:p>
        </p:txBody>
      </p:sp>
      <p:sp>
        <p:nvSpPr>
          <p:cNvPr id="25" name="TextBox 24"/>
          <p:cNvSpPr txBox="1"/>
          <p:nvPr/>
        </p:nvSpPr>
        <p:spPr>
          <a:xfrm>
            <a:off x="5276088" y="4562856"/>
            <a:ext cx="1609344" cy="264287"/>
          </a:xfrm>
          <a:prstGeom prst="rect">
            <a:avLst/>
          </a:prstGeom>
          <a:noFill/>
          <a:effectLst/>
        </p:spPr>
        <p:txBody>
          <a:bodyPr wrap="none" anchor="t" lIns="0" rIns="0" tIns="0" bIns="0">
            <a:noAutofit/>
          </a:bodyPr>
          <a:lstStyle/>
          <a:p>
            <a:pPr algn="ctr">
              <a:lnSpc>
                <a:spcPct val="118000"/>
              </a:lnSpc>
              <a:spcBef>
                <a:spcPts val="0"/>
              </a:spcBef>
              <a:spcAft>
                <a:spcPts val="0"/>
              </a:spcAft>
            </a:pPr>
            <a:r>
              <a:rPr sz="1550" b="0" lang="ko-KR">
                <a:solidFill>
                  <a:srgbClr val="20262E"/>
                </a:solidFill>
                <a:latin typeface="Pretendard"/>
                <a:ea typeface="Pretendard"/>
                <a:cs typeface="Pretendard"/>
              </a:rPr>
              <a:t>표현 벡터 추출</a:t>
            </a:r>
          </a:p>
        </p:txBody>
      </p:sp>
      <p:sp>
        <p:nvSpPr>
          <p:cNvPr id="26" name="Rectangle 25"/>
          <p:cNvSpPr/>
          <p:nvPr/>
        </p:nvSpPr>
        <p:spPr>
          <a:xfrm>
            <a:off x="7452360" y="3986784"/>
            <a:ext cx="1828800" cy="116128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ectangle 26"/>
          <p:cNvSpPr/>
          <p:nvPr/>
        </p:nvSpPr>
        <p:spPr>
          <a:xfrm>
            <a:off x="7452360" y="3986784"/>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543800" y="4055364"/>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차원 축소</a:t>
            </a:r>
          </a:p>
        </p:txBody>
      </p:sp>
      <p:sp>
        <p:nvSpPr>
          <p:cNvPr id="29" name="TextBox 28"/>
          <p:cNvSpPr txBox="1"/>
          <p:nvPr/>
        </p:nvSpPr>
        <p:spPr>
          <a:xfrm>
            <a:off x="7562088" y="4562856"/>
            <a:ext cx="1609344" cy="264287"/>
          </a:xfrm>
          <a:prstGeom prst="rect">
            <a:avLst/>
          </a:prstGeom>
          <a:noFill/>
          <a:effectLst/>
        </p:spPr>
        <p:txBody>
          <a:bodyPr wrap="none" anchor="t" lIns="0" rIns="0" tIns="0" bIns="0">
            <a:noAutofit/>
          </a:bodyPr>
          <a:lstStyle/>
          <a:p>
            <a:pPr algn="ctr">
              <a:lnSpc>
                <a:spcPct val="118000"/>
              </a:lnSpc>
              <a:spcBef>
                <a:spcPts val="0"/>
              </a:spcBef>
              <a:spcAft>
                <a:spcPts val="0"/>
              </a:spcAft>
            </a:pPr>
            <a:r>
              <a:rPr sz="1550" b="0" lang="ko-KR">
                <a:solidFill>
                  <a:srgbClr val="20262E"/>
                </a:solidFill>
                <a:latin typeface="Pretendard"/>
                <a:ea typeface="Pretendard"/>
                <a:cs typeface="Pretendard"/>
              </a:rPr>
              <a:t>학습 분할만</a:t>
            </a:r>
          </a:p>
        </p:txBody>
      </p:sp>
      <p:sp>
        <p:nvSpPr>
          <p:cNvPr id="30" name="Rectangle 29"/>
          <p:cNvSpPr/>
          <p:nvPr/>
        </p:nvSpPr>
        <p:spPr>
          <a:xfrm>
            <a:off x="9738360" y="3986784"/>
            <a:ext cx="1828800" cy="116128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Rectangle 30"/>
          <p:cNvSpPr/>
          <p:nvPr/>
        </p:nvSpPr>
        <p:spPr>
          <a:xfrm>
            <a:off x="9738360" y="3986784"/>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9829800" y="4055364"/>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XGB · TabPFN</a:t>
            </a:r>
          </a:p>
        </p:txBody>
      </p:sp>
      <p:sp>
        <p:nvSpPr>
          <p:cNvPr id="33" name="TextBox 32"/>
          <p:cNvSpPr txBox="1"/>
          <p:nvPr/>
        </p:nvSpPr>
        <p:spPr>
          <a:xfrm>
            <a:off x="9848088" y="4562856"/>
            <a:ext cx="1609344" cy="264287"/>
          </a:xfrm>
          <a:prstGeom prst="rect">
            <a:avLst/>
          </a:prstGeom>
          <a:noFill/>
          <a:effectLst/>
        </p:spPr>
        <p:txBody>
          <a:bodyPr wrap="none" anchor="t" lIns="0" rIns="0" tIns="0" bIns="0">
            <a:noAutofit/>
          </a:bodyPr>
          <a:lstStyle/>
          <a:p>
            <a:pPr algn="ctr">
              <a:lnSpc>
                <a:spcPct val="118000"/>
              </a:lnSpc>
              <a:spcBef>
                <a:spcPts val="0"/>
              </a:spcBef>
              <a:spcAft>
                <a:spcPts val="0"/>
              </a:spcAft>
            </a:pPr>
            <a:r>
              <a:rPr sz="1550" b="0" lang="ko-KR">
                <a:solidFill>
                  <a:srgbClr val="20262E"/>
                </a:solidFill>
                <a:latin typeface="Pretendard"/>
                <a:ea typeface="Pretendard"/>
                <a:cs typeface="Pretendard"/>
              </a:rPr>
              <a:t>같은 벡터로 비교</a:t>
            </a:r>
          </a:p>
        </p:txBody>
      </p:sp>
      <p:sp>
        <p:nvSpPr>
          <p:cNvPr id="34" name="Right Arrow 33"/>
          <p:cNvSpPr/>
          <p:nvPr/>
        </p:nvSpPr>
        <p:spPr>
          <a:xfrm>
            <a:off x="2551176" y="442569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Right Arrow 34"/>
          <p:cNvSpPr/>
          <p:nvPr/>
        </p:nvSpPr>
        <p:spPr>
          <a:xfrm>
            <a:off x="4837176" y="442569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ight Arrow 35"/>
          <p:cNvSpPr/>
          <p:nvPr/>
        </p:nvSpPr>
        <p:spPr>
          <a:xfrm>
            <a:off x="7123176" y="442569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Right Arrow 36"/>
          <p:cNvSpPr/>
          <p:nvPr/>
        </p:nvSpPr>
        <p:spPr>
          <a:xfrm>
            <a:off x="9409176" y="442569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658368" y="5394960"/>
            <a:ext cx="5239512" cy="571500"/>
          </a:xfrm>
          <a:prstGeom prst="rect">
            <a:avLst/>
          </a:prstGeom>
          <a:noFill/>
          <a:effectLst/>
        </p:spPr>
        <p:txBody>
          <a:bodyPr wrap="none" anchor="t" lIns="0" rIns="0" tIns="0" bIns="0">
            <a:noAutofit/>
          </a:bodyPr>
          <a:lstStyle/>
          <a:p>
            <a:pPr algn="l">
              <a:lnSpc>
                <a:spcPct val="118000"/>
              </a:lnSpc>
              <a:spcBef>
                <a:spcPts val="0"/>
              </a:spcBef>
              <a:spcAft>
                <a:spcPts val="0"/>
              </a:spcAft>
            </a:pPr>
            <a:r>
              <a:rPr sz="1800" b="1" lang="ko-KR">
                <a:solidFill>
                  <a:srgbClr val="00306C"/>
                </a:solidFill>
                <a:latin typeface="Pretendard"/>
                <a:ea typeface="Pretendard"/>
                <a:cs typeface="Pretendard"/>
              </a:rPr>
              <a:t>① 동일 표현·상이 라벨 비율과</a:t>
            </a:r>
          </a:p>
          <a:p>
            <a:pPr algn="l">
              <a:lnSpc>
                <a:spcPct val="118000"/>
              </a:lnSpc>
              <a:spcBef>
                <a:spcPts val="0"/>
              </a:spcBef>
              <a:spcAft>
                <a:spcPts val="0"/>
              </a:spcAft>
            </a:pPr>
            <a:r>
              <a:rPr sz="1800" b="1" lang="ko-KR">
                <a:solidFill>
                  <a:srgbClr val="00306C"/>
                </a:solidFill>
                <a:latin typeface="Pretendard"/>
                <a:ea typeface="Pretendard"/>
                <a:cs typeface="Pretendard"/>
              </a:rPr>
              <a:t>PCAP 라벨 근거를 다시 감사</a:t>
            </a:r>
          </a:p>
        </p:txBody>
      </p:sp>
      <p:sp>
        <p:nvSpPr>
          <p:cNvPr id="39" name="TextBox 38"/>
          <p:cNvSpPr txBox="1"/>
          <p:nvPr/>
        </p:nvSpPr>
        <p:spPr>
          <a:xfrm>
            <a:off x="6245352" y="5394960"/>
            <a:ext cx="5239512" cy="571500"/>
          </a:xfrm>
          <a:prstGeom prst="rect">
            <a:avLst/>
          </a:prstGeom>
          <a:noFill/>
          <a:effectLst/>
        </p:spPr>
        <p:txBody>
          <a:bodyPr wrap="none" anchor="t" lIns="0" rIns="0" tIns="0" bIns="0">
            <a:noAutofit/>
          </a:bodyPr>
          <a:lstStyle/>
          <a:p>
            <a:pPr algn="l">
              <a:lnSpc>
                <a:spcPct val="118000"/>
              </a:lnSpc>
              <a:spcBef>
                <a:spcPts val="0"/>
              </a:spcBef>
              <a:spcAft>
                <a:spcPts val="0"/>
              </a:spcAft>
            </a:pPr>
            <a:r>
              <a:rPr sz="1800" b="1" lang="ko-KR">
                <a:solidFill>
                  <a:srgbClr val="00306C"/>
                </a:solidFill>
                <a:latin typeface="Pretendard"/>
                <a:ea typeface="Pretendard"/>
                <a:cs typeface="Pretendard"/>
              </a:rPr>
              <a:t>② baseline·few-shot에서</a:t>
            </a:r>
          </a:p>
          <a:p>
            <a:pPr algn="l">
              <a:lnSpc>
                <a:spcPct val="118000"/>
              </a:lnSpc>
              <a:spcBef>
                <a:spcPts val="0"/>
              </a:spcBef>
              <a:spcAft>
                <a:spcPts val="0"/>
              </a:spcAft>
            </a:pPr>
            <a:r>
              <a:rPr sz="1800" b="1" lang="ko-KR">
                <a:solidFill>
                  <a:srgbClr val="00306C"/>
                </a:solidFill>
                <a:latin typeface="Pretendard"/>
                <a:ea typeface="Pretendard"/>
                <a:cs typeface="Pretendard"/>
              </a:rPr>
              <a:t>head의 조기 포화가 다시 생기는지 측정</a:t>
            </a:r>
          </a:p>
        </p:txBody>
      </p:sp>
      <p:sp>
        <p:nvSpPr>
          <p:cNvPr id="40" name="TextBox 39"/>
          <p:cNvSpPr txBox="1"/>
          <p:nvPr/>
        </p:nvSpPr>
        <p:spPr>
          <a:xfrm>
            <a:off x="658368" y="6126480"/>
            <a:ext cx="1088136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617080"/>
                </a:solidFill>
                <a:latin typeface="Pretendard"/>
                <a:ea typeface="Pretendard"/>
                <a:cs typeface="Pretendard"/>
              </a:rPr>
              <a:t>인코더 후보  netFound (arXiv, 26) · ET-BERT (WWW, 22) · NetMamba (ICNP, 24)</a:t>
            </a:r>
          </a:p>
        </p:txBody>
      </p:sp>
      <p:sp>
        <p:nvSpPr>
          <p:cNvPr id="41" name="Rectangle 40"/>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표현을 바꾼 뒤 동일 벡터·상이 라벨과 쉬운 head의 조기 포화를 다시 측정</a:t>
            </a:r>
          </a:p>
        </p:txBody>
      </p:sp>
      <p:sp>
        <p:nvSpPr>
          <p:cNvPr id="43" name="TextBox 42"/>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02 PCAP 재구축</a:t>
            </a:r>
          </a:p>
        </p:txBody>
      </p:sp>
      <p:sp>
        <p:nvSpPr>
          <p:cNvPr id="44" name="TextBox 43"/>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PCAP·라벨을 함께 제공하는 IDS 데이터 후보</a:t>
            </a:r>
          </a:p>
        </p:txBody>
      </p:sp>
      <p:sp>
        <p:nvSpPr>
          <p:cNvPr id="3" name="TextBox 2"/>
          <p:cNvSpPr txBox="1"/>
          <p:nvPr/>
        </p:nvSpPr>
        <p:spPr>
          <a:xfrm>
            <a:off x="594360" y="1033271"/>
            <a:ext cx="10972800" cy="331724"/>
          </a:xfrm>
          <a:prstGeom prst="rect">
            <a:avLst/>
          </a:prstGeom>
          <a:noFill/>
          <a:effectLst/>
        </p:spPr>
        <p:txBody>
          <a:bodyPr wrap="none" anchor="t" lIns="0" rIns="0" tIns="0" bIns="0">
            <a:noAutofit/>
          </a:bodyPr>
          <a:lstStyle/>
          <a:p>
            <a:pPr algn="l">
              <a:lnSpc>
                <a:spcPct val="118000"/>
              </a:lnSpc>
              <a:spcBef>
                <a:spcPts val="0"/>
              </a:spcBef>
              <a:spcAft>
                <a:spcPts val="0"/>
              </a:spcAft>
            </a:pPr>
            <a:r>
              <a:rPr sz="2000" b="0" lang="ko-KR">
                <a:solidFill>
                  <a:srgbClr val="617080"/>
                </a:solidFill>
                <a:latin typeface="Pretendard"/>
                <a:ea typeface="Pretendard"/>
                <a:cs typeface="Pretendard"/>
              </a:rPr>
              <a:t>PCAP 제공 여부뿐 아니라, 새 flow에 라벨 근거를 다시 연결할 수 있는지가 기준</a:t>
            </a:r>
          </a:p>
        </p:txBody>
      </p:sp>
      <p:sp>
        <p:nvSpPr>
          <p:cNvPr id="4" name="Rectangle 3"/>
          <p:cNvSpPr/>
          <p:nvPr/>
        </p:nvSpPr>
        <p:spPr>
          <a:xfrm>
            <a:off x="594360" y="1664208"/>
            <a:ext cx="2560320" cy="566928"/>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819656"/>
            <a:ext cx="2340863"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1" lang="ko-KR">
                <a:solidFill>
                  <a:srgbClr val="FFFFFF"/>
                </a:solidFill>
                <a:latin typeface="Pretendard"/>
                <a:ea typeface="Pretendard"/>
                <a:cs typeface="Pretendard"/>
              </a:rPr>
              <a:t>데이터</a:t>
            </a:r>
          </a:p>
        </p:txBody>
      </p:sp>
      <p:sp>
        <p:nvSpPr>
          <p:cNvPr id="6" name="Rectangle 5"/>
          <p:cNvSpPr/>
          <p:nvPr/>
        </p:nvSpPr>
        <p:spPr>
          <a:xfrm>
            <a:off x="3154680" y="1664208"/>
            <a:ext cx="3831336" cy="566928"/>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3264408" y="1819656"/>
            <a:ext cx="361188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1" lang="ko-KR">
                <a:solidFill>
                  <a:srgbClr val="FFFFFF"/>
                </a:solidFill>
                <a:latin typeface="Pretendard"/>
                <a:ea typeface="Pretendard"/>
                <a:cs typeface="Pretendard"/>
              </a:rPr>
              <a:t>공개 원시 자료</a:t>
            </a:r>
          </a:p>
        </p:txBody>
      </p:sp>
      <p:sp>
        <p:nvSpPr>
          <p:cNvPr id="8" name="Rectangle 7"/>
          <p:cNvSpPr/>
          <p:nvPr/>
        </p:nvSpPr>
        <p:spPr>
          <a:xfrm>
            <a:off x="6986016" y="1664208"/>
            <a:ext cx="4608576" cy="566928"/>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095744" y="1819656"/>
            <a:ext cx="438912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1" lang="ko-KR">
                <a:solidFill>
                  <a:srgbClr val="FFFFFF"/>
                </a:solidFill>
                <a:latin typeface="Pretendard"/>
                <a:ea typeface="Pretendard"/>
                <a:cs typeface="Pretendard"/>
              </a:rPr>
              <a:t>새 벡터를 위한 검증</a:t>
            </a:r>
          </a:p>
        </p:txBody>
      </p:sp>
      <p:sp>
        <p:nvSpPr>
          <p:cNvPr id="10" name="Rectangle 9"/>
          <p:cNvSpPr/>
          <p:nvPr/>
        </p:nvSpPr>
        <p:spPr>
          <a:xfrm>
            <a:off x="594360" y="2231136"/>
            <a:ext cx="256032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04088" y="2386584"/>
            <a:ext cx="2340863"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hlinkClick r:id="rId3"/>
              </a:rPr>
              <a:t>CIC2017 · 우선</a:t>
            </a:r>
          </a:p>
        </p:txBody>
      </p:sp>
      <p:sp>
        <p:nvSpPr>
          <p:cNvPr id="12" name="Rectangle 11"/>
          <p:cNvSpPr/>
          <p:nvPr/>
        </p:nvSpPr>
        <p:spPr>
          <a:xfrm>
            <a:off x="3154680" y="2231136"/>
            <a:ext cx="3831336"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3264408" y="2386584"/>
            <a:ext cx="361188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PCAP + flow CSV + 공격 일정</a:t>
            </a:r>
          </a:p>
        </p:txBody>
      </p:sp>
      <p:sp>
        <p:nvSpPr>
          <p:cNvPr id="14" name="Rectangle 13"/>
          <p:cNvSpPr/>
          <p:nvPr/>
        </p:nvSpPr>
        <p:spPr>
          <a:xfrm>
            <a:off x="6986016" y="2231136"/>
            <a:ext cx="4608576"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7095744" y="2386584"/>
            <a:ext cx="438912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flow 경계·라벨 규칙 대조</a:t>
            </a:r>
          </a:p>
        </p:txBody>
      </p:sp>
      <p:sp>
        <p:nvSpPr>
          <p:cNvPr id="16" name="Rectangle 15"/>
          <p:cNvSpPr/>
          <p:nvPr/>
        </p:nvSpPr>
        <p:spPr>
          <a:xfrm>
            <a:off x="594360" y="2798064"/>
            <a:ext cx="2560320"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04088" y="2953512"/>
            <a:ext cx="2340863"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hlinkClick r:id="rId4"/>
              </a:rPr>
              <a:t>CIC2018 · 우선</a:t>
            </a:r>
          </a:p>
        </p:txBody>
      </p:sp>
      <p:sp>
        <p:nvSpPr>
          <p:cNvPr id="18" name="Rectangle 17"/>
          <p:cNvSpPr/>
          <p:nvPr/>
        </p:nvSpPr>
        <p:spPr>
          <a:xfrm>
            <a:off x="3154680" y="2798064"/>
            <a:ext cx="3831336"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3264408" y="2953512"/>
            <a:ext cx="361188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호스트별 PCAP + 로그 + CSV</a:t>
            </a:r>
          </a:p>
        </p:txBody>
      </p:sp>
      <p:sp>
        <p:nvSpPr>
          <p:cNvPr id="20" name="Rectangle 19"/>
          <p:cNvSpPr/>
          <p:nvPr/>
        </p:nvSpPr>
        <p:spPr>
          <a:xfrm>
            <a:off x="6986016" y="2798064"/>
            <a:ext cx="4608576"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095744" y="2953512"/>
            <a:ext cx="438912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중복 캡처·시간·host 확인</a:t>
            </a:r>
          </a:p>
        </p:txBody>
      </p:sp>
      <p:sp>
        <p:nvSpPr>
          <p:cNvPr id="22" name="Rectangle 21"/>
          <p:cNvSpPr/>
          <p:nvPr/>
        </p:nvSpPr>
        <p:spPr>
          <a:xfrm>
            <a:off x="594360" y="3364991"/>
            <a:ext cx="256032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04088" y="3520439"/>
            <a:ext cx="2340863"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hlinkClick r:id="rId5"/>
              </a:rPr>
              <a:t>IoT-23 · 후속</a:t>
            </a:r>
          </a:p>
        </p:txBody>
      </p:sp>
      <p:sp>
        <p:nvSpPr>
          <p:cNvPr id="24" name="Rectangle 23"/>
          <p:cNvSpPr/>
          <p:nvPr/>
        </p:nvSpPr>
        <p:spPr>
          <a:xfrm>
            <a:off x="3154680" y="3364991"/>
            <a:ext cx="3831336"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3264408" y="3520439"/>
            <a:ext cx="361188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PCAP + 라벨 Zeek conn.log</a:t>
            </a:r>
          </a:p>
        </p:txBody>
      </p:sp>
      <p:sp>
        <p:nvSpPr>
          <p:cNvPr id="26" name="Rectangle 25"/>
          <p:cNvSpPr/>
          <p:nvPr/>
        </p:nvSpPr>
        <p:spPr>
          <a:xfrm>
            <a:off x="6986016" y="3364991"/>
            <a:ext cx="4608576"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095744" y="3520439"/>
            <a:ext cx="438912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작은 시나리오부터 연결</a:t>
            </a:r>
          </a:p>
        </p:txBody>
      </p:sp>
      <p:sp>
        <p:nvSpPr>
          <p:cNvPr id="28" name="Rectangle 27"/>
          <p:cNvSpPr/>
          <p:nvPr/>
        </p:nvSpPr>
        <p:spPr>
          <a:xfrm>
            <a:off x="594360" y="3931920"/>
            <a:ext cx="2560320"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04088" y="4087368"/>
            <a:ext cx="2340863"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hlinkClick r:id="rId6"/>
              </a:rPr>
              <a:t>UNSW-NB15</a:t>
            </a:r>
          </a:p>
        </p:txBody>
      </p:sp>
      <p:sp>
        <p:nvSpPr>
          <p:cNvPr id="30" name="Rectangle 29"/>
          <p:cNvSpPr/>
          <p:nvPr/>
        </p:nvSpPr>
        <p:spPr>
          <a:xfrm>
            <a:off x="3154680" y="3931920"/>
            <a:ext cx="3831336"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3264408" y="4087368"/>
            <a:ext cx="361188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PCAP + GT·공격 이벤트</a:t>
            </a:r>
          </a:p>
        </p:txBody>
      </p:sp>
      <p:sp>
        <p:nvSpPr>
          <p:cNvPr id="32" name="Rectangle 31"/>
          <p:cNvSpPr/>
          <p:nvPr/>
        </p:nvSpPr>
        <p:spPr>
          <a:xfrm>
            <a:off x="6986016" y="3931920"/>
            <a:ext cx="4608576"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095744" y="4087368"/>
            <a:ext cx="438912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시간·5-tuple join</a:t>
            </a:r>
          </a:p>
        </p:txBody>
      </p:sp>
      <p:sp>
        <p:nvSpPr>
          <p:cNvPr id="34" name="Rectangle 33"/>
          <p:cNvSpPr/>
          <p:nvPr/>
        </p:nvSpPr>
        <p:spPr>
          <a:xfrm>
            <a:off x="594360" y="4498848"/>
            <a:ext cx="256032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04088" y="4654296"/>
            <a:ext cx="2340863"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hlinkClick r:id="rId7"/>
              </a:rPr>
              <a:t>TON_IoT</a:t>
            </a:r>
          </a:p>
        </p:txBody>
      </p:sp>
      <p:sp>
        <p:nvSpPr>
          <p:cNvPr id="36" name="Rectangle 35"/>
          <p:cNvSpPr/>
          <p:nvPr/>
        </p:nvSpPr>
        <p:spPr>
          <a:xfrm>
            <a:off x="3154680" y="4498848"/>
            <a:ext cx="3831336"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3264408" y="4654296"/>
            <a:ext cx="361188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네트워크 PCAP + Zeek·CSV</a:t>
            </a:r>
          </a:p>
        </p:txBody>
      </p:sp>
      <p:sp>
        <p:nvSpPr>
          <p:cNvPr id="38" name="Rectangle 37"/>
          <p:cNvSpPr/>
          <p:nvPr/>
        </p:nvSpPr>
        <p:spPr>
          <a:xfrm>
            <a:off x="6986016" y="4498848"/>
            <a:ext cx="4608576"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7095744" y="4654296"/>
            <a:ext cx="438912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네트워크와 센서·OS 자료 구별</a:t>
            </a:r>
          </a:p>
        </p:txBody>
      </p:sp>
      <p:sp>
        <p:nvSpPr>
          <p:cNvPr id="40" name="Rectangle 39"/>
          <p:cNvSpPr/>
          <p:nvPr/>
        </p:nvSpPr>
        <p:spPr>
          <a:xfrm>
            <a:off x="594360" y="5065776"/>
            <a:ext cx="2560320"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04088" y="5221224"/>
            <a:ext cx="2340863"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hlinkClick r:id="rId8"/>
              </a:rPr>
              <a:t>CICIoT2023</a:t>
            </a:r>
          </a:p>
        </p:txBody>
      </p:sp>
      <p:sp>
        <p:nvSpPr>
          <p:cNvPr id="42" name="Rectangle 41"/>
          <p:cNvSpPr/>
          <p:nvPr/>
        </p:nvSpPr>
        <p:spPr>
          <a:xfrm>
            <a:off x="3154680" y="5065776"/>
            <a:ext cx="3831336"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3264408" y="5221224"/>
            <a:ext cx="361188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PCAP + CSV·처리 코드</a:t>
            </a:r>
          </a:p>
        </p:txBody>
      </p:sp>
      <p:sp>
        <p:nvSpPr>
          <p:cNvPr id="44" name="Rectangle 43"/>
          <p:cNvSpPr/>
          <p:nvPr/>
        </p:nvSpPr>
        <p:spPr>
          <a:xfrm>
            <a:off x="6986016" y="5065776"/>
            <a:ext cx="4608576"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7095744" y="5221224"/>
            <a:ext cx="438912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flow별 라벨 재구성 검증</a:t>
            </a:r>
          </a:p>
        </p:txBody>
      </p:sp>
      <p:sp>
        <p:nvSpPr>
          <p:cNvPr id="46" name="TextBox 45"/>
          <p:cNvSpPr txBox="1"/>
          <p:nvPr/>
        </p:nvSpPr>
        <p:spPr>
          <a:xfrm>
            <a:off x="658368" y="5897880"/>
            <a:ext cx="10881360"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1" lang="ko-KR">
                <a:solidFill>
                  <a:srgbClr val="00306C"/>
                </a:solidFill>
                <a:latin typeface="Pretendard"/>
                <a:ea typeface="Pretendard"/>
                <a:cs typeface="Pretendard"/>
              </a:rPr>
              <a:t>CIC2017·2018을 먼저 재구축하고, IoT-23처럼 작은 PCAP 시나리오로 파이프라인·라벨 연결을 추가 검증</a:t>
            </a:r>
          </a:p>
        </p:txBody>
      </p:sp>
      <p:sp>
        <p:nvSpPr>
          <p:cNvPr id="47" name="Rectangle 46"/>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CIC2017·2018을 우선하고, PCAP과 라벨을 다시 연결할 수 있는 데이터로 확장</a:t>
            </a:r>
          </a:p>
        </p:txBody>
      </p:sp>
      <p:sp>
        <p:nvSpPr>
          <p:cNvPr id="49" name="TextBox 48"/>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02 PCAP 재구축</a:t>
            </a:r>
          </a:p>
        </p:txBody>
      </p:sp>
      <p:sp>
        <p:nvSpPr>
          <p:cNvPr id="50" name="TextBox 49"/>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구현 파일럿: PCAP부터 학습용 벡터까지</a:t>
            </a:r>
          </a:p>
        </p:txBody>
      </p:sp>
      <p:sp>
        <p:nvSpPr>
          <p:cNvPr id="3" name="Rectangle 2"/>
          <p:cNvSpPr/>
          <p:nvPr/>
        </p:nvSpPr>
        <p:spPr>
          <a:xfrm>
            <a:off x="594360" y="1234440"/>
            <a:ext cx="5266944" cy="2871216"/>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Rectangle 3"/>
          <p:cNvSpPr/>
          <p:nvPr/>
        </p:nvSpPr>
        <p:spPr>
          <a:xfrm>
            <a:off x="594360" y="1234440"/>
            <a:ext cx="5266944"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40664" y="1316736"/>
            <a:ext cx="4974336"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CIC2018 PCAP 파일럿</a:t>
            </a:r>
          </a:p>
        </p:txBody>
      </p:sp>
      <p:sp>
        <p:nvSpPr>
          <p:cNvPr id="6" name="TextBox 5"/>
          <p:cNvSpPr txBox="1"/>
          <p:nvPr/>
        </p:nvSpPr>
        <p:spPr>
          <a:xfrm>
            <a:off x="758952" y="1892808"/>
            <a:ext cx="4937759" cy="1290827"/>
          </a:xfrm>
          <a:prstGeom prst="rect">
            <a:avLst/>
          </a:prstGeom>
          <a:noFill/>
          <a:effectLst/>
        </p:spPr>
        <p:txBody>
          <a:bodyPr wrap="none" anchor="t" lIns="0" rIns="0" tIns="0" bIns="0">
            <a:noAutofit/>
          </a:bodyPr>
          <a:lstStyle/>
          <a:p>
            <a:pPr algn="l">
              <a:lnSpc>
                <a:spcPct val="118000"/>
              </a:lnSpc>
              <a:spcBef>
                <a:spcPts val="0"/>
              </a:spcBef>
              <a:spcAft>
                <a:spcPts val="0"/>
              </a:spcAft>
            </a:pPr>
            <a:r>
              <a:rPr sz="2100" b="0" lang="ko-KR">
                <a:solidFill>
                  <a:srgbClr val="20262E"/>
                </a:solidFill>
                <a:latin typeface="Pretendard"/>
                <a:ea typeface="Pretendard"/>
                <a:cs typeface="Pretendard"/>
              </a:rPr>
              <a:t>2018-02-14 · 대상 host 1대</a:t>
            </a:r>
          </a:p>
          <a:p>
            <a:pPr algn="l">
              <a:lnSpc>
                <a:spcPct val="118000"/>
              </a:lnSpc>
              <a:spcBef>
                <a:spcPts val="0"/>
              </a:spcBef>
              <a:spcAft>
                <a:spcPts val="0"/>
              </a:spcAft>
            </a:pPr>
            <a:r>
              <a:rPr sz="2100" b="0" lang="ko-KR">
                <a:solidFill>
                  <a:srgbClr val="20262E"/>
                </a:solidFill>
                <a:latin typeface="Pretendard"/>
                <a:ea typeface="Pretendard"/>
                <a:cs typeface="Pretendard"/>
              </a:rPr>
              <a:t>패킷 4,718,327개 → flow 289,531개</a:t>
            </a:r>
          </a:p>
          <a:p>
            <a:pPr algn="l">
              <a:lnSpc>
                <a:spcPct val="118000"/>
              </a:lnSpc>
              <a:spcBef>
                <a:spcPts val="0"/>
              </a:spcBef>
              <a:spcAft>
                <a:spcPts val="0"/>
              </a:spcAft>
            </a:pPr>
            <a:r>
              <a:rPr sz="2100" b="0" lang="ko-KR">
                <a:solidFill>
                  <a:srgbClr val="20262E"/>
                </a:solidFill>
                <a:latin typeface="Pretendard"/>
                <a:ea typeface="Pretendard"/>
                <a:cs typeface="Pretendard"/>
              </a:rPr>
              <a:t>주석·분할별 표본 1,182개 인코딩</a:t>
            </a:r>
          </a:p>
          <a:p>
            <a:pPr algn="l">
              <a:lnSpc>
                <a:spcPct val="118000"/>
              </a:lnSpc>
              <a:spcBef>
                <a:spcPts val="0"/>
              </a:spcBef>
              <a:spcAft>
                <a:spcPts val="0"/>
              </a:spcAft>
            </a:pPr>
            <a:r>
              <a:rPr sz="2100" b="0" lang="ko-KR">
                <a:solidFill>
                  <a:srgbClr val="20262E"/>
                </a:solidFill>
                <a:latin typeface="Pretendard"/>
                <a:ea typeface="Pretendard"/>
                <a:cs typeface="Pretendard"/>
              </a:rPr>
              <a:t>512차원 → 64차원 벡터</a:t>
            </a:r>
          </a:p>
        </p:txBody>
      </p:sp>
      <p:sp>
        <p:nvSpPr>
          <p:cNvPr id="7" name="Rectangle 6"/>
          <p:cNvSpPr/>
          <p:nvPr/>
        </p:nvSpPr>
        <p:spPr>
          <a:xfrm>
            <a:off x="6245352" y="1234440"/>
            <a:ext cx="5266944" cy="2871216"/>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245352" y="1234440"/>
            <a:ext cx="5266944"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391656" y="1316736"/>
            <a:ext cx="4974336"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확인한 처리 계약</a:t>
            </a:r>
          </a:p>
        </p:txBody>
      </p:sp>
      <p:sp>
        <p:nvSpPr>
          <p:cNvPr id="10" name="TextBox 9"/>
          <p:cNvSpPr txBox="1"/>
          <p:nvPr/>
        </p:nvSpPr>
        <p:spPr>
          <a:xfrm>
            <a:off x="6409944" y="1892808"/>
            <a:ext cx="4937759" cy="1230883"/>
          </a:xfrm>
          <a:prstGeom prst="rect">
            <a:avLst/>
          </a:prstGeom>
          <a:noFill/>
          <a:effectLst/>
        </p:spPr>
        <p:txBody>
          <a:bodyPr wrap="none" anchor="t" lIns="0" rIns="0" tIns="0" bIns="0">
            <a:noAutofit/>
          </a:bodyPr>
          <a:lstStyle/>
          <a:p>
            <a:pPr algn="l">
              <a:lnSpc>
                <a:spcPct val="118000"/>
              </a:lnSpc>
              <a:spcBef>
                <a:spcPts val="0"/>
              </a:spcBef>
              <a:spcAft>
                <a:spcPts val="0"/>
              </a:spcAft>
            </a:pPr>
            <a:r>
              <a:rPr sz="2000" b="0" lang="ko-KR">
                <a:solidFill>
                  <a:srgbClr val="20262E"/>
                </a:solidFill>
                <a:latin typeface="Pretendard"/>
                <a:ea typeface="Pretendard"/>
                <a:cs typeface="Pretendard"/>
              </a:rPr>
              <a:t>학습·검증·시험 flow 그룹 중복 0</a:t>
            </a:r>
          </a:p>
          <a:p>
            <a:pPr algn="l">
              <a:lnSpc>
                <a:spcPct val="118000"/>
              </a:lnSpc>
              <a:spcBef>
                <a:spcPts val="0"/>
              </a:spcBef>
              <a:spcAft>
                <a:spcPts val="0"/>
              </a:spcAft>
            </a:pPr>
            <a:r>
              <a:rPr sz="2000" b="0" lang="ko-KR">
                <a:solidFill>
                  <a:srgbClr val="20262E"/>
                </a:solidFill>
                <a:latin typeface="Pretendard"/>
                <a:ea typeface="Pretendard"/>
                <a:cs typeface="Pretendard"/>
              </a:rPr>
              <a:t>변환 적합: 학습 405행만 사용</a:t>
            </a:r>
          </a:p>
          <a:p>
            <a:pPr algn="l">
              <a:lnSpc>
                <a:spcPct val="118000"/>
              </a:lnSpc>
              <a:spcBef>
                <a:spcPts val="0"/>
              </a:spcBef>
              <a:spcAft>
                <a:spcPts val="0"/>
              </a:spcAft>
            </a:pPr>
            <a:r>
              <a:rPr sz="2000" b="0" lang="ko-KR">
                <a:solidFill>
                  <a:srgbClr val="20262E"/>
                </a:solidFill>
                <a:latin typeface="Pretendard"/>
                <a:ea typeface="Pretendard"/>
                <a:cs typeface="Pretendard"/>
              </a:rPr>
              <a:t>공개 checkpoint 가중치 고정</a:t>
            </a:r>
          </a:p>
          <a:p>
            <a:pPr algn="l">
              <a:lnSpc>
                <a:spcPct val="118000"/>
              </a:lnSpc>
              <a:spcBef>
                <a:spcPts val="0"/>
              </a:spcBef>
              <a:spcAft>
                <a:spcPts val="0"/>
              </a:spcAft>
            </a:pPr>
            <a:r>
              <a:rPr sz="2000" b="0" lang="ko-KR">
                <a:solidFill>
                  <a:srgbClr val="20262E"/>
                </a:solidFill>
                <a:latin typeface="Pretendard"/>
                <a:ea typeface="Pretendard"/>
                <a:cs typeface="Pretendard"/>
              </a:rPr>
              <a:t>미확정 라벨은 별도 보존</a:t>
            </a:r>
          </a:p>
        </p:txBody>
      </p:sp>
      <p:sp>
        <p:nvSpPr>
          <p:cNvPr id="11" name="TextBox 10"/>
          <p:cNvSpPr txBox="1"/>
          <p:nvPr/>
        </p:nvSpPr>
        <p:spPr>
          <a:xfrm>
            <a:off x="658368" y="4517136"/>
            <a:ext cx="10881360" cy="601472"/>
          </a:xfrm>
          <a:prstGeom prst="rect">
            <a:avLst/>
          </a:prstGeom>
          <a:noFill/>
          <a:effectLst/>
        </p:spPr>
        <p:txBody>
          <a:bodyPr wrap="none" anchor="t" lIns="0" rIns="0" tIns="0" bIns="0">
            <a:noAutofit/>
          </a:bodyPr>
          <a:lstStyle/>
          <a:p>
            <a:pPr algn="l">
              <a:lnSpc>
                <a:spcPct val="118000"/>
              </a:lnSpc>
              <a:spcBef>
                <a:spcPts val="0"/>
              </a:spcBef>
              <a:spcAft>
                <a:spcPts val="0"/>
              </a:spcAft>
            </a:pPr>
            <a:r>
              <a:rPr sz="1900" b="1" lang="ko-KR">
                <a:solidFill>
                  <a:srgbClr val="00306C"/>
                </a:solidFill>
                <a:latin typeface="Pretendard"/>
                <a:ea typeface="Pretendard"/>
                <a:cs typeface="Pretendard"/>
              </a:rPr>
              <a:t>현재는 PCAP → 학습 벡터 생성의 구현 검증</a:t>
            </a:r>
          </a:p>
          <a:p>
            <a:pPr algn="l">
              <a:lnSpc>
                <a:spcPct val="118000"/>
              </a:lnSpc>
              <a:spcBef>
                <a:spcPts val="0"/>
              </a:spcBef>
              <a:spcAft>
                <a:spcPts val="0"/>
              </a:spcAft>
            </a:pPr>
            <a:r>
              <a:rPr sz="1900" b="1" lang="ko-KR">
                <a:solidFill>
                  <a:srgbClr val="00306C"/>
                </a:solidFill>
                <a:latin typeface="Pretendard"/>
                <a:ea typeface="Pretendard"/>
                <a:cs typeface="Pretendard"/>
              </a:rPr>
              <a:t>자연 분포 분류 benchmark와 few-shot 비교는 다음 단계</a:t>
            </a:r>
          </a:p>
        </p:txBody>
      </p:sp>
      <p:sp>
        <p:nvSpPr>
          <p:cNvPr id="12" name="TextBox 11"/>
          <p:cNvSpPr txBox="1"/>
          <p:nvPr/>
        </p:nvSpPr>
        <p:spPr>
          <a:xfrm>
            <a:off x="658368" y="5257800"/>
            <a:ext cx="10881360" cy="316738"/>
          </a:xfrm>
          <a:prstGeom prst="rect">
            <a:avLst/>
          </a:prstGeom>
          <a:noFill/>
          <a:effectLst/>
        </p:spPr>
        <p:txBody>
          <a:bodyPr wrap="none" anchor="t" lIns="0" rIns="0" tIns="0" bIns="0">
            <a:noAutofit/>
          </a:bodyPr>
          <a:lstStyle/>
          <a:p>
            <a:pPr algn="l">
              <a:lnSpc>
                <a:spcPct val="118000"/>
              </a:lnSpc>
              <a:spcBef>
                <a:spcPts val="0"/>
              </a:spcBef>
              <a:spcAft>
                <a:spcPts val="0"/>
              </a:spcAft>
            </a:pPr>
            <a:r>
              <a:rPr sz="1900" b="0" lang="ko-KR">
                <a:solidFill>
                  <a:srgbClr val="20262E"/>
                </a:solidFill>
                <a:latin typeface="Pretendard"/>
                <a:ea typeface="Pretendard"/>
                <a:cs typeface="Pretendard"/>
              </a:rPr>
              <a:t>라벨 미확정 384행은 정상으로 추정하지 않음  ·  공격 범위를 넓힌 새 CIC2018 구축 작업으로 확장</a:t>
            </a:r>
          </a:p>
        </p:txBody>
      </p:sp>
      <p:sp>
        <p:nvSpPr>
          <p:cNvPr id="13" name="TextBox 12"/>
          <p:cNvSpPr txBox="1"/>
          <p:nvPr/>
        </p:nvSpPr>
        <p:spPr>
          <a:xfrm>
            <a:off x="658368" y="5833872"/>
            <a:ext cx="1088136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617080"/>
                </a:solidFill>
                <a:latin typeface="Pretendard"/>
                <a:ea typeface="Pretendard"/>
                <a:cs typeface="Pretendard"/>
              </a:rPr>
              <a:t>완료 파일럿은 단일 날짜·host·제한된 주석 표본  ·  정상 오탐률·분류 성능·TabPFN 우위는 아직 측정하지 않음</a:t>
            </a:r>
          </a:p>
        </p:txBody>
      </p:sp>
      <p:sp>
        <p:nvSpPr>
          <p:cNvPr id="14" name="Rectangle 13"/>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표현 생성 파이프라인은 검증했고, 새 CIC2018의 분류 평가는 공격 범위를 확장한 뒤 수행</a:t>
            </a:r>
          </a:p>
        </p:txBody>
      </p:sp>
      <p:sp>
        <p:nvSpPr>
          <p:cNvPr id="16" name="TextBox 15"/>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02 PCAP 재구축</a:t>
            </a:r>
          </a:p>
        </p:txBody>
      </p:sp>
      <p:sp>
        <p:nvSpPr>
          <p:cNvPr id="17" name="TextBox 16"/>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부록: 기존 SOTA 비교에서도 보인 클래스별 격차</a:t>
            </a:r>
          </a:p>
        </p:txBody>
      </p:sp>
      <p:sp>
        <p:nvSpPr>
          <p:cNvPr id="3" name="TextBox 2"/>
          <p:cNvSpPr txBox="1"/>
          <p:nvPr/>
        </p:nvSpPr>
        <p:spPr>
          <a:xfrm>
            <a:off x="594360" y="1033271"/>
            <a:ext cx="10972800"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0" lang="ko-KR">
                <a:solidFill>
                  <a:srgbClr val="617080"/>
                </a:solidFill>
                <a:latin typeface="Pretendard"/>
                <a:ea typeface="Pretendard"/>
                <a:cs typeface="Pretendard"/>
              </a:rPr>
              <a:t>CIC2018 · 정제 후·정상 포함 · 공통 학습 100,000행 · 전체 test 3,042,473행 · F1 (%)</a:t>
            </a:r>
          </a:p>
        </p:txBody>
      </p:sp>
      <p:sp>
        <p:nvSpPr>
          <p:cNvPr id="4" name="Rectangle 3"/>
          <p:cNvSpPr/>
          <p:nvPr/>
        </p:nvSpPr>
        <p:spPr>
          <a:xfrm>
            <a:off x="594360" y="1682496"/>
            <a:ext cx="1920240" cy="484632"/>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801368"/>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1" lang="ko-KR">
                <a:solidFill>
                  <a:srgbClr val="FFFFFF"/>
                </a:solidFill>
                <a:latin typeface="Pretendard"/>
                <a:ea typeface="Pretendard"/>
                <a:cs typeface="Pretendard"/>
              </a:rPr>
              <a:t>평가 클래스</a:t>
            </a:r>
          </a:p>
        </p:txBody>
      </p:sp>
      <p:sp>
        <p:nvSpPr>
          <p:cNvPr id="6" name="Rectangle 5"/>
          <p:cNvSpPr/>
          <p:nvPr/>
        </p:nvSpPr>
        <p:spPr>
          <a:xfrm>
            <a:off x="2514600" y="1682496"/>
            <a:ext cx="1463040" cy="484632"/>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2624328" y="1801368"/>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1" lang="ko-KR">
                <a:solidFill>
                  <a:srgbClr val="FFFFFF"/>
                </a:solidFill>
                <a:latin typeface="Pretendard"/>
                <a:ea typeface="Pretendard"/>
                <a:cs typeface="Pretendard"/>
              </a:rPr>
              <a:t>평가 수</a:t>
            </a:r>
          </a:p>
        </p:txBody>
      </p:sp>
      <p:sp>
        <p:nvSpPr>
          <p:cNvPr id="8" name="Rectangle 7"/>
          <p:cNvSpPr/>
          <p:nvPr/>
        </p:nvSpPr>
        <p:spPr>
          <a:xfrm>
            <a:off x="3977639" y="1682496"/>
            <a:ext cx="1911095" cy="484632"/>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4087368" y="1801368"/>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1" lang="ko-KR">
                <a:solidFill>
                  <a:srgbClr val="FFFFFF"/>
                </a:solidFill>
                <a:latin typeface="Pretendard"/>
                <a:ea typeface="Pretendard"/>
                <a:cs typeface="Pretendard"/>
              </a:rPr>
              <a:t>TabPFN v3</a:t>
            </a:r>
          </a:p>
        </p:txBody>
      </p:sp>
      <p:sp>
        <p:nvSpPr>
          <p:cNvPr id="10" name="Rectangle 9"/>
          <p:cNvSpPr/>
          <p:nvPr/>
        </p:nvSpPr>
        <p:spPr>
          <a:xfrm>
            <a:off x="5888736" y="1682496"/>
            <a:ext cx="1901952" cy="484632"/>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998464" y="1801368"/>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1" lang="ko-KR">
                <a:solidFill>
                  <a:srgbClr val="FFFFFF"/>
                </a:solidFill>
                <a:latin typeface="Pretendard"/>
                <a:ea typeface="Pretendard"/>
                <a:cs typeface="Pretendard"/>
              </a:rPr>
              <a:t>BoostPFN</a:t>
            </a:r>
          </a:p>
        </p:txBody>
      </p:sp>
      <p:sp>
        <p:nvSpPr>
          <p:cNvPr id="12" name="Rectangle 11"/>
          <p:cNvSpPr/>
          <p:nvPr/>
        </p:nvSpPr>
        <p:spPr>
          <a:xfrm>
            <a:off x="7790688" y="1682496"/>
            <a:ext cx="1901952" cy="484632"/>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900415" y="1801368"/>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1" lang="ko-KR">
                <a:solidFill>
                  <a:srgbClr val="FFFFFF"/>
                </a:solidFill>
                <a:latin typeface="Pretendard"/>
                <a:ea typeface="Pretendard"/>
                <a:cs typeface="Pretendard"/>
              </a:rPr>
              <a:t>LoCalPFN</a:t>
            </a:r>
          </a:p>
        </p:txBody>
      </p:sp>
      <p:sp>
        <p:nvSpPr>
          <p:cNvPr id="14" name="Rectangle 13"/>
          <p:cNvSpPr/>
          <p:nvPr/>
        </p:nvSpPr>
        <p:spPr>
          <a:xfrm>
            <a:off x="9692640" y="1682496"/>
            <a:ext cx="1901952" cy="484632"/>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02367" y="1801368"/>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1" lang="ko-KR">
                <a:solidFill>
                  <a:srgbClr val="FFFFFF"/>
                </a:solidFill>
                <a:latin typeface="Pretendard"/>
                <a:ea typeface="Pretendard"/>
                <a:cs typeface="Pretendard"/>
              </a:rPr>
              <a:t>DistPFN v3</a:t>
            </a:r>
          </a:p>
        </p:txBody>
      </p:sp>
      <p:sp>
        <p:nvSpPr>
          <p:cNvPr id="16" name="Rectangle 15"/>
          <p:cNvSpPr/>
          <p:nvPr/>
        </p:nvSpPr>
        <p:spPr>
          <a:xfrm>
            <a:off x="594360" y="2167128"/>
            <a:ext cx="19202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04088" y="2286000"/>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Benign</a:t>
            </a:r>
          </a:p>
        </p:txBody>
      </p:sp>
      <p:sp>
        <p:nvSpPr>
          <p:cNvPr id="18" name="Rectangle 17"/>
          <p:cNvSpPr/>
          <p:nvPr/>
        </p:nvSpPr>
        <p:spPr>
          <a:xfrm>
            <a:off x="2514600" y="2167128"/>
            <a:ext cx="14630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2624328" y="2286000"/>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2,652,203</a:t>
            </a:r>
          </a:p>
        </p:txBody>
      </p:sp>
      <p:sp>
        <p:nvSpPr>
          <p:cNvPr id="20" name="Rectangle 19"/>
          <p:cNvSpPr/>
          <p:nvPr/>
        </p:nvSpPr>
        <p:spPr>
          <a:xfrm>
            <a:off x="3977639" y="2167128"/>
            <a:ext cx="1911095"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087368" y="2286000"/>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99.65</a:t>
            </a:r>
          </a:p>
        </p:txBody>
      </p:sp>
      <p:sp>
        <p:nvSpPr>
          <p:cNvPr id="22" name="Rectangle 21"/>
          <p:cNvSpPr/>
          <p:nvPr/>
        </p:nvSpPr>
        <p:spPr>
          <a:xfrm>
            <a:off x="5888736" y="2167128"/>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998464" y="2286000"/>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99.37</a:t>
            </a:r>
          </a:p>
        </p:txBody>
      </p:sp>
      <p:sp>
        <p:nvSpPr>
          <p:cNvPr id="24" name="Rectangle 23"/>
          <p:cNvSpPr/>
          <p:nvPr/>
        </p:nvSpPr>
        <p:spPr>
          <a:xfrm>
            <a:off x="7790688" y="2167128"/>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900415" y="2286000"/>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99.21</a:t>
            </a:r>
          </a:p>
        </p:txBody>
      </p:sp>
      <p:sp>
        <p:nvSpPr>
          <p:cNvPr id="26" name="Rectangle 25"/>
          <p:cNvSpPr/>
          <p:nvPr/>
        </p:nvSpPr>
        <p:spPr>
          <a:xfrm>
            <a:off x="9692640" y="2167128"/>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9802367" y="2286000"/>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99.68</a:t>
            </a:r>
          </a:p>
        </p:txBody>
      </p:sp>
      <p:sp>
        <p:nvSpPr>
          <p:cNvPr id="28" name="Rectangle 27"/>
          <p:cNvSpPr/>
          <p:nvPr/>
        </p:nvSpPr>
        <p:spPr>
          <a:xfrm>
            <a:off x="594360" y="2651760"/>
            <a:ext cx="1920240"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04088" y="2770632"/>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DDoS</a:t>
            </a:r>
          </a:p>
        </p:txBody>
      </p:sp>
      <p:sp>
        <p:nvSpPr>
          <p:cNvPr id="30" name="Rectangle 29"/>
          <p:cNvSpPr/>
          <p:nvPr/>
        </p:nvSpPr>
        <p:spPr>
          <a:xfrm>
            <a:off x="2514600" y="2651760"/>
            <a:ext cx="1463040"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2624328" y="2770632"/>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262,680</a:t>
            </a:r>
          </a:p>
        </p:txBody>
      </p:sp>
      <p:sp>
        <p:nvSpPr>
          <p:cNvPr id="32" name="Rectangle 31"/>
          <p:cNvSpPr/>
          <p:nvPr/>
        </p:nvSpPr>
        <p:spPr>
          <a:xfrm>
            <a:off x="3977639" y="2651760"/>
            <a:ext cx="1911095"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4087368" y="2770632"/>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99.22</a:t>
            </a:r>
          </a:p>
        </p:txBody>
      </p:sp>
      <p:sp>
        <p:nvSpPr>
          <p:cNvPr id="34" name="Rectangle 33"/>
          <p:cNvSpPr/>
          <p:nvPr/>
        </p:nvSpPr>
        <p:spPr>
          <a:xfrm>
            <a:off x="5888736" y="2651760"/>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5998464" y="2770632"/>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99.06</a:t>
            </a:r>
          </a:p>
        </p:txBody>
      </p:sp>
      <p:sp>
        <p:nvSpPr>
          <p:cNvPr id="36" name="Rectangle 35"/>
          <p:cNvSpPr/>
          <p:nvPr/>
        </p:nvSpPr>
        <p:spPr>
          <a:xfrm>
            <a:off x="7790688" y="2651760"/>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900415" y="2770632"/>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94.33</a:t>
            </a:r>
          </a:p>
        </p:txBody>
      </p:sp>
      <p:sp>
        <p:nvSpPr>
          <p:cNvPr id="38" name="Rectangle 37"/>
          <p:cNvSpPr/>
          <p:nvPr/>
        </p:nvSpPr>
        <p:spPr>
          <a:xfrm>
            <a:off x="9692640" y="2651760"/>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9802367" y="2770632"/>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99.31</a:t>
            </a:r>
          </a:p>
        </p:txBody>
      </p:sp>
      <p:sp>
        <p:nvSpPr>
          <p:cNvPr id="40" name="Rectangle 39"/>
          <p:cNvSpPr/>
          <p:nvPr/>
        </p:nvSpPr>
        <p:spPr>
          <a:xfrm>
            <a:off x="594360" y="3136392"/>
            <a:ext cx="19202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04088" y="3255264"/>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Bot</a:t>
            </a:r>
          </a:p>
        </p:txBody>
      </p:sp>
      <p:sp>
        <p:nvSpPr>
          <p:cNvPr id="42" name="Rectangle 41"/>
          <p:cNvSpPr/>
          <p:nvPr/>
        </p:nvSpPr>
        <p:spPr>
          <a:xfrm>
            <a:off x="2514600" y="3136392"/>
            <a:ext cx="14630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2624328" y="3255264"/>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41,542</a:t>
            </a:r>
          </a:p>
        </p:txBody>
      </p:sp>
      <p:sp>
        <p:nvSpPr>
          <p:cNvPr id="44" name="Rectangle 43"/>
          <p:cNvSpPr/>
          <p:nvPr/>
        </p:nvSpPr>
        <p:spPr>
          <a:xfrm>
            <a:off x="3977639" y="3136392"/>
            <a:ext cx="1911095"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4087368" y="3255264"/>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99.85</a:t>
            </a:r>
          </a:p>
        </p:txBody>
      </p:sp>
      <p:sp>
        <p:nvSpPr>
          <p:cNvPr id="46" name="Rectangle 45"/>
          <p:cNvSpPr/>
          <p:nvPr/>
        </p:nvSpPr>
        <p:spPr>
          <a:xfrm>
            <a:off x="5888736" y="3136392"/>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5998464" y="3255264"/>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99.42</a:t>
            </a:r>
          </a:p>
        </p:txBody>
      </p:sp>
      <p:sp>
        <p:nvSpPr>
          <p:cNvPr id="48" name="Rectangle 47"/>
          <p:cNvSpPr/>
          <p:nvPr/>
        </p:nvSpPr>
        <p:spPr>
          <a:xfrm>
            <a:off x="7790688" y="3136392"/>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7900415" y="3255264"/>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99.72</a:t>
            </a:r>
          </a:p>
        </p:txBody>
      </p:sp>
      <p:sp>
        <p:nvSpPr>
          <p:cNvPr id="50" name="Rectangle 49"/>
          <p:cNvSpPr/>
          <p:nvPr/>
        </p:nvSpPr>
        <p:spPr>
          <a:xfrm>
            <a:off x="9692640" y="3136392"/>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9802367" y="3255264"/>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99.82</a:t>
            </a:r>
          </a:p>
        </p:txBody>
      </p:sp>
      <p:sp>
        <p:nvSpPr>
          <p:cNvPr id="52" name="Rectangle 51"/>
          <p:cNvSpPr/>
          <p:nvPr/>
        </p:nvSpPr>
        <p:spPr>
          <a:xfrm>
            <a:off x="594360" y="3621024"/>
            <a:ext cx="1920240"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704088" y="3739896"/>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DoS</a:t>
            </a:r>
          </a:p>
        </p:txBody>
      </p:sp>
      <p:sp>
        <p:nvSpPr>
          <p:cNvPr id="54" name="Rectangle 53"/>
          <p:cNvSpPr/>
          <p:nvPr/>
        </p:nvSpPr>
        <p:spPr>
          <a:xfrm>
            <a:off x="2514600" y="3621024"/>
            <a:ext cx="1463040"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2624328" y="3739896"/>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39,483</a:t>
            </a:r>
          </a:p>
        </p:txBody>
      </p:sp>
      <p:sp>
        <p:nvSpPr>
          <p:cNvPr id="56" name="Rectangle 55"/>
          <p:cNvSpPr/>
          <p:nvPr/>
        </p:nvSpPr>
        <p:spPr>
          <a:xfrm>
            <a:off x="3977639" y="3621024"/>
            <a:ext cx="1911095"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4087368" y="3739896"/>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99.20</a:t>
            </a:r>
          </a:p>
        </p:txBody>
      </p:sp>
      <p:sp>
        <p:nvSpPr>
          <p:cNvPr id="58" name="Rectangle 57"/>
          <p:cNvSpPr/>
          <p:nvPr/>
        </p:nvSpPr>
        <p:spPr>
          <a:xfrm>
            <a:off x="5888736" y="3621024"/>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TextBox 58"/>
          <p:cNvSpPr txBox="1"/>
          <p:nvPr/>
        </p:nvSpPr>
        <p:spPr>
          <a:xfrm>
            <a:off x="5998464" y="3739896"/>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95.98</a:t>
            </a:r>
          </a:p>
        </p:txBody>
      </p:sp>
      <p:sp>
        <p:nvSpPr>
          <p:cNvPr id="60" name="Rectangle 59"/>
          <p:cNvSpPr/>
          <p:nvPr/>
        </p:nvSpPr>
        <p:spPr>
          <a:xfrm>
            <a:off x="7790688" y="3621024"/>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7900415" y="3739896"/>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73.09</a:t>
            </a:r>
          </a:p>
        </p:txBody>
      </p:sp>
      <p:sp>
        <p:nvSpPr>
          <p:cNvPr id="62" name="Rectangle 61"/>
          <p:cNvSpPr/>
          <p:nvPr/>
        </p:nvSpPr>
        <p:spPr>
          <a:xfrm>
            <a:off x="9692640" y="3621024"/>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9802367" y="3739896"/>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99.19</a:t>
            </a:r>
          </a:p>
        </p:txBody>
      </p:sp>
      <p:sp>
        <p:nvSpPr>
          <p:cNvPr id="64" name="Rectangle 63"/>
          <p:cNvSpPr/>
          <p:nvPr/>
        </p:nvSpPr>
        <p:spPr>
          <a:xfrm>
            <a:off x="594360" y="4105656"/>
            <a:ext cx="19202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704088" y="4224528"/>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Brute force</a:t>
            </a:r>
          </a:p>
        </p:txBody>
      </p:sp>
      <p:sp>
        <p:nvSpPr>
          <p:cNvPr id="66" name="Rectangle 65"/>
          <p:cNvSpPr/>
          <p:nvPr/>
        </p:nvSpPr>
        <p:spPr>
          <a:xfrm>
            <a:off x="2514600" y="4105656"/>
            <a:ext cx="14630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TextBox 66"/>
          <p:cNvSpPr txBox="1"/>
          <p:nvPr/>
        </p:nvSpPr>
        <p:spPr>
          <a:xfrm>
            <a:off x="2624328" y="4224528"/>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37,696</a:t>
            </a:r>
          </a:p>
        </p:txBody>
      </p:sp>
      <p:sp>
        <p:nvSpPr>
          <p:cNvPr id="68" name="Rectangle 67"/>
          <p:cNvSpPr/>
          <p:nvPr/>
        </p:nvSpPr>
        <p:spPr>
          <a:xfrm>
            <a:off x="3977639" y="4105656"/>
            <a:ext cx="1911095"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4087368" y="4224528"/>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99.97</a:t>
            </a:r>
          </a:p>
        </p:txBody>
      </p:sp>
      <p:sp>
        <p:nvSpPr>
          <p:cNvPr id="70" name="Rectangle 69"/>
          <p:cNvSpPr/>
          <p:nvPr/>
        </p:nvSpPr>
        <p:spPr>
          <a:xfrm>
            <a:off x="5888736" y="4105656"/>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TextBox 70"/>
          <p:cNvSpPr txBox="1"/>
          <p:nvPr/>
        </p:nvSpPr>
        <p:spPr>
          <a:xfrm>
            <a:off x="5998464" y="4224528"/>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99.97</a:t>
            </a:r>
          </a:p>
        </p:txBody>
      </p:sp>
      <p:sp>
        <p:nvSpPr>
          <p:cNvPr id="72" name="Rectangle 71"/>
          <p:cNvSpPr/>
          <p:nvPr/>
        </p:nvSpPr>
        <p:spPr>
          <a:xfrm>
            <a:off x="7790688" y="4105656"/>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TextBox 72"/>
          <p:cNvSpPr txBox="1"/>
          <p:nvPr/>
        </p:nvSpPr>
        <p:spPr>
          <a:xfrm>
            <a:off x="7900415" y="4224528"/>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99.99</a:t>
            </a:r>
          </a:p>
        </p:txBody>
      </p:sp>
      <p:sp>
        <p:nvSpPr>
          <p:cNvPr id="74" name="Rectangle 73"/>
          <p:cNvSpPr/>
          <p:nvPr/>
        </p:nvSpPr>
        <p:spPr>
          <a:xfrm>
            <a:off x="9692640" y="4105656"/>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TextBox 74"/>
          <p:cNvSpPr txBox="1"/>
          <p:nvPr/>
        </p:nvSpPr>
        <p:spPr>
          <a:xfrm>
            <a:off x="9802367" y="4224528"/>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99.97</a:t>
            </a:r>
          </a:p>
        </p:txBody>
      </p:sp>
      <p:sp>
        <p:nvSpPr>
          <p:cNvPr id="76" name="Rectangle 75"/>
          <p:cNvSpPr/>
          <p:nvPr/>
        </p:nvSpPr>
        <p:spPr>
          <a:xfrm>
            <a:off x="594360" y="4590288"/>
            <a:ext cx="1920240"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TextBox 76"/>
          <p:cNvSpPr txBox="1"/>
          <p:nvPr/>
        </p:nvSpPr>
        <p:spPr>
          <a:xfrm>
            <a:off x="704088" y="4709160"/>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Infiltration</a:t>
            </a:r>
          </a:p>
        </p:txBody>
      </p:sp>
      <p:sp>
        <p:nvSpPr>
          <p:cNvPr id="78" name="Rectangle 77"/>
          <p:cNvSpPr/>
          <p:nvPr/>
        </p:nvSpPr>
        <p:spPr>
          <a:xfrm>
            <a:off x="2514600" y="4590288"/>
            <a:ext cx="1463040"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TextBox 78"/>
          <p:cNvSpPr txBox="1"/>
          <p:nvPr/>
        </p:nvSpPr>
        <p:spPr>
          <a:xfrm>
            <a:off x="2624328" y="4709160"/>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8,742</a:t>
            </a:r>
          </a:p>
        </p:txBody>
      </p:sp>
      <p:sp>
        <p:nvSpPr>
          <p:cNvPr id="80" name="Rectangle 79"/>
          <p:cNvSpPr/>
          <p:nvPr/>
        </p:nvSpPr>
        <p:spPr>
          <a:xfrm>
            <a:off x="3977639" y="4590288"/>
            <a:ext cx="1911095"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TextBox 80"/>
          <p:cNvSpPr txBox="1"/>
          <p:nvPr/>
        </p:nvSpPr>
        <p:spPr>
          <a:xfrm>
            <a:off x="4087368" y="4709160"/>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28.79</a:t>
            </a:r>
          </a:p>
        </p:txBody>
      </p:sp>
      <p:sp>
        <p:nvSpPr>
          <p:cNvPr id="82" name="Rectangle 81"/>
          <p:cNvSpPr/>
          <p:nvPr/>
        </p:nvSpPr>
        <p:spPr>
          <a:xfrm>
            <a:off x="5888736" y="4590288"/>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TextBox 82"/>
          <p:cNvSpPr txBox="1"/>
          <p:nvPr/>
        </p:nvSpPr>
        <p:spPr>
          <a:xfrm>
            <a:off x="5998464" y="4709160"/>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6.53</a:t>
            </a:r>
          </a:p>
        </p:txBody>
      </p:sp>
      <p:sp>
        <p:nvSpPr>
          <p:cNvPr id="84" name="Rectangle 83"/>
          <p:cNvSpPr/>
          <p:nvPr/>
        </p:nvSpPr>
        <p:spPr>
          <a:xfrm>
            <a:off x="7790688" y="4590288"/>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TextBox 84"/>
          <p:cNvSpPr txBox="1"/>
          <p:nvPr/>
        </p:nvSpPr>
        <p:spPr>
          <a:xfrm>
            <a:off x="7900415" y="4709160"/>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13.50</a:t>
            </a:r>
          </a:p>
        </p:txBody>
      </p:sp>
      <p:sp>
        <p:nvSpPr>
          <p:cNvPr id="86" name="Rectangle 85"/>
          <p:cNvSpPr/>
          <p:nvPr/>
        </p:nvSpPr>
        <p:spPr>
          <a:xfrm>
            <a:off x="9692640" y="4590288"/>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TextBox 86"/>
          <p:cNvSpPr txBox="1"/>
          <p:nvPr/>
        </p:nvSpPr>
        <p:spPr>
          <a:xfrm>
            <a:off x="9802367" y="4709160"/>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30.55</a:t>
            </a:r>
          </a:p>
        </p:txBody>
      </p:sp>
      <p:sp>
        <p:nvSpPr>
          <p:cNvPr id="88" name="Rectangle 87"/>
          <p:cNvSpPr/>
          <p:nvPr/>
        </p:nvSpPr>
        <p:spPr>
          <a:xfrm>
            <a:off x="594360" y="5074920"/>
            <a:ext cx="19202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TextBox 88"/>
          <p:cNvSpPr txBox="1"/>
          <p:nvPr/>
        </p:nvSpPr>
        <p:spPr>
          <a:xfrm>
            <a:off x="704088" y="5193792"/>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Web attack</a:t>
            </a:r>
          </a:p>
        </p:txBody>
      </p:sp>
      <p:sp>
        <p:nvSpPr>
          <p:cNvPr id="90" name="Rectangle 89"/>
          <p:cNvSpPr/>
          <p:nvPr/>
        </p:nvSpPr>
        <p:spPr>
          <a:xfrm>
            <a:off x="2514600" y="5074920"/>
            <a:ext cx="14630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TextBox 90"/>
          <p:cNvSpPr txBox="1"/>
          <p:nvPr/>
        </p:nvSpPr>
        <p:spPr>
          <a:xfrm>
            <a:off x="2624328" y="5193792"/>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127</a:t>
            </a:r>
          </a:p>
        </p:txBody>
      </p:sp>
      <p:sp>
        <p:nvSpPr>
          <p:cNvPr id="92" name="Rectangle 91"/>
          <p:cNvSpPr/>
          <p:nvPr/>
        </p:nvSpPr>
        <p:spPr>
          <a:xfrm>
            <a:off x="3977639" y="5074920"/>
            <a:ext cx="1911095"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TextBox 92"/>
          <p:cNvSpPr txBox="1"/>
          <p:nvPr/>
        </p:nvSpPr>
        <p:spPr>
          <a:xfrm>
            <a:off x="4087368" y="5193792"/>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21.02</a:t>
            </a:r>
          </a:p>
        </p:txBody>
      </p:sp>
      <p:sp>
        <p:nvSpPr>
          <p:cNvPr id="94" name="Rectangle 93"/>
          <p:cNvSpPr/>
          <p:nvPr/>
        </p:nvSpPr>
        <p:spPr>
          <a:xfrm>
            <a:off x="5888736" y="5074920"/>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5" name="TextBox 94"/>
          <p:cNvSpPr txBox="1"/>
          <p:nvPr/>
        </p:nvSpPr>
        <p:spPr>
          <a:xfrm>
            <a:off x="5998464" y="5193792"/>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0.00</a:t>
            </a:r>
          </a:p>
        </p:txBody>
      </p:sp>
      <p:sp>
        <p:nvSpPr>
          <p:cNvPr id="96" name="Rectangle 95"/>
          <p:cNvSpPr/>
          <p:nvPr/>
        </p:nvSpPr>
        <p:spPr>
          <a:xfrm>
            <a:off x="7790688" y="5074920"/>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7" name="TextBox 96"/>
          <p:cNvSpPr txBox="1"/>
          <p:nvPr/>
        </p:nvSpPr>
        <p:spPr>
          <a:xfrm>
            <a:off x="7900415" y="5193792"/>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11.83</a:t>
            </a:r>
          </a:p>
        </p:txBody>
      </p:sp>
      <p:sp>
        <p:nvSpPr>
          <p:cNvPr id="98" name="Rectangle 97"/>
          <p:cNvSpPr/>
          <p:nvPr/>
        </p:nvSpPr>
        <p:spPr>
          <a:xfrm>
            <a:off x="9692640" y="5074920"/>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TextBox 98"/>
          <p:cNvSpPr txBox="1"/>
          <p:nvPr/>
        </p:nvSpPr>
        <p:spPr>
          <a:xfrm>
            <a:off x="9802367" y="5193792"/>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20.24</a:t>
            </a:r>
          </a:p>
        </p:txBody>
      </p:sp>
      <p:sp>
        <p:nvSpPr>
          <p:cNvPr id="100" name="TextBox 99"/>
          <p:cNvSpPr txBox="1"/>
          <p:nvPr/>
        </p:nvSpPr>
        <p:spPr>
          <a:xfrm>
            <a:off x="658368" y="5733288"/>
            <a:ext cx="10881360" cy="361696"/>
          </a:xfrm>
          <a:prstGeom prst="rect">
            <a:avLst/>
          </a:prstGeom>
          <a:noFill/>
          <a:effectLst/>
        </p:spPr>
        <p:txBody>
          <a:bodyPr wrap="none" anchor="t" lIns="0" rIns="0" tIns="0" bIns="0">
            <a:noAutofit/>
          </a:bodyPr>
          <a:lstStyle/>
          <a:p>
            <a:pPr algn="l">
              <a:lnSpc>
                <a:spcPct val="118000"/>
              </a:lnSpc>
              <a:spcBef>
                <a:spcPts val="0"/>
              </a:spcBef>
              <a:spcAft>
                <a:spcPts val="0"/>
              </a:spcAft>
            </a:pPr>
            <a:r>
              <a:rPr sz="2200" b="1" lang="ko-KR">
                <a:solidFill>
                  <a:srgbClr val="00306C"/>
                </a:solidFill>
                <a:latin typeface="Pretendard"/>
                <a:ea typeface="Pretendard"/>
                <a:cs typeface="Pretendard"/>
              </a:rPr>
              <a:t>주요 공격의 높은 F1과 Infiltration·Web의 낮은 F1이 공존</a:t>
            </a:r>
          </a:p>
        </p:txBody>
      </p:sp>
      <p:sp>
        <p:nvSpPr>
          <p:cNvPr id="101" name="TextBox 100"/>
          <p:cNvSpPr txBox="1"/>
          <p:nvPr/>
        </p:nvSpPr>
        <p:spPr>
          <a:xfrm>
            <a:off x="658368" y="6117336"/>
            <a:ext cx="1088136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617080"/>
                </a:solidFill>
                <a:latin typeface="Pretendard"/>
                <a:ea typeface="Pretendard"/>
                <a:cs typeface="Pretendard"/>
              </a:rPr>
              <a:t>부록 · few-shot 및 새 PCAP 표현과는 준비·라벨 예산·평가 범위가 달라 직접 수치 비교 불가</a:t>
            </a:r>
          </a:p>
        </p:txBody>
      </p:sp>
      <p:sp>
        <p:nvSpPr>
          <p:cNvPr id="102" name="Rectangle 101"/>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TextBox 102"/>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historical comparison은 문제의식의 근거이며, 새 PCAP 평가와 직접 합치지 않음</a:t>
            </a:r>
          </a:p>
        </p:txBody>
      </p:sp>
      <p:sp>
        <p:nvSpPr>
          <p:cNvPr id="104" name="TextBox 103"/>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부록</a:t>
            </a:r>
          </a:p>
        </p:txBody>
      </p:sp>
      <p:sp>
        <p:nvSpPr>
          <p:cNvPr id="105" name="TextBox 104"/>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 데이터 결함 검토와 PCAP 기반 학습 벡터 재구축</dc:title>
  <dc:subject>문헌 근거, 인코더·데이터 후보, EXP92 구현 검증</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