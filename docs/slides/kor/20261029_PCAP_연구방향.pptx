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IDS 장비가 데이터셋을 직접 만든다고 표현하지 않는다. IDS 평가를 위한 실험망의 트래픽을 캡처했다. CIC2017 공식 설명은 미러 포트를 통한 캡처와 시간·주소·포트·프로토콜을 이용한 라벨을 설명했다. 왼쪽 아래 벡터는 형식 예시이며 측정값은 아니다. CSV는 저장 형식이고 모델의 정보량은 어떤 특징을 추출했는지에 좌우된다.</a:t>
            </a:r>
          </a:p>
          <a:p/>
          <a:p>
            <a:r>
              <a:t>원문 근거</a:t>
            </a:r>
          </a:p>
          <a:p>
            <a:r>
              <a:t>CIC-IDS2017 official dataset</a:t>
            </a:r>
          </a:p>
          <a:p>
            <a:r>
              <a:t>UNB CIC, 2017</a:t>
            </a:r>
          </a:p>
          <a:p>
            <a:r>
              <a:t>PCAP, labeled CICFlowMeter CSV, capture setup and attack timetable</a:t>
            </a:r>
          </a:p>
          <a:p>
            <a:r>
              <a:t>https://www.unb.ca/cic/datasets/ids-2017.html</a:t>
            </a:r>
          </a:p>
          <a:p/>
          <a:p>
            <a:r>
              <a:t>CSE-CIC-IDS2018 official dataset</a:t>
            </a:r>
          </a:p>
          <a:p>
            <a:r>
              <a:t>UNB CIC, 2018</a:t>
            </a:r>
          </a:p>
          <a:p>
            <a:r>
              <a:t>PCAP/system logs, feature list and attack setup</a:t>
            </a:r>
          </a:p>
          <a:p>
            <a:r>
              <a:t>https://www.unb.ca/cic/datasets/ids-2018.html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EXP89에서 가져온 과거 관측이며 PCAP 재구축 후 새로 측정한 점수가 아니다. 선행 SOTA 비교의 문제의식을 소수 라벨 baseline으로 진단한 결과다. 모든 클래스가 90%대라는 해석은 틀렸다. 현재 표는 2개와 20개 끝점이며 5개 seed 평균이고, 소표본 변동도 원 보고서에서 함께 확인해야 한다. TabPFN: Tabular Prior-data Fitted Network. DDoS: Distributed Denial of Service. DoS: Denial of Service. 전체 원시 행과 표준편차: [{"dataset": "cic2018", "panel": "1", "model_row": "1", "method": "xgb", "name": "ddos", "class_order": "1", "n": "2", "train_version": "original", "test_version": "original", "benign_training": "False", "test_scope": "attack", "support": "264872", "reference_clean_test_support": "262680", "mean_percent": "92.49135297107856", "sd_percent": "7.717255743619823"}, {"dataset": "cic2018", "panel": "1", "model_row": "1", "method": "xgb", "name": "ddos", "class_order": "1", "n": "20", "train_version": "original", "test_version": "original", "benign_training": "False", "test_scope": "attack", "support": "264872", "reference_clean_test_support": "262680", "mean_percent": "99.20798900927556", "sd_percent": "0.153131931637095"}, {"dataset": "cic2018", "panel": "1", "model_row": "1", "method": "xgb", "name": "bot", "class_order": "2", "n": "2", "train_version": "original", "test_version": "original", "benign_training": "False", "test_scope": "attack", "support": "41542", "reference_clean_test_support": "41542", "mean_percent": "87.63548021538409", "sd_percent": "16.761699017827013"}, {"dataset": "cic2018", "panel": "1", "model_row": "1", "method": "xgb", "name": "bot", "class_order": "2", "n": "20", "train_version": "original", "test_version": "original", "benign_training": "False", "test_scope": "attack", "support": "41542", "reference_clean_test_support": "41542", "mean_percent": "98.37625929438538", "sd_percent": "1.0596204026920677"}, {"dataset": "cic2018", "panel": "1", "model_row": "1", "method": "xgb", "name": "dos", "class_order": "3", "n": "2", "train_version": "original", "test_version": "original", "benign_training": "False", "test_scope": "attack", "support": "60594", "reference_clean_test_support": "39483", "mean_percent": "51.19850785332798", "sd_percent": "18.23151207286296"}, {"dataset": "cic2018", "panel": "1", "model_row": "1", "method": "xgb", "name": "dos", "class_order": "3", "n": "20", "train_version": "original", "test_version": "original", "benign_training": "False", "test_scope": "attack", "support": "60594", "reference_clean_test_support": "39483", "mean_percent": "75.21778035558356", "sd_percent": "1.351177934206732"}, {"dataset": "cic2018", "panel": "1", "model_row": "1", "method": "xgb", "name": "brute_force", "class_order": "4", "n": "2", "train_version": "original", "test_version": "original", "benign_training": "False", "test_scope": "attack", "support": "115040", "reference_clean_test_support": "37696", "mean_percent": "67.93628076045745", "sd_percent": "17.56685096597429"}, {"dataset": "cic2018", "panel": "1", "model_row": "1", "method": "xgb", "name": "brute_force", "class_order": "4", "n": "20", "train_version": "original", "test_version": "original", "benign_training": "False", "test_scope": "attack", "support": "115040", "reference_clean_test_support": "37696", "mean_percent": "91.515184447783", "sd_percent": "0.07893068028920319"}, {"dataset": "cic2018", "panel": "1", "model_row": "1", "method": "xgb", "name": "infiltration", "class_order": "5", "n": "2", "train_version": "original", "test_version": "original", "benign_training": "False", "test_scope": "attack", "support": "37631", "reference_clean_test_support": "8742", "mean_percent": "48.78136066557198", "sd_percent": "26.325721879336626"}, {"dataset": "cic2018", "panel": "1", "model_row": "1", "method": "xgb", "name": "infiltration", "class_order": "5", "n": "20", "train_version": "original", "test_version": "original", "benign_training": "False", "test_scope": "attack", "support": "37631", "reference_clean_test_support": "8742", "mean_percent": "92.28327576594444", "sd_percent": "2.81832130357682"}, {"dataset": "cic2018", "panel": "1", "model_row": "1", "method": "xgb", "name": "web_attacks", "class_order": "6", "n": "2", "train_version": "original", "test_version": "original", "benign_training": "False", "test_scope": "attack", "support": "509", "reference_clean_test_support": "127", "mean_percent": "11.989377910522721", "sd_percent": "8.120717501998788"}, {"dataset": "cic2018", "panel": "1", "model_row": "1", "method": "xgb", "name": "web_attacks", "class_order": "6", "n": "20", "train_version": "original", "test_version": "original", "benign_training": "False", "test_scope": "attack", "support": "509", "reference_clean_test_support": "127", "mean_percent": "12.163460230326137", "sd_percent": "3.9945439800016627"}, {"dataset": "cic2018", "panel": "1", "model_row": "2", "method": "pfn", "name": "ddos", "class_order": "1", "n": "2", "train_version": "original", "test_version": "original", "benign_training": "False", "test_scope": "attack", "support": "264872", "reference_clean_test_support": "262680", "mean_percent": "86.76279017539959", "sd_percent": "15.228817865446246"}, {"dataset": "cic2018", "panel": "1", "model_row": "2", "method": "pfn", "name": "ddos", "class_order": "1", "n": "20", "train_version": "original", "test_version": "original", "benign_training": "False", "test_scope": "attack", "support": "264872", "reference_clean_test_support": "262680", "mean_percent": "99.2735587474251", "sd_percent": "0.032216965101447594"}, {"dataset": "cic2018", "panel": "1", "model_row": "2", "method": "pfn", "name": "bot", "class_order": "2", "n": "2", "train_version": "original", "test_version": "original", "benign_training": "False", "test_scope": "attack", "support": "41542", "reference_clean_test_support": "41542", "mean_percent": "90.2555160043548", "sd_percent": "17.84045249065746"}, {"dataset": "cic2018", "panel": "1", "model_row": "2", "method": "pfn", "name": "bot", "class_order": "2", "n": "20", "train_version": "original", "test_version": "original", "benign_training": "False", "test_scope": "attack", "support": "41542", "reference_clean_test_support": "41542", "mean_percent": "99.49882590838752", "sd_percent": "0.26971253366203407"}, {"dataset": "cic2018", "panel": "1", "model_row": "2", "method": "pfn", "name": "dos", "class_order": "3", "n": "2", "train_version": "original", "test_version": "original", "benign_training": "False", "test_scope": "attack", "support": "60594", "reference_clean_test_support": "39483", "mean_percent": "47.764529337215336", "sd_percent": "17.706298385907708"}, {"dataset": "cic2018", "panel": "1", "model_row": "2", "method": "pfn", "name": "dos", "class_order": "3", "n": "20", "train_version": "original", "test_version": "original", "benign_training": "False", "test_scope": "attack", "support": "60594", "reference_clean_test_support": "39483", "mean_percent": "74.64913258798701", "sd_percent": "2.734170243702317"}, {"dataset": "cic2018", "panel": "1", "model_row": "2", "method": "pfn", "name": "brute_force", "class_order": "4", "n": "2", "train_version": "original", "test_version": "original", "benign_training": "False", "test_scope": "attack", "support": "115040", "reference_clean_test_support": "37696", "mean_percent": "76.94220749719538", "sd_percent": "6.08331245992913"}, {"dataset": "cic2018", "panel": "1", "model_row": "2", "method": "pfn", "name": "brute_force", "class_order": "4", "n": "20", "train_version": "original", "test_version": "original", "benign_training": "False", "test_scope": "attack", "support": "115040", "reference_clean_test_support": "37696", "mean_percent": "91.57782133720487", "sd_percent": "0.0065348662629010415"}, {"dataset": "cic2018", "panel": "1", "model_row": "2", "method": "pfn", "name": "infiltration", "class_order": "5", "n": "2", "train_version": "original", "test_version": "original", "benign_training": "False", "test_scope": "attack", "support": "37631", "reference_clean_test_support": "8742", "mean_percent": "59.23870125370686", "sd_percent": "27.000766825732157"}, {"dataset": "cic2018", "panel": "1", "model_row": "2", "method": "pfn", "name": "infiltration", "class_order": "5", "n": "20", "train_version": "original", "test_version": "original", "benign_training": "False", "test_scope": "attack", "support": "37631", "reference_clean_test_support": "8742", "mean_percent": "94.19706149282477", "sd_percent": "1.9164266213681347"}, {"dataset": "cic2018", "panel": "1", "model_row": "2", "method": "pfn", "name": "web_attacks", "class_order": "6", "n": "2", "train_version": "original", "test_version": "original", "benign_training": "False", "test_scope": "attack", "support": "509", "reference_clean_test_support": "127", "mean_percent": "29.436740901204434", "sd_percent": "25.73741478159165"}, {"dataset": "cic2018", "panel": "1", "model_row": "2", "method": "pfn", "name": "web_attacks", "class_order": "6", "n": "20", "train_version": "original", "test_version": "original", "benign_training": "False", "test_scope": "attack", "support": "509", "reference_clean_test_support": "127", "mean_percent": "10.736139725375844", "sd_percent": "3.423122786715846"}]</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Transmission Control Protocol (TCP), Finish (FIN), Reset (RST). Engelen은 첫 FIN 뒤 ACK·FIN 잔여 패킷이 별도 flow로 분리되는 문제를 분석했다. Liu의 공식 후속 설명은 FTP 포트가 닫혀 SYN에 RST/ACK만 응답한 경우를 Attempted로 구분했다. Rosay가 말한 것은 similar flows이며, 모든 입력 열의 exact equality를 증명했다는 의미가 아니다. 원인 근거는 2021·2022 연구가 가장 직접적이고, 2023 수정 라벨과 2024 일반화 연구를 함께 확인했다.</a:t>
            </a:r>
          </a:p>
          <a:p/>
          <a:p>
            <a:r>
              <a:t>원문 근거</a:t>
            </a:r>
          </a:p>
          <a:p>
            <a:r>
              <a:t>Troubleshooting an Intrusion Detection Dataset: the CICIDS2017 Case Study</a:t>
            </a:r>
          </a:p>
          <a:p>
            <a:r>
              <a:t>IEEE SPW / WTMC, 2021</a:t>
            </a:r>
          </a:p>
          <a:p>
            <a:r>
              <a:t>§III-A/B: first-FIN split, TCP appendices, ignored RST, timing/IP-only labels; §IV: reconstruction</a:t>
            </a:r>
          </a:p>
          <a:p>
            <a:r>
              <a:t>https://intrusion-detection.distrinet-research.be/WTMC2021/Resources/wtmc2021_Engelen_Troubleshooting.pdf</a:t>
            </a:r>
          </a:p>
          <a:p/>
          <a:p>
            <a:r>
              <a:t>Error Prevalence in NIDS datasets: A Case Study on CIC-IDS-2017 and CSE-CIC-IDS-2018</a:t>
            </a:r>
          </a:p>
          <a:p>
            <a:r>
              <a:t>IEEE CNS, 2022</a:t>
            </a:r>
          </a:p>
          <a:p>
            <a:r>
              <a:t>Author tools and dataset documentation, corrected labels updated 2023; 2018 FTP closed-port example</a:t>
            </a:r>
          </a:p>
          <a:p>
            <a:r>
              <a:t>https://intrusion-detection.distrinet-research.be/CNS2022/index.html</a:t>
            </a:r>
          </a:p>
          <a:p/>
          <a:p>
            <a:r>
              <a:t>Network Intrusion Detection: A Comprehensive Analysis of CIC-IDS2017</a:t>
            </a:r>
          </a:p>
          <a:p>
            <a:r>
              <a:t>ICISSP, 2022</a:t>
            </a:r>
          </a:p>
          <a:p>
            <a:r>
              <a:t>§3.2.2–3.2.5, especially improper session termination producing similar flows with different labels</a:t>
            </a:r>
          </a:p>
          <a:p>
            <a:r>
              <a:t>https://www.scitepress.org/Papers/2022/107740/107740.pdf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동일한 x에 다른 y가 있으면 단일 flow만 보는 결정적 분류기는 둘을 동시에 맞힐 수 없다. 이것이 항상 잘못된 라벨이라는 뜻은 아니다. IP·시각을 제외하거나 통계로 요약하면 다른 통신이 같은 관측 벡터가 될 수 있다. 반대로 실제 공격 내용이 없는 연결에 공격 라벨을 주었을 수도 있다. 새 임베딩은 추가 정보를 담지만 잘못된 라벨을 자동으로 고치지는 않는다. 현재 기존 입력의 모든 충돌을 CICFlowMeter 버그 하나로 설명하지 않는다.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이 도식은 표현 추출과 데이터 준비이며 아직 제안 분류 모델의 성능 개선 결과는 아니다. 인코더는 frozen이고 fine-tuning하지 않았다. 모델 입력과 별개로 PCAP SHA256, packet index, 5-tuple, UTC nanoseconds, label rule IDs를 보존한다. group hash로 먼저 분리하고 이후 표본을 선택한다. PCA는 학습 구간의 미라벨 자료까지 포함하는 train-pool 조건이다. 엄격한 n개 전체 입력 제약을 실험하려면 PCA 적합 자료도 별도로 제한해야 한다. tcpreplay는 패킷 재전송 도구이며 오프라인 임베딩 추출에는 필요하지 않다.</a:t>
            </a:r>
          </a:p>
          <a:p/>
          <a:p>
            <a:r>
              <a:t>원문 근거</a:t>
            </a:r>
          </a:p>
          <a:p>
            <a:r>
              <a:t>netFound: Principled Design for Network Foundation Models</a:t>
            </a:r>
          </a:p>
          <a:p>
            <a:r>
              <a:t>arXiv v5 / implementation v2, 2026</a:t>
            </a:r>
          </a:p>
          <a:p>
            <a:r>
              <a:t>Frozen header/metadata encoder, excludes IP and payload; repo b3ab5a3, HF e27221d</a:t>
            </a:r>
          </a:p>
          <a:p>
            <a:r>
              <a:t>https://arxiv.org/abs/2310.17025v5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netFound는 원 논문 v1이 아니라 2026 v5 논문에 대응하는 v2 코드/Small checkpoint를 사용했다. 공개 가중치는 IP와 payload를 사용하지 않는다. ET-BERT는 Encrypted Traffic Bidirectional Encoder Representations from Transformer로, datagram 바이트를 사전학습했다. NetMamba는 ICNP 2024 모델을 가리키며 NetMamba+ 2026과 구분한다. 후보의 논문 성능을 현재 IDS 입력에서의 우위로 옮겨 쓰지 않는다. 세 모델을 함께 앙상블했다는 뜻도 아니다. ET-BERT·NetMamba 추론은 이번 구현 검증 범위에 포함하지 않았다.</a:t>
            </a:r>
          </a:p>
          <a:p/>
          <a:p>
            <a:r>
              <a:t>원문 근거</a:t>
            </a:r>
          </a:p>
          <a:p>
            <a:r>
              <a:t>ET-BERT: A Contextualized Datagram Representation with Pre-training Transformers for Encrypted Traffic Classification</a:t>
            </a:r>
          </a:p>
          <a:p>
            <a:r>
              <a:t>The Web Conference (WWW), 2022</a:t>
            </a:r>
          </a:p>
          <a:p>
            <a:r>
              <a:t>Datagram byte representations with Transformer; https://github.com/linwhitehat/ET-BERT</a:t>
            </a:r>
          </a:p>
          <a:p>
            <a:r>
              <a:t>https://arxiv.org/abs/2202.06335</a:t>
            </a:r>
          </a:p>
          <a:p/>
          <a:p>
            <a:r>
              <a:t>NetMamba: Efficient Network Traffic Classification via Pre-training Unidirectional Mamba</a:t>
            </a:r>
          </a:p>
          <a:p>
            <a:r>
              <a:t>IEEE ICNP, 2024</a:t>
            </a:r>
          </a:p>
          <a:p>
            <a:r>
              <a:t>Byte-sequence representation with state-space model; ICNP 2024 implementation, distinct from NetMamba+ 2026</a:t>
            </a:r>
          </a:p>
          <a:p>
            <a:r>
              <a:t>https://github.com/wangtz19/NetMamba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추가 후보는 이름만 나열하지 않고 원시 패킷과 라벨을 다시 연결할 수 있는지로 선정했다. IoT-23 v1은 20 malware와 3 benign 시나리오이며 개별 다운로드를 제공했다. UNSW-NB15는 100GB PCAP과 GT/이벤트 표를 공개했다. TON_IoT는 네트워크 PCAP을 포함하지만 센서·OS 모달리티와 구분해야 한다. CICIoT2023은 33 공격·7종류 분류와 PCAP/CSV/처리 코드가 있으나 flow별 라벨을 일괄 추정하지 않는다. CTU-13 전체 혼합 PCAP은 공개되지 않았고 botnet-only PCAP만 제공했다. 이는 모든 후보의 로컬 다운로드와 라벨 join을 완료했다는 의미가 아니다.</a:t>
            </a:r>
          </a:p>
          <a:p/>
          <a:p>
            <a:r>
              <a:t>원문 근거</a:t>
            </a:r>
          </a:p>
          <a:p>
            <a:r>
              <a:t>IoT-23: labeled malicious and benign IoT network traffic</a:t>
            </a:r>
          </a:p>
          <a:p>
            <a:r>
              <a:t>Stratosphere Laboratory, 2020</a:t>
            </a:r>
          </a:p>
          <a:p>
            <a:r>
              <a:t>20 malicious and 3 benign scenarios; PCAP plus labeled Zeek conn logs; use individual scenarios</a:t>
            </a:r>
          </a:p>
          <a:p>
            <a:r>
              <a:t>https://www.stratosphereips.org/datasets-iot23</a:t>
            </a:r>
          </a:p>
          <a:p/>
          <a:p>
            <a:r>
              <a:t>UNSW-NB15 official dataset</a:t>
            </a:r>
          </a:p>
          <a:p>
            <a:r>
              <a:t>UNSW, 2015</a:t>
            </a:r>
          </a:p>
          <a:p>
            <a:r>
              <a:t>100 GB PCAP; UNSW-NB15_GT.csv and LIST_EVENTS; flow join required</a:t>
            </a:r>
          </a:p>
          <a:p>
            <a:r>
              <a:t>https://research.unsw.edu.au/projects/unsw-nb15-dataset</a:t>
            </a:r>
          </a:p>
          <a:p/>
          <a:p>
            <a:r>
              <a:t>TON_IoT official datasets</a:t>
            </a:r>
          </a:p>
          <a:p>
            <a:r>
              <a:t>UNSW, 2020</a:t>
            </a:r>
          </a:p>
          <a:p>
            <a:r>
              <a:t>Network PCAP plus Zeek logs/CSV; distinguish network from telemetry/OS</a:t>
            </a:r>
          </a:p>
          <a:p>
            <a:r>
              <a:t>https://research.unsw.edu.au/projects/toniot-datasets</a:t>
            </a:r>
          </a:p>
          <a:p/>
          <a:p>
            <a:r>
              <a:t>CICIoT2023 official dataset</a:t>
            </a:r>
          </a:p>
          <a:p>
            <a:r>
              <a:t>UNB CIC, 2023</a:t>
            </a:r>
          </a:p>
          <a:p>
            <a:r>
              <a:t>PCAP and extracted CSV; 33 attacks/7 groups/105 devices; per-flow label reconstruction needs validation</a:t>
            </a:r>
          </a:p>
          <a:p>
            <a:r>
              <a:t>https://www.unb.ca/cic/datasets/iotdataset-2023.html</a:t>
            </a:r>
          </a:p>
          <a:p/>
          <a:p>
            <a:r>
              <a:t>CTU-13 official dataset</a:t>
            </a:r>
          </a:p>
          <a:p>
            <a:r>
              <a:t>Stratosphere Laboratory, 2011</a:t>
            </a:r>
          </a:p>
          <a:p>
            <a:r>
              <a:t>Full mixed PCAP is not released; only botnet PCAP, all-traffic bidirectional labeled NetFlow</a:t>
            </a:r>
          </a:p>
          <a:p>
            <a:r>
              <a:t>https://www.stratosphereips.org/datasets-ctu13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미실행 실험 설계. A–D 모두 PCAP에서 추적 가능한 공통 flow 집합과 공통 분할을 사용한다. 기존 보유 표 전체와 새 임베딩 일부를 점수만 비교하지 않는다. 동일 기준 라벨로 평가하거나 원라벨/교정라벨 두 평가를 함께 제공해 라벨 변경 자체의 점수 효과를 구분한다. 정상과 공격 각각 n개를 적용하는 기본 시나리오를 유지하고 PCA에 사용할 미라벨 train pool을 명시한다. n개 context와 미라벨 표현 적합 풀의 규모는 별개다. 캡처·호스트 분리는 추가 일반화 시험이며 단일 날짜 pilot은 이를 검증하지 못했다. Attempted는 감사용 주석으로 남기고 정상/공격 매핑은 목표에 따라 민감도 분석한다.</a:t>
            </a:r>
          </a:p>
          <a:p/>
          <a:p>
            <a:r>
              <a:t>원문 근거</a:t>
            </a:r>
          </a:p>
          <a:p>
            <a:r>
              <a:t>Corrected dataset usage guidance</a:t>
            </a:r>
          </a:p>
          <a:p>
            <a:r>
              <a:t>CNS2022 author supplement, 2022</a:t>
            </a:r>
          </a:p>
          <a:p>
            <a:r>
              <a:t>Do not use Attempted categories as independent ML classes; benign mapping recommended when in doubt, attack mapping depends on task</a:t>
            </a:r>
          </a:p>
          <a:p>
            <a:r>
              <a:t>https://intrusion-detection.distrinet-research.be/CNS2022/Dataset_Download.html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수행 실행: tabpfn/results/v7/exp92/20261029_210839_cic2018_verified_pcap_4d62ceac. 데이터 크기 852,795,392 bytes. 원본 ZIP 39,913,353,098 bytes 전체 대신 호스트 member만 Range 다운로드했다. 원본 파일 끝의 불완전한 마지막 패킷 1개는 제외했고 관련 미완료 flow는 미라벨로 보존했다. 주석별·분할별 최대128개 reservoir의 구현 검증 표본이며 자연 분포 benchmark가 아니다. 798행은 학습 라벨을 가지고 나머지는 미매칭/경계 미확정으로 유지했다. 초기 감사에서는 두 Attempted 주석이 한 임베딩으로 겹쳤다. 교정 데이터 저자 지침에 따라 Attempted를 독립 ML 클래스로 쓰지 않고 BENIGN으로 매핑한 현재 산출물을 사용한다. 이 정상은 저자의 라벨 정책에 따른 것이며 충분한 일반 정상 활동을 대신한다고 주장하지 않는다. 현재 정상 오탐률·few-shot 우위를 평가하지 않았다.</a:t>
            </a:r>
          </a:p>
          <a:p/>
          <a:p>
            <a:r>
              <a:t>원문 근거</a:t>
            </a:r>
          </a:p>
          <a:p>
            <a:r>
              <a:t>CSE-CIC-IDS2018 public S3 bucket</a:t>
            </a:r>
          </a:p>
          <a:p>
            <a:r>
              <a:t>AWS Open Data Registry, 2018</a:t>
            </a:r>
          </a:p>
          <a:p>
            <a:r>
              <a:t>Public ca-central-1 bucket; actual selective member download recorded</a:t>
            </a:r>
          </a:p>
          <a:p>
            <a:r>
              <a:t>https://registry.opendata.aws/cse-cic-ids2018/</a:t>
            </a:r>
          </a:p>
          <a:p/>
          <a:p>
            <a:r>
              <a:t>Corrected CSE-CIC-IDS2018 labeling logic</a:t>
            </a:r>
          </a:p>
          <a:p>
            <a:r>
              <a:t>CNS2022 author supplement, updated 2023, 2022</a:t>
            </a:r>
          </a:p>
          <a:p>
            <a:r>
              <a:t>14 February FTP closed port and SSH rules, UTC microsecond boundaries</a:t>
            </a:r>
          </a:p>
          <a:p>
            <a:r>
              <a:t>https://intrusion-detection.distrinet-research.be/CNS2022/CSECICIDS2018.html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Xie 논문은 arXiv 제출 연도 2023보다 앞선 Computers &amp; Security 121 (2022) 102867 게재 논문이다. Cantone은 2024년 초 arXiv의 이전 제목 대신 최종 IEEE Access 제목과 DOI로 표기했다. 그 연구는 동일 데이터 내 높은 성능과 데이터 간 전이 실패를 구별했으며 우리 새 표현의 우위를 입증한 것은 아니다. 슬라이드3의 세 직접 근거와 합쳐 다섯 문헌을 선정했다.</a:t>
            </a:r>
          </a:p>
          <a:p/>
          <a:p>
            <a:r>
              <a:t>원문 근거</a:t>
            </a:r>
          </a:p>
          <a:p>
            <a:r>
              <a:t>Analysis and Detection against Network Attacks in the Overlapping Phenomenon of Behavior Attribute</a:t>
            </a:r>
          </a:p>
          <a:p>
            <a:r>
              <a:t>Computers &amp; Security 121, 102867, 2022</a:t>
            </a:r>
          </a:p>
          <a:p>
            <a:r>
              <a:t>Same-feature/different-label phenomenon; UNSW-NB15 and CCCS-CIC-AndMal-2020; journal October 2022, arXiv September 2023</a:t>
            </a:r>
          </a:p>
          <a:p>
            <a:r>
              <a:t>https://arxiv.org/abs/2310.10660</a:t>
            </a:r>
          </a:p>
          <a:p/>
          <a:p>
            <a:r>
              <a:t>Machine Learning in Network Intrusion Detection: A Cross-Dataset Generalization Study</a:t>
            </a:r>
          </a:p>
          <a:p>
            <a:r>
              <a:t>IEEE Access, 2024</a:t>
            </a:r>
          </a:p>
          <a:p>
            <a:r>
              <a:t>Within-dataset high scores versus cross-dataset degradation; CIC2017/18 and LycoS variants</a:t>
            </a:r>
          </a:p>
          <a:p>
            <a:r>
              <a:t>https://iris.unicas.it/handle/11580/110014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기존 HTML에서 통합된 docs/lablog/reports/20260904.tex의 공통100k·전체test 표를 발췌했다. 초기 18만 smoke 결과가 아니다. EXP59 Global C0와 같은 학습 ID를 사용한 비교이며, BoostPFN·LoCalPFN의 v1과 Global·DistPFN의 v3 backbone, LoCalPFN의 validation FT 차이가 남는다. 이는 정제 전·정상 미포함·n개·5seed인 본문 slide2와 다른 실험으로 수치를 직접 합치지 않는다. 모든 공격이 높은 성능이라는 주장을 피하기 위해 정상과 전체 공격 클래스를 유지했다. 추출 원문 구간:</a:t>
            </a:r>
          </a:p>
          <a:p/>
          <a:p>
            <a:r>
              <a:t>\begin{landscape}</a:t>
            </a:r>
          </a:p>
          <a:p>
            <a:r>
              <a:t>\begingroup</a:t>
            </a:r>
          </a:p>
          <a:p>
            <a:r>
              <a:t>\scriptsize</a:t>
            </a:r>
          </a:p>
          <a:p>
            <a:r>
              <a:t>\begin{longtable}{&gt;{\raggedright\arraybackslash}p{\dimexpr 0.12963\linewidth-2\tabcolsep\relax}&gt;{\raggedright\arraybackslash}p{\dimexpr 0.11111\linewidth-2\tabcolsep\relax}&gt;{\raggedright\arraybackslash}p{\dimexpr 0.11111\linewidth-2\tabcolsep\relax}&gt;{\raggedright\arraybackslash}p{\dimexpr 0.10494\linewidth-2\tabcolsep\relax}&gt;{\raggedright\arraybackslash}p{\dimexpr 0.10494\linewidth-2\tabcolsep\relax}&gt;{\raggedright\arraybackslash}p{\dimexpr 0.12346\linewidth-2\tabcolsep\relax}&gt;{\raggedright\arraybackslash}p{\dimexpr 0.11728\linewidth-2\tabcolsep\relax}&gt;{\raggedright\arraybackslash}p{\dimexpr 0.09877\linewidth-2\tabcolsep\relax}&gt;{\raggedright\arraybackslash}p{\dimexpr 0.09877\linewidth-2\tabcolsep\relax}}</a:t>
            </a:r>
          </a:p>
          <a:p>
            <a:r>
              <a:t>\toprule</a:t>
            </a:r>
          </a:p>
          <a:p>
            <a:r>
              <a:t>클래스 &amp; Test 행 &amp; Global v3 &amp; XGB 100k &amp; BoostPFN &amp; LoCalPFN FT &amp; DistPFN v3 &amp; XGB 전체 &amp; 제안 K=\allowbreak{}6 \\ \midrule</a:t>
            </a:r>
          </a:p>
          <a:p>
            <a:r>
              <a:t>\endfirsthead</a:t>
            </a:r>
          </a:p>
          <a:p>
            <a:r>
              <a:t>클래스 &amp; Test 행 &amp; Global v3 &amp; XGB 100k &amp; BoostPFN &amp; LoCalPFN FT &amp; DistPFN v3 &amp; XGB 전체 &amp; 제안 K=\allowbreak{}6 \\ \midrule</a:t>
            </a:r>
          </a:p>
          <a:p>
            <a:r>
              <a:t>\endhead</a:t>
            </a:r>
          </a:p>
          <a:p>
            <a:r>
              <a:t>{}Benign &amp; 2,652,203 &amp; 0.9965 &amp; 0.9933 &amp; 0.9937 &amp; 0.9921 &amp; 0.9968 &amp; 0.9887 &amp; 0.9965 \\</a:t>
            </a:r>
          </a:p>
          <a:p>
            <a:r>
              <a:t>{}DDoS &amp; 262,680 &amp; 0.9922 &amp; 0.9998 &amp; 0.9906 &amp; 0.9433 &amp; 0.9931 &amp; 0.9036 &amp; 0.9922 \\</a:t>
            </a:r>
          </a:p>
          <a:p>
            <a:r>
              <a:t>{}Bot &amp; 41,542 &amp; 0.9985 &amp; 0.9976 &amp; 0.9942 &amp; 0.9972 &amp; 0.9982 &amp; 0.9977 &amp; 0.9985 \\</a:t>
            </a:r>
          </a:p>
          <a:p>
            <a:r>
              <a:t>{}DoS &amp; 39,483 &amp; 0.9920 &amp; 0.9998 &amp; 0.9598 &amp; 0.7309 &amp; 0.9919 &amp; 0.9999 &amp; 0.9920 \\</a:t>
            </a:r>
          </a:p>
          <a:p>
            <a:r>
              <a:t>{}Brute force &amp; 37,696 &amp; 0.9997 &amp; 0.9995 &amp; 0.9997 &amp; 0.9999 &amp; 0.9997 &amp; 0.9996 &amp; 0.9997 \\</a:t>
            </a:r>
          </a:p>
          <a:p>
            <a:r>
              <a:t>{}Infiltration &amp; 8,742 &amp; 0.2879 &amp; 0.1528 &amp; 0.0653 &amp; 0.1350 &amp; 0.3055 &amp; 0.2927 &amp; 0.2880 \\</a:t>
            </a:r>
          </a:p>
          <a:p>
            <a:r>
              <a:t>{}Web attack &amp; 127 &amp; 0.2102 &amp; 0.3321 &amp; 0.0000 &amp; 0.1183 &amp; 0.2024 &amp; 0.2745 &amp; 0.2102 \\</a:t>
            </a:r>
          </a:p>
          <a:p/>
          <a:p/>
          <a:p>
            <a:r>
              <a:t>원문 근거</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intrusion-detection.distrinet-research.be/WTMC2021/Resources/wtmc2021_Engelen_Troubleshooting.pdf" TargetMode="External"/><Relationship Id="rId4" Type="http://schemas.openxmlformats.org/officeDocument/2006/relationships/hyperlink" Target="https://intrusion-detection.distrinet-research.be/CNS2022/index.html" TargetMode="External"/><Relationship Id="rId5" Type="http://schemas.openxmlformats.org/officeDocument/2006/relationships/hyperlink" Target="https://www.scitepress.org/Papers/2022/107740/107740.pdf"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2310.17025v5" TargetMode="External"/><Relationship Id="rId4" Type="http://schemas.openxmlformats.org/officeDocument/2006/relationships/hyperlink" Target="https://arxiv.org/abs/2202.06335" TargetMode="External"/><Relationship Id="rId5" Type="http://schemas.openxmlformats.org/officeDocument/2006/relationships/hyperlink" Target="https://github.com/wangtz19/NetMamb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www.unb.ca/cic/datasets/ids-2017.html" TargetMode="External"/><Relationship Id="rId4" Type="http://schemas.openxmlformats.org/officeDocument/2006/relationships/hyperlink" Target="https://www.unb.ca/cic/datasets/ids-2018.html" TargetMode="External"/><Relationship Id="rId5" Type="http://schemas.openxmlformats.org/officeDocument/2006/relationships/hyperlink" Target="https://www.stratosphereips.org/datasets-iot23" TargetMode="External"/><Relationship Id="rId6" Type="http://schemas.openxmlformats.org/officeDocument/2006/relationships/hyperlink" Target="https://research.unsw.edu.au/projects/unsw-nb15-dataset" TargetMode="External"/><Relationship Id="rId7" Type="http://schemas.openxmlformats.org/officeDocument/2006/relationships/hyperlink" Target="https://research.unsw.edu.au/projects/toniot-datasets" TargetMode="External"/><Relationship Id="rId8" Type="http://schemas.openxmlformats.org/officeDocument/2006/relationships/hyperlink" Target="https://www.unb.ca/cic/datasets/iotdataset-2023.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310.10660" TargetMode="External"/><Relationship Id="rId4" Type="http://schemas.openxmlformats.org/officeDocument/2006/relationships/hyperlink" Target="https://iris.unicas.it/handle/11580/11001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CIC 데이터의 제작 과정</a:t>
            </a:r>
          </a:p>
        </p:txBody>
      </p:sp>
      <p:sp>
        <p:nvSpPr>
          <p:cNvPr id="3" name="TextBox 2"/>
          <p:cNvSpPr txBox="1"/>
          <p:nvPr/>
        </p:nvSpPr>
        <p:spPr>
          <a:xfrm>
            <a:off x="594360" y="1051560"/>
            <a:ext cx="6903720" cy="376682"/>
          </a:xfrm>
          <a:prstGeom prst="rect">
            <a:avLst/>
          </a:prstGeom>
          <a:noFill/>
          <a:effectLst/>
        </p:spPr>
        <p:txBody>
          <a:bodyPr wrap="none" anchor="t" lIns="0" rIns="0" tIns="0" bIns="0">
            <a:noAutofit/>
          </a:bodyPr>
          <a:lstStyle/>
          <a:p>
            <a:pPr algn="l">
              <a:lnSpc>
                <a:spcPct val="118000"/>
              </a:lnSpc>
              <a:spcBef>
                <a:spcPts val="0"/>
              </a:spcBef>
              <a:spcAft>
                <a:spcPts val="0"/>
              </a:spcAft>
            </a:pPr>
            <a:r>
              <a:rPr sz="2300" b="1" lang="ko-KR">
                <a:solidFill>
                  <a:srgbClr val="00306C"/>
                </a:solidFill>
                <a:latin typeface="Pretendard"/>
                <a:ea typeface="Pretendard"/>
                <a:cs typeface="Pretendard"/>
              </a:rPr>
              <a:t>실험망의 정상·공격 트래픽 수집</a:t>
            </a:r>
          </a:p>
        </p:txBody>
      </p:sp>
      <p:sp>
        <p:nvSpPr>
          <p:cNvPr id="4" name="TextBox 3"/>
          <p:cNvSpPr txBox="1"/>
          <p:nvPr/>
        </p:nvSpPr>
        <p:spPr>
          <a:xfrm>
            <a:off x="7909560" y="1051560"/>
            <a:ext cx="3657600" cy="391668"/>
          </a:xfrm>
          <a:prstGeom prst="rect">
            <a:avLst/>
          </a:prstGeom>
          <a:noFill/>
          <a:effectLst/>
        </p:spPr>
        <p:txBody>
          <a:bodyPr wrap="none" anchor="t" lIns="0" rIns="0" tIns="0" bIns="0">
            <a:noAutofit/>
          </a:bodyPr>
          <a:lstStyle/>
          <a:p>
            <a:pPr algn="l">
              <a:lnSpc>
                <a:spcPct val="118000"/>
              </a:lnSpc>
              <a:spcBef>
                <a:spcPts val="0"/>
              </a:spcBef>
              <a:spcAft>
                <a:spcPts val="0"/>
              </a:spcAft>
            </a:pPr>
            <a:r>
              <a:rPr sz="2400" b="1" lang="ko-KR">
                <a:solidFill>
                  <a:srgbClr val="00306C"/>
                </a:solidFill>
                <a:latin typeface="Pretendard"/>
                <a:ea typeface="Pretendard"/>
                <a:cs typeface="Pretendard"/>
              </a:rPr>
              <a:t>CIC 데이터의 구성</a:t>
            </a:r>
          </a:p>
        </p:txBody>
      </p:sp>
      <p:sp>
        <p:nvSpPr>
          <p:cNvPr id="5" name="Rectangle 4"/>
          <p:cNvSpPr/>
          <p:nvPr/>
        </p:nvSpPr>
        <p:spPr>
          <a:xfrm>
            <a:off x="594360" y="1682496"/>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594360" y="1682496"/>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85800" y="1751076"/>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실험 네트워크</a:t>
            </a:r>
          </a:p>
        </p:txBody>
      </p:sp>
      <p:sp>
        <p:nvSpPr>
          <p:cNvPr id="8" name="TextBox 7"/>
          <p:cNvSpPr txBox="1"/>
          <p:nvPr/>
        </p:nvSpPr>
        <p:spPr>
          <a:xfrm>
            <a:off x="704088" y="2258568"/>
            <a:ext cx="1609344" cy="601472"/>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0" lang="ko-KR">
                <a:solidFill>
                  <a:srgbClr val="20262E"/>
                </a:solidFill>
                <a:latin typeface="Pretendard"/>
                <a:ea typeface="Pretendard"/>
                <a:cs typeface="Pretendard"/>
              </a:rPr>
              <a:t>사용자 활동</a:t>
            </a:r>
          </a:p>
          <a:p>
            <a:pPr algn="ctr">
              <a:lnSpc>
                <a:spcPct val="118000"/>
              </a:lnSpc>
              <a:spcBef>
                <a:spcPts val="0"/>
              </a:spcBef>
              <a:spcAft>
                <a:spcPts val="0"/>
              </a:spcAft>
            </a:pPr>
            <a:r>
              <a:rPr sz="1900" b="0" lang="ko-KR">
                <a:solidFill>
                  <a:srgbClr val="20262E"/>
                </a:solidFill>
                <a:latin typeface="Pretendard"/>
                <a:ea typeface="Pretendard"/>
                <a:cs typeface="Pretendard"/>
              </a:rPr>
              <a:t>공격 시나리오</a:t>
            </a:r>
          </a:p>
        </p:txBody>
      </p:sp>
      <p:sp>
        <p:nvSpPr>
          <p:cNvPr id="9" name="Rectangle 8"/>
          <p:cNvSpPr/>
          <p:nvPr/>
        </p:nvSpPr>
        <p:spPr>
          <a:xfrm>
            <a:off x="2999232" y="1682496"/>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2999232" y="1682496"/>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090672" y="1751076"/>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패킷 캡처</a:t>
            </a:r>
          </a:p>
        </p:txBody>
      </p:sp>
      <p:sp>
        <p:nvSpPr>
          <p:cNvPr id="12" name="TextBox 11"/>
          <p:cNvSpPr txBox="1"/>
          <p:nvPr/>
        </p:nvSpPr>
        <p:spPr>
          <a:xfrm>
            <a:off x="3108960" y="2258568"/>
            <a:ext cx="1609344" cy="601472"/>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0" lang="ko-KR">
                <a:solidFill>
                  <a:srgbClr val="20262E"/>
                </a:solidFill>
                <a:latin typeface="Pretendard"/>
                <a:ea typeface="Pretendard"/>
                <a:cs typeface="Pretendard"/>
              </a:rPr>
              <a:t>원시 패킷</a:t>
            </a:r>
          </a:p>
          <a:p>
            <a:pPr algn="ctr">
              <a:lnSpc>
                <a:spcPct val="118000"/>
              </a:lnSpc>
              <a:spcBef>
                <a:spcPts val="0"/>
              </a:spcBef>
              <a:spcAft>
                <a:spcPts val="0"/>
              </a:spcAft>
            </a:pPr>
            <a:r>
              <a:rPr sz="1900" b="0" lang="ko-KR">
                <a:solidFill>
                  <a:srgbClr val="20262E"/>
                </a:solidFill>
                <a:latin typeface="Pretendard"/>
                <a:ea typeface="Pretendard"/>
                <a:cs typeface="Pretendard"/>
              </a:rPr>
              <a:t>PCAP 파일</a:t>
            </a:r>
          </a:p>
        </p:txBody>
      </p:sp>
      <p:sp>
        <p:nvSpPr>
          <p:cNvPr id="13" name="Rectangle 12"/>
          <p:cNvSpPr/>
          <p:nvPr/>
        </p:nvSpPr>
        <p:spPr>
          <a:xfrm>
            <a:off x="5404104" y="1682496"/>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5404104" y="1682496"/>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495544" y="1751076"/>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Flow 구성</a:t>
            </a:r>
          </a:p>
        </p:txBody>
      </p:sp>
      <p:sp>
        <p:nvSpPr>
          <p:cNvPr id="16" name="TextBox 15"/>
          <p:cNvSpPr txBox="1"/>
          <p:nvPr/>
        </p:nvSpPr>
        <p:spPr>
          <a:xfrm>
            <a:off x="5513832" y="2258568"/>
            <a:ext cx="1609344" cy="601472"/>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0" lang="ko-KR">
                <a:solidFill>
                  <a:srgbClr val="20262E"/>
                </a:solidFill>
                <a:latin typeface="Pretendard"/>
                <a:ea typeface="Pretendard"/>
                <a:cs typeface="Pretendard"/>
              </a:rPr>
              <a:t>동일 통신의</a:t>
            </a:r>
          </a:p>
          <a:p>
            <a:pPr algn="ctr">
              <a:lnSpc>
                <a:spcPct val="118000"/>
              </a:lnSpc>
              <a:spcBef>
                <a:spcPts val="0"/>
              </a:spcBef>
              <a:spcAft>
                <a:spcPts val="0"/>
              </a:spcAft>
            </a:pPr>
            <a:r>
              <a:rPr sz="1900" b="0" lang="ko-KR">
                <a:solidFill>
                  <a:srgbClr val="20262E"/>
                </a:solidFill>
                <a:latin typeface="Pretendard"/>
                <a:ea typeface="Pretendard"/>
                <a:cs typeface="Pretendard"/>
              </a:rPr>
              <a:t>양방향 패킷</a:t>
            </a:r>
          </a:p>
        </p:txBody>
      </p:sp>
      <p:sp>
        <p:nvSpPr>
          <p:cNvPr id="17" name="Right Arrow 16"/>
          <p:cNvSpPr/>
          <p:nvPr/>
        </p:nvSpPr>
        <p:spPr>
          <a:xfrm>
            <a:off x="2606040" y="2212848"/>
            <a:ext cx="256032"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ight Arrow 17"/>
          <p:cNvSpPr/>
          <p:nvPr/>
        </p:nvSpPr>
        <p:spPr>
          <a:xfrm>
            <a:off x="5010912" y="2212848"/>
            <a:ext cx="256032"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Down Arrow 18"/>
          <p:cNvSpPr/>
          <p:nvPr/>
        </p:nvSpPr>
        <p:spPr>
          <a:xfrm>
            <a:off x="6172200" y="2962656"/>
            <a:ext cx="228600" cy="201168"/>
          </a:xfrm>
          <a:prstGeom prst="down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594360" y="3218688"/>
            <a:ext cx="6903720" cy="376682"/>
          </a:xfrm>
          <a:prstGeom prst="rect">
            <a:avLst/>
          </a:prstGeom>
          <a:noFill/>
          <a:effectLst/>
        </p:spPr>
        <p:txBody>
          <a:bodyPr wrap="none" anchor="t" lIns="0" rIns="0" tIns="0" bIns="0">
            <a:noAutofit/>
          </a:bodyPr>
          <a:lstStyle/>
          <a:p>
            <a:pPr algn="l">
              <a:lnSpc>
                <a:spcPct val="118000"/>
              </a:lnSpc>
              <a:spcBef>
                <a:spcPts val="0"/>
              </a:spcBef>
              <a:spcAft>
                <a:spcPts val="0"/>
              </a:spcAft>
            </a:pPr>
            <a:r>
              <a:rPr sz="2300" b="1" lang="ko-KR">
                <a:solidFill>
                  <a:srgbClr val="00306C"/>
                </a:solidFill>
                <a:latin typeface="Pretendard"/>
                <a:ea typeface="Pretendard"/>
                <a:cs typeface="Pretendard"/>
              </a:rPr>
              <a:t>CICFlowMeter의 통계 특징 추출</a:t>
            </a:r>
          </a:p>
        </p:txBody>
      </p:sp>
      <p:sp>
        <p:nvSpPr>
          <p:cNvPr id="21" name="Rectangle 20"/>
          <p:cNvSpPr/>
          <p:nvPr/>
        </p:nvSpPr>
        <p:spPr>
          <a:xfrm>
            <a:off x="594360" y="3749039"/>
            <a:ext cx="3063240"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04088" y="3867911"/>
            <a:ext cx="2843784"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1" lang="ko-KR">
                <a:solidFill>
                  <a:srgbClr val="FFFFFF"/>
                </a:solidFill>
                <a:latin typeface="Pretendard"/>
                <a:ea typeface="Pretendard"/>
                <a:cs typeface="Pretendard"/>
              </a:rPr>
              <a:t>특징 예시</a:t>
            </a:r>
          </a:p>
        </p:txBody>
      </p:sp>
      <p:sp>
        <p:nvSpPr>
          <p:cNvPr id="23" name="Rectangle 22"/>
          <p:cNvSpPr/>
          <p:nvPr/>
        </p:nvSpPr>
        <p:spPr>
          <a:xfrm>
            <a:off x="3657600" y="3749039"/>
            <a:ext cx="3657600"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767328" y="3867911"/>
            <a:ext cx="3438144" cy="271779"/>
          </a:xfrm>
          <a:prstGeom prst="rect">
            <a:avLst/>
          </a:prstGeom>
          <a:noFill/>
          <a:effectLst/>
        </p:spPr>
        <p:txBody>
          <a:bodyPr wrap="none" anchor="t" lIns="0" rIns="0" tIns="0" bIns="0">
            <a:noAutofit/>
          </a:bodyPr>
          <a:lstStyle/>
          <a:p>
            <a:pPr algn="r">
              <a:lnSpc>
                <a:spcPct val="118000"/>
              </a:lnSpc>
              <a:spcBef>
                <a:spcPts val="0"/>
              </a:spcBef>
              <a:spcAft>
                <a:spcPts val="0"/>
              </a:spcAft>
            </a:pPr>
            <a:r>
              <a:rPr sz="1600" b="1" lang="ko-KR">
                <a:solidFill>
                  <a:srgbClr val="FFFFFF"/>
                </a:solidFill>
                <a:latin typeface="Pretendard"/>
                <a:ea typeface="Pretendard"/>
                <a:cs typeface="Pretendard"/>
              </a:rPr>
              <a:t>의미</a:t>
            </a:r>
          </a:p>
        </p:txBody>
      </p:sp>
      <p:sp>
        <p:nvSpPr>
          <p:cNvPr id="25" name="Rectangle 24"/>
          <p:cNvSpPr/>
          <p:nvPr/>
        </p:nvSpPr>
        <p:spPr>
          <a:xfrm>
            <a:off x="594360" y="4233672"/>
            <a:ext cx="3063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04088" y="4352544"/>
            <a:ext cx="2843784"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0" lang="ko-KR">
                <a:solidFill>
                  <a:srgbClr val="20262E"/>
                </a:solidFill>
                <a:latin typeface="Pretendard"/>
                <a:ea typeface="Pretendard"/>
                <a:cs typeface="Pretendard"/>
              </a:rPr>
              <a:t>Flow Duration</a:t>
            </a:r>
          </a:p>
        </p:txBody>
      </p:sp>
      <p:sp>
        <p:nvSpPr>
          <p:cNvPr id="27" name="Rectangle 26"/>
          <p:cNvSpPr/>
          <p:nvPr/>
        </p:nvSpPr>
        <p:spPr>
          <a:xfrm>
            <a:off x="3657600" y="4233672"/>
            <a:ext cx="365760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767328" y="4352544"/>
            <a:ext cx="3438144" cy="271779"/>
          </a:xfrm>
          <a:prstGeom prst="rect">
            <a:avLst/>
          </a:prstGeom>
          <a:noFill/>
          <a:effectLst/>
        </p:spPr>
        <p:txBody>
          <a:bodyPr wrap="none" anchor="t" lIns="0" rIns="0" tIns="0" bIns="0">
            <a:noAutofit/>
          </a:bodyPr>
          <a:lstStyle/>
          <a:p>
            <a:pPr algn="r">
              <a:lnSpc>
                <a:spcPct val="118000"/>
              </a:lnSpc>
              <a:spcBef>
                <a:spcPts val="0"/>
              </a:spcBef>
              <a:spcAft>
                <a:spcPts val="0"/>
              </a:spcAft>
            </a:pPr>
            <a:r>
              <a:rPr sz="1600" b="0" lang="ko-KR">
                <a:solidFill>
                  <a:srgbClr val="20262E"/>
                </a:solidFill>
                <a:latin typeface="Pretendard"/>
                <a:ea typeface="Pretendard"/>
                <a:cs typeface="Pretendard"/>
              </a:rPr>
              <a:t>첫 패킷부터 마지막 패킷까지의 시간</a:t>
            </a:r>
          </a:p>
        </p:txBody>
      </p:sp>
      <p:sp>
        <p:nvSpPr>
          <p:cNvPr id="29" name="Rectangle 28"/>
          <p:cNvSpPr/>
          <p:nvPr/>
        </p:nvSpPr>
        <p:spPr>
          <a:xfrm>
            <a:off x="594360" y="4718304"/>
            <a:ext cx="30632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04088" y="4837176"/>
            <a:ext cx="2843784"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0" lang="ko-KR">
                <a:solidFill>
                  <a:srgbClr val="20262E"/>
                </a:solidFill>
                <a:latin typeface="Pretendard"/>
                <a:ea typeface="Pretendard"/>
                <a:cs typeface="Pretendard"/>
              </a:rPr>
              <a:t>Total Fwd Packets</a:t>
            </a:r>
          </a:p>
        </p:txBody>
      </p:sp>
      <p:sp>
        <p:nvSpPr>
          <p:cNvPr id="31" name="Rectangle 30"/>
          <p:cNvSpPr/>
          <p:nvPr/>
        </p:nvSpPr>
        <p:spPr>
          <a:xfrm>
            <a:off x="3657600" y="4718304"/>
            <a:ext cx="365760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3767328" y="4837176"/>
            <a:ext cx="3438144" cy="271779"/>
          </a:xfrm>
          <a:prstGeom prst="rect">
            <a:avLst/>
          </a:prstGeom>
          <a:noFill/>
          <a:effectLst/>
        </p:spPr>
        <p:txBody>
          <a:bodyPr wrap="none" anchor="t" lIns="0" rIns="0" tIns="0" bIns="0">
            <a:noAutofit/>
          </a:bodyPr>
          <a:lstStyle/>
          <a:p>
            <a:pPr algn="r">
              <a:lnSpc>
                <a:spcPct val="118000"/>
              </a:lnSpc>
              <a:spcBef>
                <a:spcPts val="0"/>
              </a:spcBef>
              <a:spcAft>
                <a:spcPts val="0"/>
              </a:spcAft>
            </a:pPr>
            <a:r>
              <a:rPr sz="1600" b="0" lang="ko-KR">
                <a:solidFill>
                  <a:srgbClr val="20262E"/>
                </a:solidFill>
                <a:latin typeface="Pretendard"/>
                <a:ea typeface="Pretendard"/>
                <a:cs typeface="Pretendard"/>
              </a:rPr>
              <a:t>순방향 패킷 수</a:t>
            </a:r>
          </a:p>
        </p:txBody>
      </p:sp>
      <p:sp>
        <p:nvSpPr>
          <p:cNvPr id="33" name="Rectangle 32"/>
          <p:cNvSpPr/>
          <p:nvPr/>
        </p:nvSpPr>
        <p:spPr>
          <a:xfrm>
            <a:off x="594360" y="5202936"/>
            <a:ext cx="3063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04088" y="5321807"/>
            <a:ext cx="2843784"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0" lang="ko-KR">
                <a:solidFill>
                  <a:srgbClr val="20262E"/>
                </a:solidFill>
                <a:latin typeface="Pretendard"/>
                <a:ea typeface="Pretendard"/>
                <a:cs typeface="Pretendard"/>
              </a:rPr>
              <a:t>Fwd Packet Length Mean</a:t>
            </a:r>
          </a:p>
        </p:txBody>
      </p:sp>
      <p:sp>
        <p:nvSpPr>
          <p:cNvPr id="35" name="Rectangle 34"/>
          <p:cNvSpPr/>
          <p:nvPr/>
        </p:nvSpPr>
        <p:spPr>
          <a:xfrm>
            <a:off x="3657600" y="5202936"/>
            <a:ext cx="365760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3767328" y="5321807"/>
            <a:ext cx="3438144" cy="271779"/>
          </a:xfrm>
          <a:prstGeom prst="rect">
            <a:avLst/>
          </a:prstGeom>
          <a:noFill/>
          <a:effectLst/>
        </p:spPr>
        <p:txBody>
          <a:bodyPr wrap="none" anchor="t" lIns="0" rIns="0" tIns="0" bIns="0">
            <a:noAutofit/>
          </a:bodyPr>
          <a:lstStyle/>
          <a:p>
            <a:pPr algn="r">
              <a:lnSpc>
                <a:spcPct val="118000"/>
              </a:lnSpc>
              <a:spcBef>
                <a:spcPts val="0"/>
              </a:spcBef>
              <a:spcAft>
                <a:spcPts val="0"/>
              </a:spcAft>
            </a:pPr>
            <a:r>
              <a:rPr sz="1600" b="0" lang="ko-KR">
                <a:solidFill>
                  <a:srgbClr val="20262E"/>
                </a:solidFill>
                <a:latin typeface="Pretendard"/>
                <a:ea typeface="Pretendard"/>
                <a:cs typeface="Pretendard"/>
              </a:rPr>
              <a:t>순방향 패킷 길이의 평균</a:t>
            </a:r>
          </a:p>
        </p:txBody>
      </p:sp>
      <p:sp>
        <p:nvSpPr>
          <p:cNvPr id="37" name="TextBox 36"/>
          <p:cNvSpPr txBox="1"/>
          <p:nvPr/>
        </p:nvSpPr>
        <p:spPr>
          <a:xfrm>
            <a:off x="694944" y="5897880"/>
            <a:ext cx="6675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007BC6"/>
                </a:solidFill>
                <a:latin typeface="Pretendard"/>
                <a:ea typeface="Pretendard"/>
                <a:cs typeface="Pretendard"/>
              </a:rPr>
              <a:t>특징 벡터 x = [지속시간, 패킷 수, 평균 길이, …] → CSV</a:t>
            </a:r>
          </a:p>
        </p:txBody>
      </p:sp>
      <p:sp>
        <p:nvSpPr>
          <p:cNvPr id="38" name="TextBox 37"/>
          <p:cNvSpPr txBox="1"/>
          <p:nvPr/>
        </p:nvSpPr>
        <p:spPr>
          <a:xfrm>
            <a:off x="7909560" y="1700784"/>
            <a:ext cx="3703320" cy="976121"/>
          </a:xfrm>
          <a:prstGeom prst="rect">
            <a:avLst/>
          </a:prstGeom>
          <a:noFill/>
          <a:effectLst/>
        </p:spPr>
        <p:txBody>
          <a:bodyPr wrap="none" anchor="t" lIns="0" rIns="0" tIns="0" bIns="0">
            <a:noAutofit/>
          </a:bodyPr>
          <a:lstStyle/>
          <a:p>
            <a:pPr algn="l">
              <a:lnSpc>
                <a:spcPct val="118000"/>
              </a:lnSpc>
              <a:spcBef>
                <a:spcPts val="0"/>
              </a:spcBef>
              <a:spcAft>
                <a:spcPts val="0"/>
              </a:spcAft>
            </a:pPr>
            <a:r>
              <a:rPr sz="2100" b="0" lang="ko-KR">
                <a:solidFill>
                  <a:srgbClr val="20262E"/>
                </a:solidFill>
                <a:latin typeface="Pretendard"/>
                <a:ea typeface="Pretendard"/>
                <a:cs typeface="Pretendard"/>
              </a:rPr>
              <a:t>CIC2017·CIC2018</a:t>
            </a:r>
          </a:p>
          <a:p>
            <a:pPr algn="l">
              <a:lnSpc>
                <a:spcPct val="118000"/>
              </a:lnSpc>
              <a:spcBef>
                <a:spcPts val="0"/>
              </a:spcBef>
              <a:spcAft>
                <a:spcPts val="0"/>
              </a:spcAft>
            </a:pPr>
            <a:r>
              <a:rPr sz="2100" b="0" lang="ko-KR">
                <a:solidFill>
                  <a:srgbClr val="20262E"/>
                </a:solidFill>
                <a:latin typeface="Pretendard"/>
                <a:ea typeface="Pretendard"/>
                <a:cs typeface="Pretendard"/>
              </a:rPr>
              <a:t>정상 활동과 여러 공격을 포함한</a:t>
            </a:r>
          </a:p>
          <a:p>
            <a:pPr algn="l">
              <a:lnSpc>
                <a:spcPct val="118000"/>
              </a:lnSpc>
              <a:spcBef>
                <a:spcPts val="0"/>
              </a:spcBef>
              <a:spcAft>
                <a:spcPts val="0"/>
              </a:spcAft>
            </a:pPr>
            <a:r>
              <a:rPr sz="2100" b="0" lang="ko-KR">
                <a:solidFill>
                  <a:srgbClr val="20262E"/>
                </a:solidFill>
                <a:latin typeface="Pretendard"/>
                <a:ea typeface="Pretendard"/>
                <a:cs typeface="Pretendard"/>
              </a:rPr>
              <a:t>침입탐지 평가용 트래픽</a:t>
            </a:r>
          </a:p>
        </p:txBody>
      </p:sp>
      <p:sp>
        <p:nvSpPr>
          <p:cNvPr id="39" name="TextBox 38"/>
          <p:cNvSpPr txBox="1"/>
          <p:nvPr/>
        </p:nvSpPr>
        <p:spPr>
          <a:xfrm>
            <a:off x="7909560" y="2907792"/>
            <a:ext cx="3703320" cy="976121"/>
          </a:xfrm>
          <a:prstGeom prst="rect">
            <a:avLst/>
          </a:prstGeom>
          <a:noFill/>
          <a:effectLst/>
        </p:spPr>
        <p:txBody>
          <a:bodyPr wrap="none" anchor="t" lIns="0" rIns="0" tIns="0" bIns="0">
            <a:noAutofit/>
          </a:bodyPr>
          <a:lstStyle/>
          <a:p>
            <a:pPr algn="l">
              <a:lnSpc>
                <a:spcPct val="118000"/>
              </a:lnSpc>
              <a:spcBef>
                <a:spcPts val="0"/>
              </a:spcBef>
              <a:spcAft>
                <a:spcPts val="0"/>
              </a:spcAft>
            </a:pPr>
            <a:r>
              <a:rPr sz="2100" b="0" lang="ko-KR">
                <a:solidFill>
                  <a:srgbClr val="20262E"/>
                </a:solidFill>
                <a:latin typeface="Pretendard"/>
                <a:ea typeface="Pretendard"/>
                <a:cs typeface="Pretendard"/>
              </a:rPr>
              <a:t>PCAP + 특징 CSV + 라벨</a:t>
            </a:r>
          </a:p>
          <a:p>
            <a:pPr algn="l">
              <a:lnSpc>
                <a:spcPct val="118000"/>
              </a:lnSpc>
              <a:spcBef>
                <a:spcPts val="0"/>
              </a:spcBef>
              <a:spcAft>
                <a:spcPts val="0"/>
              </a:spcAft>
            </a:pPr>
            <a:r>
              <a:rPr sz="2100" b="0" lang="ko-KR">
                <a:solidFill>
                  <a:srgbClr val="20262E"/>
                </a:solidFill>
                <a:latin typeface="Pretendard"/>
                <a:ea typeface="Pretendard"/>
                <a:cs typeface="Pretendard"/>
              </a:rPr>
              <a:t>원시 패킷과 통계 기반 표현의</a:t>
            </a:r>
          </a:p>
          <a:p>
            <a:pPr algn="l">
              <a:lnSpc>
                <a:spcPct val="118000"/>
              </a:lnSpc>
              <a:spcBef>
                <a:spcPts val="0"/>
              </a:spcBef>
              <a:spcAft>
                <a:spcPts val="0"/>
              </a:spcAft>
            </a:pPr>
            <a:r>
              <a:rPr sz="2100" b="0" lang="ko-KR">
                <a:solidFill>
                  <a:srgbClr val="20262E"/>
                </a:solidFill>
                <a:latin typeface="Pretendard"/>
                <a:ea typeface="Pretendard"/>
                <a:cs typeface="Pretendard"/>
              </a:rPr>
              <a:t>추적 가능한 대응 관계</a:t>
            </a:r>
          </a:p>
        </p:txBody>
      </p:sp>
      <p:sp>
        <p:nvSpPr>
          <p:cNvPr id="40" name="TextBox 39"/>
          <p:cNvSpPr txBox="1"/>
          <p:nvPr/>
        </p:nvSpPr>
        <p:spPr>
          <a:xfrm>
            <a:off x="7909560" y="4123944"/>
            <a:ext cx="3703320" cy="93116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라벨 부여 근거</a:t>
            </a:r>
          </a:p>
          <a:p>
            <a:pPr algn="l">
              <a:lnSpc>
                <a:spcPct val="118000"/>
              </a:lnSpc>
              <a:spcBef>
                <a:spcPts val="0"/>
              </a:spcBef>
              <a:spcAft>
                <a:spcPts val="0"/>
              </a:spcAft>
            </a:pPr>
            <a:r>
              <a:rPr sz="2000" b="0" lang="ko-KR">
                <a:solidFill>
                  <a:srgbClr val="20262E"/>
                </a:solidFill>
                <a:latin typeface="Pretendard"/>
                <a:ea typeface="Pretendard"/>
                <a:cs typeface="Pretendard"/>
              </a:rPr>
              <a:t>공격 시간·호스트·포트·프로토콜</a:t>
            </a:r>
          </a:p>
          <a:p>
            <a:pPr algn="l">
              <a:lnSpc>
                <a:spcPct val="118000"/>
              </a:lnSpc>
              <a:spcBef>
                <a:spcPts val="0"/>
              </a:spcBef>
              <a:spcAft>
                <a:spcPts val="0"/>
              </a:spcAft>
            </a:pPr>
            <a:r>
              <a:rPr sz="2000" b="0" lang="ko-KR">
                <a:solidFill>
                  <a:srgbClr val="20262E"/>
                </a:solidFill>
                <a:latin typeface="Pretendard"/>
                <a:ea typeface="Pretendard"/>
                <a:cs typeface="Pretendard"/>
              </a:rPr>
              <a:t>실제 flow 내용과의 대응 검증 필요</a:t>
            </a:r>
          </a:p>
        </p:txBody>
      </p:sp>
      <p:sp>
        <p:nvSpPr>
          <p:cNvPr id="41" name="TextBox 40"/>
          <p:cNvSpPr txBox="1"/>
          <p:nvPr/>
        </p:nvSpPr>
        <p:spPr>
          <a:xfrm>
            <a:off x="7909560" y="5559552"/>
            <a:ext cx="3703320"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1500" b="0" lang="ko-KR">
                <a:solidFill>
                  <a:srgbClr val="617080"/>
                </a:solidFill>
                <a:latin typeface="Pretendard"/>
                <a:ea typeface="Pretendard"/>
                <a:cs typeface="Pretendard"/>
              </a:rPr>
              <a:t>Intrusion Detection System (IDS)</a:t>
            </a:r>
          </a:p>
          <a:p>
            <a:pPr algn="l">
              <a:lnSpc>
                <a:spcPct val="118000"/>
              </a:lnSpc>
              <a:spcBef>
                <a:spcPts val="0"/>
              </a:spcBef>
              <a:spcAft>
                <a:spcPts val="0"/>
              </a:spcAft>
            </a:pPr>
            <a:r>
              <a:rPr sz="1500" b="0" lang="ko-KR">
                <a:solidFill>
                  <a:srgbClr val="617080"/>
                </a:solidFill>
                <a:latin typeface="Pretendard"/>
                <a:ea typeface="Pretendard"/>
                <a:cs typeface="Pretendard"/>
              </a:rPr>
              <a:t>Packet Capture (PCAP)</a:t>
            </a:r>
          </a:p>
        </p:txBody>
      </p:sp>
      <p:sp>
        <p:nvSpPr>
          <p:cNvPr id="42" name="Rectangle 41"/>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원시 패킷을 통계 벡터로 요약하고 공격 시나리오의 라벨을 연결</a:t>
            </a:r>
          </a:p>
        </p:txBody>
      </p:sp>
      <p:sp>
        <p:nvSpPr>
          <p:cNvPr id="44" name="TextBox 43"/>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데이터와 문제</a:t>
            </a:r>
          </a:p>
        </p:txBody>
      </p:sp>
      <p:sp>
        <p:nvSpPr>
          <p:cNvPr id="45" name="TextBox 44"/>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일부 공격의 높은 few-shot F1</a:t>
            </a:r>
          </a:p>
        </p:txBody>
      </p:sp>
      <p:sp>
        <p:nvSpPr>
          <p:cNvPr id="3" name="TextBox 2"/>
          <p:cNvSpPr txBox="1"/>
          <p:nvPr/>
        </p:nvSpPr>
        <p:spPr>
          <a:xfrm>
            <a:off x="594360" y="1024128"/>
            <a:ext cx="10972800"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0" lang="ko-KR">
                <a:solidFill>
                  <a:srgbClr val="617080"/>
                </a:solidFill>
                <a:latin typeface="Pretendard"/>
                <a:ea typeface="Pretendard"/>
                <a:cs typeface="Pretendard"/>
              </a:rPr>
              <a:t>기존 CIC2018 실험 · 정제 전·정상 미포함 · 클래스당 n개 · 5개 seed 평균 F1 (%)</a:t>
            </a:r>
          </a:p>
        </p:txBody>
      </p:sp>
      <p:sp>
        <p:nvSpPr>
          <p:cNvPr id="4" name="Rectangle 3"/>
          <p:cNvSpPr/>
          <p:nvPr/>
        </p:nvSpPr>
        <p:spPr>
          <a:xfrm>
            <a:off x="594360" y="1673352"/>
            <a:ext cx="2057400" cy="521207"/>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792224"/>
            <a:ext cx="1837943"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FFFFFF"/>
                </a:solidFill>
                <a:latin typeface="Pretendard"/>
                <a:ea typeface="Pretendard"/>
                <a:cs typeface="Pretendard"/>
              </a:rPr>
              <a:t>평가 클래스</a:t>
            </a:r>
          </a:p>
        </p:txBody>
      </p:sp>
      <p:sp>
        <p:nvSpPr>
          <p:cNvPr id="6" name="Rectangle 5"/>
          <p:cNvSpPr/>
          <p:nvPr/>
        </p:nvSpPr>
        <p:spPr>
          <a:xfrm>
            <a:off x="2651760" y="1673352"/>
            <a:ext cx="1325880" cy="521207"/>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2761488" y="1792224"/>
            <a:ext cx="1106424"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1" lang="ko-KR">
                <a:solidFill>
                  <a:srgbClr val="FFFFFF"/>
                </a:solidFill>
                <a:latin typeface="Pretendard"/>
                <a:ea typeface="Pretendard"/>
                <a:cs typeface="Pretendard"/>
              </a:rPr>
              <a:t>평가 수</a:t>
            </a:r>
          </a:p>
        </p:txBody>
      </p:sp>
      <p:sp>
        <p:nvSpPr>
          <p:cNvPr id="8" name="Rectangle 7"/>
          <p:cNvSpPr/>
          <p:nvPr/>
        </p:nvSpPr>
        <p:spPr>
          <a:xfrm>
            <a:off x="3977639" y="1673352"/>
            <a:ext cx="1901952" cy="521207"/>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087368" y="1792224"/>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1" lang="ko-KR">
                <a:solidFill>
                  <a:srgbClr val="FFFFFF"/>
                </a:solidFill>
                <a:latin typeface="Pretendard"/>
                <a:ea typeface="Pretendard"/>
                <a:cs typeface="Pretendard"/>
              </a:rPr>
              <a:t>2개 XGB</a:t>
            </a:r>
          </a:p>
        </p:txBody>
      </p:sp>
      <p:sp>
        <p:nvSpPr>
          <p:cNvPr id="10" name="Rectangle 9"/>
          <p:cNvSpPr/>
          <p:nvPr/>
        </p:nvSpPr>
        <p:spPr>
          <a:xfrm>
            <a:off x="5879592" y="1673352"/>
            <a:ext cx="1901952" cy="521207"/>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989320" y="1792224"/>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1" lang="ko-KR">
                <a:solidFill>
                  <a:srgbClr val="FFFFFF"/>
                </a:solidFill>
                <a:latin typeface="Pretendard"/>
                <a:ea typeface="Pretendard"/>
                <a:cs typeface="Pretendard"/>
              </a:rPr>
              <a:t>2개 TabPFN</a:t>
            </a:r>
          </a:p>
        </p:txBody>
      </p:sp>
      <p:sp>
        <p:nvSpPr>
          <p:cNvPr id="12" name="Rectangle 11"/>
          <p:cNvSpPr/>
          <p:nvPr/>
        </p:nvSpPr>
        <p:spPr>
          <a:xfrm>
            <a:off x="7781544" y="1673352"/>
            <a:ext cx="1901952" cy="521207"/>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891271" y="1792224"/>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1" lang="ko-KR">
                <a:solidFill>
                  <a:srgbClr val="FFFFFF"/>
                </a:solidFill>
                <a:latin typeface="Pretendard"/>
                <a:ea typeface="Pretendard"/>
                <a:cs typeface="Pretendard"/>
              </a:rPr>
              <a:t>20개 XGB</a:t>
            </a:r>
          </a:p>
        </p:txBody>
      </p:sp>
      <p:sp>
        <p:nvSpPr>
          <p:cNvPr id="14" name="Rectangle 13"/>
          <p:cNvSpPr/>
          <p:nvPr/>
        </p:nvSpPr>
        <p:spPr>
          <a:xfrm>
            <a:off x="9683496" y="1673352"/>
            <a:ext cx="1901952" cy="521207"/>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793224" y="1792224"/>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1" lang="ko-KR">
                <a:solidFill>
                  <a:srgbClr val="FFFFFF"/>
                </a:solidFill>
                <a:latin typeface="Pretendard"/>
                <a:ea typeface="Pretendard"/>
                <a:cs typeface="Pretendard"/>
              </a:rPr>
              <a:t>20개 TabPFN</a:t>
            </a:r>
          </a:p>
        </p:txBody>
      </p:sp>
      <p:sp>
        <p:nvSpPr>
          <p:cNvPr id="16" name="Rectangle 15"/>
          <p:cNvSpPr/>
          <p:nvPr/>
        </p:nvSpPr>
        <p:spPr>
          <a:xfrm>
            <a:off x="594360" y="2194560"/>
            <a:ext cx="2057400"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04088" y="2313432"/>
            <a:ext cx="1837943"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DDoS</a:t>
            </a:r>
          </a:p>
        </p:txBody>
      </p:sp>
      <p:sp>
        <p:nvSpPr>
          <p:cNvPr id="18" name="Rectangle 17"/>
          <p:cNvSpPr/>
          <p:nvPr/>
        </p:nvSpPr>
        <p:spPr>
          <a:xfrm>
            <a:off x="2651760" y="2194560"/>
            <a:ext cx="1325880"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2761488" y="2313432"/>
            <a:ext cx="1106424"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20262E"/>
                </a:solidFill>
                <a:latin typeface="Pretendard"/>
                <a:ea typeface="Pretendard"/>
                <a:cs typeface="Pretendard"/>
              </a:rPr>
              <a:t>264,872</a:t>
            </a:r>
          </a:p>
        </p:txBody>
      </p:sp>
      <p:sp>
        <p:nvSpPr>
          <p:cNvPr id="20" name="Rectangle 19"/>
          <p:cNvSpPr/>
          <p:nvPr/>
        </p:nvSpPr>
        <p:spPr>
          <a:xfrm>
            <a:off x="3977639" y="2194560"/>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087368" y="2313432"/>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92.49</a:t>
            </a:r>
          </a:p>
        </p:txBody>
      </p:sp>
      <p:sp>
        <p:nvSpPr>
          <p:cNvPr id="22" name="Rectangle 21"/>
          <p:cNvSpPr/>
          <p:nvPr/>
        </p:nvSpPr>
        <p:spPr>
          <a:xfrm>
            <a:off x="5879592" y="2194560"/>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989320" y="2313432"/>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86.76</a:t>
            </a:r>
          </a:p>
        </p:txBody>
      </p:sp>
      <p:sp>
        <p:nvSpPr>
          <p:cNvPr id="24" name="Rectangle 23"/>
          <p:cNvSpPr/>
          <p:nvPr/>
        </p:nvSpPr>
        <p:spPr>
          <a:xfrm>
            <a:off x="7781544" y="2194560"/>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891271" y="2313432"/>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99.21</a:t>
            </a:r>
          </a:p>
        </p:txBody>
      </p:sp>
      <p:sp>
        <p:nvSpPr>
          <p:cNvPr id="26" name="Rectangle 25"/>
          <p:cNvSpPr/>
          <p:nvPr/>
        </p:nvSpPr>
        <p:spPr>
          <a:xfrm>
            <a:off x="9683496" y="2194560"/>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793224" y="2313432"/>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99.27</a:t>
            </a:r>
          </a:p>
        </p:txBody>
      </p:sp>
      <p:sp>
        <p:nvSpPr>
          <p:cNvPr id="28" name="Rectangle 27"/>
          <p:cNvSpPr/>
          <p:nvPr/>
        </p:nvSpPr>
        <p:spPr>
          <a:xfrm>
            <a:off x="594360" y="2715768"/>
            <a:ext cx="2057400"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04088" y="2834639"/>
            <a:ext cx="1837943"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Brute force</a:t>
            </a:r>
          </a:p>
        </p:txBody>
      </p:sp>
      <p:sp>
        <p:nvSpPr>
          <p:cNvPr id="30" name="Rectangle 29"/>
          <p:cNvSpPr/>
          <p:nvPr/>
        </p:nvSpPr>
        <p:spPr>
          <a:xfrm>
            <a:off x="2651760" y="2715768"/>
            <a:ext cx="1325880"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2761488" y="2834639"/>
            <a:ext cx="1106424"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20262E"/>
                </a:solidFill>
                <a:latin typeface="Pretendard"/>
                <a:ea typeface="Pretendard"/>
                <a:cs typeface="Pretendard"/>
              </a:rPr>
              <a:t>115,040</a:t>
            </a:r>
          </a:p>
        </p:txBody>
      </p:sp>
      <p:sp>
        <p:nvSpPr>
          <p:cNvPr id="32" name="Rectangle 31"/>
          <p:cNvSpPr/>
          <p:nvPr/>
        </p:nvSpPr>
        <p:spPr>
          <a:xfrm>
            <a:off x="3977639" y="2715768"/>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087368" y="2834639"/>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67.94</a:t>
            </a:r>
          </a:p>
        </p:txBody>
      </p:sp>
      <p:sp>
        <p:nvSpPr>
          <p:cNvPr id="34" name="Rectangle 33"/>
          <p:cNvSpPr/>
          <p:nvPr/>
        </p:nvSpPr>
        <p:spPr>
          <a:xfrm>
            <a:off x="5879592" y="2715768"/>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989320" y="2834639"/>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76.94</a:t>
            </a:r>
          </a:p>
        </p:txBody>
      </p:sp>
      <p:sp>
        <p:nvSpPr>
          <p:cNvPr id="36" name="Rectangle 35"/>
          <p:cNvSpPr/>
          <p:nvPr/>
        </p:nvSpPr>
        <p:spPr>
          <a:xfrm>
            <a:off x="7781544" y="2715768"/>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891271" y="2834639"/>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91.52</a:t>
            </a:r>
          </a:p>
        </p:txBody>
      </p:sp>
      <p:sp>
        <p:nvSpPr>
          <p:cNvPr id="38" name="Rectangle 37"/>
          <p:cNvSpPr/>
          <p:nvPr/>
        </p:nvSpPr>
        <p:spPr>
          <a:xfrm>
            <a:off x="9683496" y="2715768"/>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9793224" y="2834639"/>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91.58</a:t>
            </a:r>
          </a:p>
        </p:txBody>
      </p:sp>
      <p:sp>
        <p:nvSpPr>
          <p:cNvPr id="40" name="Rectangle 39"/>
          <p:cNvSpPr/>
          <p:nvPr/>
        </p:nvSpPr>
        <p:spPr>
          <a:xfrm>
            <a:off x="594360" y="3236976"/>
            <a:ext cx="2057400"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04088" y="3355848"/>
            <a:ext cx="1837943"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DoS</a:t>
            </a:r>
          </a:p>
        </p:txBody>
      </p:sp>
      <p:sp>
        <p:nvSpPr>
          <p:cNvPr id="42" name="Rectangle 41"/>
          <p:cNvSpPr/>
          <p:nvPr/>
        </p:nvSpPr>
        <p:spPr>
          <a:xfrm>
            <a:off x="2651760" y="3236976"/>
            <a:ext cx="1325880"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2761488" y="3355848"/>
            <a:ext cx="1106424"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20262E"/>
                </a:solidFill>
                <a:latin typeface="Pretendard"/>
                <a:ea typeface="Pretendard"/>
                <a:cs typeface="Pretendard"/>
              </a:rPr>
              <a:t>60,594</a:t>
            </a:r>
          </a:p>
        </p:txBody>
      </p:sp>
      <p:sp>
        <p:nvSpPr>
          <p:cNvPr id="44" name="Rectangle 43"/>
          <p:cNvSpPr/>
          <p:nvPr/>
        </p:nvSpPr>
        <p:spPr>
          <a:xfrm>
            <a:off x="3977639" y="3236976"/>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4087368" y="3355848"/>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51.20</a:t>
            </a:r>
          </a:p>
        </p:txBody>
      </p:sp>
      <p:sp>
        <p:nvSpPr>
          <p:cNvPr id="46" name="Rectangle 45"/>
          <p:cNvSpPr/>
          <p:nvPr/>
        </p:nvSpPr>
        <p:spPr>
          <a:xfrm>
            <a:off x="5879592" y="3236976"/>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5989320" y="3355848"/>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47.76</a:t>
            </a:r>
          </a:p>
        </p:txBody>
      </p:sp>
      <p:sp>
        <p:nvSpPr>
          <p:cNvPr id="48" name="Rectangle 47"/>
          <p:cNvSpPr/>
          <p:nvPr/>
        </p:nvSpPr>
        <p:spPr>
          <a:xfrm>
            <a:off x="7781544" y="3236976"/>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7891271" y="3355848"/>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75.22</a:t>
            </a:r>
          </a:p>
        </p:txBody>
      </p:sp>
      <p:sp>
        <p:nvSpPr>
          <p:cNvPr id="50" name="Rectangle 49"/>
          <p:cNvSpPr/>
          <p:nvPr/>
        </p:nvSpPr>
        <p:spPr>
          <a:xfrm>
            <a:off x="9683496" y="3236976"/>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9793224" y="3355848"/>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74.65</a:t>
            </a:r>
          </a:p>
        </p:txBody>
      </p:sp>
      <p:sp>
        <p:nvSpPr>
          <p:cNvPr id="52" name="Rectangle 51"/>
          <p:cNvSpPr/>
          <p:nvPr/>
        </p:nvSpPr>
        <p:spPr>
          <a:xfrm>
            <a:off x="594360" y="3758183"/>
            <a:ext cx="2057400"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704088" y="3877055"/>
            <a:ext cx="1837943"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Bot</a:t>
            </a:r>
          </a:p>
        </p:txBody>
      </p:sp>
      <p:sp>
        <p:nvSpPr>
          <p:cNvPr id="54" name="Rectangle 53"/>
          <p:cNvSpPr/>
          <p:nvPr/>
        </p:nvSpPr>
        <p:spPr>
          <a:xfrm>
            <a:off x="2651760" y="3758183"/>
            <a:ext cx="1325880"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2761488" y="3877055"/>
            <a:ext cx="1106424"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20262E"/>
                </a:solidFill>
                <a:latin typeface="Pretendard"/>
                <a:ea typeface="Pretendard"/>
                <a:cs typeface="Pretendard"/>
              </a:rPr>
              <a:t>41,542</a:t>
            </a:r>
          </a:p>
        </p:txBody>
      </p:sp>
      <p:sp>
        <p:nvSpPr>
          <p:cNvPr id="56" name="Rectangle 55"/>
          <p:cNvSpPr/>
          <p:nvPr/>
        </p:nvSpPr>
        <p:spPr>
          <a:xfrm>
            <a:off x="3977639" y="3758183"/>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087368" y="3877055"/>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87.64</a:t>
            </a:r>
          </a:p>
        </p:txBody>
      </p:sp>
      <p:sp>
        <p:nvSpPr>
          <p:cNvPr id="58" name="Rectangle 57"/>
          <p:cNvSpPr/>
          <p:nvPr/>
        </p:nvSpPr>
        <p:spPr>
          <a:xfrm>
            <a:off x="5879592" y="3758183"/>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5989320" y="3877055"/>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90.26</a:t>
            </a:r>
          </a:p>
        </p:txBody>
      </p:sp>
      <p:sp>
        <p:nvSpPr>
          <p:cNvPr id="60" name="Rectangle 59"/>
          <p:cNvSpPr/>
          <p:nvPr/>
        </p:nvSpPr>
        <p:spPr>
          <a:xfrm>
            <a:off x="7781544" y="3758183"/>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7891271" y="3877055"/>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98.38</a:t>
            </a:r>
          </a:p>
        </p:txBody>
      </p:sp>
      <p:sp>
        <p:nvSpPr>
          <p:cNvPr id="62" name="Rectangle 61"/>
          <p:cNvSpPr/>
          <p:nvPr/>
        </p:nvSpPr>
        <p:spPr>
          <a:xfrm>
            <a:off x="9683496" y="3758183"/>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9793224" y="3877055"/>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99.50</a:t>
            </a:r>
          </a:p>
        </p:txBody>
      </p:sp>
      <p:sp>
        <p:nvSpPr>
          <p:cNvPr id="64" name="Rectangle 63"/>
          <p:cNvSpPr/>
          <p:nvPr/>
        </p:nvSpPr>
        <p:spPr>
          <a:xfrm>
            <a:off x="594360" y="4279392"/>
            <a:ext cx="2057400"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704088" y="4398264"/>
            <a:ext cx="1837943"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Infiltration</a:t>
            </a:r>
          </a:p>
        </p:txBody>
      </p:sp>
      <p:sp>
        <p:nvSpPr>
          <p:cNvPr id="66" name="Rectangle 65"/>
          <p:cNvSpPr/>
          <p:nvPr/>
        </p:nvSpPr>
        <p:spPr>
          <a:xfrm>
            <a:off x="2651760" y="4279392"/>
            <a:ext cx="1325880"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2761488" y="4398264"/>
            <a:ext cx="1106424"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20262E"/>
                </a:solidFill>
                <a:latin typeface="Pretendard"/>
                <a:ea typeface="Pretendard"/>
                <a:cs typeface="Pretendard"/>
              </a:rPr>
              <a:t>37,631</a:t>
            </a:r>
          </a:p>
        </p:txBody>
      </p:sp>
      <p:sp>
        <p:nvSpPr>
          <p:cNvPr id="68" name="Rectangle 67"/>
          <p:cNvSpPr/>
          <p:nvPr/>
        </p:nvSpPr>
        <p:spPr>
          <a:xfrm>
            <a:off x="3977639" y="4279392"/>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4087368" y="4398264"/>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48.78</a:t>
            </a:r>
          </a:p>
        </p:txBody>
      </p:sp>
      <p:sp>
        <p:nvSpPr>
          <p:cNvPr id="70" name="Rectangle 69"/>
          <p:cNvSpPr/>
          <p:nvPr/>
        </p:nvSpPr>
        <p:spPr>
          <a:xfrm>
            <a:off x="5879592" y="4279392"/>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TextBox 70"/>
          <p:cNvSpPr txBox="1"/>
          <p:nvPr/>
        </p:nvSpPr>
        <p:spPr>
          <a:xfrm>
            <a:off x="5989320" y="4398264"/>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59.24</a:t>
            </a:r>
          </a:p>
        </p:txBody>
      </p:sp>
      <p:sp>
        <p:nvSpPr>
          <p:cNvPr id="72" name="Rectangle 71"/>
          <p:cNvSpPr/>
          <p:nvPr/>
        </p:nvSpPr>
        <p:spPr>
          <a:xfrm>
            <a:off x="7781544" y="4279392"/>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TextBox 72"/>
          <p:cNvSpPr txBox="1"/>
          <p:nvPr/>
        </p:nvSpPr>
        <p:spPr>
          <a:xfrm>
            <a:off x="7891271" y="4398264"/>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92.28</a:t>
            </a:r>
          </a:p>
        </p:txBody>
      </p:sp>
      <p:sp>
        <p:nvSpPr>
          <p:cNvPr id="74" name="Rectangle 73"/>
          <p:cNvSpPr/>
          <p:nvPr/>
        </p:nvSpPr>
        <p:spPr>
          <a:xfrm>
            <a:off x="9683496" y="4279392"/>
            <a:ext cx="1901952" cy="521207"/>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9793224" y="4398264"/>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94.20</a:t>
            </a:r>
          </a:p>
        </p:txBody>
      </p:sp>
      <p:sp>
        <p:nvSpPr>
          <p:cNvPr id="76" name="Rectangle 75"/>
          <p:cNvSpPr/>
          <p:nvPr/>
        </p:nvSpPr>
        <p:spPr>
          <a:xfrm>
            <a:off x="594360" y="4800600"/>
            <a:ext cx="2057400"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TextBox 76"/>
          <p:cNvSpPr txBox="1"/>
          <p:nvPr/>
        </p:nvSpPr>
        <p:spPr>
          <a:xfrm>
            <a:off x="704088" y="4919472"/>
            <a:ext cx="1837943"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Web attacks</a:t>
            </a:r>
          </a:p>
        </p:txBody>
      </p:sp>
      <p:sp>
        <p:nvSpPr>
          <p:cNvPr id="78" name="Rectangle 77"/>
          <p:cNvSpPr/>
          <p:nvPr/>
        </p:nvSpPr>
        <p:spPr>
          <a:xfrm>
            <a:off x="2651760" y="4800600"/>
            <a:ext cx="1325880"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TextBox 78"/>
          <p:cNvSpPr txBox="1"/>
          <p:nvPr/>
        </p:nvSpPr>
        <p:spPr>
          <a:xfrm>
            <a:off x="2761488" y="4919472"/>
            <a:ext cx="1106424"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20262E"/>
                </a:solidFill>
                <a:latin typeface="Pretendard"/>
                <a:ea typeface="Pretendard"/>
                <a:cs typeface="Pretendard"/>
              </a:rPr>
              <a:t>509</a:t>
            </a:r>
          </a:p>
        </p:txBody>
      </p:sp>
      <p:sp>
        <p:nvSpPr>
          <p:cNvPr id="80" name="Rectangle 79"/>
          <p:cNvSpPr/>
          <p:nvPr/>
        </p:nvSpPr>
        <p:spPr>
          <a:xfrm>
            <a:off x="3977639" y="4800600"/>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TextBox 80"/>
          <p:cNvSpPr txBox="1"/>
          <p:nvPr/>
        </p:nvSpPr>
        <p:spPr>
          <a:xfrm>
            <a:off x="4087368" y="4919472"/>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11.99</a:t>
            </a:r>
          </a:p>
        </p:txBody>
      </p:sp>
      <p:sp>
        <p:nvSpPr>
          <p:cNvPr id="82" name="Rectangle 81"/>
          <p:cNvSpPr/>
          <p:nvPr/>
        </p:nvSpPr>
        <p:spPr>
          <a:xfrm>
            <a:off x="5879592" y="4800600"/>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TextBox 82"/>
          <p:cNvSpPr txBox="1"/>
          <p:nvPr/>
        </p:nvSpPr>
        <p:spPr>
          <a:xfrm>
            <a:off x="5989320" y="4919472"/>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29.44</a:t>
            </a:r>
          </a:p>
        </p:txBody>
      </p:sp>
      <p:sp>
        <p:nvSpPr>
          <p:cNvPr id="84" name="Rectangle 83"/>
          <p:cNvSpPr/>
          <p:nvPr/>
        </p:nvSpPr>
        <p:spPr>
          <a:xfrm>
            <a:off x="7781544" y="4800600"/>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TextBox 84"/>
          <p:cNvSpPr txBox="1"/>
          <p:nvPr/>
        </p:nvSpPr>
        <p:spPr>
          <a:xfrm>
            <a:off x="7891271" y="4919472"/>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B44948"/>
                </a:solidFill>
                <a:latin typeface="Pretendard"/>
                <a:ea typeface="Pretendard"/>
                <a:cs typeface="Pretendard"/>
              </a:rPr>
              <a:t>12.16</a:t>
            </a:r>
          </a:p>
        </p:txBody>
      </p:sp>
      <p:sp>
        <p:nvSpPr>
          <p:cNvPr id="86" name="Rectangle 85"/>
          <p:cNvSpPr/>
          <p:nvPr/>
        </p:nvSpPr>
        <p:spPr>
          <a:xfrm>
            <a:off x="9683496" y="4800600"/>
            <a:ext cx="1901952" cy="521207"/>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9793224" y="4919472"/>
            <a:ext cx="1682496" cy="301751"/>
          </a:xfrm>
          <a:prstGeom prst="rect">
            <a:avLst/>
          </a:prstGeom>
          <a:noFill/>
          <a:effectLst/>
        </p:spPr>
        <p:txBody>
          <a:bodyPr wrap="none" anchor="t" lIns="0" rIns="0" tIns="0" bIns="0">
            <a:noAutofit/>
          </a:bodyPr>
          <a:lstStyle/>
          <a:p>
            <a:pPr algn="r">
              <a:lnSpc>
                <a:spcPct val="118000"/>
              </a:lnSpc>
              <a:spcBef>
                <a:spcPts val="0"/>
              </a:spcBef>
              <a:spcAft>
                <a:spcPts val="0"/>
              </a:spcAft>
            </a:pPr>
            <a:r>
              <a:rPr sz="1800" b="0" lang="ko-KR">
                <a:solidFill>
                  <a:srgbClr val="007BC6"/>
                </a:solidFill>
                <a:latin typeface="Pretendard"/>
                <a:ea typeface="Pretendard"/>
                <a:cs typeface="Pretendard"/>
              </a:rPr>
              <a:t>10.74</a:t>
            </a:r>
          </a:p>
        </p:txBody>
      </p:sp>
      <p:sp>
        <p:nvSpPr>
          <p:cNvPr id="88" name="TextBox 87"/>
          <p:cNvSpPr txBox="1"/>
          <p:nvPr/>
        </p:nvSpPr>
        <p:spPr>
          <a:xfrm>
            <a:off x="594360" y="5577840"/>
            <a:ext cx="1097280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DDoS·Bot은 높은 점수에 조기 도달 · Web attacks에는 여전히 큰 분류 난도</a:t>
            </a:r>
          </a:p>
        </p:txBody>
      </p:sp>
      <p:sp>
        <p:nvSpPr>
          <p:cNvPr id="89" name="TextBox 88"/>
          <p:cNvSpPr txBox="1"/>
          <p:nvPr/>
        </p:nvSpPr>
        <p:spPr>
          <a:xfrm>
            <a:off x="594360" y="6007608"/>
            <a:ext cx="10972800" cy="256794"/>
          </a:xfrm>
          <a:prstGeom prst="rect">
            <a:avLst/>
          </a:prstGeom>
          <a:noFill/>
          <a:effectLst/>
        </p:spPr>
        <p:txBody>
          <a:bodyPr wrap="none" anchor="t" lIns="0" rIns="0" tIns="0" bIns="0">
            <a:noAutofit/>
          </a:bodyPr>
          <a:lstStyle/>
          <a:p>
            <a:pPr algn="l">
              <a:lnSpc>
                <a:spcPct val="118000"/>
              </a:lnSpc>
              <a:spcBef>
                <a:spcPts val="0"/>
              </a:spcBef>
              <a:spcAft>
                <a:spcPts val="0"/>
              </a:spcAft>
            </a:pPr>
            <a:r>
              <a:rPr sz="1500" b="0" lang="ko-KR">
                <a:solidFill>
                  <a:srgbClr val="617080"/>
                </a:solidFill>
                <a:latin typeface="Pretendard"/>
                <a:ea typeface="Pretendard"/>
                <a:cs typeface="Pretendard"/>
              </a:rPr>
              <a:t>평가 표본 수 내림차순 · XGBoost (XGB) · 중간 n = 3·5·10과 표준편차는 EXP89 상세 기록</a:t>
            </a:r>
          </a:p>
        </p:txBody>
      </p:sp>
      <p:sp>
        <p:nvSpPr>
          <p:cNvPr id="90" name="Rectangle 89"/>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데이터 전체의 난도보다 클래스별 포화·오류 원인의 분리가 우선</a:t>
            </a:r>
          </a:p>
        </p:txBody>
      </p:sp>
      <p:sp>
        <p:nvSpPr>
          <p:cNvPr id="92" name="TextBox 91"/>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데이터와 문제</a:t>
            </a:r>
          </a:p>
        </p:txBody>
      </p:sp>
      <p:sp>
        <p:nvSpPr>
          <p:cNvPr id="93" name="TextBox 92"/>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CIC 결함을 확인한 선행연구</a:t>
            </a:r>
          </a:p>
        </p:txBody>
      </p:sp>
      <p:sp>
        <p:nvSpPr>
          <p:cNvPr id="3" name="Rectangle 2"/>
          <p:cNvSpPr/>
          <p:nvPr/>
        </p:nvSpPr>
        <p:spPr>
          <a:xfrm>
            <a:off x="594360" y="1115568"/>
            <a:ext cx="11000232" cy="144475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768096" y="1225295"/>
            <a:ext cx="484632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hlinkClick r:id="rId3"/>
              </a:rPr>
              <a:t>Engelen 외 · IEEE SPW / WTMC 2021</a:t>
            </a:r>
          </a:p>
        </p:txBody>
      </p:sp>
      <p:sp>
        <p:nvSpPr>
          <p:cNvPr id="5" name="TextBox 4"/>
          <p:cNvSpPr txBox="1"/>
          <p:nvPr/>
        </p:nvSpPr>
        <p:spPr>
          <a:xfrm>
            <a:off x="768096" y="1682495"/>
            <a:ext cx="4828032" cy="451612"/>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617080"/>
                </a:solidFill>
                <a:latin typeface="Pretendard"/>
                <a:ea typeface="Pretendard"/>
                <a:cs typeface="Pretendard"/>
              </a:rPr>
              <a:t>Troubleshooting an Intrusion Detection Dataset:</a:t>
            </a:r>
          </a:p>
          <a:p>
            <a:pPr algn="l">
              <a:lnSpc>
                <a:spcPct val="118000"/>
              </a:lnSpc>
              <a:spcBef>
                <a:spcPts val="0"/>
              </a:spcBef>
              <a:spcAft>
                <a:spcPts val="0"/>
              </a:spcAft>
            </a:pPr>
            <a:r>
              <a:rPr sz="1400" b="0" lang="ko-KR">
                <a:solidFill>
                  <a:srgbClr val="617080"/>
                </a:solidFill>
                <a:latin typeface="Pretendard"/>
                <a:ea typeface="Pretendard"/>
                <a:cs typeface="Pretendard"/>
              </a:rPr>
              <a:t>the CICIDS2017 Case Study</a:t>
            </a:r>
          </a:p>
        </p:txBody>
      </p:sp>
      <p:sp>
        <p:nvSpPr>
          <p:cNvPr id="6" name="TextBox 5"/>
          <p:cNvSpPr txBox="1"/>
          <p:nvPr/>
        </p:nvSpPr>
        <p:spPr>
          <a:xfrm>
            <a:off x="5998464" y="1408176"/>
            <a:ext cx="5330952" cy="631443"/>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첫 FIN에서 조기 종료 → 종료 패킷만 남은 별도 flow</a:t>
            </a:r>
          </a:p>
          <a:p>
            <a:pPr algn="l">
              <a:lnSpc>
                <a:spcPct val="118000"/>
              </a:lnSpc>
              <a:spcBef>
                <a:spcPts val="0"/>
              </a:spcBef>
              <a:spcAft>
                <a:spcPts val="0"/>
              </a:spcAft>
            </a:pPr>
            <a:r>
              <a:rPr sz="2000" b="0" lang="ko-KR">
                <a:solidFill>
                  <a:srgbClr val="20262E"/>
                </a:solidFill>
                <a:latin typeface="Pretendard"/>
                <a:ea typeface="Pretendard"/>
                <a:cs typeface="Pretendard"/>
              </a:rPr>
              <a:t>방향 오류·RST 무시 → 잘못된 flow 경계와 라벨</a:t>
            </a:r>
          </a:p>
        </p:txBody>
      </p:sp>
      <p:sp>
        <p:nvSpPr>
          <p:cNvPr id="7" name="Rectangle 6"/>
          <p:cNvSpPr/>
          <p:nvPr/>
        </p:nvSpPr>
        <p:spPr>
          <a:xfrm>
            <a:off x="594360" y="2807208"/>
            <a:ext cx="11000232" cy="144475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68096" y="2916936"/>
            <a:ext cx="484632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hlinkClick r:id="rId4"/>
              </a:rPr>
              <a:t>Liu 외 · IEEE CNS 2022</a:t>
            </a:r>
          </a:p>
        </p:txBody>
      </p:sp>
      <p:sp>
        <p:nvSpPr>
          <p:cNvPr id="9" name="TextBox 8"/>
          <p:cNvSpPr txBox="1"/>
          <p:nvPr/>
        </p:nvSpPr>
        <p:spPr>
          <a:xfrm>
            <a:off x="768096" y="3374136"/>
            <a:ext cx="4828032" cy="451612"/>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617080"/>
                </a:solidFill>
                <a:latin typeface="Pretendard"/>
                <a:ea typeface="Pretendard"/>
                <a:cs typeface="Pretendard"/>
              </a:rPr>
              <a:t>Error Prevalence in NIDS datasets: A Case Study on</a:t>
            </a:r>
          </a:p>
          <a:p>
            <a:pPr algn="l">
              <a:lnSpc>
                <a:spcPct val="118000"/>
              </a:lnSpc>
              <a:spcBef>
                <a:spcPts val="0"/>
              </a:spcBef>
              <a:spcAft>
                <a:spcPts val="0"/>
              </a:spcAft>
            </a:pPr>
            <a:r>
              <a:rPr sz="1400" b="0" lang="ko-KR">
                <a:solidFill>
                  <a:srgbClr val="617080"/>
                </a:solidFill>
                <a:latin typeface="Pretendard"/>
                <a:ea typeface="Pretendard"/>
                <a:cs typeface="Pretendard"/>
              </a:rPr>
              <a:t>CIC-IDS-2017 and CSE-CIC-IDS-2018</a:t>
            </a:r>
          </a:p>
        </p:txBody>
      </p:sp>
      <p:sp>
        <p:nvSpPr>
          <p:cNvPr id="10" name="TextBox 9"/>
          <p:cNvSpPr txBox="1"/>
          <p:nvPr/>
        </p:nvSpPr>
        <p:spPr>
          <a:xfrm>
            <a:off x="5998464" y="3099815"/>
            <a:ext cx="5330952" cy="631443"/>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CIC2017·2018의 생성·특징·라벨 오류 재검토</a:t>
            </a:r>
          </a:p>
          <a:p>
            <a:pPr algn="l">
              <a:lnSpc>
                <a:spcPct val="118000"/>
              </a:lnSpc>
              <a:spcBef>
                <a:spcPts val="0"/>
              </a:spcBef>
              <a:spcAft>
                <a:spcPts val="0"/>
              </a:spcAft>
            </a:pPr>
            <a:r>
              <a:rPr sz="2000" b="0" lang="ko-KR">
                <a:solidFill>
                  <a:srgbClr val="20262E"/>
                </a:solidFill>
                <a:latin typeface="Pretendard"/>
                <a:ea typeface="Pretendard"/>
                <a:cs typeface="Pretendard"/>
              </a:rPr>
              <a:t>CIC2018 FTP 사례: 닫힌 포트에 대한 연결 시도</a:t>
            </a:r>
          </a:p>
        </p:txBody>
      </p:sp>
      <p:sp>
        <p:nvSpPr>
          <p:cNvPr id="11" name="Rectangle 10"/>
          <p:cNvSpPr/>
          <p:nvPr/>
        </p:nvSpPr>
        <p:spPr>
          <a:xfrm>
            <a:off x="594360" y="4498848"/>
            <a:ext cx="11000232" cy="144475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68096" y="4608576"/>
            <a:ext cx="484632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hlinkClick r:id="rId5"/>
              </a:rPr>
              <a:t>Rosay 외 · ICISSP 2022</a:t>
            </a:r>
          </a:p>
        </p:txBody>
      </p:sp>
      <p:sp>
        <p:nvSpPr>
          <p:cNvPr id="13" name="TextBox 12"/>
          <p:cNvSpPr txBox="1"/>
          <p:nvPr/>
        </p:nvSpPr>
        <p:spPr>
          <a:xfrm>
            <a:off x="768096" y="5065776"/>
            <a:ext cx="4828032" cy="451612"/>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617080"/>
                </a:solidFill>
                <a:latin typeface="Pretendard"/>
                <a:ea typeface="Pretendard"/>
                <a:cs typeface="Pretendard"/>
              </a:rPr>
              <a:t>Network Intrusion Detection: A Comprehensive</a:t>
            </a:r>
          </a:p>
          <a:p>
            <a:pPr algn="l">
              <a:lnSpc>
                <a:spcPct val="118000"/>
              </a:lnSpc>
              <a:spcBef>
                <a:spcPts val="0"/>
              </a:spcBef>
              <a:spcAft>
                <a:spcPts val="0"/>
              </a:spcAft>
            </a:pPr>
            <a:r>
              <a:rPr sz="1400" b="0" lang="ko-KR">
                <a:solidFill>
                  <a:srgbClr val="617080"/>
                </a:solidFill>
                <a:latin typeface="Pretendard"/>
                <a:ea typeface="Pretendard"/>
                <a:cs typeface="Pretendard"/>
              </a:rPr>
              <a:t>Analysis of CIC-IDS2017</a:t>
            </a:r>
          </a:p>
        </p:txBody>
      </p:sp>
      <p:sp>
        <p:nvSpPr>
          <p:cNvPr id="14" name="TextBox 13"/>
          <p:cNvSpPr txBox="1"/>
          <p:nvPr/>
        </p:nvSpPr>
        <p:spPr>
          <a:xfrm>
            <a:off x="5998464" y="4791456"/>
            <a:ext cx="5330952" cy="631443"/>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특징 계산·세션 종료·라벨 문제 분석</a:t>
            </a:r>
          </a:p>
          <a:p>
            <a:pPr algn="l">
              <a:lnSpc>
                <a:spcPct val="118000"/>
              </a:lnSpc>
              <a:spcBef>
                <a:spcPts val="0"/>
              </a:spcBef>
              <a:spcAft>
                <a:spcPts val="0"/>
              </a:spcAft>
            </a:pPr>
            <a:r>
              <a:rPr sz="2000" b="0" lang="ko-KR">
                <a:solidFill>
                  <a:srgbClr val="20262E"/>
                </a:solidFill>
                <a:latin typeface="Pretendard"/>
                <a:ea typeface="Pretendard"/>
                <a:cs typeface="Pretendard"/>
              </a:rPr>
              <a:t>세션 종료 오류와 유사 특징·상이 라벨의 관계</a:t>
            </a:r>
          </a:p>
        </p:txBody>
      </p:sp>
      <p:sp>
        <p:nvSpPr>
          <p:cNvPr id="15" name="Rectangle 14"/>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단순한 시간 구간 설명을 넘어 flow 생성과 실제 공격 내용까지 확인한 근거</a:t>
            </a:r>
          </a:p>
        </p:txBody>
      </p:sp>
      <p:sp>
        <p:nvSpPr>
          <p:cNvPr id="17" name="TextBox 16"/>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데이터와 문제</a:t>
            </a:r>
          </a:p>
        </p:txBody>
      </p:sp>
      <p:sp>
        <p:nvSpPr>
          <p:cNvPr id="18" name="TextBox 17"/>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라벨 오류와 표현 정보 부족의 구분</a:t>
            </a:r>
          </a:p>
        </p:txBody>
      </p:sp>
      <p:sp>
        <p:nvSpPr>
          <p:cNvPr id="3" name="Rectangle 2"/>
          <p:cNvSpPr/>
          <p:nvPr/>
        </p:nvSpPr>
        <p:spPr>
          <a:xfrm>
            <a:off x="594360" y="1188720"/>
            <a:ext cx="5285232" cy="192024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188720"/>
            <a:ext cx="5285232"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40664" y="1271016"/>
            <a:ext cx="4992624"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① Flow 경계·라벨의 오류</a:t>
            </a:r>
          </a:p>
        </p:txBody>
      </p:sp>
      <p:sp>
        <p:nvSpPr>
          <p:cNvPr id="6" name="TextBox 5"/>
          <p:cNvSpPr txBox="1"/>
          <p:nvPr/>
        </p:nvSpPr>
        <p:spPr>
          <a:xfrm>
            <a:off x="758952" y="1847088"/>
            <a:ext cx="4956048" cy="691388"/>
          </a:xfrm>
          <a:prstGeom prst="rect">
            <a:avLst/>
          </a:prstGeom>
          <a:noFill/>
          <a:effectLst/>
        </p:spPr>
        <p:txBody>
          <a:bodyPr wrap="none" anchor="t" lIns="0" rIns="0" tIns="0" bIns="0">
            <a:noAutofit/>
          </a:bodyPr>
          <a:lstStyle/>
          <a:p>
            <a:pPr algn="l">
              <a:lnSpc>
                <a:spcPct val="118000"/>
              </a:lnSpc>
              <a:spcBef>
                <a:spcPts val="0"/>
              </a:spcBef>
              <a:spcAft>
                <a:spcPts val="0"/>
              </a:spcAft>
            </a:pPr>
            <a:r>
              <a:rPr sz="2200" b="0" lang="ko-KR">
                <a:solidFill>
                  <a:srgbClr val="20262E"/>
                </a:solidFill>
                <a:latin typeface="Pretendard"/>
                <a:ea typeface="Pretendard"/>
                <a:cs typeface="Pretendard"/>
              </a:rPr>
              <a:t>패킷 분리·결합 오류와 방향 오류</a:t>
            </a:r>
          </a:p>
          <a:p>
            <a:pPr algn="l">
              <a:lnSpc>
                <a:spcPct val="118000"/>
              </a:lnSpc>
              <a:spcBef>
                <a:spcPts val="0"/>
              </a:spcBef>
              <a:spcAft>
                <a:spcPts val="0"/>
              </a:spcAft>
            </a:pPr>
            <a:r>
              <a:rPr sz="2200" b="0" lang="ko-KR">
                <a:solidFill>
                  <a:srgbClr val="20262E"/>
                </a:solidFill>
                <a:latin typeface="Pretendard"/>
                <a:ea typeface="Pretendard"/>
                <a:cs typeface="Pretendard"/>
              </a:rPr>
              <a:t>공격 시간 안의 비공격 연결까지 포함</a:t>
            </a:r>
          </a:p>
        </p:txBody>
      </p:sp>
      <p:sp>
        <p:nvSpPr>
          <p:cNvPr id="7" name="Rectangle 6"/>
          <p:cNvSpPr/>
          <p:nvPr/>
        </p:nvSpPr>
        <p:spPr>
          <a:xfrm>
            <a:off x="6245352" y="1188720"/>
            <a:ext cx="5285232" cy="192024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245352" y="1188720"/>
            <a:ext cx="5285232"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391656" y="1271016"/>
            <a:ext cx="4992624"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② 관측 정보의 부족</a:t>
            </a:r>
          </a:p>
        </p:txBody>
      </p:sp>
      <p:sp>
        <p:nvSpPr>
          <p:cNvPr id="10" name="TextBox 9"/>
          <p:cNvSpPr txBox="1"/>
          <p:nvPr/>
        </p:nvSpPr>
        <p:spPr>
          <a:xfrm>
            <a:off x="6409944" y="1847088"/>
            <a:ext cx="4956048" cy="691388"/>
          </a:xfrm>
          <a:prstGeom prst="rect">
            <a:avLst/>
          </a:prstGeom>
          <a:noFill/>
          <a:effectLst/>
        </p:spPr>
        <p:txBody>
          <a:bodyPr wrap="none" anchor="t" lIns="0" rIns="0" tIns="0" bIns="0">
            <a:noAutofit/>
          </a:bodyPr>
          <a:lstStyle/>
          <a:p>
            <a:pPr algn="l">
              <a:lnSpc>
                <a:spcPct val="118000"/>
              </a:lnSpc>
              <a:spcBef>
                <a:spcPts val="0"/>
              </a:spcBef>
              <a:spcAft>
                <a:spcPts val="0"/>
              </a:spcAft>
            </a:pPr>
            <a:r>
              <a:rPr sz="2200" b="0" lang="ko-KR">
                <a:solidFill>
                  <a:srgbClr val="20262E"/>
                </a:solidFill>
                <a:latin typeface="Pretendard"/>
                <a:ea typeface="Pretendard"/>
                <a:cs typeface="Pretendard"/>
              </a:rPr>
              <a:t>다른 패킷 내용이 같은 통계값으로 요약</a:t>
            </a:r>
          </a:p>
          <a:p>
            <a:pPr algn="l">
              <a:lnSpc>
                <a:spcPct val="118000"/>
              </a:lnSpc>
              <a:spcBef>
                <a:spcPts val="0"/>
              </a:spcBef>
              <a:spcAft>
                <a:spcPts val="0"/>
              </a:spcAft>
            </a:pPr>
            <a:r>
              <a:rPr sz="2200" b="0" lang="ko-KR">
                <a:solidFill>
                  <a:srgbClr val="20262E"/>
                </a:solidFill>
                <a:latin typeface="Pretendard"/>
                <a:ea typeface="Pretendard"/>
                <a:cs typeface="Pretendard"/>
              </a:rPr>
              <a:t>세부 공격 의도를 단일 flow에서 구별 곤란</a:t>
            </a:r>
          </a:p>
        </p:txBody>
      </p:sp>
      <p:sp>
        <p:nvSpPr>
          <p:cNvPr id="11" name="Down Arrow 10"/>
          <p:cNvSpPr/>
          <p:nvPr/>
        </p:nvSpPr>
        <p:spPr>
          <a:xfrm>
            <a:off x="2971800" y="3310128"/>
            <a:ext cx="320040" cy="384048"/>
          </a:xfrm>
          <a:prstGeom prst="down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own Arrow 11"/>
          <p:cNvSpPr/>
          <p:nvPr/>
        </p:nvSpPr>
        <p:spPr>
          <a:xfrm>
            <a:off x="8622792" y="3310128"/>
            <a:ext cx="320040" cy="384048"/>
          </a:xfrm>
          <a:prstGeom prst="down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94360" y="3904487"/>
            <a:ext cx="5285232" cy="150876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594360" y="3904487"/>
            <a:ext cx="5285232"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40664" y="3986783"/>
            <a:ext cx="4992624"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대응: 라벨과 세션 재검증</a:t>
            </a:r>
          </a:p>
        </p:txBody>
      </p:sp>
      <p:sp>
        <p:nvSpPr>
          <p:cNvPr id="16" name="TextBox 15"/>
          <p:cNvSpPr txBox="1"/>
          <p:nvPr/>
        </p:nvSpPr>
        <p:spPr>
          <a:xfrm>
            <a:off x="758952" y="4562855"/>
            <a:ext cx="4956048" cy="631443"/>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수정된 경계·시간·공격 근거의 적용</a:t>
            </a:r>
          </a:p>
          <a:p>
            <a:pPr algn="l">
              <a:lnSpc>
                <a:spcPct val="118000"/>
              </a:lnSpc>
              <a:spcBef>
                <a:spcPts val="0"/>
              </a:spcBef>
              <a:spcAft>
                <a:spcPts val="0"/>
              </a:spcAft>
            </a:pPr>
            <a:r>
              <a:rPr sz="2000" b="0" lang="ko-KR">
                <a:solidFill>
                  <a:srgbClr val="20262E"/>
                </a:solidFill>
                <a:latin typeface="Pretendard"/>
                <a:ea typeface="Pretendard"/>
                <a:cs typeface="Pretendard"/>
              </a:rPr>
              <a:t>불확실 사례는 근거와 함께 별도 보존</a:t>
            </a:r>
          </a:p>
        </p:txBody>
      </p:sp>
      <p:sp>
        <p:nvSpPr>
          <p:cNvPr id="17" name="Rectangle 16"/>
          <p:cNvSpPr/>
          <p:nvPr/>
        </p:nvSpPr>
        <p:spPr>
          <a:xfrm>
            <a:off x="6245352" y="3904487"/>
            <a:ext cx="5285232" cy="150876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245352" y="3904487"/>
            <a:ext cx="5285232"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391656" y="3986783"/>
            <a:ext cx="4992624"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대응: 패킷 기반 표현의 비교</a:t>
            </a:r>
          </a:p>
        </p:txBody>
      </p:sp>
      <p:sp>
        <p:nvSpPr>
          <p:cNvPr id="20" name="TextBox 19"/>
          <p:cNvSpPr txBox="1"/>
          <p:nvPr/>
        </p:nvSpPr>
        <p:spPr>
          <a:xfrm>
            <a:off x="6409944" y="4562855"/>
            <a:ext cx="4956048" cy="631443"/>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패킷 순서·시간·헤더·내용의 추가 활용</a:t>
            </a:r>
          </a:p>
          <a:p>
            <a:pPr algn="l">
              <a:lnSpc>
                <a:spcPct val="118000"/>
              </a:lnSpc>
              <a:spcBef>
                <a:spcPts val="0"/>
              </a:spcBef>
              <a:spcAft>
                <a:spcPts val="0"/>
              </a:spcAft>
            </a:pPr>
            <a:r>
              <a:rPr sz="2000" b="0" lang="ko-KR">
                <a:solidFill>
                  <a:srgbClr val="20262E"/>
                </a:solidFill>
                <a:latin typeface="Pretendard"/>
                <a:ea typeface="Pretendard"/>
                <a:cs typeface="Pretendard"/>
              </a:rPr>
              <a:t>동일 flow에서 기존 특징과 임베딩 비교</a:t>
            </a:r>
          </a:p>
        </p:txBody>
      </p:sp>
      <p:sp>
        <p:nvSpPr>
          <p:cNvPr id="21" name="TextBox 20"/>
          <p:cNvSpPr txBox="1"/>
          <p:nvPr/>
        </p:nvSpPr>
        <p:spPr>
          <a:xfrm>
            <a:off x="658368" y="5806440"/>
            <a:ext cx="10881360"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rPr>
              <a:t>현재 충돌 사례의 원인을 모두 확정한 상태는 아님 · PCAP과 라벨 근거의 직접 대조가 다음 검증</a:t>
            </a:r>
          </a:p>
        </p:txBody>
      </p:sp>
      <p:sp>
        <p:nvSpPr>
          <p:cNvPr id="22" name="Rectangle 21"/>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표현 변경과 라벨 교정을 별도 요인으로 평가</a:t>
            </a:r>
          </a:p>
        </p:txBody>
      </p:sp>
      <p:sp>
        <p:nvSpPr>
          <p:cNvPr id="24" name="TextBox 23"/>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재구축 설계</a:t>
            </a:r>
          </a:p>
        </p:txBody>
      </p:sp>
      <p:sp>
        <p:nvSpPr>
          <p:cNvPr id="25" name="TextBox 24"/>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PCAP 기반 학습 벡터 생성</a:t>
            </a:r>
          </a:p>
        </p:txBody>
      </p:sp>
      <p:sp>
        <p:nvSpPr>
          <p:cNvPr id="3" name="TextBox 2"/>
          <p:cNvSpPr txBox="1"/>
          <p:nvPr/>
        </p:nvSpPr>
        <p:spPr>
          <a:xfrm>
            <a:off x="594360" y="1078992"/>
            <a:ext cx="10972800" cy="376682"/>
          </a:xfrm>
          <a:prstGeom prst="rect">
            <a:avLst/>
          </a:prstGeom>
          <a:noFill/>
          <a:effectLst/>
        </p:spPr>
        <p:txBody>
          <a:bodyPr wrap="none" anchor="t" lIns="0" rIns="0" tIns="0" bIns="0">
            <a:noAutofit/>
          </a:bodyPr>
          <a:lstStyle/>
          <a:p>
            <a:pPr algn="l">
              <a:lnSpc>
                <a:spcPct val="118000"/>
              </a:lnSpc>
              <a:spcBef>
                <a:spcPts val="0"/>
              </a:spcBef>
              <a:spcAft>
                <a:spcPts val="0"/>
              </a:spcAft>
            </a:pPr>
            <a:r>
              <a:rPr sz="2300" b="1" lang="ko-KR">
                <a:solidFill>
                  <a:srgbClr val="00306C"/>
                </a:solidFill>
                <a:latin typeface="Pretendard"/>
                <a:ea typeface="Pretendard"/>
                <a:cs typeface="Pretendard"/>
              </a:rPr>
              <a:t>오프라인 PCAP 처리 · 동일 통신 단위의 추적 정보 보존</a:t>
            </a:r>
          </a:p>
        </p:txBody>
      </p:sp>
      <p:sp>
        <p:nvSpPr>
          <p:cNvPr id="4" name="Rectangle 3"/>
          <p:cNvSpPr/>
          <p:nvPr/>
        </p:nvSpPr>
        <p:spPr>
          <a:xfrm>
            <a:off x="594360" y="1810512"/>
            <a:ext cx="1828800" cy="14447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594360" y="1810512"/>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1879092"/>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a:t>
            </a:r>
          </a:p>
        </p:txBody>
      </p:sp>
      <p:sp>
        <p:nvSpPr>
          <p:cNvPr id="7" name="TextBox 6"/>
          <p:cNvSpPr txBox="1"/>
          <p:nvPr/>
        </p:nvSpPr>
        <p:spPr>
          <a:xfrm>
            <a:off x="704088" y="2386584"/>
            <a:ext cx="160934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시각·패킷</a:t>
            </a:r>
          </a:p>
          <a:p>
            <a:pPr algn="ctr">
              <a:lnSpc>
                <a:spcPct val="118000"/>
              </a:lnSpc>
              <a:spcBef>
                <a:spcPts val="0"/>
              </a:spcBef>
              <a:spcAft>
                <a:spcPts val="0"/>
              </a:spcAft>
            </a:pPr>
            <a:r>
              <a:rPr sz="1700" b="0" lang="ko-KR">
                <a:solidFill>
                  <a:srgbClr val="20262E"/>
                </a:solidFill>
                <a:latin typeface="Pretendard"/>
                <a:ea typeface="Pretendard"/>
                <a:cs typeface="Pretendard"/>
              </a:rPr>
              <a:t>원본 식별자</a:t>
            </a:r>
          </a:p>
        </p:txBody>
      </p:sp>
      <p:sp>
        <p:nvSpPr>
          <p:cNvPr id="8" name="Rectangle 7"/>
          <p:cNvSpPr/>
          <p:nvPr/>
        </p:nvSpPr>
        <p:spPr>
          <a:xfrm>
            <a:off x="2880360" y="1810512"/>
            <a:ext cx="1828800" cy="14447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2880360" y="1810512"/>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971800" y="1879092"/>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Flow·라벨</a:t>
            </a:r>
          </a:p>
        </p:txBody>
      </p:sp>
      <p:sp>
        <p:nvSpPr>
          <p:cNvPr id="11" name="TextBox 10"/>
          <p:cNvSpPr txBox="1"/>
          <p:nvPr/>
        </p:nvSpPr>
        <p:spPr>
          <a:xfrm>
            <a:off x="2990088" y="2386584"/>
            <a:ext cx="160934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세션 경계</a:t>
            </a:r>
          </a:p>
          <a:p>
            <a:pPr algn="ctr">
              <a:lnSpc>
                <a:spcPct val="118000"/>
              </a:lnSpc>
              <a:spcBef>
                <a:spcPts val="0"/>
              </a:spcBef>
              <a:spcAft>
                <a:spcPts val="0"/>
              </a:spcAft>
            </a:pPr>
            <a:r>
              <a:rPr sz="1700" b="0" lang="ko-KR">
                <a:solidFill>
                  <a:srgbClr val="20262E"/>
                </a:solidFill>
                <a:latin typeface="Pretendard"/>
                <a:ea typeface="Pretendard"/>
                <a:cs typeface="Pretendard"/>
              </a:rPr>
              <a:t>라벨 근거</a:t>
            </a:r>
          </a:p>
        </p:txBody>
      </p:sp>
      <p:sp>
        <p:nvSpPr>
          <p:cNvPr id="12" name="Rectangle 11"/>
          <p:cNvSpPr/>
          <p:nvPr/>
        </p:nvSpPr>
        <p:spPr>
          <a:xfrm>
            <a:off x="5166360" y="1810512"/>
            <a:ext cx="1828800" cy="14447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166360" y="1810512"/>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257800" y="1879092"/>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분할</a:t>
            </a:r>
          </a:p>
        </p:txBody>
      </p:sp>
      <p:sp>
        <p:nvSpPr>
          <p:cNvPr id="15" name="TextBox 14"/>
          <p:cNvSpPr txBox="1"/>
          <p:nvPr/>
        </p:nvSpPr>
        <p:spPr>
          <a:xfrm>
            <a:off x="5276088" y="2386584"/>
            <a:ext cx="160934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학습·검증·시험</a:t>
            </a:r>
          </a:p>
          <a:p>
            <a:pPr algn="ctr">
              <a:lnSpc>
                <a:spcPct val="118000"/>
              </a:lnSpc>
              <a:spcBef>
                <a:spcPts val="0"/>
              </a:spcBef>
              <a:spcAft>
                <a:spcPts val="0"/>
              </a:spcAft>
            </a:pPr>
            <a:r>
              <a:rPr sz="1700" b="0" lang="ko-KR">
                <a:solidFill>
                  <a:srgbClr val="20262E"/>
                </a:solidFill>
                <a:latin typeface="Pretendard"/>
                <a:ea typeface="Pretendard"/>
                <a:cs typeface="Pretendard"/>
              </a:rPr>
              <a:t>통신 그룹 보존</a:t>
            </a:r>
          </a:p>
        </p:txBody>
      </p:sp>
      <p:sp>
        <p:nvSpPr>
          <p:cNvPr id="16" name="Rectangle 15"/>
          <p:cNvSpPr/>
          <p:nvPr/>
        </p:nvSpPr>
        <p:spPr>
          <a:xfrm>
            <a:off x="7452360" y="1810512"/>
            <a:ext cx="1828800" cy="14447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7452360" y="1810512"/>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543800" y="1879092"/>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고정 인코더</a:t>
            </a:r>
          </a:p>
        </p:txBody>
      </p:sp>
      <p:sp>
        <p:nvSpPr>
          <p:cNvPr id="19" name="TextBox 18"/>
          <p:cNvSpPr txBox="1"/>
          <p:nvPr/>
        </p:nvSpPr>
        <p:spPr>
          <a:xfrm>
            <a:off x="7562088" y="2386584"/>
            <a:ext cx="160934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netFound v2</a:t>
            </a:r>
          </a:p>
          <a:p>
            <a:pPr algn="ctr">
              <a:lnSpc>
                <a:spcPct val="118000"/>
              </a:lnSpc>
              <a:spcBef>
                <a:spcPts val="0"/>
              </a:spcBef>
              <a:spcAft>
                <a:spcPts val="0"/>
              </a:spcAft>
            </a:pPr>
            <a:r>
              <a:rPr sz="1700" b="0" lang="ko-KR">
                <a:solidFill>
                  <a:srgbClr val="20262E"/>
                </a:solidFill>
                <a:latin typeface="Pretendard"/>
                <a:ea typeface="Pretendard"/>
                <a:cs typeface="Pretendard"/>
              </a:rPr>
              <a:t>512차원</a:t>
            </a:r>
          </a:p>
        </p:txBody>
      </p:sp>
      <p:sp>
        <p:nvSpPr>
          <p:cNvPr id="20" name="Rectangle 19"/>
          <p:cNvSpPr/>
          <p:nvPr/>
        </p:nvSpPr>
        <p:spPr>
          <a:xfrm>
            <a:off x="9738360" y="1810512"/>
            <a:ext cx="1828800" cy="14447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9738360" y="1810512"/>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829800" y="1879092"/>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PCA·벡터</a:t>
            </a:r>
          </a:p>
        </p:txBody>
      </p:sp>
      <p:sp>
        <p:nvSpPr>
          <p:cNvPr id="23" name="TextBox 22"/>
          <p:cNvSpPr txBox="1"/>
          <p:nvPr/>
        </p:nvSpPr>
        <p:spPr>
          <a:xfrm>
            <a:off x="9848088" y="2386584"/>
            <a:ext cx="160934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학습 자료로 적합</a:t>
            </a:r>
          </a:p>
          <a:p>
            <a:pPr algn="ctr">
              <a:lnSpc>
                <a:spcPct val="118000"/>
              </a:lnSpc>
              <a:spcBef>
                <a:spcPts val="0"/>
              </a:spcBef>
              <a:spcAft>
                <a:spcPts val="0"/>
              </a:spcAft>
            </a:pPr>
            <a:r>
              <a:rPr sz="1700" b="0" lang="ko-KR">
                <a:solidFill>
                  <a:srgbClr val="20262E"/>
                </a:solidFill>
                <a:latin typeface="Pretendard"/>
                <a:ea typeface="Pretendard"/>
                <a:cs typeface="Pretendard"/>
              </a:rPr>
              <a:t>64차원 출력</a:t>
            </a:r>
          </a:p>
        </p:txBody>
      </p:sp>
      <p:sp>
        <p:nvSpPr>
          <p:cNvPr id="24" name="Right Arrow 23"/>
          <p:cNvSpPr/>
          <p:nvPr/>
        </p:nvSpPr>
        <p:spPr>
          <a:xfrm>
            <a:off x="2560320" y="2386584"/>
            <a:ext cx="210312"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ight Arrow 24"/>
          <p:cNvSpPr/>
          <p:nvPr/>
        </p:nvSpPr>
        <p:spPr>
          <a:xfrm>
            <a:off x="4846320" y="2386584"/>
            <a:ext cx="210312"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ight Arrow 25"/>
          <p:cNvSpPr/>
          <p:nvPr/>
        </p:nvSpPr>
        <p:spPr>
          <a:xfrm>
            <a:off x="7132320" y="2386584"/>
            <a:ext cx="210312"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ight Arrow 26"/>
          <p:cNvSpPr/>
          <p:nvPr/>
        </p:nvSpPr>
        <p:spPr>
          <a:xfrm>
            <a:off x="9418320" y="2386584"/>
            <a:ext cx="210312"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594360" y="3776472"/>
            <a:ext cx="3447288" cy="143560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ectangle 28"/>
          <p:cNvSpPr/>
          <p:nvPr/>
        </p:nvSpPr>
        <p:spPr>
          <a:xfrm>
            <a:off x="594360" y="3776472"/>
            <a:ext cx="3447288"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40664" y="3858768"/>
            <a:ext cx="315468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라벨 근거 연결</a:t>
            </a:r>
          </a:p>
        </p:txBody>
      </p:sp>
      <p:sp>
        <p:nvSpPr>
          <p:cNvPr id="31" name="TextBox 30"/>
          <p:cNvSpPr txBox="1"/>
          <p:nvPr/>
        </p:nvSpPr>
        <p:spPr>
          <a:xfrm>
            <a:off x="758952" y="4434840"/>
            <a:ext cx="3118104"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시간·호스트·포트 + 내용</a:t>
            </a:r>
          </a:p>
          <a:p>
            <a:pPr algn="l">
              <a:lnSpc>
                <a:spcPct val="118000"/>
              </a:lnSpc>
              <a:spcBef>
                <a:spcPts val="0"/>
              </a:spcBef>
              <a:spcAft>
                <a:spcPts val="0"/>
              </a:spcAft>
            </a:pPr>
            <a:r>
              <a:rPr sz="1800" b="0" lang="ko-KR">
                <a:solidFill>
                  <a:srgbClr val="20262E"/>
                </a:solidFill>
                <a:latin typeface="Pretendard"/>
                <a:ea typeface="Pretendard"/>
                <a:cs typeface="Pretendard"/>
              </a:rPr>
              <a:t>경계 충돌·미매칭 별도 표시</a:t>
            </a:r>
          </a:p>
        </p:txBody>
      </p:sp>
      <p:sp>
        <p:nvSpPr>
          <p:cNvPr id="32" name="Rectangle 31"/>
          <p:cNvSpPr/>
          <p:nvPr/>
        </p:nvSpPr>
        <p:spPr>
          <a:xfrm>
            <a:off x="4370832" y="3776472"/>
            <a:ext cx="3447288" cy="143560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Rectangle 32"/>
          <p:cNvSpPr/>
          <p:nvPr/>
        </p:nvSpPr>
        <p:spPr>
          <a:xfrm>
            <a:off x="4370832" y="3776472"/>
            <a:ext cx="3447288"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4517136" y="3858768"/>
            <a:ext cx="315468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통신 그룹별 분리</a:t>
            </a:r>
          </a:p>
        </p:txBody>
      </p:sp>
      <p:sp>
        <p:nvSpPr>
          <p:cNvPr id="35" name="TextBox 34"/>
          <p:cNvSpPr txBox="1"/>
          <p:nvPr/>
        </p:nvSpPr>
        <p:spPr>
          <a:xfrm>
            <a:off x="4535424" y="4434840"/>
            <a:ext cx="3118104"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동일 통신의 분할 간 중복 방지</a:t>
            </a:r>
          </a:p>
          <a:p>
            <a:pPr algn="l">
              <a:lnSpc>
                <a:spcPct val="118000"/>
              </a:lnSpc>
              <a:spcBef>
                <a:spcPts val="0"/>
              </a:spcBef>
              <a:spcAft>
                <a:spcPts val="0"/>
              </a:spcAft>
            </a:pPr>
            <a:r>
              <a:rPr sz="1800" b="0" lang="ko-KR">
                <a:solidFill>
                  <a:srgbClr val="20262E"/>
                </a:solidFill>
                <a:latin typeface="Pretendard"/>
                <a:ea typeface="Pretendard"/>
                <a:cs typeface="Pretendard"/>
              </a:rPr>
              <a:t>인코더 가중치 갱신 없음</a:t>
            </a:r>
          </a:p>
        </p:txBody>
      </p:sp>
      <p:sp>
        <p:nvSpPr>
          <p:cNvPr id="36" name="Rectangle 35"/>
          <p:cNvSpPr/>
          <p:nvPr/>
        </p:nvSpPr>
        <p:spPr>
          <a:xfrm>
            <a:off x="8147304" y="3776472"/>
            <a:ext cx="3447288" cy="143560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Rectangle 36"/>
          <p:cNvSpPr/>
          <p:nvPr/>
        </p:nvSpPr>
        <p:spPr>
          <a:xfrm>
            <a:off x="8147304" y="3776472"/>
            <a:ext cx="3447288"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8293608" y="3858768"/>
            <a:ext cx="315468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학습 자료만으로 PCA</a:t>
            </a:r>
          </a:p>
        </p:txBody>
      </p:sp>
      <p:sp>
        <p:nvSpPr>
          <p:cNvPr id="39" name="TextBox 38"/>
          <p:cNvSpPr txBox="1"/>
          <p:nvPr/>
        </p:nvSpPr>
        <p:spPr>
          <a:xfrm>
            <a:off x="8311896" y="4434840"/>
            <a:ext cx="3118104" cy="571500"/>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20262E"/>
                </a:solidFill>
                <a:latin typeface="Pretendard"/>
                <a:ea typeface="Pretendard"/>
                <a:cs typeface="Pretendard"/>
              </a:rPr>
              <a:t>검증·시험은 같은 PCA로 변환</a:t>
            </a:r>
          </a:p>
          <a:p>
            <a:pPr algn="l">
              <a:lnSpc>
                <a:spcPct val="118000"/>
              </a:lnSpc>
              <a:spcBef>
                <a:spcPts val="0"/>
              </a:spcBef>
              <a:spcAft>
                <a:spcPts val="0"/>
              </a:spcAft>
            </a:pPr>
            <a:r>
              <a:rPr sz="1800" b="0" lang="ko-KR">
                <a:solidFill>
                  <a:srgbClr val="20262E"/>
                </a:solidFill>
                <a:latin typeface="Pretendard"/>
                <a:ea typeface="Pretendard"/>
                <a:cs typeface="Pretendard"/>
              </a:rPr>
              <a:t>TabPFN·XGB에 같은 행 입력</a:t>
            </a:r>
          </a:p>
        </p:txBody>
      </p:sp>
      <p:sp>
        <p:nvSpPr>
          <p:cNvPr id="40" name="TextBox 39"/>
          <p:cNvSpPr txBox="1"/>
          <p:nvPr/>
        </p:nvSpPr>
        <p:spPr>
          <a:xfrm>
            <a:off x="658368" y="5614416"/>
            <a:ext cx="10972800"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0" lang="ko-KR">
                <a:solidFill>
                  <a:srgbClr val="617080"/>
                </a:solidFill>
                <a:latin typeface="Pretendard"/>
                <a:ea typeface="Pretendard"/>
                <a:cs typeface="Pretendard"/>
              </a:rPr>
              <a:t>Principal Component Analysis (PCA) · 차원 축소 기준은 학습 분할에서만 결정</a:t>
            </a:r>
          </a:p>
        </p:txBody>
      </p:sp>
      <p:sp>
        <p:nvSpPr>
          <p:cNvPr id="41" name="TextBox 40"/>
          <p:cNvSpPr txBox="1"/>
          <p:nvPr/>
        </p:nvSpPr>
        <p:spPr>
          <a:xfrm>
            <a:off x="658368" y="6016752"/>
            <a:ext cx="10972800"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7BC6"/>
                </a:solidFill>
                <a:latin typeface="Pretendard"/>
                <a:ea typeface="Pretendard"/>
                <a:cs typeface="Pretendard"/>
              </a:rPr>
              <a:t>재전송 없이 패킷 파일에서 추출 · 주소·절대시각·라벨은 모델 입력에서 제외</a:t>
            </a:r>
          </a:p>
        </p:txBody>
      </p:sp>
      <p:sp>
        <p:nvSpPr>
          <p:cNvPr id="42" name="Rectangle 41"/>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라벨·통신 식별자와 모델 입력을 분리해 재현 가능한 벡터 구성</a:t>
            </a:r>
          </a:p>
        </p:txBody>
      </p:sp>
      <p:sp>
        <p:nvSpPr>
          <p:cNvPr id="44" name="TextBox 43"/>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재구축 설계</a:t>
            </a:r>
          </a:p>
        </p:txBody>
      </p:sp>
      <p:sp>
        <p:nvSpPr>
          <p:cNvPr id="45" name="TextBox 44"/>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사전학습 인코더 후보</a:t>
            </a:r>
          </a:p>
        </p:txBody>
      </p:sp>
      <p:sp>
        <p:nvSpPr>
          <p:cNvPr id="3" name="Rectangle 2"/>
          <p:cNvSpPr/>
          <p:nvPr/>
        </p:nvSpPr>
        <p:spPr>
          <a:xfrm>
            <a:off x="594360" y="1353312"/>
            <a:ext cx="3447288" cy="4352544"/>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353312"/>
            <a:ext cx="3447288" cy="640080"/>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58952" y="1508760"/>
            <a:ext cx="3118104" cy="406654"/>
          </a:xfrm>
          <a:prstGeom prst="rect">
            <a:avLst/>
          </a:prstGeom>
          <a:noFill/>
          <a:effectLst/>
        </p:spPr>
        <p:txBody>
          <a:bodyPr wrap="none" anchor="t" lIns="0" rIns="0" tIns="0" bIns="0">
            <a:noAutofit/>
          </a:bodyPr>
          <a:lstStyle/>
          <a:p>
            <a:pPr algn="l">
              <a:lnSpc>
                <a:spcPct val="118000"/>
              </a:lnSpc>
              <a:spcBef>
                <a:spcPts val="0"/>
              </a:spcBef>
              <a:spcAft>
                <a:spcPts val="0"/>
              </a:spcAft>
            </a:pPr>
            <a:r>
              <a:rPr sz="2500" b="1" lang="ko-KR">
                <a:solidFill>
                  <a:srgbClr val="FFFFFF"/>
                </a:solidFill>
                <a:latin typeface="Pretendard"/>
                <a:ea typeface="Pretendard"/>
                <a:cs typeface="Pretendard"/>
              </a:rPr>
              <a:t>netFound v2</a:t>
            </a:r>
          </a:p>
        </p:txBody>
      </p:sp>
      <p:sp>
        <p:nvSpPr>
          <p:cNvPr id="6" name="TextBox 5"/>
          <p:cNvSpPr txBox="1"/>
          <p:nvPr/>
        </p:nvSpPr>
        <p:spPr>
          <a:xfrm>
            <a:off x="758952" y="2221992"/>
            <a:ext cx="3118104"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1" lang="ko-KR">
                <a:solidFill>
                  <a:srgbClr val="007BC6"/>
                </a:solidFill>
                <a:latin typeface="Pretendard"/>
                <a:ea typeface="Pretendard"/>
                <a:cs typeface="Pretendard"/>
                <a:hlinkClick r:id="rId3"/>
              </a:rPr>
              <a:t>arXiv v5 · 2026</a:t>
            </a:r>
          </a:p>
        </p:txBody>
      </p:sp>
      <p:sp>
        <p:nvSpPr>
          <p:cNvPr id="7" name="TextBox 6"/>
          <p:cNvSpPr txBox="1"/>
          <p:nvPr/>
        </p:nvSpPr>
        <p:spPr>
          <a:xfrm>
            <a:off x="758952" y="2843784"/>
            <a:ext cx="3118104" cy="93116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헤더 필드·시간·방향</a:t>
            </a:r>
          </a:p>
          <a:p>
            <a:pPr algn="l">
              <a:lnSpc>
                <a:spcPct val="118000"/>
              </a:lnSpc>
              <a:spcBef>
                <a:spcPts val="0"/>
              </a:spcBef>
              <a:spcAft>
                <a:spcPts val="0"/>
              </a:spcAft>
            </a:pPr>
            <a:r>
              <a:rPr sz="2000" b="0" lang="ko-KR">
                <a:solidFill>
                  <a:srgbClr val="20262E"/>
                </a:solidFill>
                <a:latin typeface="Pretendard"/>
                <a:ea typeface="Pretendard"/>
                <a:cs typeface="Pretendard"/>
              </a:rPr>
              <a:t>Burst와 flow의 계층 표현</a:t>
            </a:r>
          </a:p>
          <a:p>
            <a:pPr algn="l">
              <a:lnSpc>
                <a:spcPct val="118000"/>
              </a:lnSpc>
              <a:spcBef>
                <a:spcPts val="0"/>
              </a:spcBef>
              <a:spcAft>
                <a:spcPts val="0"/>
              </a:spcAft>
            </a:pPr>
            <a:r>
              <a:rPr sz="2000" b="0" lang="ko-KR">
                <a:solidFill>
                  <a:srgbClr val="20262E"/>
                </a:solidFill>
                <a:latin typeface="Pretendard"/>
                <a:ea typeface="Pretendard"/>
                <a:cs typeface="Pretendard"/>
              </a:rPr>
              <a:t>공개 가중치는 payload 미사용</a:t>
            </a:r>
          </a:p>
        </p:txBody>
      </p:sp>
      <p:sp>
        <p:nvSpPr>
          <p:cNvPr id="8" name="TextBox 7"/>
          <p:cNvSpPr txBox="1"/>
          <p:nvPr/>
        </p:nvSpPr>
        <p:spPr>
          <a:xfrm>
            <a:off x="758952" y="5120640"/>
            <a:ext cx="3118104"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1" lang="ko-KR">
                <a:solidFill>
                  <a:srgbClr val="00306C"/>
                </a:solidFill>
                <a:latin typeface="Pretendard"/>
                <a:ea typeface="Pretendard"/>
                <a:cs typeface="Pretendard"/>
              </a:rPr>
              <a:t>구현·실제 PCAP 검증 완료</a:t>
            </a:r>
          </a:p>
        </p:txBody>
      </p:sp>
      <p:sp>
        <p:nvSpPr>
          <p:cNvPr id="9" name="Rectangle 8"/>
          <p:cNvSpPr/>
          <p:nvPr/>
        </p:nvSpPr>
        <p:spPr>
          <a:xfrm>
            <a:off x="4370832" y="1353312"/>
            <a:ext cx="3447288" cy="4352544"/>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4370832" y="1353312"/>
            <a:ext cx="3447288" cy="640080"/>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535424" y="1508760"/>
            <a:ext cx="3118104" cy="406654"/>
          </a:xfrm>
          <a:prstGeom prst="rect">
            <a:avLst/>
          </a:prstGeom>
          <a:noFill/>
          <a:effectLst/>
        </p:spPr>
        <p:txBody>
          <a:bodyPr wrap="none" anchor="t" lIns="0" rIns="0" tIns="0" bIns="0">
            <a:noAutofit/>
          </a:bodyPr>
          <a:lstStyle/>
          <a:p>
            <a:pPr algn="l">
              <a:lnSpc>
                <a:spcPct val="118000"/>
              </a:lnSpc>
              <a:spcBef>
                <a:spcPts val="0"/>
              </a:spcBef>
              <a:spcAft>
                <a:spcPts val="0"/>
              </a:spcAft>
            </a:pPr>
            <a:r>
              <a:rPr sz="2500" b="1" lang="ko-KR">
                <a:solidFill>
                  <a:srgbClr val="FFFFFF"/>
                </a:solidFill>
                <a:latin typeface="Pretendard"/>
                <a:ea typeface="Pretendard"/>
                <a:cs typeface="Pretendard"/>
              </a:rPr>
              <a:t>ET-BERT</a:t>
            </a:r>
          </a:p>
        </p:txBody>
      </p:sp>
      <p:sp>
        <p:nvSpPr>
          <p:cNvPr id="12" name="TextBox 11"/>
          <p:cNvSpPr txBox="1"/>
          <p:nvPr/>
        </p:nvSpPr>
        <p:spPr>
          <a:xfrm>
            <a:off x="4535424" y="2221992"/>
            <a:ext cx="3118104"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1" lang="ko-KR">
                <a:solidFill>
                  <a:srgbClr val="007BC6"/>
                </a:solidFill>
                <a:latin typeface="Pretendard"/>
                <a:ea typeface="Pretendard"/>
                <a:cs typeface="Pretendard"/>
                <a:hlinkClick r:id="rId4"/>
              </a:rPr>
              <a:t>WWW · 2022</a:t>
            </a:r>
          </a:p>
        </p:txBody>
      </p:sp>
      <p:sp>
        <p:nvSpPr>
          <p:cNvPr id="13" name="TextBox 12"/>
          <p:cNvSpPr txBox="1"/>
          <p:nvPr/>
        </p:nvSpPr>
        <p:spPr>
          <a:xfrm>
            <a:off x="4535424" y="2843784"/>
            <a:ext cx="3118104" cy="93116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Datagram의 바이트 표현</a:t>
            </a:r>
          </a:p>
          <a:p>
            <a:pPr algn="l">
              <a:lnSpc>
                <a:spcPct val="118000"/>
              </a:lnSpc>
              <a:spcBef>
                <a:spcPts val="0"/>
              </a:spcBef>
              <a:spcAft>
                <a:spcPts val="0"/>
              </a:spcAft>
            </a:pPr>
            <a:r>
              <a:rPr sz="2000" b="0" lang="ko-KR">
                <a:solidFill>
                  <a:srgbClr val="20262E"/>
                </a:solidFill>
                <a:latin typeface="Pretendard"/>
                <a:ea typeface="Pretendard"/>
                <a:cs typeface="Pretendard"/>
              </a:rPr>
              <a:t>Transformer 기반 사전학습</a:t>
            </a:r>
          </a:p>
          <a:p>
            <a:pPr algn="l">
              <a:lnSpc>
                <a:spcPct val="118000"/>
              </a:lnSpc>
              <a:spcBef>
                <a:spcPts val="0"/>
              </a:spcBef>
              <a:spcAft>
                <a:spcPts val="0"/>
              </a:spcAft>
            </a:pPr>
            <a:r>
              <a:rPr sz="2000" b="0" lang="ko-KR">
                <a:solidFill>
                  <a:srgbClr val="20262E"/>
                </a:solidFill>
                <a:latin typeface="Pretendard"/>
                <a:ea typeface="Pretendard"/>
                <a:cs typeface="Pretendard"/>
              </a:rPr>
              <a:t>패킷 내용 정보의 활용 후보</a:t>
            </a:r>
          </a:p>
        </p:txBody>
      </p:sp>
      <p:sp>
        <p:nvSpPr>
          <p:cNvPr id="14" name="TextBox 13"/>
          <p:cNvSpPr txBox="1"/>
          <p:nvPr/>
        </p:nvSpPr>
        <p:spPr>
          <a:xfrm>
            <a:off x="4535424" y="5120640"/>
            <a:ext cx="3118104"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1" lang="ko-KR">
                <a:solidFill>
                  <a:srgbClr val="00306C"/>
                </a:solidFill>
                <a:latin typeface="Pretendard"/>
                <a:ea typeface="Pretendard"/>
                <a:cs typeface="Pretendard"/>
              </a:rPr>
              <a:t>다음 인코더 비교 후보</a:t>
            </a:r>
          </a:p>
        </p:txBody>
      </p:sp>
      <p:sp>
        <p:nvSpPr>
          <p:cNvPr id="15" name="Rectangle 14"/>
          <p:cNvSpPr/>
          <p:nvPr/>
        </p:nvSpPr>
        <p:spPr>
          <a:xfrm>
            <a:off x="8147304" y="1353312"/>
            <a:ext cx="3447288" cy="4352544"/>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8147304" y="1353312"/>
            <a:ext cx="3447288" cy="640080"/>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311896" y="1508760"/>
            <a:ext cx="3118104" cy="406654"/>
          </a:xfrm>
          <a:prstGeom prst="rect">
            <a:avLst/>
          </a:prstGeom>
          <a:noFill/>
          <a:effectLst/>
        </p:spPr>
        <p:txBody>
          <a:bodyPr wrap="none" anchor="t" lIns="0" rIns="0" tIns="0" bIns="0">
            <a:noAutofit/>
          </a:bodyPr>
          <a:lstStyle/>
          <a:p>
            <a:pPr algn="l">
              <a:lnSpc>
                <a:spcPct val="118000"/>
              </a:lnSpc>
              <a:spcBef>
                <a:spcPts val="0"/>
              </a:spcBef>
              <a:spcAft>
                <a:spcPts val="0"/>
              </a:spcAft>
            </a:pPr>
            <a:r>
              <a:rPr sz="2500" b="1" lang="ko-KR">
                <a:solidFill>
                  <a:srgbClr val="FFFFFF"/>
                </a:solidFill>
                <a:latin typeface="Pretendard"/>
                <a:ea typeface="Pretendard"/>
                <a:cs typeface="Pretendard"/>
              </a:rPr>
              <a:t>NetMamba</a:t>
            </a:r>
          </a:p>
        </p:txBody>
      </p:sp>
      <p:sp>
        <p:nvSpPr>
          <p:cNvPr id="18" name="TextBox 17"/>
          <p:cNvSpPr txBox="1"/>
          <p:nvPr/>
        </p:nvSpPr>
        <p:spPr>
          <a:xfrm>
            <a:off x="8311896" y="2221992"/>
            <a:ext cx="3118104"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1" lang="ko-KR">
                <a:solidFill>
                  <a:srgbClr val="007BC6"/>
                </a:solidFill>
                <a:latin typeface="Pretendard"/>
                <a:ea typeface="Pretendard"/>
                <a:cs typeface="Pretendard"/>
                <a:hlinkClick r:id="rId5"/>
              </a:rPr>
              <a:t>ICNP · 2024</a:t>
            </a:r>
          </a:p>
        </p:txBody>
      </p:sp>
      <p:sp>
        <p:nvSpPr>
          <p:cNvPr id="19" name="TextBox 18"/>
          <p:cNvSpPr txBox="1"/>
          <p:nvPr/>
        </p:nvSpPr>
        <p:spPr>
          <a:xfrm>
            <a:off x="8311896" y="2843784"/>
            <a:ext cx="3118104" cy="93116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헤더·payload 바이트 시퀀스</a:t>
            </a:r>
          </a:p>
          <a:p>
            <a:pPr algn="l">
              <a:lnSpc>
                <a:spcPct val="118000"/>
              </a:lnSpc>
              <a:spcBef>
                <a:spcPts val="0"/>
              </a:spcBef>
              <a:spcAft>
                <a:spcPts val="0"/>
              </a:spcAft>
            </a:pPr>
            <a:r>
              <a:rPr sz="2000" b="0" lang="ko-KR">
                <a:solidFill>
                  <a:srgbClr val="20262E"/>
                </a:solidFill>
                <a:latin typeface="Pretendard"/>
                <a:ea typeface="Pretendard"/>
                <a:cs typeface="Pretendard"/>
              </a:rPr>
              <a:t>Mamba 기반 순차 처리</a:t>
            </a:r>
          </a:p>
          <a:p>
            <a:pPr algn="l">
              <a:lnSpc>
                <a:spcPct val="118000"/>
              </a:lnSpc>
              <a:spcBef>
                <a:spcPts val="0"/>
              </a:spcBef>
              <a:spcAft>
                <a:spcPts val="0"/>
              </a:spcAft>
            </a:pPr>
            <a:r>
              <a:rPr sz="2000" b="0" lang="ko-KR">
                <a:solidFill>
                  <a:srgbClr val="20262E"/>
                </a:solidFill>
                <a:latin typeface="Pretendard"/>
                <a:ea typeface="Pretendard"/>
                <a:cs typeface="Pretendard"/>
              </a:rPr>
              <a:t>속도·표현 효과의 비교 후보</a:t>
            </a:r>
          </a:p>
        </p:txBody>
      </p:sp>
      <p:sp>
        <p:nvSpPr>
          <p:cNvPr id="20" name="TextBox 19"/>
          <p:cNvSpPr txBox="1"/>
          <p:nvPr/>
        </p:nvSpPr>
        <p:spPr>
          <a:xfrm>
            <a:off x="8311896" y="5120640"/>
            <a:ext cx="3118104"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1" lang="ko-KR">
                <a:solidFill>
                  <a:srgbClr val="00306C"/>
                </a:solidFill>
                <a:latin typeface="Pretendard"/>
                <a:ea typeface="Pretendard"/>
                <a:cs typeface="Pretendard"/>
              </a:rPr>
              <a:t>다음 인코더 비교 후보</a:t>
            </a:r>
          </a:p>
        </p:txBody>
      </p:sp>
      <p:sp>
        <p:nvSpPr>
          <p:cNvPr id="21" name="TextBox 20"/>
          <p:cNvSpPr txBox="1"/>
          <p:nvPr/>
        </p:nvSpPr>
        <p:spPr>
          <a:xfrm>
            <a:off x="658368" y="6016752"/>
            <a:ext cx="10881360"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1" lang="ko-KR">
                <a:solidFill>
                  <a:srgbClr val="00306C"/>
                </a:solidFill>
                <a:latin typeface="Pretendard"/>
                <a:ea typeface="Pretendard"/>
                <a:cs typeface="Pretendard"/>
              </a:rPr>
              <a:t>내용 정보가 필요한 공격의 구분에는 payload 포함 인코더와의 후속 대조 필요</a:t>
            </a:r>
          </a:p>
        </p:txBody>
      </p:sp>
      <p:sp>
        <p:nvSpPr>
          <p:cNvPr id="22" name="Rectangle 21"/>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netFound로 공통 파이프라인 검증 후 인코더의 관측 정보와 비용 비교</a:t>
            </a:r>
          </a:p>
        </p:txBody>
      </p:sp>
      <p:sp>
        <p:nvSpPr>
          <p:cNvPr id="24" name="TextBox 23"/>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재구축 설계</a:t>
            </a:r>
          </a:p>
        </p:txBody>
      </p:sp>
      <p:sp>
        <p:nvSpPr>
          <p:cNvPr id="25" name="TextBox 24"/>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PCAP·라벨을 함께 제공하는 데이터</a:t>
            </a:r>
          </a:p>
        </p:txBody>
      </p:sp>
      <p:sp>
        <p:nvSpPr>
          <p:cNvPr id="3" name="TextBox 2"/>
          <p:cNvSpPr txBox="1"/>
          <p:nvPr/>
        </p:nvSpPr>
        <p:spPr>
          <a:xfrm>
            <a:off x="594360" y="1033271"/>
            <a:ext cx="1097280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0" lang="ko-KR">
                <a:solidFill>
                  <a:srgbClr val="617080"/>
                </a:solidFill>
                <a:latin typeface="Pretendard"/>
                <a:ea typeface="Pretendard"/>
                <a:cs typeface="Pretendard"/>
              </a:rPr>
              <a:t>PCAP 제공 여부와 재구축한 flow에 연결할 라벨 근거를 함께 검토</a:t>
            </a:r>
          </a:p>
        </p:txBody>
      </p:sp>
      <p:sp>
        <p:nvSpPr>
          <p:cNvPr id="4" name="Rectangle 3"/>
          <p:cNvSpPr/>
          <p:nvPr/>
        </p:nvSpPr>
        <p:spPr>
          <a:xfrm>
            <a:off x="594360" y="1664208"/>
            <a:ext cx="2560320" cy="566928"/>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819656"/>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FFFFFF"/>
                </a:solidFill>
                <a:latin typeface="Pretendard"/>
                <a:ea typeface="Pretendard"/>
                <a:cs typeface="Pretendard"/>
              </a:rPr>
              <a:t>데이터</a:t>
            </a:r>
          </a:p>
        </p:txBody>
      </p:sp>
      <p:sp>
        <p:nvSpPr>
          <p:cNvPr id="6" name="Rectangle 5"/>
          <p:cNvSpPr/>
          <p:nvPr/>
        </p:nvSpPr>
        <p:spPr>
          <a:xfrm>
            <a:off x="3154680" y="1664208"/>
            <a:ext cx="3831336" cy="566928"/>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3264408" y="1819656"/>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FFFFFF"/>
                </a:solidFill>
                <a:latin typeface="Pretendard"/>
                <a:ea typeface="Pretendard"/>
                <a:cs typeface="Pretendard"/>
              </a:rPr>
              <a:t>공개 원시 자료</a:t>
            </a:r>
          </a:p>
        </p:txBody>
      </p:sp>
      <p:sp>
        <p:nvSpPr>
          <p:cNvPr id="8" name="Rectangle 7"/>
          <p:cNvSpPr/>
          <p:nvPr/>
        </p:nvSpPr>
        <p:spPr>
          <a:xfrm>
            <a:off x="6986016" y="1664208"/>
            <a:ext cx="4608576" cy="566928"/>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095744" y="1819656"/>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FFFFFF"/>
                </a:solidFill>
                <a:latin typeface="Pretendard"/>
                <a:ea typeface="Pretendard"/>
                <a:cs typeface="Pretendard"/>
              </a:rPr>
              <a:t>선정·전처리 기준</a:t>
            </a:r>
          </a:p>
        </p:txBody>
      </p:sp>
      <p:sp>
        <p:nvSpPr>
          <p:cNvPr id="10" name="Rectangle 9"/>
          <p:cNvSpPr/>
          <p:nvPr/>
        </p:nvSpPr>
        <p:spPr>
          <a:xfrm>
            <a:off x="594360" y="2231136"/>
            <a:ext cx="256032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04088" y="2386584"/>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3"/>
              </a:rPr>
              <a:t>CIC2017 · 우선</a:t>
            </a:r>
          </a:p>
        </p:txBody>
      </p:sp>
      <p:sp>
        <p:nvSpPr>
          <p:cNvPr id="12" name="Rectangle 11"/>
          <p:cNvSpPr/>
          <p:nvPr/>
        </p:nvSpPr>
        <p:spPr>
          <a:xfrm>
            <a:off x="3154680" y="2231136"/>
            <a:ext cx="383133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264408" y="2386584"/>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PCAP + flow CSV + 공격 일정</a:t>
            </a:r>
          </a:p>
        </p:txBody>
      </p:sp>
      <p:sp>
        <p:nvSpPr>
          <p:cNvPr id="14" name="Rectangle 13"/>
          <p:cNvSpPr/>
          <p:nvPr/>
        </p:nvSpPr>
        <p:spPr>
          <a:xfrm>
            <a:off x="6986016" y="2231136"/>
            <a:ext cx="460857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095744" y="2386584"/>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교정 라벨 규칙과 패킷 경계 대조</a:t>
            </a:r>
          </a:p>
        </p:txBody>
      </p:sp>
      <p:sp>
        <p:nvSpPr>
          <p:cNvPr id="16" name="Rectangle 15"/>
          <p:cNvSpPr/>
          <p:nvPr/>
        </p:nvSpPr>
        <p:spPr>
          <a:xfrm>
            <a:off x="594360" y="2798064"/>
            <a:ext cx="2560320"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04088" y="2953512"/>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4"/>
              </a:rPr>
              <a:t>CIC2018 · 우선</a:t>
            </a:r>
          </a:p>
        </p:txBody>
      </p:sp>
      <p:sp>
        <p:nvSpPr>
          <p:cNvPr id="18" name="Rectangle 17"/>
          <p:cNvSpPr/>
          <p:nvPr/>
        </p:nvSpPr>
        <p:spPr>
          <a:xfrm>
            <a:off x="3154680" y="2798064"/>
            <a:ext cx="383133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264408" y="2953512"/>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호스트별 PCAP + 로그 + CSV</a:t>
            </a:r>
          </a:p>
        </p:txBody>
      </p:sp>
      <p:sp>
        <p:nvSpPr>
          <p:cNvPr id="20" name="Rectangle 19"/>
          <p:cNvSpPr/>
          <p:nvPr/>
        </p:nvSpPr>
        <p:spPr>
          <a:xfrm>
            <a:off x="6986016" y="2798064"/>
            <a:ext cx="460857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095744" y="2953512"/>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동일 통신의 중복 캡처·시간 확인</a:t>
            </a:r>
          </a:p>
        </p:txBody>
      </p:sp>
      <p:sp>
        <p:nvSpPr>
          <p:cNvPr id="22" name="Rectangle 21"/>
          <p:cNvSpPr/>
          <p:nvPr/>
        </p:nvSpPr>
        <p:spPr>
          <a:xfrm>
            <a:off x="594360" y="3364991"/>
            <a:ext cx="256032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04088" y="3520439"/>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5"/>
              </a:rPr>
              <a:t>IoT-23 · 다음 후보</a:t>
            </a:r>
          </a:p>
        </p:txBody>
      </p:sp>
      <p:sp>
        <p:nvSpPr>
          <p:cNvPr id="24" name="Rectangle 23"/>
          <p:cNvSpPr/>
          <p:nvPr/>
        </p:nvSpPr>
        <p:spPr>
          <a:xfrm>
            <a:off x="3154680" y="3364991"/>
            <a:ext cx="383133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264408" y="3520439"/>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PCAP + 라벨된 Zeek conn.log</a:t>
            </a:r>
          </a:p>
        </p:txBody>
      </p:sp>
      <p:sp>
        <p:nvSpPr>
          <p:cNvPr id="26" name="Rectangle 25"/>
          <p:cNvSpPr/>
          <p:nvPr/>
        </p:nvSpPr>
        <p:spPr>
          <a:xfrm>
            <a:off x="6986016" y="3364991"/>
            <a:ext cx="460857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095744" y="3520439"/>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개별 시나리오부터 PCAP·라벨 연결</a:t>
            </a:r>
          </a:p>
        </p:txBody>
      </p:sp>
      <p:sp>
        <p:nvSpPr>
          <p:cNvPr id="28" name="Rectangle 27"/>
          <p:cNvSpPr/>
          <p:nvPr/>
        </p:nvSpPr>
        <p:spPr>
          <a:xfrm>
            <a:off x="594360" y="3931920"/>
            <a:ext cx="2560320"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04088" y="4087368"/>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6"/>
              </a:rPr>
              <a:t>UNSW-NB15</a:t>
            </a:r>
          </a:p>
        </p:txBody>
      </p:sp>
      <p:sp>
        <p:nvSpPr>
          <p:cNvPr id="30" name="Rectangle 29"/>
          <p:cNvSpPr/>
          <p:nvPr/>
        </p:nvSpPr>
        <p:spPr>
          <a:xfrm>
            <a:off x="3154680" y="3931920"/>
            <a:ext cx="383133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3264408" y="4087368"/>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PCAP + GT·공격 이벤트 표</a:t>
            </a:r>
          </a:p>
        </p:txBody>
      </p:sp>
      <p:sp>
        <p:nvSpPr>
          <p:cNvPr id="32" name="Rectangle 31"/>
          <p:cNvSpPr/>
          <p:nvPr/>
        </p:nvSpPr>
        <p:spPr>
          <a:xfrm>
            <a:off x="6986016" y="3931920"/>
            <a:ext cx="460857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095744" y="4087368"/>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시간·5-tuple로 ground truth 연결</a:t>
            </a:r>
          </a:p>
        </p:txBody>
      </p:sp>
      <p:sp>
        <p:nvSpPr>
          <p:cNvPr id="34" name="Rectangle 33"/>
          <p:cNvSpPr/>
          <p:nvPr/>
        </p:nvSpPr>
        <p:spPr>
          <a:xfrm>
            <a:off x="594360" y="4498848"/>
            <a:ext cx="256032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04088" y="4654296"/>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7"/>
              </a:rPr>
              <a:t>TON_IoT</a:t>
            </a:r>
          </a:p>
        </p:txBody>
      </p:sp>
      <p:sp>
        <p:nvSpPr>
          <p:cNvPr id="36" name="Rectangle 35"/>
          <p:cNvSpPr/>
          <p:nvPr/>
        </p:nvSpPr>
        <p:spPr>
          <a:xfrm>
            <a:off x="3154680" y="4498848"/>
            <a:ext cx="383133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3264408" y="4654296"/>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네트워크 PCAP + Zeek·CSV</a:t>
            </a:r>
          </a:p>
        </p:txBody>
      </p:sp>
      <p:sp>
        <p:nvSpPr>
          <p:cNvPr id="38" name="Rectangle 37"/>
          <p:cNvSpPr/>
          <p:nvPr/>
        </p:nvSpPr>
        <p:spPr>
          <a:xfrm>
            <a:off x="6986016" y="4498848"/>
            <a:ext cx="4608576"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095744" y="4654296"/>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운영체제·센서 자료와 네트워크 구별</a:t>
            </a:r>
          </a:p>
        </p:txBody>
      </p:sp>
      <p:sp>
        <p:nvSpPr>
          <p:cNvPr id="40" name="Rectangle 39"/>
          <p:cNvSpPr/>
          <p:nvPr/>
        </p:nvSpPr>
        <p:spPr>
          <a:xfrm>
            <a:off x="594360" y="5065776"/>
            <a:ext cx="2560320"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04088" y="5221224"/>
            <a:ext cx="2340863"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hlinkClick r:id="rId8"/>
              </a:rPr>
              <a:t>CICIoT2023</a:t>
            </a:r>
          </a:p>
        </p:txBody>
      </p:sp>
      <p:sp>
        <p:nvSpPr>
          <p:cNvPr id="42" name="Rectangle 41"/>
          <p:cNvSpPr/>
          <p:nvPr/>
        </p:nvSpPr>
        <p:spPr>
          <a:xfrm>
            <a:off x="3154680" y="5065776"/>
            <a:ext cx="383133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3264408" y="5221224"/>
            <a:ext cx="361188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공격별 PCAP + CSV·처리 코드</a:t>
            </a:r>
          </a:p>
        </p:txBody>
      </p:sp>
      <p:sp>
        <p:nvSpPr>
          <p:cNvPr id="44" name="Rectangle 43"/>
          <p:cNvSpPr/>
          <p:nvPr/>
        </p:nvSpPr>
        <p:spPr>
          <a:xfrm>
            <a:off x="6986016" y="5065776"/>
            <a:ext cx="4608576" cy="566928"/>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7095744" y="5221224"/>
            <a:ext cx="438912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캡처명과 flow 라벨의 대응 검증</a:t>
            </a:r>
          </a:p>
        </p:txBody>
      </p:sp>
      <p:sp>
        <p:nvSpPr>
          <p:cNvPr id="46" name="TextBox 45"/>
          <p:cNvSpPr txBox="1"/>
          <p:nvPr/>
        </p:nvSpPr>
        <p:spPr>
          <a:xfrm>
            <a:off x="658368" y="5897880"/>
            <a:ext cx="10881360"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rPr>
              <a:t>CTU-13은 전체 정상·배경 PCAP 미공개 · 정상 포함 분류의 우선 비교에서는 후순위</a:t>
            </a:r>
          </a:p>
        </p:txBody>
      </p:sp>
      <p:sp>
        <p:nvSpPr>
          <p:cNvPr id="47" name="Rectangle 46"/>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CIC2017·2018 우선 · 작은 시나리오 단위로 확장 가능한 IoT-23 후속 검토</a:t>
            </a:r>
          </a:p>
        </p:txBody>
      </p:sp>
      <p:sp>
        <p:nvSpPr>
          <p:cNvPr id="49" name="TextBox 48"/>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재구축 설계</a:t>
            </a:r>
          </a:p>
        </p:txBody>
      </p:sp>
      <p:sp>
        <p:nvSpPr>
          <p:cNvPr id="50" name="TextBox 49"/>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효과를 분리하는 비교 실험</a:t>
            </a:r>
          </a:p>
        </p:txBody>
      </p:sp>
      <p:sp>
        <p:nvSpPr>
          <p:cNvPr id="3" name="TextBox 2"/>
          <p:cNvSpPr txBox="1"/>
          <p:nvPr/>
        </p:nvSpPr>
        <p:spPr>
          <a:xfrm>
            <a:off x="594360" y="1051560"/>
            <a:ext cx="1097280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동일 flow·동일 분할·동일 라벨 예산으로 표현과 라벨 효과 분리</a:t>
            </a:r>
          </a:p>
        </p:txBody>
      </p:sp>
      <p:sp>
        <p:nvSpPr>
          <p:cNvPr id="4" name="TextBox 3"/>
          <p:cNvSpPr txBox="1"/>
          <p:nvPr/>
        </p:nvSpPr>
        <p:spPr>
          <a:xfrm>
            <a:off x="2697480" y="1755648"/>
            <a:ext cx="3867912" cy="376682"/>
          </a:xfrm>
          <a:prstGeom prst="rect">
            <a:avLst/>
          </a:prstGeom>
          <a:noFill/>
          <a:effectLst/>
        </p:spPr>
        <p:txBody>
          <a:bodyPr wrap="none" anchor="t" lIns="0" rIns="0" tIns="0" bIns="0">
            <a:noAutofit/>
          </a:bodyPr>
          <a:lstStyle/>
          <a:p>
            <a:pPr algn="ctr">
              <a:lnSpc>
                <a:spcPct val="118000"/>
              </a:lnSpc>
              <a:spcBef>
                <a:spcPts val="0"/>
              </a:spcBef>
              <a:spcAft>
                <a:spcPts val="0"/>
              </a:spcAft>
            </a:pPr>
            <a:r>
              <a:rPr sz="2300" b="1" lang="ko-KR">
                <a:solidFill>
                  <a:srgbClr val="00306C"/>
                </a:solidFill>
                <a:latin typeface="Pretendard"/>
                <a:ea typeface="Pretendard"/>
                <a:cs typeface="Pretendard"/>
              </a:rPr>
              <a:t>통계 특징</a:t>
            </a:r>
          </a:p>
        </p:txBody>
      </p:sp>
      <p:sp>
        <p:nvSpPr>
          <p:cNvPr id="5" name="TextBox 4"/>
          <p:cNvSpPr txBox="1"/>
          <p:nvPr/>
        </p:nvSpPr>
        <p:spPr>
          <a:xfrm>
            <a:off x="7031736" y="1755648"/>
            <a:ext cx="3867912" cy="376682"/>
          </a:xfrm>
          <a:prstGeom prst="rect">
            <a:avLst/>
          </a:prstGeom>
          <a:noFill/>
          <a:effectLst/>
        </p:spPr>
        <p:txBody>
          <a:bodyPr wrap="none" anchor="t" lIns="0" rIns="0" tIns="0" bIns="0">
            <a:noAutofit/>
          </a:bodyPr>
          <a:lstStyle/>
          <a:p>
            <a:pPr algn="ctr">
              <a:lnSpc>
                <a:spcPct val="118000"/>
              </a:lnSpc>
              <a:spcBef>
                <a:spcPts val="0"/>
              </a:spcBef>
              <a:spcAft>
                <a:spcPts val="0"/>
              </a:spcAft>
            </a:pPr>
            <a:r>
              <a:rPr sz="2300" b="1" lang="ko-KR">
                <a:solidFill>
                  <a:srgbClr val="00306C"/>
                </a:solidFill>
                <a:latin typeface="Pretendard"/>
                <a:ea typeface="Pretendard"/>
                <a:cs typeface="Pretendard"/>
              </a:rPr>
              <a:t>사전학습 임베딩</a:t>
            </a:r>
          </a:p>
        </p:txBody>
      </p:sp>
      <p:sp>
        <p:nvSpPr>
          <p:cNvPr id="6" name="TextBox 5"/>
          <p:cNvSpPr txBox="1"/>
          <p:nvPr/>
        </p:nvSpPr>
        <p:spPr>
          <a:xfrm>
            <a:off x="658368" y="2578608"/>
            <a:ext cx="182880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기존 라벨</a:t>
            </a:r>
          </a:p>
        </p:txBody>
      </p:sp>
      <p:sp>
        <p:nvSpPr>
          <p:cNvPr id="7" name="TextBox 6"/>
          <p:cNvSpPr txBox="1"/>
          <p:nvPr/>
        </p:nvSpPr>
        <p:spPr>
          <a:xfrm>
            <a:off x="658368" y="3776472"/>
            <a:ext cx="182880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교정 라벨</a:t>
            </a:r>
          </a:p>
        </p:txBody>
      </p:sp>
      <p:sp>
        <p:nvSpPr>
          <p:cNvPr id="8" name="Rectangle 7"/>
          <p:cNvSpPr/>
          <p:nvPr/>
        </p:nvSpPr>
        <p:spPr>
          <a:xfrm>
            <a:off x="2651760" y="2276856"/>
            <a:ext cx="3904487" cy="94183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2651760" y="2276856"/>
            <a:ext cx="3904487"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743200" y="2345436"/>
            <a:ext cx="3721607"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A · 기준</a:t>
            </a:r>
          </a:p>
        </p:txBody>
      </p:sp>
      <p:sp>
        <p:nvSpPr>
          <p:cNvPr id="11" name="TextBox 10"/>
          <p:cNvSpPr txBox="1"/>
          <p:nvPr/>
        </p:nvSpPr>
        <p:spPr>
          <a:xfrm>
            <a:off x="2761488" y="2852928"/>
            <a:ext cx="3685031"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0" lang="ko-KR">
                <a:solidFill>
                  <a:srgbClr val="20262E"/>
                </a:solidFill>
                <a:latin typeface="Pretendard"/>
                <a:ea typeface="Pretendard"/>
                <a:cs typeface="Pretendard"/>
              </a:rPr>
              <a:t>기존 표현 + 기존 라벨</a:t>
            </a:r>
          </a:p>
        </p:txBody>
      </p:sp>
      <p:sp>
        <p:nvSpPr>
          <p:cNvPr id="12" name="Rectangle 11"/>
          <p:cNvSpPr/>
          <p:nvPr/>
        </p:nvSpPr>
        <p:spPr>
          <a:xfrm>
            <a:off x="6967728" y="2276856"/>
            <a:ext cx="3904487" cy="94183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6967728" y="2276856"/>
            <a:ext cx="3904487"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059168" y="2345436"/>
            <a:ext cx="3721607"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B · 표현 효과</a:t>
            </a:r>
          </a:p>
        </p:txBody>
      </p:sp>
      <p:sp>
        <p:nvSpPr>
          <p:cNvPr id="15" name="TextBox 14"/>
          <p:cNvSpPr txBox="1"/>
          <p:nvPr/>
        </p:nvSpPr>
        <p:spPr>
          <a:xfrm>
            <a:off x="7077456" y="2852928"/>
            <a:ext cx="3685031"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0" lang="ko-KR">
                <a:solidFill>
                  <a:srgbClr val="20262E"/>
                </a:solidFill>
                <a:latin typeface="Pretendard"/>
                <a:ea typeface="Pretendard"/>
                <a:cs typeface="Pretendard"/>
              </a:rPr>
              <a:t>새 표현 + 기존 라벨</a:t>
            </a:r>
          </a:p>
        </p:txBody>
      </p:sp>
      <p:sp>
        <p:nvSpPr>
          <p:cNvPr id="16" name="Rectangle 15"/>
          <p:cNvSpPr/>
          <p:nvPr/>
        </p:nvSpPr>
        <p:spPr>
          <a:xfrm>
            <a:off x="2651760" y="3575304"/>
            <a:ext cx="3904487" cy="94183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2651760" y="3575304"/>
            <a:ext cx="3904487"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2743200" y="3643884"/>
            <a:ext cx="3721607"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 · 라벨 효과</a:t>
            </a:r>
          </a:p>
        </p:txBody>
      </p:sp>
      <p:sp>
        <p:nvSpPr>
          <p:cNvPr id="19" name="TextBox 18"/>
          <p:cNvSpPr txBox="1"/>
          <p:nvPr/>
        </p:nvSpPr>
        <p:spPr>
          <a:xfrm>
            <a:off x="2761488" y="4151376"/>
            <a:ext cx="3685031"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0" lang="ko-KR">
                <a:solidFill>
                  <a:srgbClr val="20262E"/>
                </a:solidFill>
                <a:latin typeface="Pretendard"/>
                <a:ea typeface="Pretendard"/>
                <a:cs typeface="Pretendard"/>
              </a:rPr>
              <a:t>기존 표현 + 교정 라벨</a:t>
            </a:r>
          </a:p>
        </p:txBody>
      </p:sp>
      <p:sp>
        <p:nvSpPr>
          <p:cNvPr id="20" name="Rectangle 19"/>
          <p:cNvSpPr/>
          <p:nvPr/>
        </p:nvSpPr>
        <p:spPr>
          <a:xfrm>
            <a:off x="6967728" y="3575304"/>
            <a:ext cx="3904487" cy="94183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6967728" y="3575304"/>
            <a:ext cx="3904487"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059168" y="3643884"/>
            <a:ext cx="3721607"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D · 결합 효과</a:t>
            </a:r>
          </a:p>
        </p:txBody>
      </p:sp>
      <p:sp>
        <p:nvSpPr>
          <p:cNvPr id="23" name="TextBox 22"/>
          <p:cNvSpPr txBox="1"/>
          <p:nvPr/>
        </p:nvSpPr>
        <p:spPr>
          <a:xfrm>
            <a:off x="7077456" y="4151376"/>
            <a:ext cx="3685031"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0" lang="ko-KR">
                <a:solidFill>
                  <a:srgbClr val="20262E"/>
                </a:solidFill>
                <a:latin typeface="Pretendard"/>
                <a:ea typeface="Pretendard"/>
                <a:cs typeface="Pretendard"/>
              </a:rPr>
              <a:t>새 표현 + 교정 라벨</a:t>
            </a:r>
          </a:p>
        </p:txBody>
      </p:sp>
      <p:sp>
        <p:nvSpPr>
          <p:cNvPr id="24" name="TextBox 23"/>
          <p:cNvSpPr txBox="1"/>
          <p:nvPr/>
        </p:nvSpPr>
        <p:spPr>
          <a:xfrm>
            <a:off x="658368" y="4974336"/>
            <a:ext cx="1097280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정상 포함을 주 평가로 설정 · 공격만 평가하는 결과를 보조로 병기</a:t>
            </a:r>
          </a:p>
        </p:txBody>
      </p:sp>
      <p:sp>
        <p:nvSpPr>
          <p:cNvPr id="25" name="TextBox 24"/>
          <p:cNvSpPr txBox="1"/>
          <p:nvPr/>
        </p:nvSpPr>
        <p:spPr>
          <a:xfrm>
            <a:off x="658368" y="5495544"/>
            <a:ext cx="10972800" cy="33172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0" lang="ko-KR">
                <a:solidFill>
                  <a:srgbClr val="20262E"/>
                </a:solidFill>
                <a:latin typeface="Pretendard"/>
                <a:ea typeface="Pretendard"/>
                <a:cs typeface="Pretendard"/>
              </a:rPr>
              <a:t>n = 2·3·5·10·20 · 동일 seed와 test · 클래스별·macro F1 · 정상 오탐률</a:t>
            </a:r>
          </a:p>
        </p:txBody>
      </p:sp>
      <p:sp>
        <p:nvSpPr>
          <p:cNvPr id="26" name="TextBox 25"/>
          <p:cNvSpPr txBox="1"/>
          <p:nvPr/>
        </p:nvSpPr>
        <p:spPr>
          <a:xfrm>
            <a:off x="658368" y="5925312"/>
            <a:ext cx="10972800"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0" lang="ko-KR">
                <a:solidFill>
                  <a:srgbClr val="617080"/>
                </a:solidFill>
                <a:latin typeface="Pretendard"/>
                <a:ea typeface="Pretendard"/>
                <a:cs typeface="Pretendard"/>
              </a:rPr>
              <a:t>희귀 공격·날짜/호스트 간 일반화 · 라벨 미매칭률 · 충돌률 · 추출·추론 비용</a:t>
            </a:r>
          </a:p>
        </p:txBody>
      </p:sp>
      <p:sp>
        <p:nvSpPr>
          <p:cNvPr id="27" name="Rectangle 26"/>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목표는 더 어려운 데이터 제작이 아니라 소수 라벨 공격 분류의 개선 검증</a:t>
            </a:r>
          </a:p>
        </p:txBody>
      </p:sp>
      <p:sp>
        <p:nvSpPr>
          <p:cNvPr id="29" name="TextBox 28"/>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03 검증 계획</a:t>
            </a:r>
          </a:p>
        </p:txBody>
      </p:sp>
      <p:sp>
        <p:nvSpPr>
          <p:cNvPr id="30" name="TextBox 29"/>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구현 결과와 다음 검증</a:t>
            </a:r>
          </a:p>
        </p:txBody>
      </p:sp>
      <p:sp>
        <p:nvSpPr>
          <p:cNvPr id="3" name="Rectangle 2"/>
          <p:cNvSpPr/>
          <p:nvPr/>
        </p:nvSpPr>
        <p:spPr>
          <a:xfrm>
            <a:off x="594360" y="1234440"/>
            <a:ext cx="5266944" cy="2871216"/>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234440"/>
            <a:ext cx="5266944"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40664" y="1316736"/>
            <a:ext cx="4974336"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CIC2018 실제 PCAP 파일럿</a:t>
            </a:r>
          </a:p>
        </p:txBody>
      </p:sp>
      <p:sp>
        <p:nvSpPr>
          <p:cNvPr id="6" name="TextBox 5"/>
          <p:cNvSpPr txBox="1"/>
          <p:nvPr/>
        </p:nvSpPr>
        <p:spPr>
          <a:xfrm>
            <a:off x="758952" y="1892808"/>
            <a:ext cx="4937759" cy="1350771"/>
          </a:xfrm>
          <a:prstGeom prst="rect">
            <a:avLst/>
          </a:prstGeom>
          <a:noFill/>
          <a:effectLst/>
        </p:spPr>
        <p:txBody>
          <a:bodyPr wrap="none" anchor="t" lIns="0" rIns="0" tIns="0" bIns="0">
            <a:noAutofit/>
          </a:bodyPr>
          <a:lstStyle/>
          <a:p>
            <a:pPr algn="l">
              <a:lnSpc>
                <a:spcPct val="118000"/>
              </a:lnSpc>
              <a:spcBef>
                <a:spcPts val="0"/>
              </a:spcBef>
              <a:spcAft>
                <a:spcPts val="0"/>
              </a:spcAft>
            </a:pPr>
            <a:r>
              <a:rPr sz="2200" b="0" lang="ko-KR">
                <a:solidFill>
                  <a:srgbClr val="20262E"/>
                </a:solidFill>
                <a:latin typeface="Pretendard"/>
                <a:ea typeface="Pretendard"/>
                <a:cs typeface="Pretendard"/>
              </a:rPr>
              <a:t>2018-02-14 · 공격 대상 호스트 1대</a:t>
            </a:r>
          </a:p>
          <a:p>
            <a:pPr algn="l">
              <a:lnSpc>
                <a:spcPct val="118000"/>
              </a:lnSpc>
              <a:spcBef>
                <a:spcPts val="0"/>
              </a:spcBef>
              <a:spcAft>
                <a:spcPts val="0"/>
              </a:spcAft>
            </a:pPr>
            <a:r>
              <a:rPr sz="2200" b="0" lang="ko-KR">
                <a:solidFill>
                  <a:srgbClr val="20262E"/>
                </a:solidFill>
                <a:latin typeface="Pretendard"/>
                <a:ea typeface="Pretendard"/>
                <a:cs typeface="Pretendard"/>
              </a:rPr>
              <a:t>패킷 4,718,327개 → flow 289,531개</a:t>
            </a:r>
          </a:p>
          <a:p>
            <a:pPr algn="l">
              <a:lnSpc>
                <a:spcPct val="118000"/>
              </a:lnSpc>
              <a:spcBef>
                <a:spcPts val="0"/>
              </a:spcBef>
              <a:spcAft>
                <a:spcPts val="0"/>
              </a:spcAft>
            </a:pPr>
            <a:r>
              <a:rPr sz="2200" b="0" lang="ko-KR">
                <a:solidFill>
                  <a:srgbClr val="20262E"/>
                </a:solidFill>
                <a:latin typeface="Pretendard"/>
                <a:ea typeface="Pretendard"/>
                <a:cs typeface="Pretendard"/>
              </a:rPr>
              <a:t>주석·분할별 표본 1,182개 인코딩</a:t>
            </a:r>
          </a:p>
          <a:p>
            <a:pPr algn="l">
              <a:lnSpc>
                <a:spcPct val="118000"/>
              </a:lnSpc>
              <a:spcBef>
                <a:spcPts val="0"/>
              </a:spcBef>
              <a:spcAft>
                <a:spcPts val="0"/>
              </a:spcAft>
            </a:pPr>
            <a:r>
              <a:rPr sz="2200" b="0" lang="ko-KR">
                <a:solidFill>
                  <a:srgbClr val="20262E"/>
                </a:solidFill>
                <a:latin typeface="Pretendard"/>
                <a:ea typeface="Pretendard"/>
                <a:cs typeface="Pretendard"/>
              </a:rPr>
              <a:t>512차원 → PCA 64차원</a:t>
            </a:r>
          </a:p>
        </p:txBody>
      </p:sp>
      <p:sp>
        <p:nvSpPr>
          <p:cNvPr id="7" name="Rectangle 6"/>
          <p:cNvSpPr/>
          <p:nvPr/>
        </p:nvSpPr>
        <p:spPr>
          <a:xfrm>
            <a:off x="6245352" y="1234440"/>
            <a:ext cx="5266944" cy="2871216"/>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245352" y="1234440"/>
            <a:ext cx="5266944"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391656" y="1316736"/>
            <a:ext cx="4974336"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검증한 항목</a:t>
            </a:r>
          </a:p>
        </p:txBody>
      </p:sp>
      <p:sp>
        <p:nvSpPr>
          <p:cNvPr id="10" name="TextBox 9"/>
          <p:cNvSpPr txBox="1"/>
          <p:nvPr/>
        </p:nvSpPr>
        <p:spPr>
          <a:xfrm>
            <a:off x="6409944" y="1892808"/>
            <a:ext cx="4937759" cy="1290827"/>
          </a:xfrm>
          <a:prstGeom prst="rect">
            <a:avLst/>
          </a:prstGeom>
          <a:noFill/>
          <a:effectLst/>
        </p:spPr>
        <p:txBody>
          <a:bodyPr wrap="none" anchor="t" lIns="0" rIns="0" tIns="0" bIns="0">
            <a:noAutofit/>
          </a:bodyPr>
          <a:lstStyle/>
          <a:p>
            <a:pPr algn="l">
              <a:lnSpc>
                <a:spcPct val="118000"/>
              </a:lnSpc>
              <a:spcBef>
                <a:spcPts val="0"/>
              </a:spcBef>
              <a:spcAft>
                <a:spcPts val="0"/>
              </a:spcAft>
            </a:pPr>
            <a:r>
              <a:rPr sz="2100" b="0" lang="ko-KR">
                <a:solidFill>
                  <a:srgbClr val="20262E"/>
                </a:solidFill>
                <a:latin typeface="Pretendard"/>
                <a:ea typeface="Pretendard"/>
                <a:cs typeface="Pretendard"/>
              </a:rPr>
              <a:t>학습·검증·시험 flow 그룹 중복 0</a:t>
            </a:r>
          </a:p>
          <a:p>
            <a:pPr algn="l">
              <a:lnSpc>
                <a:spcPct val="118000"/>
              </a:lnSpc>
              <a:spcBef>
                <a:spcPts val="0"/>
              </a:spcBef>
              <a:spcAft>
                <a:spcPts val="0"/>
              </a:spcAft>
            </a:pPr>
            <a:r>
              <a:rPr sz="2100" b="0" lang="ko-KR">
                <a:solidFill>
                  <a:srgbClr val="20262E"/>
                </a:solidFill>
                <a:latin typeface="Pretendard"/>
                <a:ea typeface="Pretendard"/>
                <a:cs typeface="Pretendard"/>
              </a:rPr>
              <a:t>PCA 적합: 학습 405행만 사용</a:t>
            </a:r>
          </a:p>
          <a:p>
            <a:pPr algn="l">
              <a:lnSpc>
                <a:spcPct val="118000"/>
              </a:lnSpc>
              <a:spcBef>
                <a:spcPts val="0"/>
              </a:spcBef>
              <a:spcAft>
                <a:spcPts val="0"/>
              </a:spcAft>
            </a:pPr>
            <a:r>
              <a:rPr sz="2100" b="0" lang="ko-KR">
                <a:solidFill>
                  <a:srgbClr val="20262E"/>
                </a:solidFill>
                <a:latin typeface="Pretendard"/>
                <a:ea typeface="Pretendard"/>
                <a:cs typeface="Pretendard"/>
              </a:rPr>
              <a:t>가중치 갱신 없이 공개 checkpoint 적용</a:t>
            </a:r>
          </a:p>
          <a:p>
            <a:pPr algn="l">
              <a:lnSpc>
                <a:spcPct val="118000"/>
              </a:lnSpc>
              <a:spcBef>
                <a:spcPts val="0"/>
              </a:spcBef>
              <a:spcAft>
                <a:spcPts val="0"/>
              </a:spcAft>
            </a:pPr>
            <a:r>
              <a:rPr sz="2100" b="0" lang="ko-KR">
                <a:solidFill>
                  <a:srgbClr val="20262E"/>
                </a:solidFill>
                <a:latin typeface="Pretendard"/>
                <a:ea typeface="Pretendard"/>
                <a:cs typeface="Pretendard"/>
              </a:rPr>
              <a:t>배치 길이 변경에도 같은 임베딩 확인</a:t>
            </a:r>
          </a:p>
        </p:txBody>
      </p:sp>
      <p:sp>
        <p:nvSpPr>
          <p:cNvPr id="11" name="TextBox 10"/>
          <p:cNvSpPr txBox="1"/>
          <p:nvPr/>
        </p:nvSpPr>
        <p:spPr>
          <a:xfrm>
            <a:off x="658368" y="4517136"/>
            <a:ext cx="1088136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라벨 처리: Attempted 세부 유형은 메타데이터 · 이번 파일럿은 정상으로 매핑</a:t>
            </a:r>
          </a:p>
        </p:txBody>
      </p:sp>
      <p:sp>
        <p:nvSpPr>
          <p:cNvPr id="12" name="TextBox 11"/>
          <p:cNvSpPr txBox="1"/>
          <p:nvPr/>
        </p:nvSpPr>
        <p:spPr>
          <a:xfrm>
            <a:off x="658368" y="5029200"/>
            <a:ext cx="1088136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0" lang="ko-KR">
                <a:solidFill>
                  <a:srgbClr val="20262E"/>
                </a:solidFill>
                <a:latin typeface="Pretendard"/>
                <a:ea typeface="Pretendard"/>
                <a:cs typeface="Pretendard"/>
              </a:rPr>
              <a:t>라벨 미확정 384행은 정상으로 추정하지 않고 별도 보존</a:t>
            </a:r>
          </a:p>
        </p:txBody>
      </p:sp>
      <p:sp>
        <p:nvSpPr>
          <p:cNvPr id="13" name="TextBox 12"/>
          <p:cNvSpPr txBox="1"/>
          <p:nvPr/>
        </p:nvSpPr>
        <p:spPr>
          <a:xfrm>
            <a:off x="658368" y="5522976"/>
            <a:ext cx="1088136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0" lang="ko-KR">
                <a:solidFill>
                  <a:srgbClr val="20262E"/>
                </a:solidFill>
                <a:latin typeface="Pretendard"/>
                <a:ea typeface="Pretendard"/>
                <a:cs typeface="Pretendard"/>
              </a:rPr>
              <a:t>분류 성능·정상 오탐률은 후속 평가 · CIC2017과 다른 날짜·공격으로 확장</a:t>
            </a:r>
          </a:p>
        </p:txBody>
      </p:sp>
      <p:sp>
        <p:nvSpPr>
          <p:cNvPr id="14" name="TextBox 13"/>
          <p:cNvSpPr txBox="1"/>
          <p:nvPr/>
        </p:nvSpPr>
        <p:spPr>
          <a:xfrm>
            <a:off x="658368" y="5989320"/>
            <a:ext cx="10881360"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0" lang="ko-KR">
                <a:solidFill>
                  <a:srgbClr val="617080"/>
                </a:solidFill>
                <a:latin typeface="Pretendard"/>
                <a:ea typeface="Pretendard"/>
                <a:cs typeface="Pretendard"/>
              </a:rPr>
              <a:t>초기 주석별 점검: 같은 임베딩의 서로 다른 Attempted 유형 확인 → 학습 라벨과 분리</a:t>
            </a:r>
          </a:p>
        </p:txBody>
      </p:sp>
      <p:sp>
        <p:nvSpPr>
          <p:cNvPr id="15" name="Rectangle 14"/>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PCAP부터 학습용 벡터까지 실행 완료 · 분류 이점은 다음 비교 실험의 대상</a:t>
            </a:r>
          </a:p>
        </p:txBody>
      </p:sp>
      <p:sp>
        <p:nvSpPr>
          <p:cNvPr id="17" name="TextBox 16"/>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03 검증 계획</a:t>
            </a:r>
          </a:p>
        </p:txBody>
      </p:sp>
      <p:sp>
        <p:nvSpPr>
          <p:cNvPr id="18" name="TextBox 17"/>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보충 문헌과 근거의 적용 범위</a:t>
            </a:r>
          </a:p>
        </p:txBody>
      </p:sp>
      <p:sp>
        <p:nvSpPr>
          <p:cNvPr id="3" name="Rectangle 2"/>
          <p:cNvSpPr/>
          <p:nvPr/>
        </p:nvSpPr>
        <p:spPr>
          <a:xfrm>
            <a:off x="594360" y="1234440"/>
            <a:ext cx="10972800" cy="192024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234440"/>
            <a:ext cx="10972800"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40664" y="1316736"/>
            <a:ext cx="10680192"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동일 특징·상이 라벨의 직접 관측 · Xie 외, Computers &amp; Security 2022</a:t>
            </a:r>
          </a:p>
        </p:txBody>
      </p:sp>
      <p:sp>
        <p:nvSpPr>
          <p:cNvPr id="6" name="TextBox 5"/>
          <p:cNvSpPr txBox="1"/>
          <p:nvPr/>
        </p:nvSpPr>
        <p:spPr>
          <a:xfrm>
            <a:off x="758952" y="1892808"/>
            <a:ext cx="10643616" cy="661416"/>
          </a:xfrm>
          <a:prstGeom prst="rect">
            <a:avLst/>
          </a:prstGeom>
          <a:noFill/>
          <a:effectLst/>
        </p:spPr>
        <p:txBody>
          <a:bodyPr wrap="none" anchor="t" lIns="0" rIns="0" tIns="0" bIns="0">
            <a:noAutofit/>
          </a:bodyPr>
          <a:lstStyle/>
          <a:p>
            <a:pPr algn="l">
              <a:lnSpc>
                <a:spcPct val="118000"/>
              </a:lnSpc>
              <a:spcBef>
                <a:spcPts val="0"/>
              </a:spcBef>
              <a:spcAft>
                <a:spcPts val="0"/>
              </a:spcAft>
            </a:pPr>
            <a:r>
              <a:rPr sz="2100" b="0" lang="ko-KR">
                <a:solidFill>
                  <a:srgbClr val="20262E"/>
                </a:solidFill>
                <a:latin typeface="Pretendard"/>
                <a:ea typeface="Pretendard"/>
                <a:cs typeface="Pretendard"/>
              </a:rPr>
              <a:t>UNSW-NB15·CCCS-CIC-AndMal-2020에서 특징 중첩을 분석</a:t>
            </a:r>
          </a:p>
          <a:p>
            <a:pPr algn="l">
              <a:lnSpc>
                <a:spcPct val="118000"/>
              </a:lnSpc>
              <a:spcBef>
                <a:spcPts val="0"/>
              </a:spcBef>
              <a:spcAft>
                <a:spcPts val="0"/>
              </a:spcAft>
            </a:pPr>
            <a:r>
              <a:rPr sz="2100" b="0" lang="ko-KR">
                <a:solidFill>
                  <a:srgbClr val="20262E"/>
                </a:solidFill>
                <a:latin typeface="Pretendard"/>
                <a:ea typeface="Pretendard"/>
                <a:cs typeface="Pretendard"/>
              </a:rPr>
              <a:t>동일 관측에 여러 의미가 연결되는 현상의 근거 · CIC 원인의 직접 증거와 구별</a:t>
            </a:r>
          </a:p>
        </p:txBody>
      </p:sp>
      <p:sp>
        <p:nvSpPr>
          <p:cNvPr id="7" name="TextBox 6"/>
          <p:cNvSpPr txBox="1"/>
          <p:nvPr/>
        </p:nvSpPr>
        <p:spPr>
          <a:xfrm>
            <a:off x="768096" y="2862072"/>
            <a:ext cx="1051560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617080"/>
                </a:solidFill>
                <a:latin typeface="Pretendard"/>
                <a:ea typeface="Pretendard"/>
                <a:cs typeface="Pretendard"/>
                <a:hlinkClick r:id="rId3"/>
              </a:rPr>
              <a:t>Analysis and Detection against Network Attacks in the Overlapping Phenomenon of Behavior Attribute</a:t>
            </a:r>
          </a:p>
        </p:txBody>
      </p:sp>
      <p:sp>
        <p:nvSpPr>
          <p:cNvPr id="8" name="Rectangle 7"/>
          <p:cNvSpPr/>
          <p:nvPr/>
        </p:nvSpPr>
        <p:spPr>
          <a:xfrm>
            <a:off x="594360" y="3611880"/>
            <a:ext cx="10972800" cy="1920240"/>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594360" y="3611880"/>
            <a:ext cx="10972800" cy="438912"/>
          </a:xfrm>
          <a:prstGeom prst="rect">
            <a:avLst/>
          </a:prstGeom>
          <a:solidFill>
            <a:srgbClr val="E1EC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40664" y="3694176"/>
            <a:ext cx="10680192"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동일 데이터의 높은 점수와 일반화의 차이 · Cantone 외, IEEE Access 2024</a:t>
            </a:r>
          </a:p>
        </p:txBody>
      </p:sp>
      <p:sp>
        <p:nvSpPr>
          <p:cNvPr id="11" name="TextBox 10"/>
          <p:cNvSpPr txBox="1"/>
          <p:nvPr/>
        </p:nvSpPr>
        <p:spPr>
          <a:xfrm>
            <a:off x="758952" y="4270248"/>
            <a:ext cx="10643616" cy="661416"/>
          </a:xfrm>
          <a:prstGeom prst="rect">
            <a:avLst/>
          </a:prstGeom>
          <a:noFill/>
          <a:effectLst/>
        </p:spPr>
        <p:txBody>
          <a:bodyPr wrap="none" anchor="t" lIns="0" rIns="0" tIns="0" bIns="0">
            <a:noAutofit/>
          </a:bodyPr>
          <a:lstStyle/>
          <a:p>
            <a:pPr algn="l">
              <a:lnSpc>
                <a:spcPct val="118000"/>
              </a:lnSpc>
              <a:spcBef>
                <a:spcPts val="0"/>
              </a:spcBef>
              <a:spcAft>
                <a:spcPts val="0"/>
              </a:spcAft>
            </a:pPr>
            <a:r>
              <a:rPr sz="2100" b="0" lang="ko-KR">
                <a:solidFill>
                  <a:srgbClr val="20262E"/>
                </a:solidFill>
                <a:latin typeface="Pretendard"/>
                <a:ea typeface="Pretendard"/>
                <a:cs typeface="Pretendard"/>
              </a:rPr>
              <a:t>CIC2017·2018과 교정 자료에서 데이터 간 전이 성능을 비교</a:t>
            </a:r>
          </a:p>
          <a:p>
            <a:pPr algn="l">
              <a:lnSpc>
                <a:spcPct val="118000"/>
              </a:lnSpc>
              <a:spcBef>
                <a:spcPts val="0"/>
              </a:spcBef>
              <a:spcAft>
                <a:spcPts val="0"/>
              </a:spcAft>
            </a:pPr>
            <a:r>
              <a:rPr sz="2100" b="0" lang="ko-KR">
                <a:solidFill>
                  <a:srgbClr val="20262E"/>
                </a:solidFill>
                <a:latin typeface="Pretendard"/>
                <a:ea typeface="Pretendard"/>
                <a:cs typeface="Pretendard"/>
              </a:rPr>
              <a:t>동일 데이터의 높은 점수만으로 새로운 환경의 탐지 성능을 판단하기 어려움</a:t>
            </a:r>
          </a:p>
        </p:txBody>
      </p:sp>
      <p:sp>
        <p:nvSpPr>
          <p:cNvPr id="12" name="TextBox 11"/>
          <p:cNvSpPr txBox="1"/>
          <p:nvPr/>
        </p:nvSpPr>
        <p:spPr>
          <a:xfrm>
            <a:off x="768096" y="5248656"/>
            <a:ext cx="10515600" cy="256794"/>
          </a:xfrm>
          <a:prstGeom prst="rect">
            <a:avLst/>
          </a:prstGeom>
          <a:noFill/>
          <a:effectLst/>
        </p:spPr>
        <p:txBody>
          <a:bodyPr wrap="none" anchor="t" lIns="0" rIns="0" tIns="0" bIns="0">
            <a:noAutofit/>
          </a:bodyPr>
          <a:lstStyle/>
          <a:p>
            <a:pPr algn="l">
              <a:lnSpc>
                <a:spcPct val="118000"/>
              </a:lnSpc>
              <a:spcBef>
                <a:spcPts val="0"/>
              </a:spcBef>
              <a:spcAft>
                <a:spcPts val="0"/>
              </a:spcAft>
            </a:pPr>
            <a:r>
              <a:rPr sz="1500" b="0" lang="ko-KR">
                <a:solidFill>
                  <a:srgbClr val="617080"/>
                </a:solidFill>
                <a:latin typeface="Pretendard"/>
                <a:ea typeface="Pretendard"/>
                <a:cs typeface="Pretendard"/>
                <a:hlinkClick r:id="rId4"/>
              </a:rPr>
              <a:t>Machine Learning in Network Intrusion Detection: A Cross-Dataset Generalization Study</a:t>
            </a:r>
          </a:p>
        </p:txBody>
      </p:sp>
      <p:sp>
        <p:nvSpPr>
          <p:cNvPr id="13" name="TextBox 12"/>
          <p:cNvSpPr txBox="1"/>
          <p:nvPr/>
        </p:nvSpPr>
        <p:spPr>
          <a:xfrm>
            <a:off x="658368" y="5961888"/>
            <a:ext cx="10881360"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1" lang="ko-KR">
                <a:solidFill>
                  <a:srgbClr val="00306C"/>
                </a:solidFill>
                <a:latin typeface="Pretendard"/>
                <a:ea typeface="Pretendard"/>
                <a:cs typeface="Pretendard"/>
              </a:rPr>
              <a:t>선정 문헌 5편: CIC 원인 분석 3편 + 동일 특징 현상 1편 + 일반화 검증 1편</a:t>
            </a:r>
          </a:p>
        </p:txBody>
      </p:sp>
      <p:sp>
        <p:nvSpPr>
          <p:cNvPr id="14" name="Rectangle 13"/>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원인 근거·현상 근거·일반화 근거를 구별해 연구 주장에 연결</a:t>
            </a:r>
          </a:p>
        </p:txBody>
      </p:sp>
      <p:sp>
        <p:nvSpPr>
          <p:cNvPr id="16" name="TextBox 15"/>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04 보충 근거</a:t>
            </a:r>
          </a:p>
        </p:txBody>
      </p:sp>
      <p:sp>
        <p:nvSpPr>
          <p:cNvPr id="17" name="TextBox 16"/>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보충 결과: 기존 SOTA 비교</a:t>
            </a:r>
          </a:p>
        </p:txBody>
      </p:sp>
      <p:sp>
        <p:nvSpPr>
          <p:cNvPr id="3" name="TextBox 2"/>
          <p:cNvSpPr txBox="1"/>
          <p:nvPr/>
        </p:nvSpPr>
        <p:spPr>
          <a:xfrm>
            <a:off x="594360" y="1033271"/>
            <a:ext cx="10972800" cy="301751"/>
          </a:xfrm>
          <a:prstGeom prst="rect">
            <a:avLst/>
          </a:prstGeom>
          <a:noFill/>
          <a:effectLst/>
        </p:spPr>
        <p:txBody>
          <a:bodyPr wrap="none" anchor="t" lIns="0" rIns="0" tIns="0" bIns="0">
            <a:noAutofit/>
          </a:bodyPr>
          <a:lstStyle/>
          <a:p>
            <a:pPr algn="l">
              <a:lnSpc>
                <a:spcPct val="118000"/>
              </a:lnSpc>
              <a:spcBef>
                <a:spcPts val="0"/>
              </a:spcBef>
              <a:spcAft>
                <a:spcPts val="0"/>
              </a:spcAft>
            </a:pPr>
            <a:r>
              <a:rPr sz="1800" b="0" lang="ko-KR">
                <a:solidFill>
                  <a:srgbClr val="617080"/>
                </a:solidFill>
                <a:latin typeface="Pretendard"/>
                <a:ea typeface="Pretendard"/>
                <a:cs typeface="Pretendard"/>
              </a:rPr>
              <a:t>CIC2018 · 정제 후·정상 포함 · 공통 학습 100,000행 · 전체 test 3,042,473행 · F1 (%)</a:t>
            </a:r>
          </a:p>
        </p:txBody>
      </p:sp>
      <p:sp>
        <p:nvSpPr>
          <p:cNvPr id="4" name="Rectangle 3"/>
          <p:cNvSpPr/>
          <p:nvPr/>
        </p:nvSpPr>
        <p:spPr>
          <a:xfrm>
            <a:off x="594360" y="1682496"/>
            <a:ext cx="1920240"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801368"/>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1" lang="ko-KR">
                <a:solidFill>
                  <a:srgbClr val="FFFFFF"/>
                </a:solidFill>
                <a:latin typeface="Pretendard"/>
                <a:ea typeface="Pretendard"/>
                <a:cs typeface="Pretendard"/>
              </a:rPr>
              <a:t>평가 클래스</a:t>
            </a:r>
          </a:p>
        </p:txBody>
      </p:sp>
      <p:sp>
        <p:nvSpPr>
          <p:cNvPr id="6" name="Rectangle 5"/>
          <p:cNvSpPr/>
          <p:nvPr/>
        </p:nvSpPr>
        <p:spPr>
          <a:xfrm>
            <a:off x="2514600" y="1682496"/>
            <a:ext cx="1463040"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2624328" y="1801368"/>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평가 수</a:t>
            </a:r>
          </a:p>
        </p:txBody>
      </p:sp>
      <p:sp>
        <p:nvSpPr>
          <p:cNvPr id="8" name="Rectangle 7"/>
          <p:cNvSpPr/>
          <p:nvPr/>
        </p:nvSpPr>
        <p:spPr>
          <a:xfrm>
            <a:off x="3977639" y="1682496"/>
            <a:ext cx="1911095"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087368" y="1801368"/>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TabPFN v3</a:t>
            </a:r>
          </a:p>
        </p:txBody>
      </p:sp>
      <p:sp>
        <p:nvSpPr>
          <p:cNvPr id="10" name="Rectangle 9"/>
          <p:cNvSpPr/>
          <p:nvPr/>
        </p:nvSpPr>
        <p:spPr>
          <a:xfrm>
            <a:off x="5888736" y="1682496"/>
            <a:ext cx="1901952"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998464" y="180136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BoostPFN</a:t>
            </a:r>
          </a:p>
        </p:txBody>
      </p:sp>
      <p:sp>
        <p:nvSpPr>
          <p:cNvPr id="12" name="Rectangle 11"/>
          <p:cNvSpPr/>
          <p:nvPr/>
        </p:nvSpPr>
        <p:spPr>
          <a:xfrm>
            <a:off x="7790688" y="1682496"/>
            <a:ext cx="1901952"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900415" y="180136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LoCalPFN</a:t>
            </a:r>
          </a:p>
        </p:txBody>
      </p:sp>
      <p:sp>
        <p:nvSpPr>
          <p:cNvPr id="14" name="Rectangle 13"/>
          <p:cNvSpPr/>
          <p:nvPr/>
        </p:nvSpPr>
        <p:spPr>
          <a:xfrm>
            <a:off x="9692640" y="1682496"/>
            <a:ext cx="1901952" cy="484632"/>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02367" y="180136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1" lang="ko-KR">
                <a:solidFill>
                  <a:srgbClr val="FFFFFF"/>
                </a:solidFill>
                <a:latin typeface="Pretendard"/>
                <a:ea typeface="Pretendard"/>
                <a:cs typeface="Pretendard"/>
              </a:rPr>
              <a:t>DistPFN v3</a:t>
            </a:r>
          </a:p>
        </p:txBody>
      </p:sp>
      <p:sp>
        <p:nvSpPr>
          <p:cNvPr id="16" name="Rectangle 15"/>
          <p:cNvSpPr/>
          <p:nvPr/>
        </p:nvSpPr>
        <p:spPr>
          <a:xfrm>
            <a:off x="594360" y="2167128"/>
            <a:ext cx="1920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04088" y="2286000"/>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Benign</a:t>
            </a:r>
          </a:p>
        </p:txBody>
      </p:sp>
      <p:sp>
        <p:nvSpPr>
          <p:cNvPr id="18" name="Rectangle 17"/>
          <p:cNvSpPr/>
          <p:nvPr/>
        </p:nvSpPr>
        <p:spPr>
          <a:xfrm>
            <a:off x="2514600" y="2167128"/>
            <a:ext cx="14630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2624328" y="2286000"/>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2,652,203</a:t>
            </a:r>
          </a:p>
        </p:txBody>
      </p:sp>
      <p:sp>
        <p:nvSpPr>
          <p:cNvPr id="20" name="Rectangle 19"/>
          <p:cNvSpPr/>
          <p:nvPr/>
        </p:nvSpPr>
        <p:spPr>
          <a:xfrm>
            <a:off x="3977639" y="2167128"/>
            <a:ext cx="1911095"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087368" y="2286000"/>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99.65</a:t>
            </a:r>
          </a:p>
        </p:txBody>
      </p:sp>
      <p:sp>
        <p:nvSpPr>
          <p:cNvPr id="22" name="Rectangle 21"/>
          <p:cNvSpPr/>
          <p:nvPr/>
        </p:nvSpPr>
        <p:spPr>
          <a:xfrm>
            <a:off x="5888736" y="2167128"/>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998464" y="228600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99.37</a:t>
            </a:r>
          </a:p>
        </p:txBody>
      </p:sp>
      <p:sp>
        <p:nvSpPr>
          <p:cNvPr id="24" name="Rectangle 23"/>
          <p:cNvSpPr/>
          <p:nvPr/>
        </p:nvSpPr>
        <p:spPr>
          <a:xfrm>
            <a:off x="7790688" y="2167128"/>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900415" y="228600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99.21</a:t>
            </a:r>
          </a:p>
        </p:txBody>
      </p:sp>
      <p:sp>
        <p:nvSpPr>
          <p:cNvPr id="26" name="Rectangle 25"/>
          <p:cNvSpPr/>
          <p:nvPr/>
        </p:nvSpPr>
        <p:spPr>
          <a:xfrm>
            <a:off x="9692640" y="2167128"/>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802367" y="228600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99.68</a:t>
            </a:r>
          </a:p>
        </p:txBody>
      </p:sp>
      <p:sp>
        <p:nvSpPr>
          <p:cNvPr id="28" name="Rectangle 27"/>
          <p:cNvSpPr/>
          <p:nvPr/>
        </p:nvSpPr>
        <p:spPr>
          <a:xfrm>
            <a:off x="594360" y="2651760"/>
            <a:ext cx="19202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04088" y="2770632"/>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DDoS</a:t>
            </a:r>
          </a:p>
        </p:txBody>
      </p:sp>
      <p:sp>
        <p:nvSpPr>
          <p:cNvPr id="30" name="Rectangle 29"/>
          <p:cNvSpPr/>
          <p:nvPr/>
        </p:nvSpPr>
        <p:spPr>
          <a:xfrm>
            <a:off x="2514600" y="2651760"/>
            <a:ext cx="14630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2624328" y="2770632"/>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262,680</a:t>
            </a:r>
          </a:p>
        </p:txBody>
      </p:sp>
      <p:sp>
        <p:nvSpPr>
          <p:cNvPr id="32" name="Rectangle 31"/>
          <p:cNvSpPr/>
          <p:nvPr/>
        </p:nvSpPr>
        <p:spPr>
          <a:xfrm>
            <a:off x="3977639" y="2651760"/>
            <a:ext cx="1911095"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4087368" y="2770632"/>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99.22</a:t>
            </a:r>
          </a:p>
        </p:txBody>
      </p:sp>
      <p:sp>
        <p:nvSpPr>
          <p:cNvPr id="34" name="Rectangle 33"/>
          <p:cNvSpPr/>
          <p:nvPr/>
        </p:nvSpPr>
        <p:spPr>
          <a:xfrm>
            <a:off x="5888736" y="2651760"/>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998464" y="277063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99.06</a:t>
            </a:r>
          </a:p>
        </p:txBody>
      </p:sp>
      <p:sp>
        <p:nvSpPr>
          <p:cNvPr id="36" name="Rectangle 35"/>
          <p:cNvSpPr/>
          <p:nvPr/>
        </p:nvSpPr>
        <p:spPr>
          <a:xfrm>
            <a:off x="7790688" y="2651760"/>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900415" y="277063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94.33</a:t>
            </a:r>
          </a:p>
        </p:txBody>
      </p:sp>
      <p:sp>
        <p:nvSpPr>
          <p:cNvPr id="38" name="Rectangle 37"/>
          <p:cNvSpPr/>
          <p:nvPr/>
        </p:nvSpPr>
        <p:spPr>
          <a:xfrm>
            <a:off x="9692640" y="2651760"/>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9802367" y="277063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99.31</a:t>
            </a:r>
          </a:p>
        </p:txBody>
      </p:sp>
      <p:sp>
        <p:nvSpPr>
          <p:cNvPr id="40" name="Rectangle 39"/>
          <p:cNvSpPr/>
          <p:nvPr/>
        </p:nvSpPr>
        <p:spPr>
          <a:xfrm>
            <a:off x="594360" y="3136392"/>
            <a:ext cx="1920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04088" y="3255264"/>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Bot</a:t>
            </a:r>
          </a:p>
        </p:txBody>
      </p:sp>
      <p:sp>
        <p:nvSpPr>
          <p:cNvPr id="42" name="Rectangle 41"/>
          <p:cNvSpPr/>
          <p:nvPr/>
        </p:nvSpPr>
        <p:spPr>
          <a:xfrm>
            <a:off x="2514600" y="3136392"/>
            <a:ext cx="14630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2624328" y="3255264"/>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41,542</a:t>
            </a:r>
          </a:p>
        </p:txBody>
      </p:sp>
      <p:sp>
        <p:nvSpPr>
          <p:cNvPr id="44" name="Rectangle 43"/>
          <p:cNvSpPr/>
          <p:nvPr/>
        </p:nvSpPr>
        <p:spPr>
          <a:xfrm>
            <a:off x="3977639" y="3136392"/>
            <a:ext cx="1911095"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4087368" y="3255264"/>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99.85</a:t>
            </a:r>
          </a:p>
        </p:txBody>
      </p:sp>
      <p:sp>
        <p:nvSpPr>
          <p:cNvPr id="46" name="Rectangle 45"/>
          <p:cNvSpPr/>
          <p:nvPr/>
        </p:nvSpPr>
        <p:spPr>
          <a:xfrm>
            <a:off x="5888736" y="3136392"/>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5998464" y="3255264"/>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99.42</a:t>
            </a:r>
          </a:p>
        </p:txBody>
      </p:sp>
      <p:sp>
        <p:nvSpPr>
          <p:cNvPr id="48" name="Rectangle 47"/>
          <p:cNvSpPr/>
          <p:nvPr/>
        </p:nvSpPr>
        <p:spPr>
          <a:xfrm>
            <a:off x="7790688" y="3136392"/>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7900415" y="3255264"/>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99.72</a:t>
            </a:r>
          </a:p>
        </p:txBody>
      </p:sp>
      <p:sp>
        <p:nvSpPr>
          <p:cNvPr id="50" name="Rectangle 49"/>
          <p:cNvSpPr/>
          <p:nvPr/>
        </p:nvSpPr>
        <p:spPr>
          <a:xfrm>
            <a:off x="9692640" y="3136392"/>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9802367" y="3255264"/>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99.82</a:t>
            </a:r>
          </a:p>
        </p:txBody>
      </p:sp>
      <p:sp>
        <p:nvSpPr>
          <p:cNvPr id="52" name="Rectangle 51"/>
          <p:cNvSpPr/>
          <p:nvPr/>
        </p:nvSpPr>
        <p:spPr>
          <a:xfrm>
            <a:off x="594360" y="3621024"/>
            <a:ext cx="19202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704088" y="3739896"/>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DoS</a:t>
            </a:r>
          </a:p>
        </p:txBody>
      </p:sp>
      <p:sp>
        <p:nvSpPr>
          <p:cNvPr id="54" name="Rectangle 53"/>
          <p:cNvSpPr/>
          <p:nvPr/>
        </p:nvSpPr>
        <p:spPr>
          <a:xfrm>
            <a:off x="2514600" y="3621024"/>
            <a:ext cx="14630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2624328" y="3739896"/>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39,483</a:t>
            </a:r>
          </a:p>
        </p:txBody>
      </p:sp>
      <p:sp>
        <p:nvSpPr>
          <p:cNvPr id="56" name="Rectangle 55"/>
          <p:cNvSpPr/>
          <p:nvPr/>
        </p:nvSpPr>
        <p:spPr>
          <a:xfrm>
            <a:off x="3977639" y="3621024"/>
            <a:ext cx="1911095"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087368" y="3739896"/>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99.20</a:t>
            </a:r>
          </a:p>
        </p:txBody>
      </p:sp>
      <p:sp>
        <p:nvSpPr>
          <p:cNvPr id="58" name="Rectangle 57"/>
          <p:cNvSpPr/>
          <p:nvPr/>
        </p:nvSpPr>
        <p:spPr>
          <a:xfrm>
            <a:off x="5888736" y="3621024"/>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5998464" y="3739896"/>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95.98</a:t>
            </a:r>
          </a:p>
        </p:txBody>
      </p:sp>
      <p:sp>
        <p:nvSpPr>
          <p:cNvPr id="60" name="Rectangle 59"/>
          <p:cNvSpPr/>
          <p:nvPr/>
        </p:nvSpPr>
        <p:spPr>
          <a:xfrm>
            <a:off x="7790688" y="3621024"/>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7900415" y="3739896"/>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73.09</a:t>
            </a:r>
          </a:p>
        </p:txBody>
      </p:sp>
      <p:sp>
        <p:nvSpPr>
          <p:cNvPr id="62" name="Rectangle 61"/>
          <p:cNvSpPr/>
          <p:nvPr/>
        </p:nvSpPr>
        <p:spPr>
          <a:xfrm>
            <a:off x="9692640" y="3621024"/>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9802367" y="3739896"/>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99.19</a:t>
            </a:r>
          </a:p>
        </p:txBody>
      </p:sp>
      <p:sp>
        <p:nvSpPr>
          <p:cNvPr id="64" name="Rectangle 63"/>
          <p:cNvSpPr/>
          <p:nvPr/>
        </p:nvSpPr>
        <p:spPr>
          <a:xfrm>
            <a:off x="594360" y="4105656"/>
            <a:ext cx="1920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704088" y="4224528"/>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Brute force</a:t>
            </a:r>
          </a:p>
        </p:txBody>
      </p:sp>
      <p:sp>
        <p:nvSpPr>
          <p:cNvPr id="66" name="Rectangle 65"/>
          <p:cNvSpPr/>
          <p:nvPr/>
        </p:nvSpPr>
        <p:spPr>
          <a:xfrm>
            <a:off x="2514600" y="4105656"/>
            <a:ext cx="14630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2624328" y="4224528"/>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37,696</a:t>
            </a:r>
          </a:p>
        </p:txBody>
      </p:sp>
      <p:sp>
        <p:nvSpPr>
          <p:cNvPr id="68" name="Rectangle 67"/>
          <p:cNvSpPr/>
          <p:nvPr/>
        </p:nvSpPr>
        <p:spPr>
          <a:xfrm>
            <a:off x="3977639" y="4105656"/>
            <a:ext cx="1911095"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4087368" y="4224528"/>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99.97</a:t>
            </a:r>
          </a:p>
        </p:txBody>
      </p:sp>
      <p:sp>
        <p:nvSpPr>
          <p:cNvPr id="70" name="Rectangle 69"/>
          <p:cNvSpPr/>
          <p:nvPr/>
        </p:nvSpPr>
        <p:spPr>
          <a:xfrm>
            <a:off x="5888736" y="4105656"/>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TextBox 70"/>
          <p:cNvSpPr txBox="1"/>
          <p:nvPr/>
        </p:nvSpPr>
        <p:spPr>
          <a:xfrm>
            <a:off x="5998464" y="422452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99.97</a:t>
            </a:r>
          </a:p>
        </p:txBody>
      </p:sp>
      <p:sp>
        <p:nvSpPr>
          <p:cNvPr id="72" name="Rectangle 71"/>
          <p:cNvSpPr/>
          <p:nvPr/>
        </p:nvSpPr>
        <p:spPr>
          <a:xfrm>
            <a:off x="7790688" y="4105656"/>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TextBox 72"/>
          <p:cNvSpPr txBox="1"/>
          <p:nvPr/>
        </p:nvSpPr>
        <p:spPr>
          <a:xfrm>
            <a:off x="7900415" y="422452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99.99</a:t>
            </a:r>
          </a:p>
        </p:txBody>
      </p:sp>
      <p:sp>
        <p:nvSpPr>
          <p:cNvPr id="74" name="Rectangle 73"/>
          <p:cNvSpPr/>
          <p:nvPr/>
        </p:nvSpPr>
        <p:spPr>
          <a:xfrm>
            <a:off x="9692640" y="4105656"/>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9802367" y="4224528"/>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99.97</a:t>
            </a:r>
          </a:p>
        </p:txBody>
      </p:sp>
      <p:sp>
        <p:nvSpPr>
          <p:cNvPr id="76" name="Rectangle 75"/>
          <p:cNvSpPr/>
          <p:nvPr/>
        </p:nvSpPr>
        <p:spPr>
          <a:xfrm>
            <a:off x="594360" y="4590288"/>
            <a:ext cx="19202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TextBox 76"/>
          <p:cNvSpPr txBox="1"/>
          <p:nvPr/>
        </p:nvSpPr>
        <p:spPr>
          <a:xfrm>
            <a:off x="704088" y="4709160"/>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Infiltration</a:t>
            </a:r>
          </a:p>
        </p:txBody>
      </p:sp>
      <p:sp>
        <p:nvSpPr>
          <p:cNvPr id="78" name="Rectangle 77"/>
          <p:cNvSpPr/>
          <p:nvPr/>
        </p:nvSpPr>
        <p:spPr>
          <a:xfrm>
            <a:off x="2514600" y="4590288"/>
            <a:ext cx="1463040"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TextBox 78"/>
          <p:cNvSpPr txBox="1"/>
          <p:nvPr/>
        </p:nvSpPr>
        <p:spPr>
          <a:xfrm>
            <a:off x="2624328" y="4709160"/>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8,742</a:t>
            </a:r>
          </a:p>
        </p:txBody>
      </p:sp>
      <p:sp>
        <p:nvSpPr>
          <p:cNvPr id="80" name="Rectangle 79"/>
          <p:cNvSpPr/>
          <p:nvPr/>
        </p:nvSpPr>
        <p:spPr>
          <a:xfrm>
            <a:off x="3977639" y="4590288"/>
            <a:ext cx="1911095"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TextBox 80"/>
          <p:cNvSpPr txBox="1"/>
          <p:nvPr/>
        </p:nvSpPr>
        <p:spPr>
          <a:xfrm>
            <a:off x="4087368" y="4709160"/>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28.79</a:t>
            </a:r>
          </a:p>
        </p:txBody>
      </p:sp>
      <p:sp>
        <p:nvSpPr>
          <p:cNvPr id="82" name="Rectangle 81"/>
          <p:cNvSpPr/>
          <p:nvPr/>
        </p:nvSpPr>
        <p:spPr>
          <a:xfrm>
            <a:off x="5888736" y="4590288"/>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TextBox 82"/>
          <p:cNvSpPr txBox="1"/>
          <p:nvPr/>
        </p:nvSpPr>
        <p:spPr>
          <a:xfrm>
            <a:off x="5998464" y="470916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6.53</a:t>
            </a:r>
          </a:p>
        </p:txBody>
      </p:sp>
      <p:sp>
        <p:nvSpPr>
          <p:cNvPr id="84" name="Rectangle 83"/>
          <p:cNvSpPr/>
          <p:nvPr/>
        </p:nvSpPr>
        <p:spPr>
          <a:xfrm>
            <a:off x="7790688" y="4590288"/>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TextBox 84"/>
          <p:cNvSpPr txBox="1"/>
          <p:nvPr/>
        </p:nvSpPr>
        <p:spPr>
          <a:xfrm>
            <a:off x="7900415" y="470916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13.50</a:t>
            </a:r>
          </a:p>
        </p:txBody>
      </p:sp>
      <p:sp>
        <p:nvSpPr>
          <p:cNvPr id="86" name="Rectangle 85"/>
          <p:cNvSpPr/>
          <p:nvPr/>
        </p:nvSpPr>
        <p:spPr>
          <a:xfrm>
            <a:off x="9692640" y="4590288"/>
            <a:ext cx="1901952" cy="484632"/>
          </a:xfrm>
          <a:prstGeom prst="rect">
            <a:avLst/>
          </a:prstGeom>
          <a:solidFill>
            <a:srgbClr val="F1F5F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9802367" y="4709160"/>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30.55</a:t>
            </a:r>
          </a:p>
        </p:txBody>
      </p:sp>
      <p:sp>
        <p:nvSpPr>
          <p:cNvPr id="88" name="Rectangle 87"/>
          <p:cNvSpPr/>
          <p:nvPr/>
        </p:nvSpPr>
        <p:spPr>
          <a:xfrm>
            <a:off x="594360" y="5074920"/>
            <a:ext cx="19202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TextBox 88"/>
          <p:cNvSpPr txBox="1"/>
          <p:nvPr/>
        </p:nvSpPr>
        <p:spPr>
          <a:xfrm>
            <a:off x="704088" y="5193792"/>
            <a:ext cx="1700784"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20262E"/>
                </a:solidFill>
                <a:latin typeface="Pretendard"/>
                <a:ea typeface="Pretendard"/>
                <a:cs typeface="Pretendard"/>
              </a:rPr>
              <a:t>Web attack</a:t>
            </a:r>
          </a:p>
        </p:txBody>
      </p:sp>
      <p:sp>
        <p:nvSpPr>
          <p:cNvPr id="90" name="Rectangle 89"/>
          <p:cNvSpPr/>
          <p:nvPr/>
        </p:nvSpPr>
        <p:spPr>
          <a:xfrm>
            <a:off x="2514600" y="5074920"/>
            <a:ext cx="1463040"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2624328" y="5193792"/>
            <a:ext cx="1243584"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127</a:t>
            </a:r>
          </a:p>
        </p:txBody>
      </p:sp>
      <p:sp>
        <p:nvSpPr>
          <p:cNvPr id="92" name="Rectangle 91"/>
          <p:cNvSpPr/>
          <p:nvPr/>
        </p:nvSpPr>
        <p:spPr>
          <a:xfrm>
            <a:off x="3977639" y="5074920"/>
            <a:ext cx="1911095"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4087368" y="5193792"/>
            <a:ext cx="1691639"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21.02</a:t>
            </a:r>
          </a:p>
        </p:txBody>
      </p:sp>
      <p:sp>
        <p:nvSpPr>
          <p:cNvPr id="94" name="Rectangle 93"/>
          <p:cNvSpPr/>
          <p:nvPr/>
        </p:nvSpPr>
        <p:spPr>
          <a:xfrm>
            <a:off x="5888736" y="5074920"/>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TextBox 94"/>
          <p:cNvSpPr txBox="1"/>
          <p:nvPr/>
        </p:nvSpPr>
        <p:spPr>
          <a:xfrm>
            <a:off x="5998464" y="519379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0.00</a:t>
            </a:r>
          </a:p>
        </p:txBody>
      </p:sp>
      <p:sp>
        <p:nvSpPr>
          <p:cNvPr id="96" name="Rectangle 95"/>
          <p:cNvSpPr/>
          <p:nvPr/>
        </p:nvSpPr>
        <p:spPr>
          <a:xfrm>
            <a:off x="7790688" y="5074920"/>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TextBox 96"/>
          <p:cNvSpPr txBox="1"/>
          <p:nvPr/>
        </p:nvSpPr>
        <p:spPr>
          <a:xfrm>
            <a:off x="7900415" y="519379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11.83</a:t>
            </a:r>
          </a:p>
        </p:txBody>
      </p:sp>
      <p:sp>
        <p:nvSpPr>
          <p:cNvPr id="98" name="Rectangle 97"/>
          <p:cNvSpPr/>
          <p:nvPr/>
        </p:nvSpPr>
        <p:spPr>
          <a:xfrm>
            <a:off x="9692640" y="5074920"/>
            <a:ext cx="1901952" cy="4846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TextBox 98"/>
          <p:cNvSpPr txBox="1"/>
          <p:nvPr/>
        </p:nvSpPr>
        <p:spPr>
          <a:xfrm>
            <a:off x="9802367" y="5193792"/>
            <a:ext cx="1682496" cy="286765"/>
          </a:xfrm>
          <a:prstGeom prst="rect">
            <a:avLst/>
          </a:prstGeom>
          <a:noFill/>
          <a:effectLst/>
        </p:spPr>
        <p:txBody>
          <a:bodyPr wrap="none" anchor="t" lIns="0" rIns="0" tIns="0" bIns="0">
            <a:noAutofit/>
          </a:bodyPr>
          <a:lstStyle/>
          <a:p>
            <a:pPr algn="r">
              <a:lnSpc>
                <a:spcPct val="118000"/>
              </a:lnSpc>
              <a:spcBef>
                <a:spcPts val="0"/>
              </a:spcBef>
              <a:spcAft>
                <a:spcPts val="0"/>
              </a:spcAft>
            </a:pPr>
            <a:r>
              <a:rPr sz="1700" b="0" lang="ko-KR">
                <a:solidFill>
                  <a:srgbClr val="20262E"/>
                </a:solidFill>
                <a:latin typeface="Pretendard"/>
                <a:ea typeface="Pretendard"/>
                <a:cs typeface="Pretendard"/>
              </a:rPr>
              <a:t>20.24</a:t>
            </a:r>
          </a:p>
        </p:txBody>
      </p:sp>
      <p:sp>
        <p:nvSpPr>
          <p:cNvPr id="100" name="TextBox 99"/>
          <p:cNvSpPr txBox="1"/>
          <p:nvPr/>
        </p:nvSpPr>
        <p:spPr>
          <a:xfrm>
            <a:off x="658368" y="5733288"/>
            <a:ext cx="1088136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주요 공격의 높은 F1과 Infiltration·Web의 낮은 F1이 공존</a:t>
            </a:r>
          </a:p>
        </p:txBody>
      </p:sp>
      <p:sp>
        <p:nvSpPr>
          <p:cNvPr id="101" name="TextBox 100"/>
          <p:cNvSpPr txBox="1"/>
          <p:nvPr/>
        </p:nvSpPr>
        <p:spPr>
          <a:xfrm>
            <a:off x="658368" y="6117336"/>
            <a:ext cx="1088136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617080"/>
                </a:solidFill>
                <a:latin typeface="Pretendard"/>
                <a:ea typeface="Pretendard"/>
                <a:cs typeface="Pretendard"/>
              </a:rPr>
              <a:t>기존 보고서 발췌 · BoostPFN·LoCalPFN은 v1 기반 · LoCalPFN은 validation을 이용한 FT 포함</a:t>
            </a:r>
          </a:p>
        </p:txBody>
      </p:sp>
      <p:sp>
        <p:nvSpPr>
          <p:cNvPr id="102" name="Rectangle 101"/>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TextBox 102"/>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소수 라벨 실험과 설정을 구별하고 클래스별 차이를 진단</a:t>
            </a:r>
          </a:p>
        </p:txBody>
      </p:sp>
      <p:sp>
        <p:nvSpPr>
          <p:cNvPr id="104" name="TextBox 103"/>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04 보충 근거</a:t>
            </a:r>
          </a:p>
        </p:txBody>
      </p:sp>
      <p:sp>
        <p:nvSpPr>
          <p:cNvPr id="105" name="TextBox 104"/>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 데이터 결함 검토와 PCAP 기반 학습 벡터 재구축</dc:title>
  <dc:subject>문헌 근거, 인코더·데이터 후보, EXP92 구현 검증</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