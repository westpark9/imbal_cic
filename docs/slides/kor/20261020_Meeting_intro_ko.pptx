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 before dataset. A labelled flow is a tabular network record with an assigned class. Labels are assumed available after investigation; their acquisition is not evaluated here. XGBoost full refitting is the chosen comparator, not a claim that all tree updates require retraining. Class arrival is not a claim of zero-label novelty detection or cross-network robustness.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https://arxiv.org/html/2605.13986v1 Sections 1, 2.2, 2.5. Synthetic tasks refer to model pretraining, not the IDS evaluation data. Context is a supplied labelled dataset, not information stored inside fixed pretrained weights. Fine-tuning is optional weight optimization and is not used in the supplied result pages. FT interface: https://github.com/PriorLabs/TabPFN/blob/main/src/tabpfn/finetuning/finetuned_base.py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https://arxiv.org/html/2605.13986v1 Figure 5, Section 2.1. Original figure on the left, without a visible caption per user instruction. Steps 1–3 follow cell embedding, column-wise feature embedding, and row-wise feature aggregation. The labelled context is external input; the diagram does not depict IDS weight fine-tuning.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https://arxiv.org/html/2605.13986v1 Sections 2.2 and 2.4.2. The decoder averages one-hot context labels with learned attention weights. Cached prediction can reuse prepared context states; changing context may require recomputation. No claim that a context update is free, or universally faster than XGBoost refitting.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01752"/>
            <a:ext cx="11064240" cy="52120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lang="ko-KR">
                <a:solidFill>
                  <a:srgbClr val="00306C"/>
                </a:solidFill>
                <a:latin typeface="Pretendard"/>
                <a:ea typeface="Pretendard"/>
                <a:cs typeface="Pretendard"/>
              </a:rPr>
              <a:t>신규 공격 사례를 반영하는 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24128"/>
            <a:ext cx="10972800" cy="47548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IDS · 통신 기록의 특징을 이용한 정상·공격 유형 분류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810512"/>
            <a:ext cx="333756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965960"/>
            <a:ext cx="2971800" cy="38404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초기 운영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560320"/>
            <a:ext cx="2980944" cy="6217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정상 + 알려진 공격의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라벨 사례 확보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50791" y="2468880"/>
            <a:ext cx="320040" cy="256032"/>
          </a:xfrm>
          <a:prstGeom prst="rightArrow">
            <a:avLst/>
          </a:prstGeom>
          <a:solidFill>
            <a:srgbClr val="007B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25696" y="1810512"/>
            <a:ext cx="333756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1965960"/>
            <a:ext cx="2971800" cy="38404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새 공격 사례 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2560320"/>
            <a:ext cx="2980944" cy="6217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처음 접한 공격 유형의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소수 라벨 사례 확보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909560" y="2468880"/>
            <a:ext cx="320040" cy="256032"/>
          </a:xfrm>
          <a:prstGeom prst="rightArrow">
            <a:avLst/>
          </a:prstGeom>
          <a:solidFill>
            <a:srgbClr val="007B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84463" y="1810512"/>
            <a:ext cx="3337560" cy="1600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67343" y="1965960"/>
            <a:ext cx="2971800" cy="38404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탐지기 갱신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67343" y="2560320"/>
            <a:ext cx="2980944" cy="62179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새 공격 반영 +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기존 정상·공격 구분 유지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49624"/>
            <a:ext cx="1874519" cy="3657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XGBoost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849624"/>
            <a:ext cx="8961120" cy="42062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확보한 라벨 사례로 누적 재학습하는 비교군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72000"/>
            <a:ext cx="1874519" cy="3657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TabPFN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4572000"/>
            <a:ext cx="8961120" cy="42062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사전학습 가중치 고정, 라벨 사례를 context로 제공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596128"/>
            <a:ext cx="11018520" cy="7040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769864"/>
            <a:ext cx="10607040" cy="3657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00306C"/>
                </a:solidFill>
                <a:latin typeface="Pretendard"/>
                <a:ea typeface="Pretendard"/>
                <a:cs typeface="Pretendard"/>
              </a:rPr>
              <a:t>비교 기준 · 신규 공격 탐지 · 기존 탐지 품질 · 갱신 비용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01752"/>
            <a:ext cx="11064240" cy="52120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lang="ko-KR">
                <a:solidFill>
                  <a:srgbClr val="00306C"/>
                </a:solidFill>
                <a:latin typeface="Pretendard"/>
                <a:ea typeface="Pretendard"/>
                <a:cs typeface="Pretendard"/>
              </a:rPr>
              <a:t>TabPFN · 가중치, context, query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3657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ko-KR">
                <a:solidFill>
                  <a:srgbClr val="617080"/>
                </a:solidFill>
                <a:latin typeface="Pretendard"/>
                <a:ea typeface="Pretendard"/>
                <a:cs typeface="Pretendard"/>
              </a:rPr>
              <a:t>합성 표 과제로 예측 규칙 사전학습 · TabPFN-3, arXiv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709928"/>
            <a:ext cx="2953512" cy="914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865376"/>
            <a:ext cx="2606040" cy="3222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267712"/>
            <a:ext cx="2606040" cy="26089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통신 특징 + 정답 라벨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862072"/>
            <a:ext cx="2953512" cy="914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017520"/>
            <a:ext cx="2606040" cy="3222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Query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419856"/>
            <a:ext cx="2606040" cy="26089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분류할 통신 기록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721608" y="2167128"/>
            <a:ext cx="429768" cy="292608"/>
          </a:xfrm>
          <a:prstGeom prst="rightArrow">
            <a:avLst/>
          </a:prstGeom>
          <a:solidFill>
            <a:srgbClr val="007B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3721608" y="3310128"/>
            <a:ext cx="429768" cy="292608"/>
          </a:xfrm>
          <a:prstGeom prst="rightArrow">
            <a:avLst/>
          </a:prstGeom>
          <a:solidFill>
            <a:srgbClr val="007B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2075688"/>
            <a:ext cx="3246120" cy="1335024"/>
          </a:xfrm>
          <a:prstGeom prst="rect">
            <a:avLst/>
          </a:prstGeom>
          <a:solidFill>
            <a:srgbClr val="00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322576"/>
            <a:ext cx="2880360" cy="39901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lang="ko-KR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TabPFN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89504"/>
            <a:ext cx="2880360" cy="27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사전학습 가중치 고정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36408" y="2679192"/>
            <a:ext cx="429768" cy="292608"/>
          </a:xfrm>
          <a:prstGeom prst="rightArrow">
            <a:avLst/>
          </a:prstGeom>
          <a:solidFill>
            <a:srgbClr val="007B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03920" y="2075688"/>
            <a:ext cx="3090672" cy="133502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0" y="2350008"/>
            <a:ext cx="2715768" cy="3222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클래스별 확률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898648"/>
            <a:ext cx="2715768" cy="2743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정상 · 공격 A · 공격 B 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242816"/>
            <a:ext cx="2404872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In-context learning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242816"/>
            <a:ext cx="8275320" cy="3291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가중치 변경 없이, context에 조건화한 query 예측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892040"/>
            <a:ext cx="219456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Fine-tuning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4892040"/>
            <a:ext cx="8275320" cy="58317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IDS 사례를 context/query로 나누고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query 정답의 손실을 역전파하여 가중치 갱신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751576"/>
            <a:ext cx="11018520" cy="5577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5888736"/>
            <a:ext cx="10616184" cy="29158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00306C"/>
                </a:solidFill>
                <a:latin typeface="Pretendard"/>
                <a:ea typeface="Pretendard"/>
                <a:cs typeface="Pretendard"/>
              </a:rPr>
              <a:t>현재 비교 · 초기 IDS fine-tuning 없이 사전학습 가중치 유지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01752"/>
            <a:ext cx="11064240" cy="52120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lang="ko-KR">
                <a:solidFill>
                  <a:srgbClr val="00306C"/>
                </a:solidFill>
                <a:latin typeface="Pretendard"/>
                <a:ea typeface="Pretendard"/>
                <a:cs typeface="Pretendard"/>
              </a:rPr>
              <a:t>v3 구조 · 통신 기록의 표현</a:t>
            </a:r>
          </a:p>
        </p:txBody>
      </p:sp>
      <p:pic>
        <p:nvPicPr>
          <p:cNvPr id="3" name="Picture 2" descr="v3_architecture_page.png"/>
          <p:cNvPicPr>
            <a:picLocks noChangeAspect="1"/>
          </p:cNvPicPr>
          <p:nvPr/>
        </p:nvPicPr>
        <p:blipFill>
          <a:blip r:embed="rId3"/>
          <a:srcRect l="20000" t="8200" r="19000" b="28500"/>
          <a:stretch>
            <a:fillRect/>
          </a:stretch>
        </p:blipFill>
        <p:spPr>
          <a:xfrm>
            <a:off x="566928" y="987552"/>
            <a:ext cx="3611880" cy="53766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53712" y="1280160"/>
            <a:ext cx="7068312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1  입력값 표현 · Cell embedding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3752" y="1901952"/>
            <a:ext cx="6629400" cy="79552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패킷 길이 등 각 값을 벡터로 변환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결측 여부도 함께 입력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53712" y="2871215"/>
            <a:ext cx="7068312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2  열 정보 요약 · Feature embedding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3752" y="3493008"/>
            <a:ext cx="6629400" cy="79552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여러 통신 기록에서 각 특징의 분포 파악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context의 라벨도 함께 참조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3712" y="4462272"/>
            <a:ext cx="7068312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3  행 정보 통합 · Feature aggregation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73752" y="5084064"/>
            <a:ext cx="6629400" cy="79552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한 통신 기록의 특징들을 하나의 표현으로 통합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다른 기록과의 관계를 비교할 준비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01752"/>
            <a:ext cx="11064240" cy="52120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lang="ko-KR">
                <a:solidFill>
                  <a:srgbClr val="00306C"/>
                </a:solidFill>
                <a:latin typeface="Pretendard"/>
                <a:ea typeface="Pretendard"/>
                <a:cs typeface="Pretendard"/>
              </a:rPr>
              <a:t>v3 구조 · 사례 참조와 갱신</a:t>
            </a:r>
          </a:p>
        </p:txBody>
      </p:sp>
      <p:pic>
        <p:nvPicPr>
          <p:cNvPr id="3" name="Picture 2" descr="v3_architecture_page.png"/>
          <p:cNvPicPr>
            <a:picLocks noChangeAspect="1"/>
          </p:cNvPicPr>
          <p:nvPr/>
        </p:nvPicPr>
        <p:blipFill>
          <a:blip r:embed="rId3"/>
          <a:srcRect l="20000" t="8200" r="19000" b="28500"/>
          <a:stretch>
            <a:fillRect/>
          </a:stretch>
        </p:blipFill>
        <p:spPr>
          <a:xfrm>
            <a:off x="566928" y="987552"/>
            <a:ext cx="3611880" cy="53766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53712" y="1243584"/>
            <a:ext cx="7068312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4  사례 참조 · In-context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3752" y="1856231"/>
            <a:ext cx="6611112" cy="713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query와 context 사례의 관계를 계산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예측에 참고할 사례를 attention으로 선택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53712" y="2761488"/>
            <a:ext cx="7068312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5  확률 출력 · Many-class decoder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3752" y="3374136"/>
            <a:ext cx="6611112" cy="713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context 라벨의 가중합으로 클래스 확률 계산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기존·신규 클래스의 라벨 사례 모두 필요</a:t>
            </a:r>
          </a:p>
        </p:txBody>
      </p:sp>
      <p:sp>
        <p:nvSpPr>
          <p:cNvPr id="8" name="Rectangle 7"/>
          <p:cNvSpPr/>
          <p:nvPr/>
        </p:nvSpPr>
        <p:spPr>
          <a:xfrm>
            <a:off x="4553712" y="4672584"/>
            <a:ext cx="7040880" cy="1435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4855464"/>
            <a:ext cx="6629400" cy="3222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00306C"/>
                </a:solidFill>
                <a:latin typeface="Pretendard"/>
                <a:ea typeface="Pretendard"/>
                <a:cs typeface="Pretendard"/>
              </a:rPr>
              <a:t>Context 갱신에도 계산 비용 발생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5449824"/>
            <a:ext cx="6611112" cy="552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전처리 · 표현 계산 · 캐시 준비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가중치 학습과 구별하여 갱신 시간 측정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