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IDS is a classifier of flow records, not a name for the dataset. Begin with the operational gap: only some attack labels are available initially; investigation later supplies a few examples of another attack. The research question is how much newly labelled data and update computation each method needs, while tracking existing-class quality. Do not infer a universal need for retraining from a weekday collection schedule. Full cumulative XGB refitting is our chosen baseline. This experiment evaluates adaptation after labelling, not unknown-attack detection before labelling or generalization across networks.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https://arxiv.org/html/2605.13986v1 Sections 1, 2.2, 2.5. Synthetic tasks concern pretraining, not our IDS evaluation rows. Context lives outside the weights. Updating a context does not write its rows into the model parameters. IDS fine-tuning would optimize the model using losses on labelled queries, but the displayed no-FT comparisons do not do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https://arxiv.org/html/2605.13986v1 Figure 5, Section 2.1. Original model diagram without a visible caption as requested. These are inference representations; they are not a sequence of IDS weight-training stages.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https://arxiv.org/html/2605.13986v1 Sections 2.2 and 2.4.2. The many-class decoder uses attention-weighted context labels. Updating the context may require rebuilding preprocessing and cache states. Frozen weights do not imply a free update.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Data trace: EXP77 data manifests -&gt; EXP71 cumulative run data -&gt; conflict-free fixed-split manifests. The stored suite may contain multiple benchmark keys, but the experiment selects one dataset independently; no CIC attacks are injected into ToN or vice versa. The 100-row example explains the old setting; the next page explicitly states it has no operational or optimality justification. Original row IDs are disjoint across train/test, but duplicate feature vectors can exist; this is not a claim of feature-disjoint holdout. Stages control which labels become available and how many; the researcher does not synthesize the network-feature rows.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Counts and class arrival order from EXP77/EXP71 manifests. Initial total 750+125+125=1000. The n rows are real labelled training examples, not daily attack frequencies or test counts. Both methods receive the same IDs. Cumulative final sizes: CIC 1000+4n, ToN 1000+7n. Old displayed results sweep n=10/20/50/100/200/400, and the old cost snapshot uses n=100. 100 is an illustrative setting, not a statistical midpoint, optimum, or measured operational frequency. The revised n=5/10/20/30/50 buffer plan is design-only and has no results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64240" cy="52120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소수 신규 공격 사례에 대응하는 IDS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05840"/>
            <a:ext cx="10972800" cy="32228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lang="ko-KR">
                <a:solidFill>
                  <a:srgbClr val="20262E"/>
                </a:solidFill>
                <a:latin typeface="Pretendard"/>
                <a:ea typeface="Pretendard"/>
                <a:cs typeface="Pretendard"/>
              </a:rPr>
              <a:t>침입 탐지 시스템(IDS) · 통신 기록의 특징으로 정상·공격 유형 분류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572768"/>
            <a:ext cx="10972800" cy="64456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처음 확보한 라벨에 없는 공격의 등장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고정된 분류 점수만으로 파악하기 어려운 신규 사례 반영 능력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596896"/>
            <a:ext cx="3337560" cy="144475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761488"/>
            <a:ext cx="3008376" cy="32228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lang="ko-KR">
                <a:solidFill>
                  <a:srgbClr val="007BC6"/>
                </a:solidFill>
                <a:latin typeface="Pretendard"/>
                <a:ea typeface="Pretendard"/>
                <a:cs typeface="Pretendard"/>
              </a:rPr>
              <a:t>운영 시작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19272"/>
            <a:ext cx="3008376" cy="52178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ko-KR">
                <a:solidFill>
                  <a:srgbClr val="20262E"/>
                </a:solidFill>
                <a:latin typeface="Pretendard"/>
                <a:ea typeface="Pretendard"/>
                <a:cs typeface="Pretendard"/>
              </a:rPr>
              <a:t>정상 + 공격 A·B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ko-KR">
                <a:solidFill>
                  <a:srgbClr val="20262E"/>
                </a:solidFill>
                <a:latin typeface="Pretendard"/>
                <a:ea typeface="Pretendard"/>
                <a:cs typeface="Pretendard"/>
              </a:rPr>
              <a:t>일부 유형의 라벨만 확보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050791" y="3182112"/>
            <a:ext cx="320040" cy="256032"/>
          </a:xfrm>
          <a:prstGeom prst="rightArrow">
            <a:avLst/>
          </a:prstGeom>
          <a:solidFill>
            <a:srgbClr val="007B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25696" y="2596896"/>
            <a:ext cx="3337560" cy="144475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2761488"/>
            <a:ext cx="3008376" cy="32228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lang="ko-KR">
                <a:solidFill>
                  <a:srgbClr val="007BC6"/>
                </a:solidFill>
                <a:latin typeface="Pretendard"/>
                <a:ea typeface="Pretendard"/>
                <a:cs typeface="Pretendard"/>
              </a:rPr>
              <a:t>추가 조사 이후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3319272"/>
            <a:ext cx="3008376" cy="52178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ko-KR">
                <a:solidFill>
                  <a:srgbClr val="20262E"/>
                </a:solidFill>
                <a:latin typeface="Pretendard"/>
                <a:ea typeface="Pretendard"/>
                <a:cs typeface="Pretendard"/>
              </a:rPr>
              <a:t>새 공격 C의 라벨 소량 확보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ko-KR">
                <a:solidFill>
                  <a:srgbClr val="20262E"/>
                </a:solidFill>
                <a:latin typeface="Pretendard"/>
                <a:ea typeface="Pretendard"/>
                <a:cs typeface="Pretendard"/>
              </a:rPr>
              <a:t>기존 탐지기에 반영할 필요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909560" y="3182112"/>
            <a:ext cx="320040" cy="256032"/>
          </a:xfrm>
          <a:prstGeom prst="rightArrow">
            <a:avLst/>
          </a:prstGeom>
          <a:solidFill>
            <a:srgbClr val="007B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84463" y="2596896"/>
            <a:ext cx="3337560" cy="144475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49055" y="2761488"/>
            <a:ext cx="3008376" cy="32228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lang="ko-KR">
                <a:solidFill>
                  <a:srgbClr val="007BC6"/>
                </a:solidFill>
                <a:latin typeface="Pretendard"/>
                <a:ea typeface="Pretendard"/>
                <a:cs typeface="Pretendard"/>
              </a:rPr>
              <a:t>갱신 후 확인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49055" y="3319272"/>
            <a:ext cx="3008376" cy="52178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ko-KR">
                <a:solidFill>
                  <a:srgbClr val="20262E"/>
                </a:solidFill>
                <a:latin typeface="Pretendard"/>
                <a:ea typeface="Pretendard"/>
                <a:cs typeface="Pretendard"/>
              </a:rPr>
              <a:t>C 탐지 품질과 갱신 비용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ko-KR">
                <a:solidFill>
                  <a:srgbClr val="20262E"/>
                </a:solidFill>
                <a:latin typeface="Pretendard"/>
                <a:ea typeface="Pretendard"/>
                <a:cs typeface="Pretendard"/>
              </a:rPr>
              <a:t>기존 정상·A·B 구분 유지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480560"/>
            <a:ext cx="1691640" cy="33762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lang="ko-KR">
                <a:solidFill>
                  <a:srgbClr val="20262E"/>
                </a:solidFill>
                <a:latin typeface="Pretendard"/>
                <a:ea typeface="Pretendard"/>
                <a:cs typeface="Pretendard"/>
              </a:rPr>
              <a:t>XGBoost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23160" y="4480560"/>
            <a:ext cx="9052560" cy="38404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lang="ko-KR">
                <a:solidFill>
                  <a:srgbClr val="20262E"/>
                </a:solidFill>
                <a:latin typeface="Pretendard"/>
                <a:ea typeface="Pretendard"/>
                <a:cs typeface="Pretendard"/>
              </a:rPr>
              <a:t>새 사례를 포함한 누적 라벨 데이터로 모델 재학습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5093208"/>
            <a:ext cx="1691640" cy="33762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lang="ko-KR">
                <a:solidFill>
                  <a:srgbClr val="007BC6"/>
                </a:solidFill>
                <a:latin typeface="Pretendard"/>
                <a:ea typeface="Pretendard"/>
                <a:cs typeface="Pretendard"/>
              </a:rPr>
              <a:t>TabPFN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23160" y="5093208"/>
            <a:ext cx="9052560" cy="38404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lang="ko-KR">
                <a:solidFill>
                  <a:srgbClr val="20262E"/>
                </a:solidFill>
                <a:latin typeface="Pretendard"/>
                <a:ea typeface="Pretendard"/>
                <a:cs typeface="Pretendard"/>
              </a:rPr>
              <a:t>사전학습 모델에 기존·신규 사례를 context로 제공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815584"/>
            <a:ext cx="10972800" cy="29260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ko-KR">
                <a:solidFill>
                  <a:srgbClr val="617080"/>
                </a:solidFill>
                <a:latin typeface="Pretendard"/>
                <a:ea typeface="Pretendard"/>
                <a:cs typeface="Pretendard"/>
              </a:rPr>
              <a:t>이번 평가 범위 · 새 공격의 라벨 확보 이후 적응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46520"/>
            <a:ext cx="12191999" cy="411480"/>
          </a:xfrm>
          <a:prstGeom prst="rect">
            <a:avLst/>
          </a:prstGeom>
          <a:solidFill>
            <a:srgbClr val="00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6528816"/>
            <a:ext cx="9738360" cy="21485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ko-KR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비교 질문 · 소수 신규 사례에서 얻는 탐지 품질과 갱신 비용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69880" y="6537960"/>
            <a:ext cx="1143000" cy="20116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ko-KR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01   1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64240" cy="52120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TabPFN · 사전학습 가중치와 입력 사례의 역할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05840"/>
            <a:ext cx="10972800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lang="ko-KR">
                <a:solidFill>
                  <a:srgbClr val="617080"/>
                </a:solidFill>
                <a:latin typeface="Pretendard"/>
                <a:ea typeface="Pretendard"/>
                <a:cs typeface="Pretendard"/>
              </a:rPr>
              <a:t>합성 표 과제로 예측 규칙 사전학습 · TabPFN-3, arXiv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527048"/>
            <a:ext cx="10972800" cy="67525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사전학습된 것은 사례에서 예측하는 방법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현재 IDS의 정상·공격 클래스에 해당하는 사례는 추론 시 입력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395728"/>
            <a:ext cx="2953512" cy="9144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2542032"/>
            <a:ext cx="2606040" cy="30693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lang="ko-KR">
                <a:solidFill>
                  <a:srgbClr val="007BC6"/>
                </a:solidFill>
                <a:latin typeface="Pretendard"/>
                <a:ea typeface="Pretendard"/>
                <a:cs typeface="Pretendard"/>
              </a:rPr>
              <a:t>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944368"/>
            <a:ext cx="2606040" cy="24554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ko-KR">
                <a:solidFill>
                  <a:srgbClr val="20262E"/>
                </a:solidFill>
                <a:latin typeface="Pretendard"/>
                <a:ea typeface="Pretendard"/>
                <a:cs typeface="Pretendard"/>
              </a:rPr>
              <a:t>기존·신규 특징 + 라벨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3538728"/>
            <a:ext cx="2953512" cy="79552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3657600"/>
            <a:ext cx="2606040" cy="30693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lang="ko-KR">
                <a:solidFill>
                  <a:srgbClr val="007BC6"/>
                </a:solidFill>
                <a:latin typeface="Pretendard"/>
                <a:ea typeface="Pretendard"/>
                <a:cs typeface="Pretendard"/>
              </a:rPr>
              <a:t>Query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4023360"/>
            <a:ext cx="2606040" cy="24554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ko-KR">
                <a:solidFill>
                  <a:srgbClr val="20262E"/>
                </a:solidFill>
                <a:latin typeface="Pretendard"/>
                <a:ea typeface="Pretendard"/>
                <a:cs typeface="Pretendard"/>
              </a:rPr>
              <a:t>분류할 기록 · 정답 미입력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721608" y="2779776"/>
            <a:ext cx="429768" cy="292608"/>
          </a:xfrm>
          <a:prstGeom prst="rightArrow">
            <a:avLst/>
          </a:prstGeom>
          <a:solidFill>
            <a:srgbClr val="007B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3721608" y="3794760"/>
            <a:ext cx="429768" cy="292608"/>
          </a:xfrm>
          <a:prstGeom prst="rightArrow">
            <a:avLst/>
          </a:prstGeom>
          <a:solidFill>
            <a:srgbClr val="007B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2834640"/>
            <a:ext cx="3246120" cy="1335024"/>
          </a:xfrm>
          <a:prstGeom prst="rect">
            <a:avLst/>
          </a:prstGeom>
          <a:solidFill>
            <a:srgbClr val="00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3063240"/>
            <a:ext cx="2880360" cy="39901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lang="ko-KR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TabPFN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639312"/>
            <a:ext cx="2880360" cy="2762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ko-KR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사전학습 가중치 고정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836408" y="3346704"/>
            <a:ext cx="429768" cy="292608"/>
          </a:xfrm>
          <a:prstGeom prst="rightArrow">
            <a:avLst/>
          </a:prstGeom>
          <a:solidFill>
            <a:srgbClr val="007B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503920" y="2834640"/>
            <a:ext cx="3090672" cy="133502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0" y="3108960"/>
            <a:ext cx="2715768" cy="32228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lang="ko-KR">
                <a:solidFill>
                  <a:srgbClr val="007BC6"/>
                </a:solidFill>
                <a:latin typeface="Pretendard"/>
                <a:ea typeface="Pretendard"/>
                <a:cs typeface="Pretendard"/>
              </a:rPr>
              <a:t>클래스별 확률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3657600"/>
            <a:ext cx="2715768" cy="27432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ko-KR">
                <a:solidFill>
                  <a:srgbClr val="20262E"/>
                </a:solidFill>
                <a:latin typeface="Pretendard"/>
                <a:ea typeface="Pretendard"/>
                <a:cs typeface="Pretendard"/>
              </a:rPr>
              <a:t>정상 · 공격 A · 공격 C 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690872"/>
            <a:ext cx="2423160" cy="3200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lang="ko-KR">
                <a:solidFill>
                  <a:srgbClr val="007BC6"/>
                </a:solidFill>
                <a:latin typeface="Pretendard"/>
                <a:ea typeface="Pretendard"/>
                <a:cs typeface="Pretendard"/>
              </a:rPr>
              <a:t>In-context learning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54680" y="4690872"/>
            <a:ext cx="8275320" cy="32918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lang="ko-KR">
                <a:solidFill>
                  <a:srgbClr val="20262E"/>
                </a:solidFill>
                <a:latin typeface="Pretendard"/>
                <a:ea typeface="Pretendard"/>
                <a:cs typeface="Pretendard"/>
              </a:rPr>
              <a:t>context와 query의 관계를 이용한 예측 · 가중치 갱신 없음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340096"/>
            <a:ext cx="2194560" cy="3200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lang="ko-KR">
                <a:solidFill>
                  <a:srgbClr val="007BC6"/>
                </a:solidFill>
                <a:latin typeface="Pretendard"/>
                <a:ea typeface="Pretendard"/>
                <a:cs typeface="Pretendard"/>
              </a:rPr>
              <a:t>Fine-tuning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54680" y="5340096"/>
            <a:ext cx="8275320" cy="60350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ko-KR">
                <a:solidFill>
                  <a:srgbClr val="20262E"/>
                </a:solidFill>
                <a:latin typeface="Pretendard"/>
                <a:ea typeface="Pretendard"/>
                <a:cs typeface="Pretendard"/>
              </a:rPr>
              <a:t>IDS 사례를 context/query로 나누고 query 정답 손실을 역전파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ko-KR">
                <a:solidFill>
                  <a:srgbClr val="20262E"/>
                </a:solidFill>
                <a:latin typeface="Pretendard"/>
                <a:ea typeface="Pretendard"/>
                <a:cs typeface="Pretendard"/>
              </a:rPr>
              <a:t>별도의 가중치 추가 학습 · 이번 비교에서는 미수행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46520"/>
            <a:ext cx="12191999" cy="411480"/>
          </a:xfrm>
          <a:prstGeom prst="rect">
            <a:avLst/>
          </a:prstGeom>
          <a:solidFill>
            <a:srgbClr val="00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6528816"/>
            <a:ext cx="9738360" cy="21485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ko-KR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가중치를 고정해도 필요한 context · 현재 분류 문제를 알려 주는 라벨 사례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69880" y="6537960"/>
            <a:ext cx="1143000" cy="20116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ko-KR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02   2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64240" cy="52120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v3 구조 · 통신 기록의 표현</a:t>
            </a:r>
          </a:p>
        </p:txBody>
      </p:sp>
      <p:pic>
        <p:nvPicPr>
          <p:cNvPr id="3" name="Picture 2" descr="v3_architecture_page.png"/>
          <p:cNvPicPr>
            <a:picLocks noChangeAspect="1"/>
          </p:cNvPicPr>
          <p:nvPr/>
        </p:nvPicPr>
        <p:blipFill>
          <a:blip r:embed="rId3"/>
          <a:srcRect l="20000" t="8200" r="19000" b="28500"/>
          <a:stretch>
            <a:fillRect/>
          </a:stretch>
        </p:blipFill>
        <p:spPr>
          <a:xfrm>
            <a:off x="566928" y="987552"/>
            <a:ext cx="3611880" cy="53766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53712" y="1280160"/>
            <a:ext cx="7068312" cy="41148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lang="ko-KR">
                <a:solidFill>
                  <a:srgbClr val="007BC6"/>
                </a:solidFill>
                <a:latin typeface="Pretendard"/>
                <a:ea typeface="Pretendard"/>
                <a:cs typeface="Pretendard"/>
              </a:rPr>
              <a:t>1  입력값 표현 · Cell embedding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73752" y="1901952"/>
            <a:ext cx="6629400" cy="79552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lang="ko-KR">
                <a:solidFill>
                  <a:srgbClr val="20262E"/>
                </a:solidFill>
                <a:latin typeface="Pretendard"/>
                <a:ea typeface="Pretendard"/>
                <a:cs typeface="Pretendard"/>
              </a:rPr>
              <a:t>패킷 길이 등 각 값을 벡터로 변환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lang="ko-KR">
                <a:solidFill>
                  <a:srgbClr val="20262E"/>
                </a:solidFill>
                <a:latin typeface="Pretendard"/>
                <a:ea typeface="Pretendard"/>
                <a:cs typeface="Pretendard"/>
              </a:rPr>
              <a:t>결측 여부도 함께 입력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53712" y="2871215"/>
            <a:ext cx="7068312" cy="41148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lang="ko-KR">
                <a:solidFill>
                  <a:srgbClr val="007BC6"/>
                </a:solidFill>
                <a:latin typeface="Pretendard"/>
                <a:ea typeface="Pretendard"/>
                <a:cs typeface="Pretendard"/>
              </a:rPr>
              <a:t>2  열 정보 요약 · Feature embedding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73752" y="3493008"/>
            <a:ext cx="6629400" cy="79552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lang="ko-KR">
                <a:solidFill>
                  <a:srgbClr val="20262E"/>
                </a:solidFill>
                <a:latin typeface="Pretendard"/>
                <a:ea typeface="Pretendard"/>
                <a:cs typeface="Pretendard"/>
              </a:rPr>
              <a:t>여러 기록에서 각 특징의 분포 파악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lang="ko-KR">
                <a:solidFill>
                  <a:srgbClr val="20262E"/>
                </a:solidFill>
                <a:latin typeface="Pretendard"/>
                <a:ea typeface="Pretendard"/>
                <a:cs typeface="Pretendard"/>
              </a:rPr>
              <a:t>context 라벨을 함께 참조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53712" y="4462272"/>
            <a:ext cx="7068312" cy="41148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lang="ko-KR">
                <a:solidFill>
                  <a:srgbClr val="007BC6"/>
                </a:solidFill>
                <a:latin typeface="Pretendard"/>
                <a:ea typeface="Pretendard"/>
                <a:cs typeface="Pretendard"/>
              </a:rPr>
              <a:t>3  행 정보 통합 · Feature aggregation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73752" y="5084064"/>
            <a:ext cx="6629400" cy="79552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lang="ko-KR">
                <a:solidFill>
                  <a:srgbClr val="20262E"/>
                </a:solidFill>
                <a:latin typeface="Pretendard"/>
                <a:ea typeface="Pretendard"/>
                <a:cs typeface="Pretendard"/>
              </a:rPr>
              <a:t>한 기록의 특징들을 하나의 표현으로 통합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lang="ko-KR">
                <a:solidFill>
                  <a:srgbClr val="20262E"/>
                </a:solidFill>
                <a:latin typeface="Pretendard"/>
                <a:ea typeface="Pretendard"/>
                <a:cs typeface="Pretendard"/>
              </a:rPr>
              <a:t>사례 간 관계 비교에 사용할 행 표현 생성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46520"/>
            <a:ext cx="12191999" cy="411480"/>
          </a:xfrm>
          <a:prstGeom prst="rect">
            <a:avLst/>
          </a:prstGeom>
          <a:solidFill>
            <a:srgbClr val="00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6528816"/>
            <a:ext cx="9738360" cy="21031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ko-KR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69880" y="6537960"/>
            <a:ext cx="1143000" cy="20116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ko-KR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02   3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64240" cy="52120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v3 구조 · 사례 참조와 갱신 비용</a:t>
            </a:r>
          </a:p>
        </p:txBody>
      </p:sp>
      <p:pic>
        <p:nvPicPr>
          <p:cNvPr id="3" name="Picture 2" descr="v3_architecture_page.png"/>
          <p:cNvPicPr>
            <a:picLocks noChangeAspect="1"/>
          </p:cNvPicPr>
          <p:nvPr/>
        </p:nvPicPr>
        <p:blipFill>
          <a:blip r:embed="rId3"/>
          <a:srcRect l="20000" t="8200" r="19000" b="28500"/>
          <a:stretch>
            <a:fillRect/>
          </a:stretch>
        </p:blipFill>
        <p:spPr>
          <a:xfrm>
            <a:off x="566928" y="987552"/>
            <a:ext cx="3611880" cy="53766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53712" y="1243584"/>
            <a:ext cx="7068312" cy="41148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lang="ko-KR">
                <a:solidFill>
                  <a:srgbClr val="007BC6"/>
                </a:solidFill>
                <a:latin typeface="Pretendard"/>
                <a:ea typeface="Pretendard"/>
                <a:cs typeface="Pretendard"/>
              </a:rPr>
              <a:t>4  사례 참조 · In-context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73752" y="1856231"/>
            <a:ext cx="6611112" cy="71323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lang="ko-KR">
                <a:solidFill>
                  <a:srgbClr val="20262E"/>
                </a:solidFill>
                <a:latin typeface="Pretendard"/>
                <a:ea typeface="Pretendard"/>
                <a:cs typeface="Pretendard"/>
              </a:rPr>
              <a:t>query와 context 사례의 관계 계산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lang="ko-KR">
                <a:solidFill>
                  <a:srgbClr val="20262E"/>
                </a:solidFill>
                <a:latin typeface="Pretendard"/>
                <a:ea typeface="Pretendard"/>
                <a:cs typeface="Pretendard"/>
              </a:rPr>
              <a:t>attention으로 참고할 사례의 비중 결정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53712" y="2761488"/>
            <a:ext cx="7068312" cy="41148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lang="ko-KR">
                <a:solidFill>
                  <a:srgbClr val="007BC6"/>
                </a:solidFill>
                <a:latin typeface="Pretendard"/>
                <a:ea typeface="Pretendard"/>
                <a:cs typeface="Pretendard"/>
              </a:rPr>
              <a:t>5  확률 출력 · Many-class decoder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73752" y="3374136"/>
            <a:ext cx="6611112" cy="71323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lang="ko-KR">
                <a:solidFill>
                  <a:srgbClr val="20262E"/>
                </a:solidFill>
                <a:latin typeface="Pretendard"/>
                <a:ea typeface="Pretendard"/>
                <a:cs typeface="Pretendard"/>
              </a:rPr>
              <a:t>context 라벨을 가중합해 확률 계산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lang="ko-KR">
                <a:solidFill>
                  <a:srgbClr val="20262E"/>
                </a:solidFill>
                <a:latin typeface="Pretendard"/>
                <a:ea typeface="Pretendard"/>
                <a:cs typeface="Pretendard"/>
              </a:rPr>
              <a:t>정상·기존 공격·신규 공격의 사례 모두 필요</a:t>
            </a:r>
          </a:p>
        </p:txBody>
      </p:sp>
      <p:sp>
        <p:nvSpPr>
          <p:cNvPr id="8" name="Rectangle 7"/>
          <p:cNvSpPr/>
          <p:nvPr/>
        </p:nvSpPr>
        <p:spPr>
          <a:xfrm>
            <a:off x="4553712" y="4672584"/>
            <a:ext cx="7040880" cy="143560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4855464"/>
            <a:ext cx="6629400" cy="32228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가중치 학습 없이도 발생하는 갱신 비용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5449824"/>
            <a:ext cx="6611112" cy="55248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ko-KR">
                <a:solidFill>
                  <a:srgbClr val="20262E"/>
                </a:solidFill>
                <a:latin typeface="Pretendard"/>
                <a:ea typeface="Pretendard"/>
                <a:cs typeface="Pretendard"/>
              </a:rPr>
              <a:t>context 전처리 · 표현 계산 · 캐시 준비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ko-KR">
                <a:solidFill>
                  <a:srgbClr val="20262E"/>
                </a:solidFill>
                <a:latin typeface="Pretendard"/>
                <a:ea typeface="Pretendard"/>
                <a:cs typeface="Pretendard"/>
              </a:rPr>
              <a:t>XGB 재학습보다 저렴한지는 실측으로 비교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46520"/>
            <a:ext cx="12191999" cy="411480"/>
          </a:xfrm>
          <a:prstGeom prst="rect">
            <a:avLst/>
          </a:prstGeom>
          <a:solidFill>
            <a:srgbClr val="00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6528816"/>
            <a:ext cx="9738360" cy="21485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ko-KR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가중치 추가 학습의 부재와 낮은 갱신 비용을 구별한 비교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69880" y="6537960"/>
            <a:ext cx="1143000" cy="20116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ko-KR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02   4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64240" cy="52120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평가 데이터 구성 · 출처와 제공 사례의 구분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05840"/>
            <a:ext cx="10972800" cy="61386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lang="ko-KR">
                <a:solidFill>
                  <a:srgbClr val="20262E"/>
                </a:solidFill>
                <a:latin typeface="Pretendard"/>
                <a:ea typeface="Pretendard"/>
                <a:cs typeface="Pretendard"/>
              </a:rPr>
              <a:t>한 행 = 실제 수집된 통신 기록의 특징 + 정상/공격 라벨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lang="ko-KR">
                <a:solidFill>
                  <a:srgbClr val="20262E"/>
                </a:solidFill>
                <a:latin typeface="Pretendard"/>
                <a:ea typeface="Pretendard"/>
                <a:cs typeface="Pretendard"/>
              </a:rPr>
              <a:t>각 벤치마크를 별도로 정제·분리한 뒤 같은 출처 안에서 사례 선택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2066543"/>
            <a:ext cx="1892807" cy="96926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368296"/>
            <a:ext cx="1581912" cy="33762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CIC2018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651760" y="2414015"/>
            <a:ext cx="365760" cy="256032"/>
          </a:xfrm>
          <a:prstGeom prst="rightArrow">
            <a:avLst/>
          </a:prstGeom>
          <a:solidFill>
            <a:srgbClr val="007B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36976" y="2066543"/>
            <a:ext cx="3822191" cy="96926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10712" y="2203703"/>
            <a:ext cx="3474720" cy="29260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lang="ko-KR">
                <a:solidFill>
                  <a:srgbClr val="007BC6"/>
                </a:solidFill>
                <a:latin typeface="Pretendard"/>
                <a:ea typeface="Pretendard"/>
                <a:cs typeface="Pretendard"/>
              </a:rPr>
              <a:t>Train · 학습 후보 집합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10712" y="2642615"/>
            <a:ext cx="3474720" cy="26517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ko-KR">
                <a:solidFill>
                  <a:srgbClr val="20262E"/>
                </a:solidFill>
                <a:latin typeface="Pretendard"/>
                <a:ea typeface="Pretendard"/>
                <a:cs typeface="Pretendard"/>
              </a:rPr>
              <a:t>초기 사례 → 신규 공격 사례 선택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97496" y="2066543"/>
            <a:ext cx="4197096" cy="96926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2203703"/>
            <a:ext cx="3849624" cy="29260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lang="ko-KR">
                <a:solidFill>
                  <a:srgbClr val="007BC6"/>
                </a:solidFill>
                <a:latin typeface="Pretendard"/>
                <a:ea typeface="Pretendard"/>
                <a:cs typeface="Pretendard"/>
              </a:rPr>
              <a:t>Test · 고정 평가 집합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71231" y="2642615"/>
            <a:ext cx="3849624" cy="26517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ko-KR">
                <a:solidFill>
                  <a:srgbClr val="20262E"/>
                </a:solidFill>
                <a:latin typeface="Pretendard"/>
                <a:ea typeface="Pretendard"/>
                <a:cs typeface="Pretendard"/>
              </a:rPr>
              <a:t>3,042,473개 · 갱신에 미사용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3346703"/>
            <a:ext cx="1892807" cy="96926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648456"/>
            <a:ext cx="1581912" cy="33762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ToN-IoT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651760" y="3694176"/>
            <a:ext cx="365760" cy="256032"/>
          </a:xfrm>
          <a:prstGeom prst="rightArrow">
            <a:avLst/>
          </a:prstGeom>
          <a:solidFill>
            <a:srgbClr val="007B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36976" y="3346703"/>
            <a:ext cx="3822191" cy="96926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10712" y="3483863"/>
            <a:ext cx="3474720" cy="29260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lang="ko-KR">
                <a:solidFill>
                  <a:srgbClr val="007BC6"/>
                </a:solidFill>
                <a:latin typeface="Pretendard"/>
                <a:ea typeface="Pretendard"/>
                <a:cs typeface="Pretendard"/>
              </a:rPr>
              <a:t>Train · 학습 후보 집합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10712" y="3922776"/>
            <a:ext cx="3474720" cy="26517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ko-KR">
                <a:solidFill>
                  <a:srgbClr val="20262E"/>
                </a:solidFill>
                <a:latin typeface="Pretendard"/>
                <a:ea typeface="Pretendard"/>
                <a:cs typeface="Pretendard"/>
              </a:rPr>
              <a:t>초기 사례 → 신규 공격 사례 선택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97496" y="3346703"/>
            <a:ext cx="4197096" cy="96926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71231" y="3483863"/>
            <a:ext cx="3849624" cy="29260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lang="ko-KR">
                <a:solidFill>
                  <a:srgbClr val="007BC6"/>
                </a:solidFill>
                <a:latin typeface="Pretendard"/>
                <a:ea typeface="Pretendard"/>
                <a:cs typeface="Pretendard"/>
              </a:rPr>
              <a:t>Test · 고정 평가 집합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71231" y="3922776"/>
            <a:ext cx="3849624" cy="26517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ko-KR">
                <a:solidFill>
                  <a:srgbClr val="20262E"/>
                </a:solidFill>
                <a:latin typeface="Pretendard"/>
                <a:ea typeface="Pretendard"/>
                <a:cs typeface="Pretendard"/>
              </a:rPr>
              <a:t>2,271,723개 · 갱신에 미사용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4681728"/>
            <a:ext cx="10972800" cy="35661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CIC 예시 · 초기 1,000개 + 같은 CIC train의 신규 DDoS 100개 = 제공 라벨 1,100개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5349240"/>
            <a:ext cx="10972800" cy="60350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lang="ko-KR">
                <a:solidFill>
                  <a:srgbClr val="20262E"/>
                </a:solidFill>
                <a:latin typeface="Pretendard"/>
                <a:ea typeface="Pretendard"/>
                <a:cs typeface="Pretendard"/>
              </a:rPr>
              <a:t>이 1,100개로 XGB 재학습 / PFN context 구성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lang="ko-KR">
                <a:solidFill>
                  <a:srgbClr val="20262E"/>
                </a:solidFill>
                <a:latin typeface="Pretendard"/>
                <a:ea typeface="Pretendard"/>
                <a:cs typeface="Pretendard"/>
              </a:rPr>
              <a:t>“현재 데이터셋”의 의미 = 현재까지 제공한 라벨 사례 집합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46520"/>
            <a:ext cx="12191999" cy="411480"/>
          </a:xfrm>
          <a:prstGeom prst="rect">
            <a:avLst/>
          </a:prstGeom>
          <a:solidFill>
            <a:srgbClr val="00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6528816"/>
            <a:ext cx="9738360" cy="21485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ko-KR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CIC와 ToN의 독립 평가 · 같은 출처의 행을 선택해 라벨 공개 단계만 구성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69880" y="6537960"/>
            <a:ext cx="1143000" cy="20116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ko-KR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03   5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64240" cy="52120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lang="ko-KR">
                <a:solidFill>
                  <a:srgbClr val="00306C"/>
                </a:solidFill>
                <a:latin typeface="Pretendard"/>
                <a:ea typeface="Pretendard"/>
                <a:cs typeface="Pretendard"/>
              </a:rPr>
              <a:t>평가 시나리오 · 신규 공격당 라벨 수 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05840"/>
            <a:ext cx="10972800" cy="3200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ko-KR">
                <a:solidFill>
                  <a:srgbClr val="617080"/>
                </a:solidFill>
                <a:latin typeface="Pretendard"/>
                <a:ea typeface="Pretendard"/>
                <a:cs typeface="Pretendard"/>
              </a:rPr>
              <a:t>아래 수량 = 해당 단계에 새로 제공한 학습/context 사례 · 공격 도입 단계순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00200"/>
            <a:ext cx="5340096" cy="35297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lang="ko-KR">
                <a:solidFill>
                  <a:srgbClr val="007BC6"/>
                </a:solidFill>
                <a:latin typeface="Pretendard"/>
                <a:ea typeface="Pretendard"/>
                <a:cs typeface="Pretendard"/>
              </a:rPr>
              <a:t>CIC2018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084831"/>
            <a:ext cx="5340096" cy="420624"/>
          </a:xfrm>
          <a:prstGeom prst="rect">
            <a:avLst/>
          </a:prstGeom>
          <a:solidFill>
            <a:srgbClr val="00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2176272"/>
            <a:ext cx="466344" cy="2286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단계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97864" y="2176272"/>
            <a:ext cx="2276856" cy="2286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새로 제공한 클래스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84448" y="2176272"/>
            <a:ext cx="804672" cy="2286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클래스당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8847" y="2176272"/>
            <a:ext cx="1353312" cy="2286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누적 합계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505456"/>
            <a:ext cx="5340096" cy="8686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596896"/>
            <a:ext cx="429768" cy="74066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ko-KR">
                <a:solidFill>
                  <a:srgbClr val="20262E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6152" y="2596896"/>
            <a:ext cx="2240279" cy="74066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ko-KR">
                <a:solidFill>
                  <a:srgbClr val="20262E"/>
                </a:solidFill>
                <a:latin typeface="Pretendard"/>
                <a:ea typeface="Pretendard"/>
                <a:cs typeface="Pretendard"/>
              </a:rPr>
              <a:t>Benign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ko-KR">
                <a:solidFill>
                  <a:srgbClr val="20262E"/>
                </a:solidFill>
                <a:latin typeface="Pretendard"/>
                <a:ea typeface="Pretendard"/>
                <a:cs typeface="Pretendard"/>
              </a:rPr>
              <a:t>Brute force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ko-KR">
                <a:solidFill>
                  <a:srgbClr val="20262E"/>
                </a:solidFill>
                <a:latin typeface="Pretendard"/>
                <a:ea typeface="Pretendard"/>
                <a:cs typeface="Pretendard"/>
              </a:rPr>
              <a:t>DoS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02736" y="2596896"/>
            <a:ext cx="768096" cy="74066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ko-KR">
                <a:solidFill>
                  <a:srgbClr val="20262E"/>
                </a:solidFill>
                <a:latin typeface="Pretendard"/>
                <a:ea typeface="Pretendard"/>
                <a:cs typeface="Pretendard"/>
              </a:rPr>
              <a:t>750</a:t>
            </a:r>
          </a:p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ko-KR">
                <a:solidFill>
                  <a:srgbClr val="20262E"/>
                </a:solidFill>
                <a:latin typeface="Pretendard"/>
                <a:ea typeface="Pretendard"/>
                <a:cs typeface="Pretendard"/>
              </a:rPr>
              <a:t>125</a:t>
            </a:r>
          </a:p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ko-KR">
                <a:solidFill>
                  <a:srgbClr val="20262E"/>
                </a:solidFill>
                <a:latin typeface="Pretendard"/>
                <a:ea typeface="Pretendard"/>
                <a:cs typeface="Pretendard"/>
              </a:rPr>
              <a:t>125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7136" y="2596896"/>
            <a:ext cx="1316736" cy="74066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ko-KR">
                <a:solidFill>
                  <a:srgbClr val="20262E"/>
                </a:solidFill>
                <a:latin typeface="Pretendard"/>
                <a:ea typeface="Pretendard"/>
                <a:cs typeface="Pretendard"/>
              </a:rPr>
              <a:t>1,000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374135"/>
            <a:ext cx="5340096" cy="4480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465575"/>
            <a:ext cx="429768" cy="3200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ko-KR">
                <a:solidFill>
                  <a:srgbClr val="20262E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465575"/>
            <a:ext cx="2240279" cy="3200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ko-KR">
                <a:solidFill>
                  <a:srgbClr val="20262E"/>
                </a:solidFill>
                <a:latin typeface="Pretendard"/>
                <a:ea typeface="Pretendard"/>
                <a:cs typeface="Pretendard"/>
              </a:rPr>
              <a:t>DDoS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2736" y="3465575"/>
            <a:ext cx="768096" cy="3200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ko-KR">
                <a:solidFill>
                  <a:srgbClr val="20262E"/>
                </a:solidFill>
                <a:latin typeface="Pretendard"/>
                <a:ea typeface="Pretendard"/>
                <a:cs typeface="Pretendard"/>
              </a:rPr>
              <a:t>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17136" y="3465575"/>
            <a:ext cx="1316736" cy="3200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ko-KR">
                <a:solidFill>
                  <a:srgbClr val="20262E"/>
                </a:solidFill>
                <a:latin typeface="Pretendard"/>
                <a:ea typeface="Pretendard"/>
                <a:cs typeface="Pretendard"/>
              </a:rPr>
              <a:t>1,000 + 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3822191"/>
            <a:ext cx="5340096" cy="44805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913631"/>
            <a:ext cx="429768" cy="3200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ko-KR">
                <a:solidFill>
                  <a:srgbClr val="20262E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16152" y="3913631"/>
            <a:ext cx="2240279" cy="3200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ko-KR">
                <a:solidFill>
                  <a:srgbClr val="20262E"/>
                </a:solidFill>
                <a:latin typeface="Pretendard"/>
                <a:ea typeface="Pretendard"/>
                <a:cs typeface="Pretendard"/>
              </a:rPr>
              <a:t>Web attacks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02736" y="3913631"/>
            <a:ext cx="768096" cy="3200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ko-KR">
                <a:solidFill>
                  <a:srgbClr val="20262E"/>
                </a:solidFill>
                <a:latin typeface="Pretendard"/>
                <a:ea typeface="Pretendard"/>
                <a:cs typeface="Pretendard"/>
              </a:rPr>
              <a:t>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17136" y="3913631"/>
            <a:ext cx="1316736" cy="3200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ko-KR">
                <a:solidFill>
                  <a:srgbClr val="20262E"/>
                </a:solidFill>
                <a:latin typeface="Pretendard"/>
                <a:ea typeface="Pretendard"/>
                <a:cs typeface="Pretendard"/>
              </a:rPr>
              <a:t>1,000 + 2n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4270248"/>
            <a:ext cx="5340096" cy="4480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361688"/>
            <a:ext cx="429768" cy="3200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ko-KR">
                <a:solidFill>
                  <a:srgbClr val="20262E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4361688"/>
            <a:ext cx="2240279" cy="3200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ko-KR">
                <a:solidFill>
                  <a:srgbClr val="20262E"/>
                </a:solidFill>
                <a:latin typeface="Pretendard"/>
                <a:ea typeface="Pretendard"/>
                <a:cs typeface="Pretendard"/>
              </a:rPr>
              <a:t>Infiltration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02736" y="4361688"/>
            <a:ext cx="768096" cy="3200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ko-KR">
                <a:solidFill>
                  <a:srgbClr val="20262E"/>
                </a:solidFill>
                <a:latin typeface="Pretendard"/>
                <a:ea typeface="Pretendard"/>
                <a:cs typeface="Pretendard"/>
              </a:rPr>
              <a:t>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17136" y="4361688"/>
            <a:ext cx="1316736" cy="3200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ko-KR">
                <a:solidFill>
                  <a:srgbClr val="20262E"/>
                </a:solidFill>
                <a:latin typeface="Pretendard"/>
                <a:ea typeface="Pretendard"/>
                <a:cs typeface="Pretendard"/>
              </a:rPr>
              <a:t>1,000 + 3n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4718304"/>
            <a:ext cx="5340096" cy="44805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4809744"/>
            <a:ext cx="429768" cy="3200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ko-KR">
                <a:solidFill>
                  <a:srgbClr val="20262E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16152" y="4809744"/>
            <a:ext cx="2240279" cy="3200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ko-KR">
                <a:solidFill>
                  <a:srgbClr val="20262E"/>
                </a:solidFill>
                <a:latin typeface="Pretendard"/>
                <a:ea typeface="Pretendard"/>
                <a:cs typeface="Pretendard"/>
              </a:rPr>
              <a:t>Bot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02736" y="4809744"/>
            <a:ext cx="768096" cy="3200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ko-KR">
                <a:solidFill>
                  <a:srgbClr val="20262E"/>
                </a:solidFill>
                <a:latin typeface="Pretendard"/>
                <a:ea typeface="Pretendard"/>
                <a:cs typeface="Pretendard"/>
              </a:rPr>
              <a:t>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17136" y="4809744"/>
            <a:ext cx="1316736" cy="3200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ko-KR">
                <a:solidFill>
                  <a:srgbClr val="20262E"/>
                </a:solidFill>
                <a:latin typeface="Pretendard"/>
                <a:ea typeface="Pretendard"/>
                <a:cs typeface="Pretendard"/>
              </a:rPr>
              <a:t>1,000 + 4n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91072" y="1600200"/>
            <a:ext cx="5340096" cy="35297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lang="ko-KR">
                <a:solidFill>
                  <a:srgbClr val="007BC6"/>
                </a:solidFill>
                <a:latin typeface="Pretendard"/>
                <a:ea typeface="Pretendard"/>
                <a:cs typeface="Pretendard"/>
              </a:rPr>
              <a:t>ToN-IoT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91072" y="2084831"/>
            <a:ext cx="5340096" cy="420624"/>
          </a:xfrm>
          <a:prstGeom prst="rect">
            <a:avLst/>
          </a:prstGeom>
          <a:solidFill>
            <a:srgbClr val="00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45936" y="2176272"/>
            <a:ext cx="466344" cy="2286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단계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22007" y="2176272"/>
            <a:ext cx="2276856" cy="2286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새로 제공한 클래스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08592" y="2176272"/>
            <a:ext cx="804672" cy="2286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클래스당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22992" y="2176272"/>
            <a:ext cx="1353312" cy="2286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누적 합계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91072" y="2505456"/>
            <a:ext cx="5340096" cy="8686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64224" y="2596896"/>
            <a:ext cx="429768" cy="74066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ko-KR">
                <a:solidFill>
                  <a:srgbClr val="20262E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40296" y="2596896"/>
            <a:ext cx="2240279" cy="74066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ko-KR">
                <a:solidFill>
                  <a:srgbClr val="20262E"/>
                </a:solidFill>
                <a:latin typeface="Pretendard"/>
                <a:ea typeface="Pretendard"/>
                <a:cs typeface="Pretendard"/>
              </a:rPr>
              <a:t>Benign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ko-KR">
                <a:solidFill>
                  <a:srgbClr val="20262E"/>
                </a:solidFill>
                <a:latin typeface="Pretendard"/>
                <a:ea typeface="Pretendard"/>
                <a:cs typeface="Pretendard"/>
              </a:rPr>
              <a:t>DoS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ko-KR">
                <a:solidFill>
                  <a:srgbClr val="20262E"/>
                </a:solidFill>
                <a:latin typeface="Pretendard"/>
                <a:ea typeface="Pretendard"/>
                <a:cs typeface="Pretendard"/>
              </a:rPr>
              <a:t>Scanning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0" y="2596896"/>
            <a:ext cx="768096" cy="74066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ko-KR">
                <a:solidFill>
                  <a:srgbClr val="20262E"/>
                </a:solidFill>
                <a:latin typeface="Pretendard"/>
                <a:ea typeface="Pretendard"/>
                <a:cs typeface="Pretendard"/>
              </a:rPr>
              <a:t>750</a:t>
            </a:r>
          </a:p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ko-KR">
                <a:solidFill>
                  <a:srgbClr val="20262E"/>
                </a:solidFill>
                <a:latin typeface="Pretendard"/>
                <a:ea typeface="Pretendard"/>
                <a:cs typeface="Pretendard"/>
              </a:rPr>
              <a:t>125</a:t>
            </a:r>
          </a:p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ko-KR">
                <a:solidFill>
                  <a:srgbClr val="20262E"/>
                </a:solidFill>
                <a:latin typeface="Pretendard"/>
                <a:ea typeface="Pretendard"/>
                <a:cs typeface="Pretendard"/>
              </a:rPr>
              <a:t>125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241280" y="2596896"/>
            <a:ext cx="1316736" cy="74066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ko-KR">
                <a:solidFill>
                  <a:srgbClr val="20262E"/>
                </a:solidFill>
                <a:latin typeface="Pretendard"/>
                <a:ea typeface="Pretendard"/>
                <a:cs typeface="Pretendard"/>
              </a:rPr>
              <a:t>1,000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91072" y="3374135"/>
            <a:ext cx="5340096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64224" y="3465575"/>
            <a:ext cx="429768" cy="49377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ko-KR">
                <a:solidFill>
                  <a:srgbClr val="20262E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40296" y="3465575"/>
            <a:ext cx="2240279" cy="49377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ko-KR">
                <a:solidFill>
                  <a:srgbClr val="20262E"/>
                </a:solidFill>
                <a:latin typeface="Pretendard"/>
                <a:ea typeface="Pretendard"/>
                <a:cs typeface="Pretendard"/>
              </a:rPr>
              <a:t>DDoS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ko-KR">
                <a:solidFill>
                  <a:srgbClr val="20262E"/>
                </a:solidFill>
                <a:latin typeface="Pretendard"/>
                <a:ea typeface="Pretendard"/>
                <a:cs typeface="Pretendard"/>
              </a:rPr>
              <a:t>Injection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26880" y="3465575"/>
            <a:ext cx="768096" cy="49377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ko-KR">
                <a:solidFill>
                  <a:srgbClr val="20262E"/>
                </a:solidFill>
                <a:latin typeface="Pretendard"/>
                <a:ea typeface="Pretendard"/>
                <a:cs typeface="Pretendard"/>
              </a:rPr>
              <a:t>n</a:t>
            </a:r>
          </a:p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ko-KR">
                <a:solidFill>
                  <a:srgbClr val="20262E"/>
                </a:solidFill>
                <a:latin typeface="Pretendard"/>
                <a:ea typeface="Pretendard"/>
                <a:cs typeface="Pretendard"/>
              </a:rPr>
              <a:t>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241280" y="3465575"/>
            <a:ext cx="1316736" cy="49377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ko-KR">
                <a:solidFill>
                  <a:srgbClr val="20262E"/>
                </a:solidFill>
                <a:latin typeface="Pretendard"/>
                <a:ea typeface="Pretendard"/>
                <a:cs typeface="Pretendard"/>
              </a:rPr>
              <a:t>1,000 + 2n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91072" y="3995927"/>
            <a:ext cx="5340096" cy="44805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64224" y="4087367"/>
            <a:ext cx="429768" cy="3200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ko-KR">
                <a:solidFill>
                  <a:srgbClr val="20262E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40296" y="4087367"/>
            <a:ext cx="2240279" cy="3200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ko-KR">
                <a:solidFill>
                  <a:srgbClr val="20262E"/>
                </a:solidFill>
                <a:latin typeface="Pretendard"/>
                <a:ea typeface="Pretendard"/>
                <a:cs typeface="Pretendard"/>
              </a:rPr>
              <a:t>Password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326880" y="4087367"/>
            <a:ext cx="768096" cy="3200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ko-KR">
                <a:solidFill>
                  <a:srgbClr val="20262E"/>
                </a:solidFill>
                <a:latin typeface="Pretendard"/>
                <a:ea typeface="Pretendard"/>
                <a:cs typeface="Pretendard"/>
              </a:rPr>
              <a:t>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241280" y="4087367"/>
            <a:ext cx="1316736" cy="3200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ko-KR">
                <a:solidFill>
                  <a:srgbClr val="20262E"/>
                </a:solidFill>
                <a:latin typeface="Pretendard"/>
                <a:ea typeface="Pretendard"/>
                <a:cs typeface="Pretendard"/>
              </a:rPr>
              <a:t>1,000 + 3n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291072" y="4443983"/>
            <a:ext cx="5340096" cy="4480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64224" y="4535423"/>
            <a:ext cx="429768" cy="3200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ko-KR">
                <a:solidFill>
                  <a:srgbClr val="20262E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940296" y="4535423"/>
            <a:ext cx="2240279" cy="3200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ko-KR">
                <a:solidFill>
                  <a:srgbClr val="20262E"/>
                </a:solidFill>
                <a:latin typeface="Pretendard"/>
                <a:ea typeface="Pretendard"/>
                <a:cs typeface="Pretendard"/>
              </a:rPr>
              <a:t>XSS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326880" y="4535423"/>
            <a:ext cx="768096" cy="3200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ko-KR">
                <a:solidFill>
                  <a:srgbClr val="20262E"/>
                </a:solidFill>
                <a:latin typeface="Pretendard"/>
                <a:ea typeface="Pretendard"/>
                <a:cs typeface="Pretendard"/>
              </a:rPr>
              <a:t>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241280" y="4535423"/>
            <a:ext cx="1316736" cy="3200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ko-KR">
                <a:solidFill>
                  <a:srgbClr val="20262E"/>
                </a:solidFill>
                <a:latin typeface="Pretendard"/>
                <a:ea typeface="Pretendard"/>
                <a:cs typeface="Pretendard"/>
              </a:rPr>
              <a:t>1,000 + 4n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291072" y="4892040"/>
            <a:ext cx="5340096" cy="62179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364224" y="4983479"/>
            <a:ext cx="429768" cy="49377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ko-KR">
                <a:solidFill>
                  <a:srgbClr val="20262E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940296" y="4983479"/>
            <a:ext cx="2240279" cy="49377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ko-KR">
                <a:solidFill>
                  <a:srgbClr val="20262E"/>
                </a:solidFill>
                <a:latin typeface="Pretendard"/>
                <a:ea typeface="Pretendard"/>
                <a:cs typeface="Pretendard"/>
              </a:rPr>
              <a:t>Backdoor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ko-KR">
                <a:solidFill>
                  <a:srgbClr val="20262E"/>
                </a:solidFill>
                <a:latin typeface="Pretendard"/>
                <a:ea typeface="Pretendard"/>
                <a:cs typeface="Pretendard"/>
              </a:rPr>
              <a:t>Ransomware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326880" y="4983479"/>
            <a:ext cx="768096" cy="49377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ko-KR">
                <a:solidFill>
                  <a:srgbClr val="20262E"/>
                </a:solidFill>
                <a:latin typeface="Pretendard"/>
                <a:ea typeface="Pretendard"/>
                <a:cs typeface="Pretendard"/>
              </a:rPr>
              <a:t>n</a:t>
            </a:r>
          </a:p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ko-KR">
                <a:solidFill>
                  <a:srgbClr val="20262E"/>
                </a:solidFill>
                <a:latin typeface="Pretendard"/>
                <a:ea typeface="Pretendard"/>
                <a:cs typeface="Pretendard"/>
              </a:rPr>
              <a:t>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241280" y="4983479"/>
            <a:ext cx="1316736" cy="49377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ko-KR">
                <a:solidFill>
                  <a:srgbClr val="20262E"/>
                </a:solidFill>
                <a:latin typeface="Pretendard"/>
                <a:ea typeface="Pretendard"/>
                <a:cs typeface="Pretendard"/>
              </a:rPr>
              <a:t>1,000 + 6n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291072" y="5513831"/>
            <a:ext cx="5340096" cy="4480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364224" y="5605271"/>
            <a:ext cx="429768" cy="3200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ko-KR">
                <a:solidFill>
                  <a:srgbClr val="20262E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940296" y="5605271"/>
            <a:ext cx="2240279" cy="3200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ko-KR">
                <a:solidFill>
                  <a:srgbClr val="20262E"/>
                </a:solidFill>
                <a:latin typeface="Pretendard"/>
                <a:ea typeface="Pretendard"/>
                <a:cs typeface="Pretendard"/>
              </a:rPr>
              <a:t>MitM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326880" y="5605271"/>
            <a:ext cx="768096" cy="3200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ko-KR">
                <a:solidFill>
                  <a:srgbClr val="20262E"/>
                </a:solidFill>
                <a:latin typeface="Pretendard"/>
                <a:ea typeface="Pretendard"/>
                <a:cs typeface="Pretendard"/>
              </a:rPr>
              <a:t>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241280" y="5605271"/>
            <a:ext cx="1316736" cy="32004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ko-KR">
                <a:solidFill>
                  <a:srgbClr val="20262E"/>
                </a:solidFill>
                <a:latin typeface="Pretendard"/>
                <a:ea typeface="Pretendard"/>
                <a:cs typeface="Pretendard"/>
              </a:rPr>
              <a:t>1,000 + 7n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94360" y="6053328"/>
            <a:ext cx="10972800" cy="25603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ko-KR">
                <a:solidFill>
                  <a:srgbClr val="617080"/>
                </a:solidFill>
                <a:latin typeface="Pretendard"/>
                <a:ea typeface="Pretendard"/>
                <a:cs typeface="Pretendard"/>
              </a:rPr>
              <a:t>n = 100 예시 · CIC 총 1,400개 / ToN 총 1,700개 · 하루 공격량이 아닌 확보 라벨 수</a:t>
            </a:r>
          </a:p>
        </p:txBody>
      </p:sp>
      <p:sp>
        <p:nvSpPr>
          <p:cNvPr id="72" name="Rectangle 71"/>
          <p:cNvSpPr/>
          <p:nvPr/>
        </p:nvSpPr>
        <p:spPr>
          <a:xfrm>
            <a:off x="0" y="6446520"/>
            <a:ext cx="12191999" cy="411480"/>
          </a:xfrm>
          <a:prstGeom prst="rect">
            <a:avLst/>
          </a:prstGeom>
          <a:solidFill>
            <a:srgbClr val="003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66928" y="6528816"/>
            <a:ext cx="9738360" cy="21485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ko-KR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기존 결과 n = 10·20·50·100·200·400 · 100개는 최적값이 아닌 설명용 조건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469880" y="6537960"/>
            <a:ext cx="1143000" cy="20116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ko-KR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03   6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