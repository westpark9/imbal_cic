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IDS is a classifier of flow records, not a name for the dataset. Begin with the operational gap: only some attack labels are available initially; investigation later supplies a few examples of another attack. The research question is how much newly labelled data and update computation each method needs, while tracking existing-class quality. Do not infer a universal need for retraining from a weekday collection schedule. Full cumulative XGB refitting is our chosen baseline. This experiment evaluates adaptation after labelling, not unknown-attack detection before labelling or generalization across networks.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https://arxiv.org/html/2605.13986v1 Sections 1, 2.2, 2.5. Synthetic tasks concern pretraining, not our IDS evaluation rows. Context lives outside the weights. Updating a context does not write its rows into the model parameters. IDS fine-tuning would optimize the model using losses on labelled queries, but the displayed no-FT comparisons do not do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https://arxiv.org/html/2605.13986v1 Figure 5, Section 2.1. Original model diagram without a visible caption as requested. These are inference representations; they are not a sequence of IDS weight-training stages.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https://arxiv.org/html/2605.13986v1 Sections 2.2 and 2.4.2. The many-class decoder uses attention-weighted context labels. Updating the context may require rebuilding preprocessing and cache states. Frozen weights do not imply a free update.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trace: EXP77 data manifests -&gt; EXP71 cumulative run data -&gt; conflict-free fixed-split manifests. The stored suite may contain multiple benchmark keys, but the experiment selects one dataset independently; no CIC attacks are injected into ToN or vice versa. The 100-row example explains the old setting; the next page explicitly states it has no operational or optimality justification. Original row IDs are disjoint across train/test, but duplicate feature vectors can exist; this is not a claim of feature-disjoint holdout. Stages control which labels become available and how many; the researcher does not synthesize the network-feature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Counts and class arrival order from EXP77/EXP71 manifests. Initial total 750+125+125=1000. The n rows are real labelled training examples, not daily attack frequencies or test counts. Both methods receive the same IDs. Cumulative final sizes: CIC 1000+4n, ToN 1000+7n. Old displayed results sweep n=10/20/50/100/200/400, and the old cost snapshot uses n=100. 100 is an illustrative setting, not a statistical midpoint, optimum, or measured operational frequency. The revised n=5/10/20/30/50 buffer plan is design-only and has no results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graph is an unchanged crop of supplied PDF page 5; every plotted value is preserved. Only the framing changed: removed the 400-row winner callout and distinguished overall F1 from evidence of retention. This is completed 10–400 cumulative evidence, not the new 5–50 fixed-buffer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Unchanged graph crop from supplied PDF page 6. At n=100 final cumulative size is CIC 1400 / ToN 1700. Existing update times include model/context preparation after the initial stage, and exclude inference. These values do not establish fixed-buffer retention, minimum sufficient labels, or an end-to-end deployment cost advantage. Next experiment measures final new-class quality, paired existing-class changes and later update cost at n=5/10/20/30/50.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01752"/>
            <a:ext cx="11064240" cy="52120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lang="en-US">
                <a:solidFill>
                  <a:srgbClr val="00306C"/>
                </a:solidFill>
                <a:latin typeface="Pretendard"/>
                <a:ea typeface="Pretendard"/>
                <a:cs typeface="Pretendard"/>
              </a:rPr>
              <a:t>Adapting IDS with few newly labelled attacks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972800" cy="3222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Intrusion detection system (IDS) · Classify network flows as benign or attack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0972800" cy="6445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en-US">
                <a:solidFill>
                  <a:srgbClr val="00306C"/>
                </a:solidFill>
                <a:latin typeface="Pretendard"/>
                <a:ea typeface="Pretendard"/>
                <a:cs typeface="Pretendard"/>
              </a:rPr>
              <a:t>An attack absent from the initial labelled data may appear later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en-US">
                <a:solidFill>
                  <a:srgbClr val="00306C"/>
                </a:solidFill>
                <a:latin typeface="Pretendard"/>
                <a:ea typeface="Pretendard"/>
                <a:cs typeface="Pretendard"/>
              </a:rPr>
              <a:t>A fixed test score alone does not show how well a detector can adapt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596896"/>
            <a:ext cx="3337560" cy="14447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761488"/>
            <a:ext cx="3008376" cy="3222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en-US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At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19272"/>
            <a:ext cx="3008376" cy="52178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Benign + attacks A and B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Labels for a limited set of types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50791" y="3182112"/>
            <a:ext cx="320040" cy="256032"/>
          </a:xfrm>
          <a:prstGeom prst="rightArrow">
            <a:avLst/>
          </a:prstGeom>
          <a:solidFill>
            <a:srgbClr val="007B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25696" y="2596896"/>
            <a:ext cx="3337560" cy="14447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2761488"/>
            <a:ext cx="3008376" cy="3222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en-US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After investigation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3319272"/>
            <a:ext cx="3008376" cy="52178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A few labelled cases of C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New labels for the detector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909560" y="3182112"/>
            <a:ext cx="320040" cy="256032"/>
          </a:xfrm>
          <a:prstGeom prst="rightArrow">
            <a:avLst/>
          </a:prstGeom>
          <a:solidFill>
            <a:srgbClr val="007B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84463" y="2596896"/>
            <a:ext cx="3337560" cy="14447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9055" y="2761488"/>
            <a:ext cx="3008376" cy="3222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en-US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After updating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9055" y="3319272"/>
            <a:ext cx="3008376" cy="52178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Detection of C and update cost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Quality on earlier classes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480560"/>
            <a:ext cx="1691640" cy="33762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XGBoost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4480560"/>
            <a:ext cx="9052560" cy="38404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Refit the model on all available labels, including the new cases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093208"/>
            <a:ext cx="1691640" cy="33762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en-US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TabPFN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5093208"/>
            <a:ext cx="9052560" cy="38404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Supply existing and new cases as context to the pretrained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815584"/>
            <a:ext cx="10972800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en-US">
                <a:solidFill>
                  <a:srgbClr val="617080"/>
                </a:solidFill>
                <a:latin typeface="Pretendard"/>
                <a:ea typeface="Pretendard"/>
                <a:cs typeface="Pretendard"/>
              </a:rPr>
              <a:t>Evaluation scope · Adaptation after labels for a new attack become available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999" cy="411480"/>
          </a:xfrm>
          <a:prstGeom prst="rect">
            <a:avLst/>
          </a:prstGeom>
          <a:solidFill>
            <a:srgbClr val="00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6528816"/>
            <a:ext cx="9738360" cy="2148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Research question · Detection quality and update cost with few new labelled cases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69880" y="6537960"/>
            <a:ext cx="1143000" cy="201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01   1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01752"/>
            <a:ext cx="11064240" cy="52120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lang="en-US">
                <a:solidFill>
                  <a:srgbClr val="00306C"/>
                </a:solidFill>
                <a:latin typeface="Pretendard"/>
                <a:ea typeface="Pretendard"/>
                <a:cs typeface="Pretendard"/>
              </a:rPr>
              <a:t>TabPFN · Pretrained weights and supplied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972800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en-US">
                <a:solidFill>
                  <a:srgbClr val="617080"/>
                </a:solidFill>
                <a:latin typeface="Pretendard"/>
                <a:ea typeface="Pretendard"/>
                <a:cs typeface="Pretendard"/>
              </a:rPr>
              <a:t>Prediction rules pretrained on synthetic tabular tasks · TabPFN-3, arXiv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27048"/>
            <a:ext cx="10972800" cy="6752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en-US">
                <a:solidFill>
                  <a:srgbClr val="00306C"/>
                </a:solidFill>
                <a:latin typeface="Pretendard"/>
                <a:ea typeface="Pretendard"/>
                <a:cs typeface="Pretendard"/>
              </a:rPr>
              <a:t>Pretraining learns how to predict from examples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en-US">
                <a:solidFill>
                  <a:srgbClr val="00306C"/>
                </a:solidFill>
                <a:latin typeface="Pretendard"/>
                <a:ea typeface="Pretendard"/>
                <a:cs typeface="Pretendard"/>
              </a:rPr>
              <a:t>Examples defining the current IDS classes are supplied at prediction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395728"/>
            <a:ext cx="2953512" cy="914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42032"/>
            <a:ext cx="2606040" cy="3069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en-US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944368"/>
            <a:ext cx="2606040" cy="24554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Existing/new flows + labels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538728"/>
            <a:ext cx="2953512" cy="7955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657600"/>
            <a:ext cx="2606040" cy="3069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en-US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Query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023360"/>
            <a:ext cx="2606040" cy="24554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Unlabelled flow to classify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21608" y="2779776"/>
            <a:ext cx="429768" cy="292608"/>
          </a:xfrm>
          <a:prstGeom prst="rightArrow">
            <a:avLst/>
          </a:prstGeom>
          <a:solidFill>
            <a:srgbClr val="007B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3721608" y="3794760"/>
            <a:ext cx="429768" cy="292608"/>
          </a:xfrm>
          <a:prstGeom prst="rightArrow">
            <a:avLst/>
          </a:prstGeom>
          <a:solidFill>
            <a:srgbClr val="007B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2834640"/>
            <a:ext cx="3246120" cy="1335024"/>
          </a:xfrm>
          <a:prstGeom prst="rect">
            <a:avLst/>
          </a:prstGeom>
          <a:solidFill>
            <a:srgbClr val="00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063240"/>
            <a:ext cx="2880360" cy="39901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TabPFN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639312"/>
            <a:ext cx="2880360" cy="27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Pretrained weights fixed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836408" y="3346704"/>
            <a:ext cx="429768" cy="292608"/>
          </a:xfrm>
          <a:prstGeom prst="rightArrow">
            <a:avLst/>
          </a:prstGeom>
          <a:solidFill>
            <a:srgbClr val="007B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2834640"/>
            <a:ext cx="3090672" cy="133502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3108960"/>
            <a:ext cx="2715768" cy="3222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en-US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Class probabilities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657600"/>
            <a:ext cx="2715768" cy="2743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Benign · Attack A · Attack C 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690872"/>
            <a:ext cx="242316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en-US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In-context 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680" y="4690872"/>
            <a:ext cx="827532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Prediction conditioned on the supplied context; weights unchanged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340096"/>
            <a:ext cx="219456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en-US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Fine-tuning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5340096"/>
            <a:ext cx="8275320" cy="6035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Split IDS examples into context/query and backpropagate query loss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Additional weight training; not performed in this comparison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91999" cy="411480"/>
          </a:xfrm>
          <a:prstGeom prst="rect">
            <a:avLst/>
          </a:prstGeom>
          <a:solidFill>
            <a:srgbClr val="00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528816"/>
            <a:ext cx="9738360" cy="2148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Context supplies the current classification task even when pretrained weights are fixed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69880" y="6537960"/>
            <a:ext cx="1143000" cy="201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02   2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01752"/>
            <a:ext cx="11064240" cy="52120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lang="en-US">
                <a:solidFill>
                  <a:srgbClr val="00306C"/>
                </a:solidFill>
                <a:latin typeface="Pretendard"/>
                <a:ea typeface="Pretendard"/>
                <a:cs typeface="Pretendard"/>
              </a:rPr>
              <a:t>v3 architecture · Representing network flows</a:t>
            </a:r>
          </a:p>
        </p:txBody>
      </p:sp>
      <p:pic>
        <p:nvPicPr>
          <p:cNvPr id="3" name="Picture 2" descr="v3_architecture_page.png"/>
          <p:cNvPicPr>
            <a:picLocks noChangeAspect="1"/>
          </p:cNvPicPr>
          <p:nvPr/>
        </p:nvPicPr>
        <p:blipFill>
          <a:blip r:embed="rId3"/>
          <a:srcRect l="20000" t="8200" r="19000" b="28500"/>
          <a:stretch>
            <a:fillRect/>
          </a:stretch>
        </p:blipFill>
        <p:spPr>
          <a:xfrm>
            <a:off x="566928" y="987552"/>
            <a:ext cx="3611880" cy="53766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53712" y="1280160"/>
            <a:ext cx="7068312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en-US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1  Encode values · Cell embedding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3752" y="1901952"/>
            <a:ext cx="6629400" cy="79552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Encode each value, such as packet length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Include missing-value indicators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53712" y="2871215"/>
            <a:ext cx="7068312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en-US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2  Summarize columns · Feature embedding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3752" y="3493008"/>
            <a:ext cx="6629400" cy="79552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Summarize each feature across flows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Use the labels in the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3712" y="4462272"/>
            <a:ext cx="7068312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en-US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3  Combine features · Feature aggregation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73752" y="5084064"/>
            <a:ext cx="6629400" cy="79552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Combine a flow’s features into a representation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Prepare it for comparison with other flows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999" cy="411480"/>
          </a:xfrm>
          <a:prstGeom prst="rect">
            <a:avLst/>
          </a:prstGeom>
          <a:solidFill>
            <a:srgbClr val="00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28816"/>
            <a:ext cx="9738360" cy="2103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69880" y="6537960"/>
            <a:ext cx="1143000" cy="201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02   3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01752"/>
            <a:ext cx="11064240" cy="52120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lang="en-US">
                <a:solidFill>
                  <a:srgbClr val="00306C"/>
                </a:solidFill>
                <a:latin typeface="Pretendard"/>
                <a:ea typeface="Pretendard"/>
                <a:cs typeface="Pretendard"/>
              </a:rPr>
              <a:t>v3 architecture · Context and update computation</a:t>
            </a:r>
          </a:p>
        </p:txBody>
      </p:sp>
      <p:pic>
        <p:nvPicPr>
          <p:cNvPr id="3" name="Picture 2" descr="v3_architecture_page.png"/>
          <p:cNvPicPr>
            <a:picLocks noChangeAspect="1"/>
          </p:cNvPicPr>
          <p:nvPr/>
        </p:nvPicPr>
        <p:blipFill>
          <a:blip r:embed="rId3"/>
          <a:srcRect l="20000" t="8200" r="19000" b="28500"/>
          <a:stretch>
            <a:fillRect/>
          </a:stretch>
        </p:blipFill>
        <p:spPr>
          <a:xfrm>
            <a:off x="566928" y="987552"/>
            <a:ext cx="3611880" cy="53766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53712" y="1243584"/>
            <a:ext cx="7068312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en-US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4  Consult examples · In-context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3752" y="1856231"/>
            <a:ext cx="6611112" cy="713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Compare the query with context examples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Use attention to weight their relevance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53712" y="2761488"/>
            <a:ext cx="7068312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en-US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5  Predict probabilities · Many-class decoder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3752" y="3374136"/>
            <a:ext cx="6611112" cy="7132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Weight and combine the context labels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Retain benign, existing and new attack examples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53712" y="4672584"/>
            <a:ext cx="7040880" cy="1435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4855464"/>
            <a:ext cx="6629400" cy="3222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en-US">
                <a:solidFill>
                  <a:srgbClr val="00306C"/>
                </a:solidFill>
                <a:latin typeface="Pretendard"/>
                <a:ea typeface="Pretendard"/>
                <a:cs typeface="Pretendard"/>
              </a:rPr>
              <a:t>Update computation without weight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5449824"/>
            <a:ext cx="6611112" cy="552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Context preprocessing · Representations · Cache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Measure the cost against XGB refitting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999" cy="411480"/>
          </a:xfrm>
          <a:prstGeom prst="rect">
            <a:avLst/>
          </a:prstGeom>
          <a:solidFill>
            <a:srgbClr val="00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528816"/>
            <a:ext cx="9738360" cy="2148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No additional weight training does not by itself establish low update 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69880" y="6537960"/>
            <a:ext cx="1143000" cy="201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02   4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01752"/>
            <a:ext cx="11064240" cy="52120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lang="en-US">
                <a:solidFill>
                  <a:srgbClr val="00306C"/>
                </a:solidFill>
                <a:latin typeface="Pretendard"/>
                <a:ea typeface="Pretendard"/>
                <a:cs typeface="Pretendard"/>
              </a:rPr>
              <a:t>Evaluation data · From benchmark rows to labelled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972800" cy="6138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One row = features of a recorded network flow + its benign/attack label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Clean and split each benchmark separately; select examples within that benchmark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066543"/>
            <a:ext cx="1892807" cy="96926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68296"/>
            <a:ext cx="1581912" cy="33762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en-US">
                <a:solidFill>
                  <a:srgbClr val="00306C"/>
                </a:solidFill>
                <a:latin typeface="Pretendard"/>
                <a:ea typeface="Pretendard"/>
                <a:cs typeface="Pretendard"/>
              </a:rPr>
              <a:t>CIC2018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51760" y="2414015"/>
            <a:ext cx="365760" cy="256032"/>
          </a:xfrm>
          <a:prstGeom prst="rightArrow">
            <a:avLst/>
          </a:prstGeom>
          <a:solidFill>
            <a:srgbClr val="007B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36976" y="2066543"/>
            <a:ext cx="3822191" cy="96926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10712" y="2203703"/>
            <a:ext cx="3474720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en-US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Train · Candidate examples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2642615"/>
            <a:ext cx="3474720" cy="2651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Select initial cases, then new attacks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97496" y="2066543"/>
            <a:ext cx="4197096" cy="96926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71231" y="2203703"/>
            <a:ext cx="384962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en-US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Test · Fixed evaluation flows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71231" y="2642615"/>
            <a:ext cx="3849624" cy="2651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3,042,473 rows · Excluded from updates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346703"/>
            <a:ext cx="1892807" cy="96926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48456"/>
            <a:ext cx="1581912" cy="33762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en-US">
                <a:solidFill>
                  <a:srgbClr val="00306C"/>
                </a:solidFill>
                <a:latin typeface="Pretendard"/>
                <a:ea typeface="Pretendard"/>
                <a:cs typeface="Pretendard"/>
              </a:rPr>
              <a:t>ToN-IoT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651760" y="3694176"/>
            <a:ext cx="365760" cy="256032"/>
          </a:xfrm>
          <a:prstGeom prst="rightArrow">
            <a:avLst/>
          </a:prstGeom>
          <a:solidFill>
            <a:srgbClr val="007B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36976" y="3346703"/>
            <a:ext cx="3822191" cy="96926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0712" y="3483863"/>
            <a:ext cx="3474720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en-US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Train · Candidate examples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0712" y="3922776"/>
            <a:ext cx="3474720" cy="2651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Select initial cases, then new attacks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97496" y="3346703"/>
            <a:ext cx="4197096" cy="96926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71231" y="3483863"/>
            <a:ext cx="384962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en-US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Test · Fixed evaluation flows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1231" y="3922776"/>
            <a:ext cx="3849624" cy="2651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2,271,723 rows · Excluded from updates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681728"/>
            <a:ext cx="10972800" cy="3566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en-US">
                <a:solidFill>
                  <a:srgbClr val="00306C"/>
                </a:solidFill>
                <a:latin typeface="Pretendard"/>
                <a:ea typeface="Pretendard"/>
                <a:cs typeface="Pretendard"/>
              </a:rPr>
              <a:t>CIC example · Initial 1,000 + 100 DDoS rows from the same CIC train = 1,100 labels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349240"/>
            <a:ext cx="10972800" cy="60350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Use these same 1,100 rows for XGB refitting or as PFN context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“Current dataset” means the labelled examples supplied so far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91999" cy="411480"/>
          </a:xfrm>
          <a:prstGeom prst="rect">
            <a:avLst/>
          </a:prstGeom>
          <a:solidFill>
            <a:srgbClr val="00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528816"/>
            <a:ext cx="9738360" cy="2148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Independent CIC and ToN evaluations; selected real rows with a designed label-release schedule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69880" y="6537960"/>
            <a:ext cx="1143000" cy="201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03   5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01752"/>
            <a:ext cx="11064240" cy="52120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lang="en-US">
                <a:solidFill>
                  <a:srgbClr val="00306C"/>
                </a:solidFill>
                <a:latin typeface="Pretendard"/>
                <a:ea typeface="Pretendard"/>
                <a:cs typeface="Pretendard"/>
              </a:rPr>
              <a:t>Evaluation scenario · n labels per new attack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97280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en-US">
                <a:solidFill>
                  <a:srgbClr val="617080"/>
                </a:solidFill>
                <a:latin typeface="Pretendard"/>
                <a:ea typeface="Pretendard"/>
                <a:cs typeface="Pretendard"/>
              </a:rPr>
              <a:t>Counts = newly supplied training/context examples at each stage · Ordered by class arrival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5340096" cy="35297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en-US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CIC2018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5340096" cy="420624"/>
          </a:xfrm>
          <a:prstGeom prst="rect">
            <a:avLst/>
          </a:prstGeom>
          <a:solidFill>
            <a:srgbClr val="00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2176272"/>
            <a:ext cx="466344" cy="228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2176272"/>
            <a:ext cx="2276856" cy="228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Newly supplied class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84448" y="2176272"/>
            <a:ext cx="804672" cy="228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Per class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8847" y="2176272"/>
            <a:ext cx="1353312" cy="228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Total so far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05456"/>
            <a:ext cx="5340096" cy="8686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96896"/>
            <a:ext cx="429768" cy="7406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2" y="2596896"/>
            <a:ext cx="2240279" cy="7406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Benign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Brute force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2736" y="2596896"/>
            <a:ext cx="768096" cy="7406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750</a:t>
            </a:r>
          </a:p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125</a:t>
            </a:r>
          </a:p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125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2596896"/>
            <a:ext cx="1316736" cy="7406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1,000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374135"/>
            <a:ext cx="5340096" cy="4480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65575"/>
            <a:ext cx="429768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6152" y="3465575"/>
            <a:ext cx="2240279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DDoS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2736" y="3465575"/>
            <a:ext cx="768096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7136" y="3465575"/>
            <a:ext cx="1316736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1,000 + 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822191"/>
            <a:ext cx="5340096" cy="44805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913631"/>
            <a:ext cx="429768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913631"/>
            <a:ext cx="2240279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Web attacks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2736" y="3913631"/>
            <a:ext cx="768096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7136" y="3913631"/>
            <a:ext cx="1316736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1,000 + 2n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270248"/>
            <a:ext cx="5340096" cy="4480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361688"/>
            <a:ext cx="429768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361688"/>
            <a:ext cx="2240279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Infiltration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2736" y="4361688"/>
            <a:ext cx="768096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17136" y="4361688"/>
            <a:ext cx="1316736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1,000 + 3n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718304"/>
            <a:ext cx="5340096" cy="44805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809744"/>
            <a:ext cx="429768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16152" y="4809744"/>
            <a:ext cx="2240279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Bot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02736" y="4809744"/>
            <a:ext cx="768096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17136" y="4809744"/>
            <a:ext cx="1316736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1,000 + 4n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91072" y="1600200"/>
            <a:ext cx="5340096" cy="35297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en-US">
                <a:solidFill>
                  <a:srgbClr val="007BC6"/>
                </a:solidFill>
                <a:latin typeface="Pretendard"/>
                <a:ea typeface="Pretendard"/>
                <a:cs typeface="Pretendard"/>
              </a:rPr>
              <a:t>ToN-IoT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91072" y="2084831"/>
            <a:ext cx="5340096" cy="420624"/>
          </a:xfrm>
          <a:prstGeom prst="rect">
            <a:avLst/>
          </a:prstGeom>
          <a:solidFill>
            <a:srgbClr val="00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45936" y="2176272"/>
            <a:ext cx="466344" cy="228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Stage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22007" y="2176272"/>
            <a:ext cx="2276856" cy="228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Newly supplied class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08592" y="2176272"/>
            <a:ext cx="804672" cy="228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Per class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22992" y="2176272"/>
            <a:ext cx="1353312" cy="228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Total so far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91072" y="2505456"/>
            <a:ext cx="5340096" cy="8686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64224" y="2596896"/>
            <a:ext cx="429768" cy="7406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0296" y="2596896"/>
            <a:ext cx="2240279" cy="7406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Benign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DoS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Scanning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0" y="2596896"/>
            <a:ext cx="768096" cy="7406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750</a:t>
            </a:r>
          </a:p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125</a:t>
            </a:r>
          </a:p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125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2596896"/>
            <a:ext cx="1316736" cy="7406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1,000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91072" y="3374135"/>
            <a:ext cx="534009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64224" y="3465575"/>
            <a:ext cx="429768" cy="4937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40296" y="3465575"/>
            <a:ext cx="2240279" cy="4937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DDoS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Injection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26880" y="3465575"/>
            <a:ext cx="768096" cy="4937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n</a:t>
            </a:r>
          </a:p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41280" y="3465575"/>
            <a:ext cx="1316736" cy="4937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1,000 + 2n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91072" y="3995927"/>
            <a:ext cx="5340096" cy="44805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64224" y="4087367"/>
            <a:ext cx="429768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40296" y="4087367"/>
            <a:ext cx="2240279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Password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26880" y="4087367"/>
            <a:ext cx="768096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41280" y="4087367"/>
            <a:ext cx="1316736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1,000 + 3n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91072" y="4443983"/>
            <a:ext cx="5340096" cy="4480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64224" y="4535423"/>
            <a:ext cx="429768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0296" y="4535423"/>
            <a:ext cx="2240279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XSS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4535423"/>
            <a:ext cx="768096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41280" y="4535423"/>
            <a:ext cx="1316736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1,000 + 4n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91072" y="4892040"/>
            <a:ext cx="5340096" cy="6217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64224" y="4983479"/>
            <a:ext cx="429768" cy="4937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40296" y="4983479"/>
            <a:ext cx="2240279" cy="4937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Backdoor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Ransomware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326880" y="4983479"/>
            <a:ext cx="768096" cy="4937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n</a:t>
            </a:r>
          </a:p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41280" y="4983479"/>
            <a:ext cx="1316736" cy="49377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1,000 + 6n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91072" y="5513831"/>
            <a:ext cx="5340096" cy="4480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5605271"/>
            <a:ext cx="429768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40296" y="5605271"/>
            <a:ext cx="2240279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MitM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26880" y="5605271"/>
            <a:ext cx="768096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241280" y="5605271"/>
            <a:ext cx="1316736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1,000 + 7n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en-US">
                <a:solidFill>
                  <a:srgbClr val="617080"/>
                </a:solidFill>
                <a:latin typeface="Pretendard"/>
                <a:ea typeface="Pretendard"/>
                <a:cs typeface="Pretendard"/>
              </a:rPr>
              <a:t>At n = 100: CIC 1,400 / ToN 1,700 total labels; n is a label budget, not daily traffic volume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446520"/>
            <a:ext cx="12191999" cy="411480"/>
          </a:xfrm>
          <a:prstGeom prst="rect">
            <a:avLst/>
          </a:prstGeom>
          <a:solidFill>
            <a:srgbClr val="00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6928" y="6528816"/>
            <a:ext cx="9738360" cy="2148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Completed sweep: n = 10, 20, 50, 100, 200, 400; 100 is illustrative, not an optimum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469880" y="6537960"/>
            <a:ext cx="1143000" cy="201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03   6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01752"/>
            <a:ext cx="11064240" cy="52120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lang="en-US">
                <a:solidFill>
                  <a:srgbClr val="00306C"/>
                </a:solidFill>
                <a:latin typeface="Pretendard"/>
                <a:ea typeface="Pretendard"/>
                <a:cs typeface="Pretendard"/>
              </a:rPr>
              <a:t>Completed cumulative study · Quality versus labels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972800" cy="33832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en-US">
                <a:solidFill>
                  <a:srgbClr val="617080"/>
                </a:solidFill>
                <a:latin typeface="Pretendard"/>
                <a:ea typeface="Pretendard"/>
                <a:cs typeface="Pretendard"/>
              </a:rPr>
              <a:t>Initial 1,000 · 10 to 400 labels/new class · Cumulative data · Final model on full test</a:t>
            </a:r>
          </a:p>
        </p:txBody>
      </p:sp>
      <p:pic>
        <p:nvPicPr>
          <p:cNvPr id="4" name="Picture 3" descr="original-5.png"/>
          <p:cNvPicPr>
            <a:picLocks noChangeAspect="1"/>
          </p:cNvPicPr>
          <p:nvPr/>
        </p:nvPicPr>
        <p:blipFill>
          <a:blip r:embed="rId3"/>
          <a:srcRect l="1700" t="28600" r="1700" b="17100"/>
          <a:stretch>
            <a:fillRect/>
          </a:stretch>
        </p:blipFill>
        <p:spPr>
          <a:xfrm>
            <a:off x="201168" y="1645920"/>
            <a:ext cx="11786616" cy="3721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5605272"/>
            <a:ext cx="10972800" cy="58521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Overall quality as the number of available labels changes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en-US">
                <a:solidFill>
                  <a:srgbClr val="20262E"/>
                </a:solidFill>
                <a:latin typeface="Pretendard"/>
                <a:ea typeface="Pretendard"/>
                <a:cs typeface="Pretendard"/>
              </a:rPr>
              <a:t>New-attack detection and before/after retention require separate measurements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999" cy="411480"/>
          </a:xfrm>
          <a:prstGeom prst="rect">
            <a:avLst/>
          </a:prstGeom>
          <a:solidFill>
            <a:srgbClr val="00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28816"/>
            <a:ext cx="9738360" cy="2148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Planned buffer comparison: supply all 5, 10, 20, 30 or 50 new examples per class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69880" y="6537960"/>
            <a:ext cx="1143000" cy="201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04   7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01752"/>
            <a:ext cx="11064240" cy="52120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lang="en-US">
                <a:solidFill>
                  <a:srgbClr val="00306C"/>
                </a:solidFill>
                <a:latin typeface="Pretendard"/>
                <a:ea typeface="Pretendard"/>
                <a:cs typeface="Pretendard"/>
              </a:rPr>
              <a:t>Completed cumulative experiment · Quality and update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972800" cy="3291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en-US">
                <a:solidFill>
                  <a:srgbClr val="617080"/>
                </a:solidFill>
                <a:latin typeface="Pretendard"/>
                <a:ea typeface="Pretendard"/>
                <a:cs typeface="Pretendard"/>
              </a:rPr>
              <a:t>Illustrative n = 100 · XGB cumulative refit / PFN cumulative context · No IDS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90472"/>
            <a:ext cx="10972800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en-US">
                <a:solidFill>
                  <a:srgbClr val="00306C"/>
                </a:solidFill>
                <a:latin typeface="Pretendard"/>
                <a:ea typeface="Pretendard"/>
                <a:cs typeface="Pretendard"/>
              </a:rPr>
              <a:t>Update cost = sum over stages after stage 1; initial preparation and inference excluded</a:t>
            </a:r>
          </a:p>
        </p:txBody>
      </p:sp>
      <p:pic>
        <p:nvPicPr>
          <p:cNvPr id="5" name="Picture 4" descr="original-6.png"/>
          <p:cNvPicPr>
            <a:picLocks noChangeAspect="1"/>
          </p:cNvPicPr>
          <p:nvPr/>
        </p:nvPicPr>
        <p:blipFill>
          <a:blip r:embed="rId3"/>
          <a:srcRect l="1350" t="29700" r="1350" b="500"/>
          <a:stretch>
            <a:fillRect/>
          </a:stretch>
        </p:blipFill>
        <p:spPr>
          <a:xfrm>
            <a:off x="822960" y="1947672"/>
            <a:ext cx="10543032" cy="4251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46520"/>
            <a:ext cx="12191999" cy="411480"/>
          </a:xfrm>
          <a:prstGeom prst="rect">
            <a:avLst/>
          </a:prstGeom>
          <a:solidFill>
            <a:srgbClr val="00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28816"/>
            <a:ext cx="9738360" cy="21485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Measured costs for this small cumulative setting; fixed-buffer retention remains to be tested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69880" y="6537960"/>
            <a:ext cx="1143000" cy="2011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04   8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