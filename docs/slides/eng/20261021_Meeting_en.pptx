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setting begins with attack labels available at deployment and later receives a few labelled examples of additional attacks. The question is whether the detector can incorporate them while retaining benign and previously labelled attack discrimination. The cited study motivates data scarcity, changing inputs, and error costs; it is not a direct XGBoost–TabPFN 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CIC2018 scheduled different attack types on different collection dates. We retain the order in which those attack types appeared and reveal labelled training rows in that order. We do not sort every row by timestamp, preserve the original time gaps, or replay the complete benign and attack traffic timeline. This is therefore a controlled label-release replay rather than temporal reproduction. ToN-IoT is evaluated independently using its own training split and attack-introduction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TabPFN is a Transformer-based predictor pretrained on synthetic tabular tasks. The labelled context and an unlabelled query are supplied at inference. The backbone remains frozen in this comparison, while context preprocessing and cache preparation are still measured. Lower update cost and useful quality with few labels are hypotheses evaluated by the experiment.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CIC2018 begins with 750 benign, 125 Brute force, and 125 DoS rows. DDoS, Web attacks, Infiltration, and Bot are then released with n labelled rows per class. Cumulative retention keeps all released rows, while the fixed buffer removes existing rows and inserts every new row. XGBoost is refitted and TabPFN refreshes its context and cache using the same retained row IDs. Final quality is measured on the same fixed test set, retention on a fixed known-class panel, and update cost after Stage 1 with inference excluded.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hyperlink" Target="https://www.icir.org/robin/papers/oakland10-ml.pdf"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www.unb.ca/cic/datasets/ids-2018.html" TargetMode="External"/><Relationship Id="rId4" Type="http://schemas.openxmlformats.org/officeDocument/2006/relationships/hyperlink" Target="https://research.unsw.edu.au/projects/toniot-datase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s://arxiv.org/abs/2605.13986"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en-US">
                <a:solidFill>
                  <a:srgbClr val="00306C"/>
                </a:solidFill>
                <a:latin typeface="Pretendard"/>
                <a:ea typeface="Pretendard"/>
                <a:cs typeface="Pretendard"/>
              </a:rPr>
              <a:t>IDS update problem · New attacks with few labels</a:t>
            </a:r>
          </a:p>
        </p:txBody>
      </p:sp>
      <p:sp>
        <p:nvSpPr>
          <p:cNvPr id="3" name="TextBox 2"/>
          <p:cNvSpPr txBox="1"/>
          <p:nvPr/>
        </p:nvSpPr>
        <p:spPr>
          <a:xfrm>
            <a:off x="566928" y="1005840"/>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0" lang="en-US">
                <a:solidFill>
                  <a:srgbClr val="20262E"/>
                </a:solidFill>
                <a:latin typeface="Pretendard"/>
                <a:ea typeface="Pretendard"/>
                <a:cs typeface="Pretendard"/>
              </a:rPr>
              <a:t>Intrusion detection system (IDS) · Classifies network records as benign or attack types</a:t>
            </a:r>
          </a:p>
        </p:txBody>
      </p:sp>
      <p:sp>
        <p:nvSpPr>
          <p:cNvPr id="4" name="TextBox 3"/>
          <p:cNvSpPr txBox="1"/>
          <p:nvPr/>
        </p:nvSpPr>
        <p:spPr>
          <a:xfrm>
            <a:off x="566928" y="1682496"/>
            <a:ext cx="10972800" cy="960120"/>
          </a:xfrm>
          <a:prstGeom prst="rect">
            <a:avLst/>
          </a:prstGeom>
          <a:noFill/>
          <a:effectLst/>
        </p:spPr>
        <p:txBody>
          <a:bodyPr wrap="none" anchor="t" lIns="0" rIns="0" tIns="0" bIns="0">
            <a:noAutofit/>
          </a:bodyPr>
          <a:lstStyle/>
          <a:p>
            <a:pPr algn="l">
              <a:lnSpc>
                <a:spcPct val="116000"/>
              </a:lnSpc>
              <a:spcBef>
                <a:spcPts val="0"/>
              </a:spcBef>
              <a:spcAft>
                <a:spcPts val="0"/>
              </a:spcAft>
            </a:pPr>
            <a:r>
              <a:rPr sz="2900" b="1" lang="en-US">
                <a:solidFill>
                  <a:srgbClr val="00306C"/>
                </a:solidFill>
                <a:latin typeface="Pretendard"/>
                <a:ea typeface="Pretendard"/>
                <a:cs typeface="Pretendard"/>
              </a:rPr>
              <a:t>Labels available at deployment are insufficient</a:t>
            </a:r>
          </a:p>
          <a:p>
            <a:pPr algn="l">
              <a:lnSpc>
                <a:spcPct val="116000"/>
              </a:lnSpc>
              <a:spcBef>
                <a:spcPts val="0"/>
              </a:spcBef>
              <a:spcAft>
                <a:spcPts val="0"/>
              </a:spcAft>
            </a:pPr>
            <a:r>
              <a:rPr sz="2900" b="1" lang="en-US">
                <a:solidFill>
                  <a:srgbClr val="00306C"/>
                </a:solidFill>
                <a:latin typeface="Pretendard"/>
                <a:ea typeface="Pretendard"/>
                <a:cs typeface="Pretendard"/>
              </a:rPr>
              <a:t>for attack types observed later</a:t>
            </a:r>
          </a:p>
        </p:txBody>
      </p:sp>
      <p:sp>
        <p:nvSpPr>
          <p:cNvPr id="5" name="Rectangle 4"/>
          <p:cNvSpPr/>
          <p:nvPr/>
        </p:nvSpPr>
        <p:spPr>
          <a:xfrm>
            <a:off x="566928" y="2953512"/>
            <a:ext cx="3328416" cy="1517904"/>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66928" y="2953512"/>
            <a:ext cx="3328416" cy="438912"/>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13232" y="3044952"/>
            <a:ext cx="301752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en-US">
                <a:solidFill>
                  <a:srgbClr val="FFFFFF"/>
                </a:solidFill>
                <a:latin typeface="Pretendard"/>
                <a:ea typeface="Pretendard"/>
                <a:cs typeface="Pretendard"/>
              </a:rPr>
              <a:t>Changing inputs</a:t>
            </a:r>
          </a:p>
        </p:txBody>
      </p:sp>
      <p:sp>
        <p:nvSpPr>
          <p:cNvPr id="8" name="TextBox 7"/>
          <p:cNvSpPr txBox="1"/>
          <p:nvPr/>
        </p:nvSpPr>
        <p:spPr>
          <a:xfrm>
            <a:off x="713232" y="3602736"/>
            <a:ext cx="3017520" cy="685800"/>
          </a:xfrm>
          <a:prstGeom prst="rect">
            <a:avLst/>
          </a:prstGeom>
          <a:noFill/>
          <a:effectLst/>
        </p:spPr>
        <p:txBody>
          <a:bodyPr wrap="none" anchor="t" lIns="0" rIns="0" tIns="0" bIns="0">
            <a:noAutofit/>
          </a:bodyPr>
          <a:lstStyle/>
          <a:p>
            <a:pPr algn="l">
              <a:lnSpc>
                <a:spcPct val="116000"/>
              </a:lnSpc>
              <a:spcBef>
                <a:spcPts val="0"/>
              </a:spcBef>
              <a:spcAft>
                <a:spcPts val="0"/>
              </a:spcAft>
            </a:pPr>
            <a:r>
              <a:rPr sz="1200" b="0" lang="en-US">
                <a:solidFill>
                  <a:srgbClr val="20262E"/>
                </a:solidFill>
                <a:latin typeface="Pretendard"/>
                <a:ea typeface="Pretendard"/>
                <a:cs typeface="Pretendard"/>
              </a:rPr>
              <a:t>Variation in networks, services, and attacks</a:t>
            </a:r>
          </a:p>
          <a:p>
            <a:pPr algn="l">
              <a:lnSpc>
                <a:spcPct val="116000"/>
              </a:lnSpc>
              <a:spcBef>
                <a:spcPts val="0"/>
              </a:spcBef>
              <a:spcAft>
                <a:spcPts val="0"/>
              </a:spcAft>
            </a:pPr>
            <a:r>
              <a:rPr sz="1200" b="0" lang="en-US">
                <a:solidFill>
                  <a:srgbClr val="20262E"/>
                </a:solidFill>
                <a:latin typeface="Pretendard"/>
                <a:ea typeface="Pretendard"/>
                <a:cs typeface="Pretendard"/>
              </a:rPr>
              <a:t>Traffic differs from the training period</a:t>
            </a:r>
          </a:p>
        </p:txBody>
      </p:sp>
      <p:sp>
        <p:nvSpPr>
          <p:cNvPr id="9" name="Rectangle 8"/>
          <p:cNvSpPr/>
          <p:nvPr/>
        </p:nvSpPr>
        <p:spPr>
          <a:xfrm>
            <a:off x="4434840" y="2953512"/>
            <a:ext cx="3328416" cy="1517904"/>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434840" y="2953512"/>
            <a:ext cx="3328416" cy="438912"/>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581144" y="3044952"/>
            <a:ext cx="301752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en-US">
                <a:solidFill>
                  <a:srgbClr val="FFFFFF"/>
                </a:solidFill>
                <a:latin typeface="Pretendard"/>
                <a:ea typeface="Pretendard"/>
                <a:cs typeface="Pretendard"/>
              </a:rPr>
              <a:t>Few attack labels</a:t>
            </a:r>
          </a:p>
        </p:txBody>
      </p:sp>
      <p:sp>
        <p:nvSpPr>
          <p:cNvPr id="12" name="TextBox 11"/>
          <p:cNvSpPr txBox="1"/>
          <p:nvPr/>
        </p:nvSpPr>
        <p:spPr>
          <a:xfrm>
            <a:off x="4581144" y="3602736"/>
            <a:ext cx="3017520" cy="685800"/>
          </a:xfrm>
          <a:prstGeom prst="rect">
            <a:avLst/>
          </a:prstGeom>
          <a:noFill/>
          <a:effectLst/>
        </p:spPr>
        <p:txBody>
          <a:bodyPr wrap="none" anchor="t" lIns="0" rIns="0" tIns="0" bIns="0">
            <a:noAutofit/>
          </a:bodyPr>
          <a:lstStyle/>
          <a:p>
            <a:pPr algn="l">
              <a:lnSpc>
                <a:spcPct val="116000"/>
              </a:lnSpc>
              <a:spcBef>
                <a:spcPts val="0"/>
              </a:spcBef>
              <a:spcAft>
                <a:spcPts val="0"/>
              </a:spcAft>
            </a:pPr>
            <a:r>
              <a:rPr sz="1397" b="0" lang="en-US">
                <a:solidFill>
                  <a:srgbClr val="20262E"/>
                </a:solidFill>
                <a:latin typeface="Pretendard"/>
                <a:ea typeface="Pretendard"/>
                <a:cs typeface="Pretendard"/>
              </a:rPr>
              <a:t>Labelled examples after investigation</a:t>
            </a:r>
          </a:p>
          <a:p>
            <a:pPr algn="l">
              <a:lnSpc>
                <a:spcPct val="116000"/>
              </a:lnSpc>
              <a:spcBef>
                <a:spcPts val="0"/>
              </a:spcBef>
              <a:spcAft>
                <a:spcPts val="0"/>
              </a:spcAft>
            </a:pPr>
            <a:r>
              <a:rPr sz="1397" b="0" lang="en-US">
                <a:solidFill>
                  <a:srgbClr val="20262E"/>
                </a:solidFill>
                <a:latin typeface="Pretendard"/>
                <a:ea typeface="Pretendard"/>
                <a:cs typeface="Pretendard"/>
              </a:rPr>
              <a:t>Limited data for model updating</a:t>
            </a:r>
          </a:p>
        </p:txBody>
      </p:sp>
      <p:sp>
        <p:nvSpPr>
          <p:cNvPr id="13" name="Rectangle 12"/>
          <p:cNvSpPr/>
          <p:nvPr/>
        </p:nvSpPr>
        <p:spPr>
          <a:xfrm>
            <a:off x="8302752" y="2953512"/>
            <a:ext cx="3328416" cy="1517904"/>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8302752" y="2953512"/>
            <a:ext cx="3328416" cy="438912"/>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449056" y="3044952"/>
            <a:ext cx="301752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1688" b="1" lang="en-US">
                <a:solidFill>
                  <a:srgbClr val="FFFFFF"/>
                </a:solidFill>
                <a:latin typeface="Pretendard"/>
                <a:ea typeface="Pretendard"/>
                <a:cs typeface="Pretendard"/>
              </a:rPr>
              <a:t>False alarms and update cost</a:t>
            </a:r>
          </a:p>
        </p:txBody>
      </p:sp>
      <p:sp>
        <p:nvSpPr>
          <p:cNvPr id="16" name="TextBox 15"/>
          <p:cNvSpPr txBox="1"/>
          <p:nvPr/>
        </p:nvSpPr>
        <p:spPr>
          <a:xfrm>
            <a:off x="8449056" y="3602736"/>
            <a:ext cx="3017520" cy="685800"/>
          </a:xfrm>
          <a:prstGeom prst="rect">
            <a:avLst/>
          </a:prstGeom>
          <a:noFill/>
          <a:effectLst/>
        </p:spPr>
        <p:txBody>
          <a:bodyPr wrap="none" anchor="t" lIns="0" rIns="0" tIns="0" bIns="0">
            <a:noAutofit/>
          </a:bodyPr>
          <a:lstStyle/>
          <a:p>
            <a:pPr algn="l">
              <a:lnSpc>
                <a:spcPct val="116000"/>
              </a:lnSpc>
              <a:spcBef>
                <a:spcPts val="0"/>
              </a:spcBef>
              <a:spcAft>
                <a:spcPts val="0"/>
              </a:spcAft>
            </a:pPr>
            <a:r>
              <a:rPr sz="1312" b="0" lang="en-US">
                <a:solidFill>
                  <a:srgbClr val="20262E"/>
                </a:solidFill>
                <a:latin typeface="Pretendard"/>
                <a:ea typeface="Pretendard"/>
                <a:cs typeface="Pretendard"/>
              </a:rPr>
              <a:t>Incorrect alarms on benign traffic</a:t>
            </a:r>
          </a:p>
          <a:p>
            <a:pPr algn="l">
              <a:lnSpc>
                <a:spcPct val="116000"/>
              </a:lnSpc>
              <a:spcBef>
                <a:spcPts val="0"/>
              </a:spcBef>
              <a:spcAft>
                <a:spcPts val="0"/>
              </a:spcAft>
            </a:pPr>
            <a:r>
              <a:rPr sz="1312" b="0" lang="en-US">
                <a:solidFill>
                  <a:srgbClr val="20262E"/>
                </a:solidFill>
                <a:latin typeface="Pretendard"/>
                <a:ea typeface="Pretendard"/>
                <a:cs typeface="Pretendard"/>
              </a:rPr>
              <a:t>Additional computation for each update</a:t>
            </a:r>
          </a:p>
        </p:txBody>
      </p:sp>
      <p:sp>
        <p:nvSpPr>
          <p:cNvPr id="17" name="TextBox 16"/>
          <p:cNvSpPr txBox="1"/>
          <p:nvPr/>
        </p:nvSpPr>
        <p:spPr>
          <a:xfrm>
            <a:off x="603504" y="4800600"/>
            <a:ext cx="10972800"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1975" b="1" lang="en-US">
                <a:solidFill>
                  <a:srgbClr val="007BC6"/>
                </a:solidFill>
                <a:latin typeface="Pretendard"/>
                <a:ea typeface="Pretendard"/>
                <a:cs typeface="Pretendard"/>
              </a:rPr>
              <a:t>Evaluate quality and cost after incorporating new labels, beyond one fixed closed-set score</a:t>
            </a:r>
          </a:p>
        </p:txBody>
      </p:sp>
      <p:sp>
        <p:nvSpPr>
          <p:cNvPr id="18" name="TextBox 17"/>
          <p:cNvSpPr txBox="1"/>
          <p:nvPr/>
        </p:nvSpPr>
        <p:spPr>
          <a:xfrm>
            <a:off x="603504" y="5504688"/>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en-US">
                <a:solidFill>
                  <a:srgbClr val="617080"/>
                </a:solidFill>
                <a:latin typeface="Pretendard"/>
                <a:ea typeface="Pretendard"/>
                <a:cs typeface="Pretendard"/>
                <a:hlinkClick r:id="rId3"/>
              </a:rPr>
              <a:t>Sommer · Paxson, Outside the Closed World: On Using Machine Learning</a:t>
            </a:r>
          </a:p>
        </p:txBody>
      </p:sp>
      <p:sp>
        <p:nvSpPr>
          <p:cNvPr id="19" name="TextBox 18"/>
          <p:cNvSpPr txBox="1"/>
          <p:nvPr/>
        </p:nvSpPr>
        <p:spPr>
          <a:xfrm>
            <a:off x="603504" y="5797296"/>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en-US">
                <a:solidFill>
                  <a:srgbClr val="617080"/>
                </a:solidFill>
                <a:latin typeface="Pretendard"/>
                <a:ea typeface="Pretendard"/>
                <a:cs typeface="Pretendard"/>
                <a:hlinkClick r:id="rId3"/>
              </a:rPr>
              <a:t>for Network Intrusion Detection, IEEE S&amp;P 2010 · Data scarcity, input variability, and error costs</a:t>
            </a:r>
          </a:p>
        </p:txBody>
      </p:sp>
      <p:sp>
        <p:nvSpPr>
          <p:cNvPr id="20" name="Rectangle 19"/>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en-US">
                <a:solidFill>
                  <a:srgbClr val="FFFFFF"/>
                </a:solidFill>
                <a:latin typeface="Pretendard"/>
                <a:ea typeface="Pretendard"/>
                <a:cs typeface="Pretendard"/>
              </a:rPr>
              <a:t>Research question · Incorporating a few labelled new attacks into an existing detector</a:t>
            </a:r>
          </a:p>
        </p:txBody>
      </p:sp>
      <p:sp>
        <p:nvSpPr>
          <p:cNvPr id="22" name="TextBox 21"/>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en-US">
                <a:solidFill>
                  <a:srgbClr val="C9D8EB"/>
                </a:solidFill>
                <a:latin typeface="Pretendard"/>
                <a:ea typeface="Pretendard"/>
                <a:cs typeface="Pretendard"/>
              </a:rPr>
              <a:t>01 Problem</a:t>
            </a:r>
          </a:p>
        </p:txBody>
      </p:sp>
      <p:sp>
        <p:nvSpPr>
          <p:cNvPr id="23" name="TextBox 22"/>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en-US">
                <a:solidFill>
                  <a:srgbClr val="FFFFFF"/>
                </a:solidFill>
                <a:latin typeface="Pretendard"/>
                <a:ea typeface="Pretendard"/>
                <a:cs typeface="Pretendard"/>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2780" b="1" lang="en-US">
                <a:solidFill>
                  <a:srgbClr val="00306C"/>
                </a:solidFill>
                <a:latin typeface="Pretendard"/>
                <a:ea typeface="Pretendard"/>
                <a:cs typeface="Pretendard"/>
              </a:rPr>
              <a:t>Stage-wise detector updates based on the attack collection order</a:t>
            </a:r>
          </a:p>
        </p:txBody>
      </p:sp>
      <p:sp>
        <p:nvSpPr>
          <p:cNvPr id="3" name="TextBox 2"/>
          <p:cNvSpPr txBox="1"/>
          <p:nvPr/>
        </p:nvSpPr>
        <p:spPr>
          <a:xfrm>
            <a:off x="566928" y="1024128"/>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082" b="1" lang="en-US">
                <a:solidFill>
                  <a:srgbClr val="00306C"/>
                </a:solidFill>
                <a:latin typeface="Pretendard"/>
                <a:ea typeface="Pretendard"/>
                <a:cs typeface="Pretendard"/>
              </a:rPr>
              <a:t>CSE-CIC-IDS2018 · Benign activity and scheduled attacks collected in an AWS testbed</a:t>
            </a:r>
          </a:p>
        </p:txBody>
      </p:sp>
      <p:sp>
        <p:nvSpPr>
          <p:cNvPr id="4" name="TextBox 3"/>
          <p:cNvSpPr txBox="1"/>
          <p:nvPr/>
        </p:nvSpPr>
        <p:spPr>
          <a:xfrm>
            <a:off x="566928" y="155448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en-US">
                <a:solidFill>
                  <a:srgbClr val="617080"/>
                </a:solidFill>
                <a:latin typeface="Pretendard"/>
                <a:ea typeface="Pretendard"/>
                <a:cs typeface="Pretendard"/>
                <a:hlinkClick r:id="rId3"/>
              </a:rPr>
              <a:t>CSE · UNB CIC, CSE-CIC-IDS2018 on AWS, 2018 · Official attack collection schedule</a:t>
            </a:r>
          </a:p>
        </p:txBody>
      </p:sp>
      <p:sp>
        <p:nvSpPr>
          <p:cNvPr id="5" name="Rectangle 4"/>
          <p:cNvSpPr/>
          <p:nvPr/>
        </p:nvSpPr>
        <p:spPr>
          <a:xfrm>
            <a:off x="56692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58368"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en-US">
                <a:solidFill>
                  <a:srgbClr val="007BC6"/>
                </a:solidFill>
                <a:latin typeface="Pretendard"/>
                <a:ea typeface="Pretendard"/>
                <a:cs typeface="Pretendard"/>
              </a:rPr>
              <a:t>2/14</a:t>
            </a:r>
          </a:p>
        </p:txBody>
      </p:sp>
      <p:sp>
        <p:nvSpPr>
          <p:cNvPr id="7" name="TextBox 6"/>
          <p:cNvSpPr txBox="1"/>
          <p:nvPr/>
        </p:nvSpPr>
        <p:spPr>
          <a:xfrm>
            <a:off x="658368"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en-US">
                <a:solidFill>
                  <a:srgbClr val="20262E"/>
                </a:solidFill>
                <a:latin typeface="Pretendard"/>
                <a:ea typeface="Pretendard"/>
                <a:cs typeface="Pretendard"/>
              </a:rPr>
              <a:t>Brute force</a:t>
            </a:r>
          </a:p>
        </p:txBody>
      </p:sp>
      <p:sp>
        <p:nvSpPr>
          <p:cNvPr id="8" name="Right Arrow 7"/>
          <p:cNvSpPr/>
          <p:nvPr/>
        </p:nvSpPr>
        <p:spPr>
          <a:xfrm>
            <a:off x="227685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248716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578608"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en-US">
                <a:solidFill>
                  <a:srgbClr val="007BC6"/>
                </a:solidFill>
                <a:latin typeface="Pretendard"/>
                <a:ea typeface="Pretendard"/>
                <a:cs typeface="Pretendard"/>
              </a:rPr>
              <a:t>2/15·16</a:t>
            </a:r>
          </a:p>
        </p:txBody>
      </p:sp>
      <p:sp>
        <p:nvSpPr>
          <p:cNvPr id="11" name="TextBox 10"/>
          <p:cNvSpPr txBox="1"/>
          <p:nvPr/>
        </p:nvSpPr>
        <p:spPr>
          <a:xfrm>
            <a:off x="2578608"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en-US">
                <a:solidFill>
                  <a:srgbClr val="20262E"/>
                </a:solidFill>
                <a:latin typeface="Pretendard"/>
                <a:ea typeface="Pretendard"/>
                <a:cs typeface="Pretendard"/>
              </a:rPr>
              <a:t>DoS</a:t>
            </a:r>
          </a:p>
        </p:txBody>
      </p:sp>
      <p:sp>
        <p:nvSpPr>
          <p:cNvPr id="12" name="Right Arrow 11"/>
          <p:cNvSpPr/>
          <p:nvPr/>
        </p:nvSpPr>
        <p:spPr>
          <a:xfrm>
            <a:off x="419709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40740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498848"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en-US">
                <a:solidFill>
                  <a:srgbClr val="007BC6"/>
                </a:solidFill>
                <a:latin typeface="Pretendard"/>
                <a:ea typeface="Pretendard"/>
                <a:cs typeface="Pretendard"/>
              </a:rPr>
              <a:t>2/20·21</a:t>
            </a:r>
          </a:p>
        </p:txBody>
      </p:sp>
      <p:sp>
        <p:nvSpPr>
          <p:cNvPr id="15" name="TextBox 14"/>
          <p:cNvSpPr txBox="1"/>
          <p:nvPr/>
        </p:nvSpPr>
        <p:spPr>
          <a:xfrm>
            <a:off x="4498848"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en-US">
                <a:solidFill>
                  <a:srgbClr val="20262E"/>
                </a:solidFill>
                <a:latin typeface="Pretendard"/>
                <a:ea typeface="Pretendard"/>
                <a:cs typeface="Pretendard"/>
              </a:rPr>
              <a:t>DDoS</a:t>
            </a:r>
          </a:p>
        </p:txBody>
      </p:sp>
      <p:sp>
        <p:nvSpPr>
          <p:cNvPr id="16" name="Right Arrow 15"/>
          <p:cNvSpPr/>
          <p:nvPr/>
        </p:nvSpPr>
        <p:spPr>
          <a:xfrm>
            <a:off x="611733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632764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19088"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en-US">
                <a:solidFill>
                  <a:srgbClr val="007BC6"/>
                </a:solidFill>
                <a:latin typeface="Pretendard"/>
                <a:ea typeface="Pretendard"/>
                <a:cs typeface="Pretendard"/>
              </a:rPr>
              <a:t>2/22·23</a:t>
            </a:r>
          </a:p>
        </p:txBody>
      </p:sp>
      <p:sp>
        <p:nvSpPr>
          <p:cNvPr id="19" name="TextBox 18"/>
          <p:cNvSpPr txBox="1"/>
          <p:nvPr/>
        </p:nvSpPr>
        <p:spPr>
          <a:xfrm>
            <a:off x="6419088"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en-US">
                <a:solidFill>
                  <a:srgbClr val="20262E"/>
                </a:solidFill>
                <a:latin typeface="Pretendard"/>
                <a:ea typeface="Pretendard"/>
                <a:cs typeface="Pretendard"/>
              </a:rPr>
              <a:t>Web attacks</a:t>
            </a:r>
          </a:p>
        </p:txBody>
      </p:sp>
      <p:sp>
        <p:nvSpPr>
          <p:cNvPr id="20" name="Right Arrow 19"/>
          <p:cNvSpPr/>
          <p:nvPr/>
        </p:nvSpPr>
        <p:spPr>
          <a:xfrm>
            <a:off x="803757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824788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39327"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en-US">
                <a:solidFill>
                  <a:srgbClr val="007BC6"/>
                </a:solidFill>
                <a:latin typeface="Pretendard"/>
                <a:ea typeface="Pretendard"/>
                <a:cs typeface="Pretendard"/>
              </a:rPr>
              <a:t>2/28·3/1</a:t>
            </a:r>
          </a:p>
        </p:txBody>
      </p:sp>
      <p:sp>
        <p:nvSpPr>
          <p:cNvPr id="23" name="TextBox 22"/>
          <p:cNvSpPr txBox="1"/>
          <p:nvPr/>
        </p:nvSpPr>
        <p:spPr>
          <a:xfrm>
            <a:off x="8339327"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en-US">
                <a:solidFill>
                  <a:srgbClr val="20262E"/>
                </a:solidFill>
                <a:latin typeface="Pretendard"/>
                <a:ea typeface="Pretendard"/>
                <a:cs typeface="Pretendard"/>
              </a:rPr>
              <a:t>Infiltration</a:t>
            </a:r>
          </a:p>
        </p:txBody>
      </p:sp>
      <p:sp>
        <p:nvSpPr>
          <p:cNvPr id="24" name="Right Arrow 23"/>
          <p:cNvSpPr/>
          <p:nvPr/>
        </p:nvSpPr>
        <p:spPr>
          <a:xfrm>
            <a:off x="995781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1016812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0259567"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en-US">
                <a:solidFill>
                  <a:srgbClr val="007BC6"/>
                </a:solidFill>
                <a:latin typeface="Pretendard"/>
                <a:ea typeface="Pretendard"/>
                <a:cs typeface="Pretendard"/>
              </a:rPr>
              <a:t>3/2</a:t>
            </a:r>
          </a:p>
        </p:txBody>
      </p:sp>
      <p:sp>
        <p:nvSpPr>
          <p:cNvPr id="27" name="TextBox 26"/>
          <p:cNvSpPr txBox="1"/>
          <p:nvPr/>
        </p:nvSpPr>
        <p:spPr>
          <a:xfrm>
            <a:off x="10259567"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en-US">
                <a:solidFill>
                  <a:srgbClr val="20262E"/>
                </a:solidFill>
                <a:latin typeface="Pretendard"/>
                <a:ea typeface="Pretendard"/>
                <a:cs typeface="Pretendard"/>
              </a:rPr>
              <a:t>Bot</a:t>
            </a:r>
          </a:p>
        </p:txBody>
      </p:sp>
      <p:sp>
        <p:nvSpPr>
          <p:cNvPr id="28" name="TextBox 27"/>
          <p:cNvSpPr txBox="1"/>
          <p:nvPr/>
        </p:nvSpPr>
        <p:spPr>
          <a:xfrm>
            <a:off x="594360" y="3648456"/>
            <a:ext cx="10972800" cy="1051560"/>
          </a:xfrm>
          <a:prstGeom prst="rect">
            <a:avLst/>
          </a:prstGeom>
          <a:noFill/>
          <a:effectLst/>
        </p:spPr>
        <p:txBody>
          <a:bodyPr wrap="none" anchor="t" lIns="0" rIns="0" tIns="0" bIns="0">
            <a:noAutofit/>
          </a:bodyPr>
          <a:lstStyle/>
          <a:p>
            <a:pPr algn="l">
              <a:lnSpc>
                <a:spcPct val="116000"/>
              </a:lnSpc>
              <a:spcBef>
                <a:spcPts val="0"/>
              </a:spcBef>
              <a:spcAft>
                <a:spcPts val="0"/>
              </a:spcAft>
            </a:pPr>
            <a:r>
              <a:rPr sz="2207" b="1" lang="en-US">
                <a:solidFill>
                  <a:srgbClr val="00306C"/>
                </a:solidFill>
                <a:latin typeface="Pretendard"/>
                <a:ea typeface="Pretendard"/>
                <a:cs typeface="Pretendard"/>
              </a:rPr>
              <a:t>Follow the original order of attack types,</a:t>
            </a:r>
          </a:p>
          <a:p>
            <a:pPr algn="l">
              <a:lnSpc>
                <a:spcPct val="116000"/>
              </a:lnSpc>
              <a:spcBef>
                <a:spcPts val="0"/>
              </a:spcBef>
              <a:spcAft>
                <a:spcPts val="0"/>
              </a:spcAft>
            </a:pPr>
            <a:r>
              <a:rPr sz="2207" b="1" lang="en-US">
                <a:solidFill>
                  <a:srgbClr val="00306C"/>
                </a:solidFill>
                <a:latin typeface="Pretendard"/>
                <a:ea typeface="Pretendard"/>
                <a:cs typeface="Pretendard"/>
              </a:rPr>
              <a:t>then select n labelled rows per attack from the same training split for each update</a:t>
            </a:r>
          </a:p>
        </p:txBody>
      </p:sp>
      <p:sp>
        <p:nvSpPr>
          <p:cNvPr id="29" name="TextBox 28"/>
          <p:cNvSpPr txBox="1"/>
          <p:nvPr/>
        </p:nvSpPr>
        <p:spPr>
          <a:xfrm>
            <a:off x="594360" y="5029200"/>
            <a:ext cx="10972800" cy="393192"/>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en-US">
                <a:solidFill>
                  <a:srgbClr val="007BC6"/>
                </a:solidFill>
                <a:latin typeface="Pretendard"/>
                <a:ea typeface="Pretendard"/>
                <a:cs typeface="Pretendard"/>
              </a:rPr>
              <a:t>Compare · Post-update detection quality / retention of known classes / update time</a:t>
            </a:r>
          </a:p>
        </p:txBody>
      </p:sp>
      <p:sp>
        <p:nvSpPr>
          <p:cNvPr id="30" name="TextBox 29"/>
          <p:cNvSpPr txBox="1"/>
          <p:nvPr/>
        </p:nvSpPr>
        <p:spPr>
          <a:xfrm>
            <a:off x="594360" y="5751576"/>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47" b="0" lang="en-US">
                <a:solidFill>
                  <a:srgbClr val="617080"/>
                </a:solidFill>
                <a:latin typeface="Pretendard"/>
                <a:ea typeface="Pretendard"/>
                <a:cs typeface="Pretendard"/>
                <a:hlinkClick r:id="rId4"/>
              </a:rPr>
              <a:t>Order retained; exact intervals and the complete traffic timeline are not replayed · ToN-IoT evaluated independently</a:t>
            </a:r>
          </a:p>
        </p:txBody>
      </p:sp>
      <p:sp>
        <p:nvSpPr>
          <p:cNvPr id="31" name="Rectangle 30"/>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en-US">
                <a:solidFill>
                  <a:srgbClr val="FFFFFF"/>
                </a:solidFill>
                <a:latin typeface="Pretendard"/>
                <a:ea typeface="Pretendard"/>
                <a:cs typeface="Pretendard"/>
              </a:rPr>
              <a:t>Controlled label-release replay · Collection order retained without claiming temporal reproduction</a:t>
            </a:r>
          </a:p>
        </p:txBody>
      </p:sp>
      <p:sp>
        <p:nvSpPr>
          <p:cNvPr id="33" name="TextBox 32"/>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en-US">
                <a:solidFill>
                  <a:srgbClr val="C9D8EB"/>
                </a:solidFill>
                <a:latin typeface="Pretendard"/>
                <a:ea typeface="Pretendard"/>
                <a:cs typeface="Pretendard"/>
              </a:rPr>
              <a:t>01 Problem</a:t>
            </a:r>
          </a:p>
        </p:txBody>
      </p:sp>
      <p:sp>
        <p:nvSpPr>
          <p:cNvPr id="34" name="TextBox 33"/>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en-US">
                <a:solidFill>
                  <a:srgbClr val="FFFFFF"/>
                </a:solidFill>
                <a:latin typeface="Pretendard"/>
                <a:ea typeface="Pretendard"/>
                <a:cs typeface="Pretendard"/>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en-US">
                <a:solidFill>
                  <a:srgbClr val="00306C"/>
                </a:solidFill>
                <a:latin typeface="Pretendard"/>
                <a:ea typeface="Pretendard"/>
                <a:cs typeface="Pretendard"/>
              </a:rPr>
              <a:t>TabPFN · A pretrained Transformer for tabular data</a:t>
            </a:r>
          </a:p>
        </p:txBody>
      </p:sp>
      <p:sp>
        <p:nvSpPr>
          <p:cNvPr id="3" name="TextBox 2"/>
          <p:cNvSpPr txBox="1"/>
          <p:nvPr/>
        </p:nvSpPr>
        <p:spPr>
          <a:xfrm>
            <a:off x="566928" y="987552"/>
            <a:ext cx="10972800" cy="371246"/>
          </a:xfrm>
          <a:prstGeom prst="rect">
            <a:avLst/>
          </a:prstGeom>
          <a:noFill/>
          <a:effectLst/>
        </p:spPr>
        <p:txBody>
          <a:bodyPr wrap="none" anchor="t" lIns="0" rIns="0" tIns="0" bIns="0">
            <a:noAutofit/>
          </a:bodyPr>
          <a:lstStyle/>
          <a:p>
            <a:pPr algn="l">
              <a:lnSpc>
                <a:spcPct val="116000"/>
              </a:lnSpc>
              <a:spcBef>
                <a:spcPts val="0"/>
              </a:spcBef>
              <a:spcAft>
                <a:spcPts val="0"/>
              </a:spcAft>
            </a:pPr>
            <a:r>
              <a:rPr sz="2400" b="1" lang="en-US">
                <a:solidFill>
                  <a:srgbClr val="00306C"/>
                </a:solidFill>
                <a:latin typeface="Pretendard"/>
                <a:ea typeface="Pretendard"/>
                <a:cs typeface="Pretendard"/>
              </a:rPr>
              <a:t>TabPFN · Transformer predictor pretrained on synthetic tabular tasks</a:t>
            </a:r>
          </a:p>
        </p:txBody>
      </p:sp>
      <p:sp>
        <p:nvSpPr>
          <p:cNvPr id="4" name="TextBox 3"/>
          <p:cNvSpPr txBox="1"/>
          <p:nvPr/>
        </p:nvSpPr>
        <p:spPr>
          <a:xfrm>
            <a:off x="566928" y="150876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en-US">
                <a:solidFill>
                  <a:srgbClr val="617080"/>
                </a:solidFill>
                <a:latin typeface="Pretendard"/>
                <a:ea typeface="Pretendard"/>
                <a:cs typeface="Pretendard"/>
                <a:hlinkClick r:id="rId3"/>
              </a:rPr>
              <a:t>Model used: v3 · Grinsztajn et al., TabPFN-3: Technical Report, arXiv 2026</a:t>
            </a:r>
          </a:p>
        </p:txBody>
      </p:sp>
      <p:sp>
        <p:nvSpPr>
          <p:cNvPr id="5" name="Rectangle 4"/>
          <p:cNvSpPr/>
          <p:nvPr/>
        </p:nvSpPr>
        <p:spPr>
          <a:xfrm>
            <a:off x="566928" y="2011680"/>
            <a:ext cx="3136392" cy="114300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49808" y="2157984"/>
            <a:ext cx="2761488"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1636" b="1" lang="en-US">
                <a:solidFill>
                  <a:srgbClr val="007BC6"/>
                </a:solidFill>
                <a:latin typeface="Pretendard"/>
                <a:ea typeface="Pretendard"/>
                <a:cs typeface="Pretendard"/>
              </a:rPr>
              <a:t>Context · labelled examples</a:t>
            </a:r>
          </a:p>
        </p:txBody>
      </p:sp>
      <p:sp>
        <p:nvSpPr>
          <p:cNvPr id="7" name="TextBox 6"/>
          <p:cNvSpPr txBox="1"/>
          <p:nvPr/>
        </p:nvSpPr>
        <p:spPr>
          <a:xfrm>
            <a:off x="749808" y="2651760"/>
            <a:ext cx="2761488" cy="525932"/>
          </a:xfrm>
          <a:prstGeom prst="rect">
            <a:avLst/>
          </a:prstGeom>
          <a:noFill/>
          <a:effectLst/>
        </p:spPr>
        <p:txBody>
          <a:bodyPr wrap="none" anchor="t" lIns="0" rIns="0" tIns="0" bIns="0">
            <a:noAutofit/>
          </a:bodyPr>
          <a:lstStyle/>
          <a:p>
            <a:pPr algn="l">
              <a:lnSpc>
                <a:spcPct val="116000"/>
              </a:lnSpc>
              <a:spcBef>
                <a:spcPts val="0"/>
              </a:spcBef>
              <a:spcAft>
                <a:spcPts val="0"/>
              </a:spcAft>
            </a:pPr>
            <a:r>
              <a:rPr sz="1607" b="0" lang="en-US">
                <a:solidFill>
                  <a:srgbClr val="20262E"/>
                </a:solidFill>
                <a:latin typeface="Pretendard"/>
                <a:ea typeface="Pretendard"/>
                <a:cs typeface="Pretendard"/>
              </a:rPr>
              <a:t>Known classes + new attacks</a:t>
            </a:r>
          </a:p>
          <a:p>
            <a:pPr algn="l">
              <a:lnSpc>
                <a:spcPct val="116000"/>
              </a:lnSpc>
              <a:spcBef>
                <a:spcPts val="0"/>
              </a:spcBef>
              <a:spcAft>
                <a:spcPts val="0"/>
              </a:spcAft>
            </a:pPr>
            <a:r>
              <a:rPr sz="1607" b="0" lang="en-US">
                <a:solidFill>
                  <a:srgbClr val="20262E"/>
                </a:solidFill>
                <a:latin typeface="Pretendard"/>
                <a:ea typeface="Pretendard"/>
                <a:cs typeface="Pretendard"/>
              </a:rPr>
              <a:t>Features and labels together</a:t>
            </a:r>
          </a:p>
        </p:txBody>
      </p:sp>
      <p:sp>
        <p:nvSpPr>
          <p:cNvPr id="8" name="Rectangle 7"/>
          <p:cNvSpPr/>
          <p:nvPr/>
        </p:nvSpPr>
        <p:spPr>
          <a:xfrm>
            <a:off x="566928" y="3410712"/>
            <a:ext cx="3136392" cy="8595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49808" y="3538728"/>
            <a:ext cx="2761488"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1334" b="1" lang="en-US">
                <a:solidFill>
                  <a:srgbClr val="007BC6"/>
                </a:solidFill>
                <a:latin typeface="Pretendard"/>
                <a:ea typeface="Pretendard"/>
                <a:cs typeface="Pretendard"/>
              </a:rPr>
              <a:t>Query · network record to classify</a:t>
            </a:r>
          </a:p>
        </p:txBody>
      </p:sp>
      <p:sp>
        <p:nvSpPr>
          <p:cNvPr id="10" name="TextBox 9"/>
          <p:cNvSpPr txBox="1"/>
          <p:nvPr/>
        </p:nvSpPr>
        <p:spPr>
          <a:xfrm>
            <a:off x="749808" y="3922776"/>
            <a:ext cx="2761488" cy="255231"/>
          </a:xfrm>
          <a:prstGeom prst="rect">
            <a:avLst/>
          </a:prstGeom>
          <a:noFill/>
          <a:effectLst/>
        </p:spPr>
        <p:txBody>
          <a:bodyPr wrap="none" anchor="t" lIns="0" rIns="0" tIns="0" bIns="0">
            <a:noAutofit/>
          </a:bodyPr>
          <a:lstStyle/>
          <a:p>
            <a:pPr algn="l">
              <a:lnSpc>
                <a:spcPct val="116000"/>
              </a:lnSpc>
              <a:spcBef>
                <a:spcPts val="0"/>
              </a:spcBef>
              <a:spcAft>
                <a:spcPts val="0"/>
              </a:spcAft>
            </a:pPr>
            <a:r>
              <a:rPr sz="1397" b="0" lang="en-US">
                <a:solidFill>
                  <a:srgbClr val="20262E"/>
                </a:solidFill>
                <a:latin typeface="Pretendard"/>
                <a:ea typeface="Pretendard"/>
                <a:cs typeface="Pretendard"/>
              </a:rPr>
              <a:t>Features only · label for evaluation</a:t>
            </a:r>
          </a:p>
        </p:txBody>
      </p:sp>
      <p:sp>
        <p:nvSpPr>
          <p:cNvPr id="11" name="Right Arrow 10"/>
          <p:cNvSpPr/>
          <p:nvPr/>
        </p:nvSpPr>
        <p:spPr>
          <a:xfrm>
            <a:off x="3886200" y="2551176"/>
            <a:ext cx="429768" cy="283464"/>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ight Arrow 11"/>
          <p:cNvSpPr/>
          <p:nvPr/>
        </p:nvSpPr>
        <p:spPr>
          <a:xfrm>
            <a:off x="3886200" y="3694176"/>
            <a:ext cx="429768" cy="283464"/>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517136" y="2414016"/>
            <a:ext cx="3163824" cy="151790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36592" y="2697480"/>
            <a:ext cx="2724912" cy="417652"/>
          </a:xfrm>
          <a:prstGeom prst="rect">
            <a:avLst/>
          </a:prstGeom>
          <a:noFill/>
          <a:effectLst/>
        </p:spPr>
        <p:txBody>
          <a:bodyPr wrap="none" anchor="t" lIns="0" rIns="0" tIns="0" bIns="0">
            <a:noAutofit/>
          </a:bodyPr>
          <a:lstStyle/>
          <a:p>
            <a:pPr algn="l">
              <a:lnSpc>
                <a:spcPct val="116000"/>
              </a:lnSpc>
              <a:spcBef>
                <a:spcPts val="0"/>
              </a:spcBef>
              <a:spcAft>
                <a:spcPts val="0"/>
              </a:spcAft>
            </a:pPr>
            <a:r>
              <a:rPr sz="2700" b="1" lang="en-US">
                <a:solidFill>
                  <a:srgbClr val="FFFFFF"/>
                </a:solidFill>
                <a:latin typeface="Pretendard"/>
                <a:ea typeface="Pretendard"/>
                <a:cs typeface="Pretendard"/>
              </a:rPr>
              <a:t>TabPFN v3</a:t>
            </a:r>
          </a:p>
        </p:txBody>
      </p:sp>
      <p:sp>
        <p:nvSpPr>
          <p:cNvPr id="15" name="TextBox 14"/>
          <p:cNvSpPr txBox="1"/>
          <p:nvPr/>
        </p:nvSpPr>
        <p:spPr>
          <a:xfrm>
            <a:off x="4736592" y="3364992"/>
            <a:ext cx="2724912" cy="320040"/>
          </a:xfrm>
          <a:prstGeom prst="rect">
            <a:avLst/>
          </a:prstGeom>
          <a:noFill/>
          <a:effectLst/>
        </p:spPr>
        <p:txBody>
          <a:bodyPr wrap="none" anchor="t" lIns="0" rIns="0" tIns="0" bIns="0">
            <a:noAutofit/>
          </a:bodyPr>
          <a:lstStyle/>
          <a:p>
            <a:pPr algn="l">
              <a:lnSpc>
                <a:spcPct val="116000"/>
              </a:lnSpc>
              <a:spcBef>
                <a:spcPts val="0"/>
              </a:spcBef>
              <a:spcAft>
                <a:spcPts val="0"/>
              </a:spcAft>
            </a:pPr>
            <a:r>
              <a:rPr sz="1823" b="0" lang="en-US">
                <a:solidFill>
                  <a:srgbClr val="FFFFFF"/>
                </a:solidFill>
                <a:latin typeface="Pretendard"/>
                <a:ea typeface="Pretendard"/>
                <a:cs typeface="Pretendard"/>
              </a:rPr>
              <a:t>Pretrained weights frozen</a:t>
            </a:r>
          </a:p>
        </p:txBody>
      </p:sp>
      <p:sp>
        <p:nvSpPr>
          <p:cNvPr id="16" name="Right Arrow 15"/>
          <p:cNvSpPr/>
          <p:nvPr/>
        </p:nvSpPr>
        <p:spPr>
          <a:xfrm>
            <a:off x="7872983" y="3017520"/>
            <a:ext cx="420624" cy="283464"/>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8485632" y="2414016"/>
            <a:ext cx="3136392" cy="1517904"/>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686800" y="2715768"/>
            <a:ext cx="2734056"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en-US">
                <a:solidFill>
                  <a:srgbClr val="007BC6"/>
                </a:solidFill>
                <a:latin typeface="Pretendard"/>
                <a:ea typeface="Pretendard"/>
                <a:cs typeface="Pretendard"/>
              </a:rPr>
              <a:t>Class probabilities</a:t>
            </a:r>
          </a:p>
        </p:txBody>
      </p:sp>
      <p:sp>
        <p:nvSpPr>
          <p:cNvPr id="19" name="TextBox 18"/>
          <p:cNvSpPr txBox="1"/>
          <p:nvPr/>
        </p:nvSpPr>
        <p:spPr>
          <a:xfrm>
            <a:off x="8686800" y="3355848"/>
            <a:ext cx="2734056" cy="283464"/>
          </a:xfrm>
          <a:prstGeom prst="rect">
            <a:avLst/>
          </a:prstGeom>
          <a:noFill/>
          <a:effectLst/>
        </p:spPr>
        <p:txBody>
          <a:bodyPr wrap="none" anchor="t" lIns="0" rIns="0" tIns="0" bIns="0">
            <a:noAutofit/>
          </a:bodyPr>
          <a:lstStyle/>
          <a:p>
            <a:pPr algn="l">
              <a:lnSpc>
                <a:spcPct val="116000"/>
              </a:lnSpc>
              <a:spcBef>
                <a:spcPts val="0"/>
              </a:spcBef>
              <a:spcAft>
                <a:spcPts val="0"/>
              </a:spcAft>
            </a:pPr>
            <a:r>
              <a:rPr sz="1394" b="0" lang="en-US">
                <a:solidFill>
                  <a:srgbClr val="20262E"/>
                </a:solidFill>
                <a:latin typeface="Pretendard"/>
                <a:ea typeface="Pretendard"/>
                <a:cs typeface="Pretendard"/>
              </a:rPr>
              <a:t>Prediction conditioned on context</a:t>
            </a:r>
          </a:p>
        </p:txBody>
      </p:sp>
      <p:sp>
        <p:nvSpPr>
          <p:cNvPr id="20" name="TextBox 19"/>
          <p:cNvSpPr txBox="1"/>
          <p:nvPr/>
        </p:nvSpPr>
        <p:spPr>
          <a:xfrm>
            <a:off x="594360" y="4636008"/>
            <a:ext cx="2103120" cy="320040"/>
          </a:xfrm>
          <a:prstGeom prst="rect">
            <a:avLst/>
          </a:prstGeom>
          <a:noFill/>
          <a:effectLst/>
        </p:spPr>
        <p:txBody>
          <a:bodyPr wrap="none" anchor="t" lIns="0" rIns="0" tIns="0" bIns="0">
            <a:noAutofit/>
          </a:bodyPr>
          <a:lstStyle/>
          <a:p>
            <a:pPr algn="l">
              <a:lnSpc>
                <a:spcPct val="116000"/>
              </a:lnSpc>
              <a:spcBef>
                <a:spcPts val="0"/>
              </a:spcBef>
              <a:spcAft>
                <a:spcPts val="0"/>
              </a:spcAft>
            </a:pPr>
            <a:r>
              <a:rPr sz="1800" b="1" lang="en-US">
                <a:solidFill>
                  <a:srgbClr val="007BC6"/>
                </a:solidFill>
                <a:latin typeface="Pretendard"/>
                <a:ea typeface="Pretendard"/>
                <a:cs typeface="Pretendard"/>
              </a:rPr>
              <a:t>In-context learning</a:t>
            </a:r>
          </a:p>
        </p:txBody>
      </p:sp>
      <p:sp>
        <p:nvSpPr>
          <p:cNvPr id="21" name="TextBox 20"/>
          <p:cNvSpPr txBox="1"/>
          <p:nvPr/>
        </p:nvSpPr>
        <p:spPr>
          <a:xfrm>
            <a:off x="2834640" y="4636008"/>
            <a:ext cx="873252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1950" b="0" lang="en-US">
                <a:solidFill>
                  <a:srgbClr val="20262E"/>
                </a:solidFill>
                <a:latin typeface="Pretendard"/>
                <a:ea typeface="Pretendard"/>
                <a:cs typeface="Pretendard"/>
              </a:rPr>
              <a:t>Predict a query from labelled examples without additional weight optimization</a:t>
            </a:r>
          </a:p>
        </p:txBody>
      </p:sp>
      <p:sp>
        <p:nvSpPr>
          <p:cNvPr id="22" name="TextBox 21"/>
          <p:cNvSpPr txBox="1"/>
          <p:nvPr/>
        </p:nvSpPr>
        <p:spPr>
          <a:xfrm>
            <a:off x="594360" y="5212080"/>
            <a:ext cx="201168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1639" b="1" lang="en-US">
                <a:solidFill>
                  <a:srgbClr val="007BC6"/>
                </a:solidFill>
                <a:latin typeface="Pretendard"/>
                <a:ea typeface="Pretendard"/>
                <a:cs typeface="Pretendard"/>
              </a:rPr>
              <a:t>Working hypothesis</a:t>
            </a:r>
          </a:p>
        </p:txBody>
      </p:sp>
      <p:sp>
        <p:nvSpPr>
          <p:cNvPr id="23" name="TextBox 22"/>
          <p:cNvSpPr txBox="1"/>
          <p:nvPr/>
        </p:nvSpPr>
        <p:spPr>
          <a:xfrm>
            <a:off x="2834640" y="5212080"/>
            <a:ext cx="873252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1679" b="0" lang="en-US">
                <a:solidFill>
                  <a:srgbClr val="20262E"/>
                </a:solidFill>
                <a:latin typeface="Pretendard"/>
                <a:ea typeface="Pretendard"/>
                <a:cs typeface="Pretendard"/>
              </a:rPr>
              <a:t>Maintain detection quality with fewer new examples and lower update cost than retraining</a:t>
            </a:r>
          </a:p>
        </p:txBody>
      </p:sp>
      <p:sp>
        <p:nvSpPr>
          <p:cNvPr id="24" name="TextBox 23"/>
          <p:cNvSpPr txBox="1"/>
          <p:nvPr/>
        </p:nvSpPr>
        <p:spPr>
          <a:xfrm>
            <a:off x="594360" y="585216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en-US">
                <a:solidFill>
                  <a:srgbClr val="617080"/>
                </a:solidFill>
                <a:latin typeface="Pretendard"/>
                <a:ea typeface="Pretendard"/>
                <a:cs typeface="Pretendard"/>
              </a:rPr>
              <a:t>This comparison: no IDS fine-tuning · context preprocessing and cache preparation are timed</a:t>
            </a:r>
          </a:p>
        </p:txBody>
      </p:sp>
      <p:sp>
        <p:nvSpPr>
          <p:cNvPr id="25" name="Rectangle 24"/>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en-US">
                <a:solidFill>
                  <a:srgbClr val="FFFFFF"/>
                </a:solidFill>
                <a:latin typeface="Pretendard"/>
                <a:ea typeface="Pretendard"/>
                <a:cs typeface="Pretendard"/>
              </a:rPr>
              <a:t>Frozen-weight in-context learning · New labels enter the context for the IDS task</a:t>
            </a:r>
          </a:p>
        </p:txBody>
      </p:sp>
      <p:sp>
        <p:nvSpPr>
          <p:cNvPr id="27" name="TextBox 26"/>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en-US">
                <a:solidFill>
                  <a:srgbClr val="C9D8EB"/>
                </a:solidFill>
                <a:latin typeface="Pretendard"/>
                <a:ea typeface="Pretendard"/>
                <a:cs typeface="Pretendard"/>
              </a:rPr>
              <a:t>02 Approach</a:t>
            </a:r>
          </a:p>
        </p:txBody>
      </p:sp>
      <p:sp>
        <p:nvSpPr>
          <p:cNvPr id="28" name="TextBox 27"/>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en-US">
                <a:solidFill>
                  <a:srgbClr val="FFFFFF"/>
                </a:solidFill>
                <a:latin typeface="Pretendard"/>
                <a:ea typeface="Pretendard"/>
                <a:cs typeface="Pretendard"/>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en-US">
                <a:solidFill>
                  <a:srgbClr val="00306C"/>
                </a:solidFill>
                <a:latin typeface="Pretendard"/>
                <a:ea typeface="Pretendard"/>
                <a:cs typeface="Pretendard"/>
              </a:rPr>
              <a:t>Evaluation workflow · Updating a detector with few labels</a:t>
            </a:r>
          </a:p>
        </p:txBody>
      </p:sp>
      <p:sp>
        <p:nvSpPr>
          <p:cNvPr id="3" name="TextBox 2"/>
          <p:cNvSpPr txBox="1"/>
          <p:nvPr/>
        </p:nvSpPr>
        <p:spPr>
          <a:xfrm>
            <a:off x="594360" y="960120"/>
            <a:ext cx="4389120" cy="329184"/>
          </a:xfrm>
          <a:prstGeom prst="rect">
            <a:avLst/>
          </a:prstGeom>
          <a:noFill/>
          <a:effectLst/>
        </p:spPr>
        <p:txBody>
          <a:bodyPr wrap="none" anchor="t" lIns="0" rIns="0" tIns="0" bIns="0">
            <a:noAutofit/>
          </a:bodyPr>
          <a:lstStyle/>
          <a:p>
            <a:pPr algn="l">
              <a:lnSpc>
                <a:spcPct val="116000"/>
              </a:lnSpc>
              <a:spcBef>
                <a:spcPts val="0"/>
              </a:spcBef>
              <a:spcAft>
                <a:spcPts val="0"/>
              </a:spcAft>
            </a:pPr>
            <a:r>
              <a:rPr sz="1472" b="1" lang="en-US">
                <a:solidFill>
                  <a:srgbClr val="00306C"/>
                </a:solidFill>
                <a:latin typeface="Pretendard"/>
                <a:ea typeface="Pretendard"/>
                <a:cs typeface="Pretendard"/>
              </a:rPr>
              <a:t>① Label release and retention · CIC2018 example</a:t>
            </a:r>
          </a:p>
        </p:txBody>
      </p:sp>
      <p:sp>
        <p:nvSpPr>
          <p:cNvPr id="4" name="TextBox 3"/>
          <p:cNvSpPr txBox="1"/>
          <p:nvPr/>
        </p:nvSpPr>
        <p:spPr>
          <a:xfrm>
            <a:off x="5074920" y="996696"/>
            <a:ext cx="653796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en-US">
                <a:solidFill>
                  <a:srgbClr val="617080"/>
                </a:solidFill>
                <a:latin typeface="Pretendard"/>
                <a:ea typeface="Pretendard"/>
                <a:cs typeface="Pretendard"/>
              </a:rPr>
              <a:t>n = 5 · 10 · 20 · 30 · 50 · 100 per new attack · 3 seeds</a:t>
            </a:r>
          </a:p>
        </p:txBody>
      </p:sp>
      <p:sp>
        <p:nvSpPr>
          <p:cNvPr id="5" name="TextBox 4"/>
          <p:cNvSpPr txBox="1"/>
          <p:nvPr/>
        </p:nvSpPr>
        <p:spPr>
          <a:xfrm>
            <a:off x="594360" y="1490472"/>
            <a:ext cx="4005072" cy="278434"/>
          </a:xfrm>
          <a:prstGeom prst="rect">
            <a:avLst/>
          </a:prstGeom>
          <a:noFill/>
          <a:effectLst/>
        </p:spPr>
        <p:txBody>
          <a:bodyPr wrap="none" anchor="t" lIns="0" rIns="0" tIns="0" bIns="0">
            <a:noAutofit/>
          </a:bodyPr>
          <a:lstStyle/>
          <a:p>
            <a:pPr algn="l">
              <a:lnSpc>
                <a:spcPct val="116000"/>
              </a:lnSpc>
              <a:spcBef>
                <a:spcPts val="0"/>
              </a:spcBef>
              <a:spcAft>
                <a:spcPts val="0"/>
              </a:spcAft>
            </a:pPr>
            <a:r>
              <a:rPr sz="1800" b="1" lang="en-US">
                <a:solidFill>
                  <a:srgbClr val="00306C"/>
                </a:solidFill>
                <a:latin typeface="Pretendard"/>
                <a:ea typeface="Pretendard"/>
                <a:cs typeface="Pretendard"/>
              </a:rPr>
              <a:t>Initial · Stage 1 · 1,000 rows</a:t>
            </a:r>
          </a:p>
        </p:txBody>
      </p:sp>
      <p:sp>
        <p:nvSpPr>
          <p:cNvPr id="6" name="Rectangle 5"/>
          <p:cNvSpPr/>
          <p:nvPr/>
        </p:nvSpPr>
        <p:spPr>
          <a:xfrm>
            <a:off x="594360" y="1856231"/>
            <a:ext cx="1591056" cy="630936"/>
          </a:xfrm>
          <a:prstGeom prst="rect">
            <a:avLst/>
          </a:prstGeom>
          <a:solidFill>
            <a:srgbClr val="7183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9224" y="1938528"/>
            <a:ext cx="1481328" cy="464057"/>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en-US">
                <a:solidFill>
                  <a:srgbClr val="FFFFFF"/>
                </a:solidFill>
                <a:latin typeface="Pretendard"/>
                <a:ea typeface="Pretendard"/>
                <a:cs typeface="Pretendard"/>
              </a:rPr>
              <a:t>Benign</a:t>
            </a:r>
          </a:p>
          <a:p>
            <a:pPr algn="ctr">
              <a:lnSpc>
                <a:spcPct val="116000"/>
              </a:lnSpc>
              <a:spcBef>
                <a:spcPts val="0"/>
              </a:spcBef>
              <a:spcAft>
                <a:spcPts val="0"/>
              </a:spcAft>
            </a:pPr>
            <a:r>
              <a:rPr sz="1500" b="1" lang="en-US">
                <a:solidFill>
                  <a:srgbClr val="FFFFFF"/>
                </a:solidFill>
                <a:latin typeface="Pretendard"/>
                <a:ea typeface="Pretendard"/>
                <a:cs typeface="Pretendard"/>
              </a:rPr>
              <a:t>750</a:t>
            </a:r>
          </a:p>
        </p:txBody>
      </p:sp>
      <p:sp>
        <p:nvSpPr>
          <p:cNvPr id="8" name="Rectangle 7"/>
          <p:cNvSpPr/>
          <p:nvPr/>
        </p:nvSpPr>
        <p:spPr>
          <a:xfrm>
            <a:off x="2185416" y="1856231"/>
            <a:ext cx="1207008" cy="630936"/>
          </a:xfrm>
          <a:prstGeom prst="rect">
            <a:avLst/>
          </a:prstGeom>
          <a:solidFill>
            <a:srgbClr val="4D668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240280" y="1938528"/>
            <a:ext cx="1097280" cy="464057"/>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en-US">
                <a:solidFill>
                  <a:srgbClr val="FFFFFF"/>
                </a:solidFill>
                <a:latin typeface="Pretendard"/>
                <a:ea typeface="Pretendard"/>
                <a:cs typeface="Pretendard"/>
              </a:rPr>
              <a:t>Brute force</a:t>
            </a:r>
          </a:p>
          <a:p>
            <a:pPr algn="ctr">
              <a:lnSpc>
                <a:spcPct val="116000"/>
              </a:lnSpc>
              <a:spcBef>
                <a:spcPts val="0"/>
              </a:spcBef>
              <a:spcAft>
                <a:spcPts val="0"/>
              </a:spcAft>
            </a:pPr>
            <a:r>
              <a:rPr sz="1500" b="1" lang="en-US">
                <a:solidFill>
                  <a:srgbClr val="FFFFFF"/>
                </a:solidFill>
                <a:latin typeface="Pretendard"/>
                <a:ea typeface="Pretendard"/>
                <a:cs typeface="Pretendard"/>
              </a:rPr>
              <a:t>125</a:t>
            </a:r>
          </a:p>
        </p:txBody>
      </p:sp>
      <p:sp>
        <p:nvSpPr>
          <p:cNvPr id="10" name="Rectangle 9"/>
          <p:cNvSpPr/>
          <p:nvPr/>
        </p:nvSpPr>
        <p:spPr>
          <a:xfrm>
            <a:off x="3392424" y="1856231"/>
            <a:ext cx="1207008" cy="630936"/>
          </a:xfrm>
          <a:prstGeom prst="rect">
            <a:avLst/>
          </a:prstGeom>
          <a:solidFill>
            <a:srgbClr val="2F496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3447288" y="1938528"/>
            <a:ext cx="1097280" cy="464057"/>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en-US">
                <a:solidFill>
                  <a:srgbClr val="FFFFFF"/>
                </a:solidFill>
                <a:latin typeface="Pretendard"/>
                <a:ea typeface="Pretendard"/>
                <a:cs typeface="Pretendard"/>
              </a:rPr>
              <a:t>DoS</a:t>
            </a:r>
          </a:p>
          <a:p>
            <a:pPr algn="ctr">
              <a:lnSpc>
                <a:spcPct val="116000"/>
              </a:lnSpc>
              <a:spcBef>
                <a:spcPts val="0"/>
              </a:spcBef>
              <a:spcAft>
                <a:spcPts val="0"/>
              </a:spcAft>
            </a:pPr>
            <a:r>
              <a:rPr sz="1500" b="1" lang="en-US">
                <a:solidFill>
                  <a:srgbClr val="FFFFFF"/>
                </a:solidFill>
                <a:latin typeface="Pretendard"/>
                <a:ea typeface="Pretendard"/>
                <a:cs typeface="Pretendard"/>
              </a:rPr>
              <a:t>125</a:t>
            </a:r>
          </a:p>
        </p:txBody>
      </p:sp>
      <p:sp>
        <p:nvSpPr>
          <p:cNvPr id="12" name="TextBox 11"/>
          <p:cNvSpPr txBox="1"/>
          <p:nvPr/>
        </p:nvSpPr>
        <p:spPr>
          <a:xfrm>
            <a:off x="4956048" y="1490472"/>
            <a:ext cx="1463040" cy="274320"/>
          </a:xfrm>
          <a:prstGeom prst="rect">
            <a:avLst/>
          </a:prstGeom>
          <a:noFill/>
          <a:effectLst/>
        </p:spPr>
        <p:txBody>
          <a:bodyPr wrap="none" anchor="t" lIns="0" rIns="0" tIns="0" bIns="0">
            <a:noAutofit/>
          </a:bodyPr>
          <a:lstStyle/>
          <a:p>
            <a:pPr algn="ctr">
              <a:lnSpc>
                <a:spcPct val="116000"/>
              </a:lnSpc>
              <a:spcBef>
                <a:spcPts val="0"/>
              </a:spcBef>
              <a:spcAft>
                <a:spcPts val="0"/>
              </a:spcAft>
            </a:pPr>
            <a:r>
              <a:rPr sz="1700" b="1" lang="en-US">
                <a:solidFill>
                  <a:srgbClr val="C17A00"/>
                </a:solidFill>
                <a:latin typeface="Pretendard"/>
                <a:ea typeface="Pretendard"/>
                <a:cs typeface="Pretendard"/>
              </a:rPr>
              <a:t>New · Stage 2</a:t>
            </a:r>
          </a:p>
        </p:txBody>
      </p:sp>
      <p:sp>
        <p:nvSpPr>
          <p:cNvPr id="13" name="Rectangle 12"/>
          <p:cNvSpPr/>
          <p:nvPr/>
        </p:nvSpPr>
        <p:spPr>
          <a:xfrm>
            <a:off x="4956048" y="1856231"/>
            <a:ext cx="1463040" cy="630936"/>
          </a:xfrm>
          <a:prstGeom prst="rect">
            <a:avLst/>
          </a:prstGeom>
          <a:solidFill>
            <a:srgbClr val="C17A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010912" y="1938528"/>
            <a:ext cx="1353312" cy="464057"/>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en-US">
                <a:solidFill>
                  <a:srgbClr val="FFFFFF"/>
                </a:solidFill>
                <a:latin typeface="Pretendard"/>
                <a:ea typeface="Pretendard"/>
                <a:cs typeface="Pretendard"/>
              </a:rPr>
              <a:t>DDoS</a:t>
            </a:r>
          </a:p>
          <a:p>
            <a:pPr algn="ctr">
              <a:lnSpc>
                <a:spcPct val="116000"/>
              </a:lnSpc>
              <a:spcBef>
                <a:spcPts val="0"/>
              </a:spcBef>
              <a:spcAft>
                <a:spcPts val="0"/>
              </a:spcAft>
            </a:pPr>
            <a:r>
              <a:rPr sz="1500" b="1" lang="en-US">
                <a:solidFill>
                  <a:srgbClr val="FFFFFF"/>
                </a:solidFill>
                <a:latin typeface="Pretendard"/>
                <a:ea typeface="Pretendard"/>
                <a:cs typeface="Pretendard"/>
              </a:rPr>
              <a:t>n rows</a:t>
            </a:r>
          </a:p>
        </p:txBody>
      </p:sp>
      <p:sp>
        <p:nvSpPr>
          <p:cNvPr id="15" name="Right Arrow 14"/>
          <p:cNvSpPr/>
          <p:nvPr/>
        </p:nvSpPr>
        <p:spPr>
          <a:xfrm>
            <a:off x="4690872" y="2066543"/>
            <a:ext cx="164592" cy="201168"/>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656832" y="1490472"/>
            <a:ext cx="1463040" cy="274320"/>
          </a:xfrm>
          <a:prstGeom prst="rect">
            <a:avLst/>
          </a:prstGeom>
          <a:noFill/>
          <a:effectLst/>
        </p:spPr>
        <p:txBody>
          <a:bodyPr wrap="none" anchor="t" lIns="0" rIns="0" tIns="0" bIns="0">
            <a:noAutofit/>
          </a:bodyPr>
          <a:lstStyle/>
          <a:p>
            <a:pPr algn="ctr">
              <a:lnSpc>
                <a:spcPct val="116000"/>
              </a:lnSpc>
              <a:spcBef>
                <a:spcPts val="0"/>
              </a:spcBef>
              <a:spcAft>
                <a:spcPts val="0"/>
              </a:spcAft>
            </a:pPr>
            <a:r>
              <a:rPr sz="1700" b="1" lang="en-US">
                <a:solidFill>
                  <a:srgbClr val="008B75"/>
                </a:solidFill>
                <a:latin typeface="Pretendard"/>
                <a:ea typeface="Pretendard"/>
                <a:cs typeface="Pretendard"/>
              </a:rPr>
              <a:t>New · Stage 3</a:t>
            </a:r>
          </a:p>
        </p:txBody>
      </p:sp>
      <p:sp>
        <p:nvSpPr>
          <p:cNvPr id="17" name="Rectangle 16"/>
          <p:cNvSpPr/>
          <p:nvPr/>
        </p:nvSpPr>
        <p:spPr>
          <a:xfrm>
            <a:off x="6656832" y="1856231"/>
            <a:ext cx="1463040" cy="630936"/>
          </a:xfrm>
          <a:prstGeom prst="rect">
            <a:avLst/>
          </a:prstGeom>
          <a:solidFill>
            <a:srgbClr val="008B7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711696" y="1938528"/>
            <a:ext cx="1353312" cy="464057"/>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en-US">
                <a:solidFill>
                  <a:srgbClr val="FFFFFF"/>
                </a:solidFill>
                <a:latin typeface="Pretendard"/>
                <a:ea typeface="Pretendard"/>
                <a:cs typeface="Pretendard"/>
              </a:rPr>
              <a:t>Web attacks</a:t>
            </a:r>
          </a:p>
          <a:p>
            <a:pPr algn="ctr">
              <a:lnSpc>
                <a:spcPct val="116000"/>
              </a:lnSpc>
              <a:spcBef>
                <a:spcPts val="0"/>
              </a:spcBef>
              <a:spcAft>
                <a:spcPts val="0"/>
              </a:spcAft>
            </a:pPr>
            <a:r>
              <a:rPr sz="1500" b="1" lang="en-US">
                <a:solidFill>
                  <a:srgbClr val="FFFFFF"/>
                </a:solidFill>
                <a:latin typeface="Pretendard"/>
                <a:ea typeface="Pretendard"/>
                <a:cs typeface="Pretendard"/>
              </a:rPr>
              <a:t>n rows</a:t>
            </a:r>
          </a:p>
        </p:txBody>
      </p:sp>
      <p:sp>
        <p:nvSpPr>
          <p:cNvPr id="19" name="Right Arrow 18"/>
          <p:cNvSpPr/>
          <p:nvPr/>
        </p:nvSpPr>
        <p:spPr>
          <a:xfrm>
            <a:off x="6391656" y="2066543"/>
            <a:ext cx="164592" cy="201168"/>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357616" y="1490472"/>
            <a:ext cx="1463040" cy="274320"/>
          </a:xfrm>
          <a:prstGeom prst="rect">
            <a:avLst/>
          </a:prstGeom>
          <a:noFill/>
          <a:effectLst/>
        </p:spPr>
        <p:txBody>
          <a:bodyPr wrap="none" anchor="t" lIns="0" rIns="0" tIns="0" bIns="0">
            <a:noAutofit/>
          </a:bodyPr>
          <a:lstStyle/>
          <a:p>
            <a:pPr algn="ctr">
              <a:lnSpc>
                <a:spcPct val="116000"/>
              </a:lnSpc>
              <a:spcBef>
                <a:spcPts val="0"/>
              </a:spcBef>
              <a:spcAft>
                <a:spcPts val="0"/>
              </a:spcAft>
            </a:pPr>
            <a:r>
              <a:rPr sz="1700" b="1" lang="en-US">
                <a:solidFill>
                  <a:srgbClr val="9A5797"/>
                </a:solidFill>
                <a:latin typeface="Pretendard"/>
                <a:ea typeface="Pretendard"/>
                <a:cs typeface="Pretendard"/>
              </a:rPr>
              <a:t>New · Stage 4</a:t>
            </a:r>
          </a:p>
        </p:txBody>
      </p:sp>
      <p:sp>
        <p:nvSpPr>
          <p:cNvPr id="21" name="Rectangle 20"/>
          <p:cNvSpPr/>
          <p:nvPr/>
        </p:nvSpPr>
        <p:spPr>
          <a:xfrm>
            <a:off x="8357616" y="1856231"/>
            <a:ext cx="1463040" cy="630936"/>
          </a:xfrm>
          <a:prstGeom prst="rect">
            <a:avLst/>
          </a:prstGeom>
          <a:solidFill>
            <a:srgbClr val="9A579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412480" y="1938528"/>
            <a:ext cx="1353312" cy="464057"/>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en-US">
                <a:solidFill>
                  <a:srgbClr val="FFFFFF"/>
                </a:solidFill>
                <a:latin typeface="Pretendard"/>
                <a:ea typeface="Pretendard"/>
                <a:cs typeface="Pretendard"/>
              </a:rPr>
              <a:t>Infiltration</a:t>
            </a:r>
          </a:p>
          <a:p>
            <a:pPr algn="ctr">
              <a:lnSpc>
                <a:spcPct val="116000"/>
              </a:lnSpc>
              <a:spcBef>
                <a:spcPts val="0"/>
              </a:spcBef>
              <a:spcAft>
                <a:spcPts val="0"/>
              </a:spcAft>
            </a:pPr>
            <a:r>
              <a:rPr sz="1500" b="1" lang="en-US">
                <a:solidFill>
                  <a:srgbClr val="FFFFFF"/>
                </a:solidFill>
                <a:latin typeface="Pretendard"/>
                <a:ea typeface="Pretendard"/>
                <a:cs typeface="Pretendard"/>
              </a:rPr>
              <a:t>n rows</a:t>
            </a:r>
          </a:p>
        </p:txBody>
      </p:sp>
      <p:sp>
        <p:nvSpPr>
          <p:cNvPr id="23" name="Right Arrow 22"/>
          <p:cNvSpPr/>
          <p:nvPr/>
        </p:nvSpPr>
        <p:spPr>
          <a:xfrm>
            <a:off x="8092440" y="2066543"/>
            <a:ext cx="164592" cy="201168"/>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058400" y="1490472"/>
            <a:ext cx="1463040" cy="274320"/>
          </a:xfrm>
          <a:prstGeom prst="rect">
            <a:avLst/>
          </a:prstGeom>
          <a:noFill/>
          <a:effectLst/>
        </p:spPr>
        <p:txBody>
          <a:bodyPr wrap="none" anchor="t" lIns="0" rIns="0" tIns="0" bIns="0">
            <a:noAutofit/>
          </a:bodyPr>
          <a:lstStyle/>
          <a:p>
            <a:pPr algn="ctr">
              <a:lnSpc>
                <a:spcPct val="116000"/>
              </a:lnSpc>
              <a:spcBef>
                <a:spcPts val="0"/>
              </a:spcBef>
              <a:spcAft>
                <a:spcPts val="0"/>
              </a:spcAft>
            </a:pPr>
            <a:r>
              <a:rPr sz="1700" b="1" lang="en-US">
                <a:solidFill>
                  <a:srgbClr val="B34F69"/>
                </a:solidFill>
                <a:latin typeface="Pretendard"/>
                <a:ea typeface="Pretendard"/>
                <a:cs typeface="Pretendard"/>
              </a:rPr>
              <a:t>New · Stage 5</a:t>
            </a:r>
          </a:p>
        </p:txBody>
      </p:sp>
      <p:sp>
        <p:nvSpPr>
          <p:cNvPr id="25" name="Rectangle 24"/>
          <p:cNvSpPr/>
          <p:nvPr/>
        </p:nvSpPr>
        <p:spPr>
          <a:xfrm>
            <a:off x="10058400" y="1856231"/>
            <a:ext cx="1463040" cy="630936"/>
          </a:xfrm>
          <a:prstGeom prst="rect">
            <a:avLst/>
          </a:prstGeom>
          <a:solidFill>
            <a:srgbClr val="B34F6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0113264" y="1938528"/>
            <a:ext cx="1353312" cy="464057"/>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en-US">
                <a:solidFill>
                  <a:srgbClr val="FFFFFF"/>
                </a:solidFill>
                <a:latin typeface="Pretendard"/>
                <a:ea typeface="Pretendard"/>
                <a:cs typeface="Pretendard"/>
              </a:rPr>
              <a:t>Bot</a:t>
            </a:r>
          </a:p>
          <a:p>
            <a:pPr algn="ctr">
              <a:lnSpc>
                <a:spcPct val="116000"/>
              </a:lnSpc>
              <a:spcBef>
                <a:spcPts val="0"/>
              </a:spcBef>
              <a:spcAft>
                <a:spcPts val="0"/>
              </a:spcAft>
            </a:pPr>
            <a:r>
              <a:rPr sz="1500" b="1" lang="en-US">
                <a:solidFill>
                  <a:srgbClr val="FFFFFF"/>
                </a:solidFill>
                <a:latin typeface="Pretendard"/>
                <a:ea typeface="Pretendard"/>
                <a:cs typeface="Pretendard"/>
              </a:rPr>
              <a:t>n rows</a:t>
            </a:r>
          </a:p>
        </p:txBody>
      </p:sp>
      <p:sp>
        <p:nvSpPr>
          <p:cNvPr id="27" name="Right Arrow 26"/>
          <p:cNvSpPr/>
          <p:nvPr/>
        </p:nvSpPr>
        <p:spPr>
          <a:xfrm>
            <a:off x="9793224" y="2066543"/>
            <a:ext cx="164592" cy="201168"/>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Down Arrow 27"/>
          <p:cNvSpPr/>
          <p:nvPr/>
        </p:nvSpPr>
        <p:spPr>
          <a:xfrm>
            <a:off x="2834640" y="2569464"/>
            <a:ext cx="292608" cy="210312"/>
          </a:xfrm>
          <a:prstGeom prst="down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879592" y="2606040"/>
            <a:ext cx="5733288"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291" b="0" lang="en-US">
                <a:solidFill>
                  <a:srgbClr val="617080"/>
                </a:solidFill>
                <a:latin typeface="Pretendard"/>
                <a:ea typeface="Pretendard"/>
                <a:cs typeface="Pretendard"/>
              </a:rPr>
              <a:t>ToN uses its own training split and attack stages · allocations in the appendix</a:t>
            </a:r>
          </a:p>
        </p:txBody>
      </p:sp>
      <p:sp>
        <p:nvSpPr>
          <p:cNvPr id="30" name="Rectangle 29"/>
          <p:cNvSpPr/>
          <p:nvPr/>
        </p:nvSpPr>
        <p:spPr>
          <a:xfrm>
            <a:off x="594360" y="2871216"/>
            <a:ext cx="4782312" cy="2441448"/>
          </a:xfrm>
          <a:prstGeom prst="rect">
            <a:avLst/>
          </a:prstGeom>
          <a:solidFill>
            <a:srgbClr val="FFFFFF"/>
          </a:solidFill>
          <a:ln w="16510">
            <a:solidFill>
              <a:srgbClr val="B4C0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77240" y="3081528"/>
            <a:ext cx="685800" cy="278434"/>
          </a:xfrm>
          <a:prstGeom prst="rect">
            <a:avLst/>
          </a:prstGeom>
          <a:noFill/>
          <a:effectLst/>
        </p:spPr>
        <p:txBody>
          <a:bodyPr wrap="none" anchor="t" lIns="0" rIns="0" tIns="0" bIns="0">
            <a:noAutofit/>
          </a:bodyPr>
          <a:lstStyle/>
          <a:p>
            <a:pPr algn="l">
              <a:lnSpc>
                <a:spcPct val="116000"/>
              </a:lnSpc>
              <a:spcBef>
                <a:spcPts val="0"/>
              </a:spcBef>
              <a:spcAft>
                <a:spcPts val="0"/>
              </a:spcAft>
            </a:pPr>
            <a:r>
              <a:rPr sz="1449" b="1" lang="en-US">
                <a:solidFill>
                  <a:srgbClr val="007BC6"/>
                </a:solidFill>
                <a:latin typeface="Pretendard"/>
                <a:ea typeface="Pretendard"/>
                <a:cs typeface="Pretendard"/>
              </a:rPr>
              <a:t>Accum.</a:t>
            </a:r>
          </a:p>
        </p:txBody>
      </p:sp>
      <p:sp>
        <p:nvSpPr>
          <p:cNvPr id="32" name="TextBox 31"/>
          <p:cNvSpPr txBox="1"/>
          <p:nvPr/>
        </p:nvSpPr>
        <p:spPr>
          <a:xfrm>
            <a:off x="4114800" y="2971800"/>
            <a:ext cx="1069848" cy="475488"/>
          </a:xfrm>
          <a:prstGeom prst="rect">
            <a:avLst/>
          </a:prstGeom>
          <a:noFill/>
          <a:effectLst/>
        </p:spPr>
        <p:txBody>
          <a:bodyPr wrap="none" anchor="t" lIns="0" rIns="0" tIns="0" bIns="0">
            <a:noAutofit/>
          </a:bodyPr>
          <a:lstStyle/>
          <a:p>
            <a:pPr algn="r">
              <a:lnSpc>
                <a:spcPct val="116000"/>
              </a:lnSpc>
              <a:spcBef>
                <a:spcPts val="0"/>
              </a:spcBef>
              <a:spcAft>
                <a:spcPts val="0"/>
              </a:spcAft>
            </a:pPr>
            <a:r>
              <a:rPr sz="1450" b="1" lang="en-US">
                <a:solidFill>
                  <a:srgbClr val="00306C"/>
                </a:solidFill>
                <a:latin typeface="Pretendard"/>
                <a:ea typeface="Pretendard"/>
                <a:cs typeface="Pretendard"/>
              </a:rPr>
              <a:t>Final</a:t>
            </a:r>
          </a:p>
          <a:p>
            <a:pPr algn="r">
              <a:lnSpc>
                <a:spcPct val="116000"/>
              </a:lnSpc>
              <a:spcBef>
                <a:spcPts val="0"/>
              </a:spcBef>
              <a:spcAft>
                <a:spcPts val="0"/>
              </a:spcAft>
            </a:pPr>
            <a:r>
              <a:rPr sz="1450" b="1" lang="en-US">
                <a:solidFill>
                  <a:srgbClr val="00306C"/>
                </a:solidFill>
                <a:latin typeface="Pretendard"/>
                <a:ea typeface="Pretendard"/>
                <a:cs typeface="Pretendard"/>
              </a:rPr>
              <a:t>1,000+4n</a:t>
            </a:r>
          </a:p>
        </p:txBody>
      </p:sp>
      <p:sp>
        <p:nvSpPr>
          <p:cNvPr id="33" name="TextBox 32"/>
          <p:cNvSpPr txBox="1"/>
          <p:nvPr/>
        </p:nvSpPr>
        <p:spPr>
          <a:xfrm>
            <a:off x="1572768" y="3538728"/>
            <a:ext cx="3630168"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47" b="0" lang="en-US">
                <a:solidFill>
                  <a:srgbClr val="617080"/>
                </a:solidFill>
                <a:latin typeface="Pretendard"/>
                <a:ea typeface="Pretendard"/>
                <a:cs typeface="Pretendard"/>
              </a:rPr>
              <a:t>Retain every labelled row released so far</a:t>
            </a:r>
          </a:p>
        </p:txBody>
      </p:sp>
      <p:sp>
        <p:nvSpPr>
          <p:cNvPr id="34" name="TextBox 33"/>
          <p:cNvSpPr txBox="1"/>
          <p:nvPr/>
        </p:nvSpPr>
        <p:spPr>
          <a:xfrm>
            <a:off x="777240" y="4069080"/>
            <a:ext cx="685800" cy="278434"/>
          </a:xfrm>
          <a:prstGeom prst="rect">
            <a:avLst/>
          </a:prstGeom>
          <a:noFill/>
          <a:effectLst/>
        </p:spPr>
        <p:txBody>
          <a:bodyPr wrap="none" anchor="t" lIns="0" rIns="0" tIns="0" bIns="0">
            <a:noAutofit/>
          </a:bodyPr>
          <a:lstStyle/>
          <a:p>
            <a:pPr algn="l">
              <a:lnSpc>
                <a:spcPct val="116000"/>
              </a:lnSpc>
              <a:spcBef>
                <a:spcPts val="0"/>
              </a:spcBef>
              <a:spcAft>
                <a:spcPts val="0"/>
              </a:spcAft>
            </a:pPr>
            <a:r>
              <a:rPr sz="1800" b="1" lang="en-US">
                <a:solidFill>
                  <a:srgbClr val="2F8C86"/>
                </a:solidFill>
                <a:latin typeface="Pretendard"/>
                <a:ea typeface="Pretendard"/>
                <a:cs typeface="Pretendard"/>
              </a:rPr>
              <a:t>Buffer</a:t>
            </a:r>
          </a:p>
        </p:txBody>
      </p:sp>
      <p:sp>
        <p:nvSpPr>
          <p:cNvPr id="35" name="TextBox 34"/>
          <p:cNvSpPr txBox="1"/>
          <p:nvPr/>
        </p:nvSpPr>
        <p:spPr>
          <a:xfrm>
            <a:off x="4114800" y="4069080"/>
            <a:ext cx="1069848" cy="256032"/>
          </a:xfrm>
          <a:prstGeom prst="rect">
            <a:avLst/>
          </a:prstGeom>
          <a:noFill/>
          <a:effectLst/>
        </p:spPr>
        <p:txBody>
          <a:bodyPr wrap="none" anchor="t" lIns="0" rIns="0" tIns="0" bIns="0">
            <a:noAutofit/>
          </a:bodyPr>
          <a:lstStyle/>
          <a:p>
            <a:pPr algn="r">
              <a:lnSpc>
                <a:spcPct val="116000"/>
              </a:lnSpc>
              <a:spcBef>
                <a:spcPts val="0"/>
              </a:spcBef>
              <a:spcAft>
                <a:spcPts val="0"/>
              </a:spcAft>
            </a:pPr>
            <a:r>
              <a:rPr sz="1550" b="1" lang="en-US">
                <a:solidFill>
                  <a:srgbClr val="2F8C86"/>
                </a:solidFill>
                <a:latin typeface="Pretendard"/>
                <a:ea typeface="Pretendard"/>
                <a:cs typeface="Pretendard"/>
              </a:rPr>
              <a:t>1,000 rows</a:t>
            </a:r>
          </a:p>
        </p:txBody>
      </p:sp>
      <p:sp>
        <p:nvSpPr>
          <p:cNvPr id="36" name="TextBox 35"/>
          <p:cNvSpPr txBox="1"/>
          <p:nvPr/>
        </p:nvSpPr>
        <p:spPr>
          <a:xfrm>
            <a:off x="1572768" y="4517136"/>
            <a:ext cx="3630168"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en-US">
                <a:solidFill>
                  <a:srgbClr val="617080"/>
                </a:solidFill>
                <a:latin typeface="Pretendard"/>
                <a:ea typeface="Pretendard"/>
                <a:cs typeface="Pretendard"/>
              </a:rPr>
              <a:t>Evict old rows → insert all n new rows</a:t>
            </a:r>
          </a:p>
        </p:txBody>
      </p:sp>
      <p:sp>
        <p:nvSpPr>
          <p:cNvPr id="37" name="TextBox 36"/>
          <p:cNvSpPr txBox="1"/>
          <p:nvPr/>
        </p:nvSpPr>
        <p:spPr>
          <a:xfrm>
            <a:off x="777240" y="4974336"/>
            <a:ext cx="4416552"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1" lang="en-US">
                <a:solidFill>
                  <a:srgbClr val="2F8C86"/>
                </a:solidFill>
                <a:latin typeface="Pretendard"/>
                <a:ea typeface="Pretendard"/>
                <a:cs typeface="Pretendard"/>
              </a:rPr>
              <a:t>Eviction · FIFO / random / similarity</a:t>
            </a:r>
          </a:p>
        </p:txBody>
      </p:sp>
      <p:sp>
        <p:nvSpPr>
          <p:cNvPr id="38" name="Rectangle 37"/>
          <p:cNvSpPr/>
          <p:nvPr/>
        </p:nvSpPr>
        <p:spPr>
          <a:xfrm>
            <a:off x="1572768" y="3108960"/>
            <a:ext cx="329184" cy="256032"/>
          </a:xfrm>
          <a:prstGeom prst="rect">
            <a:avLst/>
          </a:prstGeom>
          <a:solidFill>
            <a:srgbClr val="7183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ectangle 38"/>
          <p:cNvSpPr/>
          <p:nvPr/>
        </p:nvSpPr>
        <p:spPr>
          <a:xfrm>
            <a:off x="1915667" y="3108960"/>
            <a:ext cx="329184" cy="256032"/>
          </a:xfrm>
          <a:prstGeom prst="rect">
            <a:avLst/>
          </a:prstGeom>
          <a:solidFill>
            <a:srgbClr val="4D668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2258568" y="3108960"/>
            <a:ext cx="329184" cy="256032"/>
          </a:xfrm>
          <a:prstGeom prst="rect">
            <a:avLst/>
          </a:prstGeom>
          <a:solidFill>
            <a:srgbClr val="2F496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2601468" y="3108960"/>
            <a:ext cx="329184" cy="256032"/>
          </a:xfrm>
          <a:prstGeom prst="rect">
            <a:avLst/>
          </a:prstGeom>
          <a:solidFill>
            <a:srgbClr val="C17A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2944368" y="3108960"/>
            <a:ext cx="329184" cy="256032"/>
          </a:xfrm>
          <a:prstGeom prst="rect">
            <a:avLst/>
          </a:prstGeom>
          <a:solidFill>
            <a:srgbClr val="008B7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ectangle 42"/>
          <p:cNvSpPr/>
          <p:nvPr/>
        </p:nvSpPr>
        <p:spPr>
          <a:xfrm>
            <a:off x="3287268" y="3108960"/>
            <a:ext cx="329184" cy="256032"/>
          </a:xfrm>
          <a:prstGeom prst="rect">
            <a:avLst/>
          </a:prstGeom>
          <a:solidFill>
            <a:srgbClr val="9A579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630168" y="3108960"/>
            <a:ext cx="329184" cy="256032"/>
          </a:xfrm>
          <a:prstGeom prst="rect">
            <a:avLst/>
          </a:prstGeom>
          <a:solidFill>
            <a:srgbClr val="B34F6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ectangle 44"/>
          <p:cNvSpPr/>
          <p:nvPr/>
        </p:nvSpPr>
        <p:spPr>
          <a:xfrm>
            <a:off x="1572768" y="4096512"/>
            <a:ext cx="283464" cy="256032"/>
          </a:xfrm>
          <a:prstGeom prst="rect">
            <a:avLst/>
          </a:prstGeom>
          <a:solidFill>
            <a:srgbClr val="7183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ectangle 45"/>
          <p:cNvSpPr/>
          <p:nvPr/>
        </p:nvSpPr>
        <p:spPr>
          <a:xfrm>
            <a:off x="1868119" y="4096512"/>
            <a:ext cx="283464" cy="256032"/>
          </a:xfrm>
          <a:prstGeom prst="rect">
            <a:avLst/>
          </a:prstGeom>
          <a:solidFill>
            <a:srgbClr val="4D668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ectangle 46"/>
          <p:cNvSpPr/>
          <p:nvPr/>
        </p:nvSpPr>
        <p:spPr>
          <a:xfrm>
            <a:off x="2163470" y="4096512"/>
            <a:ext cx="283464" cy="256032"/>
          </a:xfrm>
          <a:prstGeom prst="rect">
            <a:avLst/>
          </a:prstGeom>
          <a:solidFill>
            <a:srgbClr val="2F496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2458821" y="4096512"/>
            <a:ext cx="283464" cy="256032"/>
          </a:xfrm>
          <a:prstGeom prst="rect">
            <a:avLst/>
          </a:prstGeom>
          <a:solidFill>
            <a:srgbClr val="C17A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ectangle 48"/>
          <p:cNvSpPr/>
          <p:nvPr/>
        </p:nvSpPr>
        <p:spPr>
          <a:xfrm>
            <a:off x="2754172" y="4096512"/>
            <a:ext cx="283464" cy="256032"/>
          </a:xfrm>
          <a:prstGeom prst="rect">
            <a:avLst/>
          </a:prstGeom>
          <a:solidFill>
            <a:srgbClr val="008B7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ectangle 49"/>
          <p:cNvSpPr/>
          <p:nvPr/>
        </p:nvSpPr>
        <p:spPr>
          <a:xfrm>
            <a:off x="3049524" y="4096512"/>
            <a:ext cx="283464" cy="256032"/>
          </a:xfrm>
          <a:prstGeom prst="rect">
            <a:avLst/>
          </a:prstGeom>
          <a:solidFill>
            <a:srgbClr val="9A579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ectangle 50"/>
          <p:cNvSpPr/>
          <p:nvPr/>
        </p:nvSpPr>
        <p:spPr>
          <a:xfrm>
            <a:off x="3344875" y="4096512"/>
            <a:ext cx="283464" cy="256032"/>
          </a:xfrm>
          <a:prstGeom prst="rect">
            <a:avLst/>
          </a:prstGeom>
          <a:solidFill>
            <a:srgbClr val="B34F6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5376672" y="4096512"/>
            <a:ext cx="219456" cy="10972"/>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ectangle 52"/>
          <p:cNvSpPr/>
          <p:nvPr/>
        </p:nvSpPr>
        <p:spPr>
          <a:xfrm>
            <a:off x="5577840" y="3575304"/>
            <a:ext cx="16459" cy="1188720"/>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ight Arrow 53"/>
          <p:cNvSpPr/>
          <p:nvPr/>
        </p:nvSpPr>
        <p:spPr>
          <a:xfrm>
            <a:off x="5577840" y="3465576"/>
            <a:ext cx="246888" cy="219456"/>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ight Arrow 54"/>
          <p:cNvSpPr/>
          <p:nvPr/>
        </p:nvSpPr>
        <p:spPr>
          <a:xfrm>
            <a:off x="5577840" y="4645152"/>
            <a:ext cx="246888" cy="219456"/>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879592" y="2889504"/>
            <a:ext cx="2688336"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1801" b="1" lang="en-US">
                <a:solidFill>
                  <a:srgbClr val="00306C"/>
                </a:solidFill>
                <a:latin typeface="Pretendard"/>
                <a:ea typeface="Pretendard"/>
                <a:cs typeface="Pretendard"/>
              </a:rPr>
              <a:t>② Update at every stage</a:t>
            </a:r>
          </a:p>
        </p:txBody>
      </p:sp>
      <p:sp>
        <p:nvSpPr>
          <p:cNvPr id="57" name="Rectangle 56"/>
          <p:cNvSpPr/>
          <p:nvPr/>
        </p:nvSpPr>
        <p:spPr>
          <a:xfrm>
            <a:off x="5879592" y="3319272"/>
            <a:ext cx="2688336" cy="749808"/>
          </a:xfrm>
          <a:prstGeom prst="rect">
            <a:avLst/>
          </a:prstGeom>
          <a:solidFill>
            <a:srgbClr val="FFFFFF"/>
          </a:solidFill>
          <a:ln w="16510">
            <a:solidFill>
              <a:srgbClr val="111111"/>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6007608" y="3429000"/>
            <a:ext cx="2432304" cy="618744"/>
          </a:xfrm>
          <a:prstGeom prst="rect">
            <a:avLst/>
          </a:prstGeom>
          <a:noFill/>
          <a:effectLst/>
        </p:spPr>
        <p:txBody>
          <a:bodyPr wrap="none" anchor="t" lIns="0" rIns="0" tIns="0" bIns="0">
            <a:noAutofit/>
          </a:bodyPr>
          <a:lstStyle/>
          <a:p>
            <a:pPr algn="ctr">
              <a:lnSpc>
                <a:spcPct val="116000"/>
              </a:lnSpc>
              <a:spcBef>
                <a:spcPts val="0"/>
              </a:spcBef>
              <a:spcAft>
                <a:spcPts val="0"/>
              </a:spcAft>
            </a:pPr>
            <a:r>
              <a:rPr sz="2000" b="1" lang="en-US">
                <a:solidFill>
                  <a:srgbClr val="111111"/>
                </a:solidFill>
                <a:latin typeface="Pretendard"/>
                <a:ea typeface="Pretendard"/>
                <a:cs typeface="Pretendard"/>
              </a:rPr>
              <a:t>XGB</a:t>
            </a:r>
          </a:p>
          <a:p>
            <a:pPr algn="ctr">
              <a:lnSpc>
                <a:spcPct val="116000"/>
              </a:lnSpc>
              <a:spcBef>
                <a:spcPts val="0"/>
              </a:spcBef>
              <a:spcAft>
                <a:spcPts val="0"/>
              </a:spcAft>
            </a:pPr>
            <a:r>
              <a:rPr sz="2000" b="1" lang="en-US">
                <a:solidFill>
                  <a:srgbClr val="111111"/>
                </a:solidFill>
                <a:latin typeface="Pretendard"/>
                <a:ea typeface="Pretendard"/>
                <a:cs typeface="Pretendard"/>
              </a:rPr>
              <a:t>refit model</a:t>
            </a:r>
          </a:p>
        </p:txBody>
      </p:sp>
      <p:sp>
        <p:nvSpPr>
          <p:cNvPr id="59" name="Rectangle 58"/>
          <p:cNvSpPr/>
          <p:nvPr/>
        </p:nvSpPr>
        <p:spPr>
          <a:xfrm>
            <a:off x="5879592" y="4352544"/>
            <a:ext cx="2688336" cy="749808"/>
          </a:xfrm>
          <a:prstGeom prst="rect">
            <a:avLst/>
          </a:prstGeom>
          <a:solidFill>
            <a:srgbClr val="FFFFFF"/>
          </a:solidFill>
          <a:ln w="16510">
            <a:solidFill>
              <a:srgbClr val="2F8C86"/>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6007608" y="4462272"/>
            <a:ext cx="2432304" cy="618744"/>
          </a:xfrm>
          <a:prstGeom prst="rect">
            <a:avLst/>
          </a:prstGeom>
          <a:noFill/>
          <a:effectLst/>
        </p:spPr>
        <p:txBody>
          <a:bodyPr wrap="none" anchor="t" lIns="0" rIns="0" tIns="0" bIns="0">
            <a:noAutofit/>
          </a:bodyPr>
          <a:lstStyle/>
          <a:p>
            <a:pPr algn="ctr">
              <a:lnSpc>
                <a:spcPct val="116000"/>
              </a:lnSpc>
              <a:spcBef>
                <a:spcPts val="0"/>
              </a:spcBef>
              <a:spcAft>
                <a:spcPts val="0"/>
              </a:spcAft>
            </a:pPr>
            <a:r>
              <a:rPr sz="1515" b="1" lang="en-US">
                <a:solidFill>
                  <a:srgbClr val="2F8C86"/>
                </a:solidFill>
                <a:latin typeface="Pretendard"/>
                <a:ea typeface="Pretendard"/>
                <a:cs typeface="Pretendard"/>
              </a:rPr>
              <a:t>TabPFN</a:t>
            </a:r>
          </a:p>
          <a:p>
            <a:pPr algn="ctr">
              <a:lnSpc>
                <a:spcPct val="116000"/>
              </a:lnSpc>
              <a:spcBef>
                <a:spcPts val="0"/>
              </a:spcBef>
              <a:spcAft>
                <a:spcPts val="0"/>
              </a:spcAft>
            </a:pPr>
            <a:r>
              <a:rPr sz="1515" b="1" lang="en-US">
                <a:solidFill>
                  <a:srgbClr val="2F8C86"/>
                </a:solidFill>
                <a:latin typeface="Pretendard"/>
                <a:ea typeface="Pretendard"/>
                <a:cs typeface="Pretendard"/>
              </a:rPr>
              <a:t>refresh context and cache</a:t>
            </a:r>
          </a:p>
        </p:txBody>
      </p:sp>
      <p:sp>
        <p:nvSpPr>
          <p:cNvPr id="61" name="TextBox 60"/>
          <p:cNvSpPr txBox="1"/>
          <p:nvPr/>
        </p:nvSpPr>
        <p:spPr>
          <a:xfrm>
            <a:off x="5879592" y="5202936"/>
            <a:ext cx="2688336"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50" b="0" lang="en-US">
                <a:solidFill>
                  <a:srgbClr val="617080"/>
                </a:solidFill>
                <a:latin typeface="Pretendard"/>
                <a:ea typeface="Pretendard"/>
                <a:cs typeface="Pretendard"/>
              </a:rPr>
              <a:t>Pretrained weights frozen</a:t>
            </a:r>
          </a:p>
        </p:txBody>
      </p:sp>
      <p:sp>
        <p:nvSpPr>
          <p:cNvPr id="62" name="Right Arrow 61"/>
          <p:cNvSpPr/>
          <p:nvPr/>
        </p:nvSpPr>
        <p:spPr>
          <a:xfrm>
            <a:off x="8714232" y="3584448"/>
            <a:ext cx="329184"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ight Arrow 62"/>
          <p:cNvSpPr/>
          <p:nvPr/>
        </p:nvSpPr>
        <p:spPr>
          <a:xfrm>
            <a:off x="8714232" y="4617720"/>
            <a:ext cx="329184"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9198864" y="2889504"/>
            <a:ext cx="2414016"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1239" b="1" lang="en-US">
                <a:solidFill>
                  <a:srgbClr val="00306C"/>
                </a:solidFill>
                <a:latin typeface="Pretendard"/>
                <a:ea typeface="Pretendard"/>
                <a:cs typeface="Pretendard"/>
              </a:rPr>
              <a:t>③ Evaluate on the same test set</a:t>
            </a:r>
          </a:p>
        </p:txBody>
      </p:sp>
      <p:sp>
        <p:nvSpPr>
          <p:cNvPr id="65" name="Rectangle 64"/>
          <p:cNvSpPr/>
          <p:nvPr/>
        </p:nvSpPr>
        <p:spPr>
          <a:xfrm>
            <a:off x="9198864" y="3319272"/>
            <a:ext cx="2414016" cy="2039112"/>
          </a:xfrm>
          <a:prstGeom prst="rect">
            <a:avLst/>
          </a:prstGeom>
          <a:solidFill>
            <a:srgbClr val="FFFFFF"/>
          </a:solidFill>
          <a:ln w="16510">
            <a:solidFill>
              <a:srgbClr val="007B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9363456" y="3456432"/>
            <a:ext cx="2084831" cy="262966"/>
          </a:xfrm>
          <a:prstGeom prst="rect">
            <a:avLst/>
          </a:prstGeom>
          <a:noFill/>
          <a:effectLst/>
        </p:spPr>
        <p:txBody>
          <a:bodyPr wrap="none" anchor="t" lIns="0" rIns="0" tIns="0" bIns="0">
            <a:noAutofit/>
          </a:bodyPr>
          <a:lstStyle/>
          <a:p>
            <a:pPr algn="l">
              <a:lnSpc>
                <a:spcPct val="116000"/>
              </a:lnSpc>
              <a:spcBef>
                <a:spcPts val="0"/>
              </a:spcBef>
              <a:spcAft>
                <a:spcPts val="0"/>
              </a:spcAft>
            </a:pPr>
            <a:r>
              <a:rPr sz="1404" b="1" lang="en-US">
                <a:solidFill>
                  <a:srgbClr val="007BC6"/>
                </a:solidFill>
                <a:latin typeface="Pretendard"/>
                <a:ea typeface="Pretendard"/>
                <a:cs typeface="Pretendard"/>
              </a:rPr>
              <a:t>Final model · full test set</a:t>
            </a:r>
          </a:p>
        </p:txBody>
      </p:sp>
      <p:sp>
        <p:nvSpPr>
          <p:cNvPr id="67" name="TextBox 66"/>
          <p:cNvSpPr txBox="1"/>
          <p:nvPr/>
        </p:nvSpPr>
        <p:spPr>
          <a:xfrm>
            <a:off x="9363456" y="3941063"/>
            <a:ext cx="640080" cy="247497"/>
          </a:xfrm>
          <a:prstGeom prst="rect">
            <a:avLst/>
          </a:prstGeom>
          <a:noFill/>
          <a:effectLst/>
        </p:spPr>
        <p:txBody>
          <a:bodyPr wrap="none" anchor="t" lIns="0" rIns="0" tIns="0" bIns="0">
            <a:noAutofit/>
          </a:bodyPr>
          <a:lstStyle/>
          <a:p>
            <a:pPr algn="l">
              <a:lnSpc>
                <a:spcPct val="116000"/>
              </a:lnSpc>
              <a:spcBef>
                <a:spcPts val="0"/>
              </a:spcBef>
              <a:spcAft>
                <a:spcPts val="0"/>
              </a:spcAft>
            </a:pPr>
            <a:r>
              <a:rPr sz="1600" b="1" lang="en-US">
                <a:solidFill>
                  <a:srgbClr val="00306C"/>
                </a:solidFill>
                <a:latin typeface="Pretendard"/>
                <a:ea typeface="Pretendard"/>
                <a:cs typeface="Pretendard"/>
              </a:rPr>
              <a:t>CIC</a:t>
            </a:r>
          </a:p>
        </p:txBody>
      </p:sp>
      <p:sp>
        <p:nvSpPr>
          <p:cNvPr id="68" name="TextBox 67"/>
          <p:cNvSpPr txBox="1"/>
          <p:nvPr/>
        </p:nvSpPr>
        <p:spPr>
          <a:xfrm>
            <a:off x="10149840" y="3941063"/>
            <a:ext cx="1280160" cy="247497"/>
          </a:xfrm>
          <a:prstGeom prst="rect">
            <a:avLst/>
          </a:prstGeom>
          <a:noFill/>
          <a:effectLst/>
        </p:spPr>
        <p:txBody>
          <a:bodyPr wrap="none" anchor="t" lIns="0" rIns="0" tIns="0" bIns="0">
            <a:noAutofit/>
          </a:bodyPr>
          <a:lstStyle/>
          <a:p>
            <a:pPr algn="r">
              <a:lnSpc>
                <a:spcPct val="116000"/>
              </a:lnSpc>
              <a:spcBef>
                <a:spcPts val="0"/>
              </a:spcBef>
              <a:spcAft>
                <a:spcPts val="0"/>
              </a:spcAft>
            </a:pPr>
            <a:r>
              <a:rPr sz="1381" b="0" lang="en-US">
                <a:solidFill>
                  <a:srgbClr val="20262E"/>
                </a:solidFill>
                <a:latin typeface="Pretendard"/>
                <a:ea typeface="Pretendard"/>
                <a:cs typeface="Pretendard"/>
              </a:rPr>
              <a:t>3,042,473 rows</a:t>
            </a:r>
          </a:p>
        </p:txBody>
      </p:sp>
      <p:sp>
        <p:nvSpPr>
          <p:cNvPr id="69" name="TextBox 68"/>
          <p:cNvSpPr txBox="1"/>
          <p:nvPr/>
        </p:nvSpPr>
        <p:spPr>
          <a:xfrm>
            <a:off x="9363456" y="4416552"/>
            <a:ext cx="640080" cy="247497"/>
          </a:xfrm>
          <a:prstGeom prst="rect">
            <a:avLst/>
          </a:prstGeom>
          <a:noFill/>
          <a:effectLst/>
        </p:spPr>
        <p:txBody>
          <a:bodyPr wrap="none" anchor="t" lIns="0" rIns="0" tIns="0" bIns="0">
            <a:noAutofit/>
          </a:bodyPr>
          <a:lstStyle/>
          <a:p>
            <a:pPr algn="l">
              <a:lnSpc>
                <a:spcPct val="116000"/>
              </a:lnSpc>
              <a:spcBef>
                <a:spcPts val="0"/>
              </a:spcBef>
              <a:spcAft>
                <a:spcPts val="0"/>
              </a:spcAft>
            </a:pPr>
            <a:r>
              <a:rPr sz="1600" b="1" lang="en-US">
                <a:solidFill>
                  <a:srgbClr val="00306C"/>
                </a:solidFill>
                <a:latin typeface="Pretendard"/>
                <a:ea typeface="Pretendard"/>
                <a:cs typeface="Pretendard"/>
              </a:rPr>
              <a:t>ToN</a:t>
            </a:r>
          </a:p>
        </p:txBody>
      </p:sp>
      <p:sp>
        <p:nvSpPr>
          <p:cNvPr id="70" name="TextBox 69"/>
          <p:cNvSpPr txBox="1"/>
          <p:nvPr/>
        </p:nvSpPr>
        <p:spPr>
          <a:xfrm>
            <a:off x="10149840" y="4416552"/>
            <a:ext cx="1280160" cy="247497"/>
          </a:xfrm>
          <a:prstGeom prst="rect">
            <a:avLst/>
          </a:prstGeom>
          <a:noFill/>
          <a:effectLst/>
        </p:spPr>
        <p:txBody>
          <a:bodyPr wrap="none" anchor="t" lIns="0" rIns="0" tIns="0" bIns="0">
            <a:noAutofit/>
          </a:bodyPr>
          <a:lstStyle/>
          <a:p>
            <a:pPr algn="r">
              <a:lnSpc>
                <a:spcPct val="116000"/>
              </a:lnSpc>
              <a:spcBef>
                <a:spcPts val="0"/>
              </a:spcBef>
              <a:spcAft>
                <a:spcPts val="0"/>
              </a:spcAft>
            </a:pPr>
            <a:r>
              <a:rPr sz="1440" b="0" lang="en-US">
                <a:solidFill>
                  <a:srgbClr val="20262E"/>
                </a:solidFill>
                <a:latin typeface="Pretendard"/>
                <a:ea typeface="Pretendard"/>
                <a:cs typeface="Pretendard"/>
              </a:rPr>
              <a:t>2,271,723 rows</a:t>
            </a:r>
          </a:p>
        </p:txBody>
      </p:sp>
      <p:sp>
        <p:nvSpPr>
          <p:cNvPr id="71" name="TextBox 70"/>
          <p:cNvSpPr txBox="1"/>
          <p:nvPr/>
        </p:nvSpPr>
        <p:spPr>
          <a:xfrm>
            <a:off x="9363456" y="4965192"/>
            <a:ext cx="2084831"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300" b="0" lang="en-US">
                <a:solidFill>
                  <a:srgbClr val="617080"/>
                </a:solidFill>
                <a:latin typeface="Pretendard"/>
                <a:ea typeface="Pretendard"/>
                <a:cs typeface="Pretendard"/>
              </a:rPr>
              <a:t>Separate per benchmark</a:t>
            </a:r>
          </a:p>
        </p:txBody>
      </p:sp>
      <p:sp>
        <p:nvSpPr>
          <p:cNvPr id="72" name="Rectangle 71"/>
          <p:cNvSpPr/>
          <p:nvPr/>
        </p:nvSpPr>
        <p:spPr>
          <a:xfrm>
            <a:off x="594360" y="5577840"/>
            <a:ext cx="11018520" cy="10972"/>
          </a:xfrm>
          <a:prstGeom prst="rect">
            <a:avLst/>
          </a:prstGeom>
          <a:solidFill>
            <a:srgbClr val="D7E0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94360" y="5751576"/>
            <a:ext cx="1645920" cy="293903"/>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en-US">
                <a:solidFill>
                  <a:srgbClr val="00306C"/>
                </a:solidFill>
                <a:latin typeface="Pretendard"/>
                <a:ea typeface="Pretendard"/>
                <a:cs typeface="Pretendard"/>
              </a:rPr>
              <a:t>④ Outcomes</a:t>
            </a:r>
          </a:p>
        </p:txBody>
      </p:sp>
      <p:sp>
        <p:nvSpPr>
          <p:cNvPr id="74" name="TextBox 73"/>
          <p:cNvSpPr txBox="1"/>
          <p:nvPr/>
        </p:nvSpPr>
        <p:spPr>
          <a:xfrm>
            <a:off x="2395728" y="5742432"/>
            <a:ext cx="2926080" cy="293903"/>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en-US">
                <a:solidFill>
                  <a:srgbClr val="007BC6"/>
                </a:solidFill>
                <a:latin typeface="Pretendard"/>
                <a:ea typeface="Pretendard"/>
                <a:cs typeface="Pretendard"/>
              </a:rPr>
              <a:t>Detection quality</a:t>
            </a:r>
          </a:p>
        </p:txBody>
      </p:sp>
      <p:sp>
        <p:nvSpPr>
          <p:cNvPr id="75" name="TextBox 74"/>
          <p:cNvSpPr txBox="1"/>
          <p:nvPr/>
        </p:nvSpPr>
        <p:spPr>
          <a:xfrm>
            <a:off x="2395728" y="6126480"/>
            <a:ext cx="292608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en-US">
                <a:solidFill>
                  <a:srgbClr val="617080"/>
                </a:solidFill>
                <a:latin typeface="Pretendard"/>
                <a:ea typeface="Pretendard"/>
                <a:cs typeface="Pretendard"/>
              </a:rPr>
              <a:t>Full test · overall and new-attack F1</a:t>
            </a:r>
          </a:p>
        </p:txBody>
      </p:sp>
      <p:sp>
        <p:nvSpPr>
          <p:cNvPr id="76" name="TextBox 75"/>
          <p:cNvSpPr txBox="1"/>
          <p:nvPr/>
        </p:nvSpPr>
        <p:spPr>
          <a:xfrm>
            <a:off x="5513832" y="5742432"/>
            <a:ext cx="2926080" cy="293903"/>
          </a:xfrm>
          <a:prstGeom prst="rect">
            <a:avLst/>
          </a:prstGeom>
          <a:noFill/>
          <a:effectLst/>
        </p:spPr>
        <p:txBody>
          <a:bodyPr wrap="none" anchor="t" lIns="0" rIns="0" tIns="0" bIns="0">
            <a:noAutofit/>
          </a:bodyPr>
          <a:lstStyle/>
          <a:p>
            <a:pPr algn="l">
              <a:lnSpc>
                <a:spcPct val="116000"/>
              </a:lnSpc>
              <a:spcBef>
                <a:spcPts val="0"/>
              </a:spcBef>
              <a:spcAft>
                <a:spcPts val="0"/>
              </a:spcAft>
            </a:pPr>
            <a:r>
              <a:rPr sz="1739" b="1" lang="en-US">
                <a:solidFill>
                  <a:srgbClr val="007BC6"/>
                </a:solidFill>
                <a:latin typeface="Pretendard"/>
                <a:ea typeface="Pretendard"/>
                <a:cs typeface="Pretendard"/>
              </a:rPr>
              <a:t>Retention of known classes</a:t>
            </a:r>
          </a:p>
        </p:txBody>
      </p:sp>
      <p:sp>
        <p:nvSpPr>
          <p:cNvPr id="77" name="TextBox 76"/>
          <p:cNvSpPr txBox="1"/>
          <p:nvPr/>
        </p:nvSpPr>
        <p:spPr>
          <a:xfrm>
            <a:off x="5513832" y="6126480"/>
            <a:ext cx="292608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en-US">
                <a:solidFill>
                  <a:srgbClr val="617080"/>
                </a:solidFill>
                <a:latin typeface="Pretendard"/>
                <a:ea typeface="Pretendard"/>
                <a:cs typeface="Pretendard"/>
              </a:rPr>
              <a:t>Fixed panel · final − initial F1</a:t>
            </a:r>
          </a:p>
        </p:txBody>
      </p:sp>
      <p:sp>
        <p:nvSpPr>
          <p:cNvPr id="78" name="TextBox 77"/>
          <p:cNvSpPr txBox="1"/>
          <p:nvPr/>
        </p:nvSpPr>
        <p:spPr>
          <a:xfrm>
            <a:off x="8668512" y="5742432"/>
            <a:ext cx="2926080" cy="293903"/>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en-US">
                <a:solidFill>
                  <a:srgbClr val="007BC6"/>
                </a:solidFill>
                <a:latin typeface="Pretendard"/>
                <a:ea typeface="Pretendard"/>
                <a:cs typeface="Pretendard"/>
              </a:rPr>
              <a:t>Update cost</a:t>
            </a:r>
          </a:p>
        </p:txBody>
      </p:sp>
      <p:sp>
        <p:nvSpPr>
          <p:cNvPr id="79" name="TextBox 78"/>
          <p:cNvSpPr txBox="1"/>
          <p:nvPr/>
        </p:nvSpPr>
        <p:spPr>
          <a:xfrm>
            <a:off x="8668512" y="6126480"/>
            <a:ext cx="292608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311" b="0" lang="en-US">
                <a:solidFill>
                  <a:srgbClr val="617080"/>
                </a:solidFill>
                <a:latin typeface="Pretendard"/>
                <a:ea typeface="Pretendard"/>
                <a:cs typeface="Pretendard"/>
              </a:rPr>
              <a:t>Sum after Stage 1 · inference excluded</a:t>
            </a:r>
          </a:p>
        </p:txBody>
      </p:sp>
      <p:sp>
        <p:nvSpPr>
          <p:cNvPr id="80" name="Rectangle 79"/>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en-US">
                <a:solidFill>
                  <a:srgbClr val="FFFFFF"/>
                </a:solidFill>
                <a:latin typeface="Pretendard"/>
                <a:ea typeface="Pretendard"/>
                <a:cs typeface="Pretendard"/>
              </a:rPr>
              <a:t>Matched rows and retention policies · Quality, retention, and update cost</a:t>
            </a:r>
          </a:p>
        </p:txBody>
      </p:sp>
      <p:sp>
        <p:nvSpPr>
          <p:cNvPr id="82" name="TextBox 81"/>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en-US">
                <a:solidFill>
                  <a:srgbClr val="C9D8EB"/>
                </a:solidFill>
                <a:latin typeface="Pretendard"/>
                <a:ea typeface="Pretendard"/>
                <a:cs typeface="Pretendard"/>
              </a:rPr>
              <a:t>03 Evaluation</a:t>
            </a:r>
          </a:p>
        </p:txBody>
      </p:sp>
      <p:sp>
        <p:nvSpPr>
          <p:cNvPr id="83" name="TextBox 82"/>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en-US">
                <a:solidFill>
                  <a:srgbClr val="FFFFFF"/>
                </a:solidFill>
                <a:latin typeface="Pretendard"/>
                <a:ea typeface="Pretendard"/>
                <a:cs typeface="Pretendard"/>
              </a:rPr>
              <a:t>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