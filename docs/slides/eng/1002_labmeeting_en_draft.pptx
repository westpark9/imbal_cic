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5" r:id="rId16"/>
    <p:sldId id="271" r:id="rId22"/>
    <p:sldId id="272" r:id="rId23"/>
    <p:sldId id="256" r:id="rId6"/>
    <p:sldId id="257" r:id="rId8"/>
    <p:sldId id="258" r:id="rId9"/>
    <p:sldId id="262" r:id="rId2"/>
    <p:sldId id="263" r:id="rId14"/>
    <p:sldId id="269"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8" y="1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9.xml"/><Relationship Id="rId16" Type="http://schemas.openxmlformats.org/officeDocument/2006/relationships/slide" Target="slides/slide2.xml"/><Relationship Id="rId17" Type="http://schemas.openxmlformats.org/officeDocument/2006/relationships/slide" Target="slides/slide1.xml"/><Relationship Id="rId20" Type="http://schemas.openxmlformats.org/officeDocument/2006/relationships/slide" Target="slides/slide10.xml"/><Relationship Id="rId22" Type="http://schemas.openxmlformats.org/officeDocument/2006/relationships/slide" Target="slides/slide3.xml"/><Relationship Id="rId23"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This is not a model confusion matrix. Each cell is the fraction of rows in the original row class whose exact feature vector also occurs with the column class label.</a:t>
            </a:r>
          </a:p>
          <a:p>
            <a:r>
              <a:rPr lang="en-US"/>
              <a:t>Denominators are full class counts before cleaning. Percentages can be asymmetric because class sizes differ.</a:t>
            </a:r>
          </a:p>
          <a:p>
            <a:r>
              <a:rPr lang="en-US"/>
              <a:t>A row can share its feature vector with several labels and appear in several cells, so row sums are not removal rates.</a:t>
            </a:r>
          </a:p>
          <a:p>
            <a:r>
              <a:rPr lang="en-US"/>
              <a:t>Web attack: 1,335 rows overlap only with Benign, 3 only with Infiltration, 429 with both, and 771 with neither. The union contains 1,767 rows.</a:t>
            </a:r>
          </a:p>
          <a:p>
            <a:r>
              <a:rPr lang="en-US"/>
              <a:t>Rows and columns are sorted by full class counts before cleaning.</a:t>
            </a:r>
          </a:p>
          <a:p>
            <a:r>
              <a:rPr lang="en-US"/>
              <a:t>Data: docs/slides/kor/1002_intro_assets/*_pair_percent.csv and provenance.json. English figures use the same numeric matrices.</a:t>
            </a:r>
          </a:p>
          <a:p>
            <a:r>
              <a:rPr lang="en-US"/>
              <a:t>Conflicting labels are observed facts; window-based labeling is not assumed to cause every conflict.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Before and after counts cover the full train + validation + test data. The test column is a subset and must not be added to the after-cleaning total.</a:t>
            </a:r>
          </a:p>
          <a:p>
            <a:r>
              <a:rPr lang="en-US"/>
              <a:t>Sources: the cleaned split class_counts.csv and EXP61 global_raw per-class support.</a:t>
            </a:r>
          </a:p>
          <a:p>
            <a:r>
              <a:rPr lang="en-US"/>
              <a:t>Rows are sorted by full class counts after cleaning. Counts are unchanged from the Korean deck.</a:t>
            </a:r>
          </a:p>
          <a:p>
            <a:r>
              <a:rPr lang="en-US"/>
              <a:t>Tail refers to scarcity in the fixed test distribution, separate from context allocations. No arbitrary tail threshold is introduced.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current implementation separates Global, Expert and Route pools. Experts use shared anchors plus residual-cluster blocks, and scorer/verifier models are trained separately.</a:t>
            </a:r>
          </a:p>
          <a:p>
            <a:r>
              <a:rPr lang="en-US"/>
              <a:t>Residual information includes input representations, Global probabilities, differences from the true label and error magnitude. Residual contexts are not necessarily limited to Global mistakes.</a:t>
            </a:r>
          </a:p>
          <a:p>
            <a:r>
              <a:rPr lang="en-US"/>
              <a:t>A frozen TabPFN backbone does not imply that S/V can also be updated without training.</a:t>
            </a:r>
          </a:p>
          <a:p>
            <a:r>
              <a:rPr lang="en-US"/>
              <a:t>The scorer selects an expert and decides whether to call it; the verifier decides whether to accept its prediction. Otherwise, the Global prediction is retained.</a:t>
            </a:r>
          </a:p>
          <a:p>
            <a:r>
              <a:rPr lang="en-US"/>
              <a:t>EXP70 compares updates of XGBoost and Global TabPFN as a foundation for this architecture. Update rules and costs for the complete expert/S/V model remain a separate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Static EXP61/EXP63 results are preserved, with K=4 as the representative complete-model setting. EXP70 Global results do not replace the expert/S/V model result.</a:t>
            </a:r>
          </a:p>
          <a:p>
            <a:r>
              <a:rPr lang="en-US"/>
              <a:t>The complete proposed model uses additional labels from Expert and Route pools; this is not a claim of superiority under an identical 100,000-row information budget.</a:t>
            </a:r>
          </a:p>
          <a:p>
            <a:r>
              <a:rPr lang="en-US"/>
              <a:t>Global and DistPFN use the v3 backbone. BoostPFN and LoCalPFN use v1, and LoCalPFN includes fine-tuning.</a:t>
            </a:r>
          </a:p>
          <a:p>
            <a:r>
              <a:rPr lang="en-US"/>
              <a:t>The SOTA table reports the current static performance level. It does not replace the research objective with a competition for average F1.</a:t>
            </a:r>
          </a:p>
          <a:p>
            <a:r>
              <a:rPr lang="en-US"/>
              <a:t>Cost measurement conditions are reported on the next slide.</a:t>
            </a:r>
          </a:p>
          <a:p>
            <a:r>
              <a:rPr lang="en-US"/>
              <a:t>Sources: docs/research/20260930/exp61_report_data.json and exp63_capability_report_data.json.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EXP61 fit, inference and GPU measurements are preserved. Up to two concurrent jobs shared the GPU, so these are not standalone latency ratios.</a:t>
            </a:r>
          </a:p>
          <a:p>
            <a:r>
              <a:rPr lang="en-US"/>
              <a:t>GPU usage is the maximum per-process measurement sampled at one-second intervals.</a:t>
            </a:r>
          </a:p>
          <a:p>
            <a:r>
              <a:rPr lang="en-US"/>
              <a:t>LoCalPFN fit includes validation and inference includes retrieval. DistPFN includes shared Global computation and prior correction.</a:t>
            </a:r>
          </a:p>
          <a:p>
            <a:r>
              <a:rPr lang="en-US"/>
              <a:t>For the full model, expert predictions were prepared offline and the routing policy was evaluated afterward. Actual conditional runtime has not been measured. The ToN 100% call rate refers to one selected expert per sample, not all four.</a:t>
            </a:r>
          </a:p>
          <a:p>
            <a:r>
              <a:rPr lang="en-US"/>
              <a:t>TabPFN fit/setup includes preprocessing and cache construction without backbone retraining.</a:t>
            </a:r>
          </a:p>
          <a:p>
            <a:r>
              <a:rPr lang="en-US"/>
              <a:t>Do not treat EXP61 concurrent-job timings and EXP70 sequential-GPU timings as identical measurement conditions.</a:t>
            </a:r>
          </a:p>
          <a:p>
            <a:r>
              <a:rPr lang="en-US"/>
              <a:t>Source: docs/research/20260930/exp61_report_data.json.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EXP70 preserves the original order of first class appearance; it does not replay the full raw traffic chronology.</a:t>
            </a:r>
          </a:p>
          <a:p>
            <a:r>
              <a:rPr lang="en-US"/>
              <a:t>At each stage, both methods use identical cumulative labeled examples. Future classes are excluded from training, preprocessing and context until introduced.</a:t>
            </a:r>
          </a:p>
          <a:p>
            <a:r>
              <a:rPr lang="en-US"/>
              <a:t>Evaluation uses all rows of introduced classes in the existing cleaned test split. The number of evaluated classes changes across stages, so changes in overall Macro-F1 are not direct measures of improvement or forgetting.</a:t>
            </a:r>
          </a:p>
          <a:p>
            <a:r>
              <a:rPr lang="en-US"/>
              <a:t>XGBoost is retrained on cumulative data. Global TabPFN rebuilds preprocessing/cache from cumulative context with fixed backbone weights.</a:t>
            </a:r>
          </a:p>
          <a:p>
            <a:r>
              <a:rPr lang="en-US"/>
              <a:t>The final budget is 100,000 rows per dataset: 75,000 Benign plus 25,000 attack examples. Seed 43.</a:t>
            </a:r>
          </a:p>
          <a:p>
            <a:r>
              <a:rPr lang="en-US"/>
              <a:t>This experiment does not establish update behavior or cost for the full expert/S/V system.</a:t>
            </a:r>
          </a:p>
          <a:p>
            <a:r>
              <a:rPr lang="en-US"/>
              <a:t>Protocol: docs/research/20261002/exp70_protocol.md. Both methods and all stages completed for both datasets.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motivation connects our prior static F1 comparisons to the need to update an operational IDS, then explains why TabPFN is a candidate.</a:t>
            </a:r>
          </a:p>
          <a:p>
            <a:r>
              <a:rPr lang="en-US"/>
              <a:t>Training on all attack types means the existing training data, not training on the test set. Classification itself is not inherently unsuitable for IDS; fixed-test F1 alone does not establish operational utility.</a:t>
            </a:r>
          </a:p>
          <a:p>
            <a:r>
              <a:rPr lang="en-US"/>
              <a:t>New attack labels and changing conditions motivate updates. EXP70 does not reproduce an actual network environment shift.</a:t>
            </a:r>
          </a:p>
          <a:p>
            <a:r>
              <a:rPr lang="en-US"/>
              <a:t>TabPFN does not require backbone weight retraining for context updates, but preprocessing, cache construction and inference still incur costs. This structural property is distinct from a measured cost or accuracy advantage on IDS data.</a:t>
            </a:r>
          </a:p>
          <a:p>
            <a:r>
              <a:rPr lang="en-US"/>
              <a:t>Small-data evidence: Hollmann et al., Nature 2025, https://www.nature.com/articles/s41586-024-08328-6 .</a:t>
            </a:r>
          </a:p>
          <a:p>
            <a:r>
              <a:rPr lang="en-US"/>
              <a:t>Daily attack scenarios: https://www.unb.ca/cic/datasets/ids-2018.html and the NF-v3 timestamp validation recorded for EXP69.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 objective is to assess how effectively newly labeled attacks can be incorporated into an IDS, while preserving existing detection at an acceptable update and inference cost.</a:t>
            </a:r>
          </a:p>
          <a:p>
            <a:r>
              <a:rPr lang="en-US"/>
              <a:t>EXP70 gives a higher final Macro-F1 for TabPFN on CIC2018 and for XGBoost on ToN. XGBoost has shorter fit and inference times on both datasets in the current 100,000-row batch setting.</a:t>
            </a:r>
          </a:p>
          <a:p>
            <a:r>
              <a:rPr lang="en-US"/>
              <a:t>Not retraining backbone weights does not automatically yield lower operational cost.</a:t>
            </a:r>
          </a:p>
          <a:p>
            <a:r>
              <a:rPr lang="en-US"/>
              <a:t>Next, vary benign-example diversity and context size while measuring new attack recall, false positives and computational cost together. These are hypotheses for further evaluation, not improvements already demonstrated by EXP70.</a:t>
            </a:r>
          </a:p>
          <a:p>
            <a:r>
              <a:rPr lang="en-US"/>
              <a:t>Training and updates of experts and S/V must also be included when evaluating the full system.</a:t>
            </a:r>
          </a:p>
          <a:p>
            <a:r>
              <a:rPr lang="en-US"/>
              <a:t>F1 is one measure of utility. Recognizing unlabeled unknown attacks is a separate later OOD extension.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Completed EXP70 results: tabpfn/results/20261002_exp70_class_arrival_100k_s43/summary.csv and class_metrics.csv.</a:t>
            </a:r>
          </a:p>
          <a:p>
            <a:r>
              <a:rPr lang="en-US"/>
              <a:t>Left: F1 for every new attack at its first introduction stage, sorted by fixed test support. Right: full-test performance and measured cost at the final 100,000-row stage. These tables refer to different stages and evaluation sets.</a:t>
            </a:r>
          </a:p>
          <a:p>
            <a:r>
              <a:rPr lang="en-US"/>
              <a:t>The comparison uses Global TabPFN, not the full expert/S/V system. Retention must be checked on the same existing-class examples; benign FPR alone does not establish retention of all classes.</a:t>
            </a:r>
          </a:p>
          <a:p>
            <a:r>
              <a:rPr lang="en-US"/>
              <a:t>Fit/setup is the elapsed fit_context_or_retrain phase, excluding model construction/loading. TabPFN uses a frozen backbone, CPU cache, four ensemble members and no context subsampling. Measured batch costs do not directly establish real-time service throughput.</a:t>
            </a:r>
          </a:p>
          <a:p>
            <a:r>
              <a:rPr lang="en-US"/>
              <a:t>Single seed 43 and the existing development holdout. The task is classification after labels for a new attack are supplied, not detection of unlabeled OOD attacks.</a:t>
            </a:r>
          </a:p>
          <a:p>
            <a:r>
              <a:rPr lang="en-US"/>
              <a:t>Source snapshot: docs/slides/kor/1002_operational_qa/result_snapshot.json.</a:t>
            </a:r>
          </a:p>
          <a:p>
            <a:r>
              <a:rPr lang="en-US"/>
              <a:t>CIC2018 shows higher initial F1 for Web attack and Infiltration. Overall accuracy or cost superiority across datasets is not implied. In this batch setup, XGBoost has shorter fit and inference times.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Completed EXP70 results: tabpfn/results/20261002_exp70_class_arrival_100k_s43/summary.csv and class_metrics.csv.</a:t>
            </a:r>
          </a:p>
          <a:p>
            <a:r>
              <a:rPr lang="en-US"/>
              <a:t>Left: F1 for every new attack at its first introduction stage, sorted by fixed test support. Right: full-test performance and measured cost at the final 100,000-row stage. These tables refer to different stages and evaluation sets.</a:t>
            </a:r>
          </a:p>
          <a:p>
            <a:r>
              <a:rPr lang="en-US"/>
              <a:t>The comparison uses Global TabPFN, not the full expert/S/V system. Retention must be checked on the same existing-class examples; benign FPR alone does not establish retention of all classes.</a:t>
            </a:r>
          </a:p>
          <a:p>
            <a:r>
              <a:rPr lang="en-US"/>
              <a:t>Fit/setup is the elapsed fit_context_or_retrain phase, excluding model construction/loading. TabPFN uses a frozen backbone, CPU cache, four ensemble members and no context subsampling. Measured batch costs do not directly establish real-time service throughput.</a:t>
            </a:r>
          </a:p>
          <a:p>
            <a:r>
              <a:rPr lang="en-US"/>
              <a:t>Single seed 43 and the existing development holdout. The task is classification after labels for a new attack are supplied, not detection of unlabeled OOD attacks.</a:t>
            </a:r>
          </a:p>
          <a:p>
            <a:r>
              <a:rPr lang="en-US"/>
              <a:t>Source snapshot: docs/slides/kor/1002_operational_qa/result_snapshot.json.</a:t>
            </a:r>
          </a:p>
          <a:p>
            <a:r>
              <a:rPr lang="en-US"/>
              <a:t>The final confusion matrix shows TabPFN MitM recall of 96.99%, precision of 2.39%, and 46,010 false positives, including 41,330 Benign rows. High recall and low precision are directly observed; the causal roles of context proportions, coverage and feature representations have not been isolated.</a:t>
            </a:r>
          </a:p>
          <a:p>
            <a:r>
              <a:rPr lang="en-US"/>
              <a:t>After adding MitM, Macro-F1 on the same existing-class test rows is 76.51% before and 76.72% after, while benign FPR rises from 10.61% to 13.33%. The lower overall Macro-F1 cannot be interpreted entirely as forgetting: a new class with low F1 also enters the average.</a:t>
            </a:r>
          </a:p>
          <a:p>
            <a:r>
              <a:rPr lang="en-US"/>
              <a:t>Derivation and interpretation: docs/research/20261002/exp70_results.md and docs/slides/kor/1002_operational_qa/fixed_old_class_check.json.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pic>
        <p:nvPicPr>
          <p:cNvPr id="2" name="Image 0" descr="assets/pattern_color.png"/>
          <p:cNvPicPr>
            <a:picLocks noChangeAspect="1"/>
          </p:cNvPicPr>
          <p:nvPr/>
        </p:nvPicPr>
        <p:blipFill>
          <a:blip r:embed="rId2"/>
          <a:stretch>
            <a:fillRect/>
          </a:stretch>
        </p:blipFill>
        <p:spPr>
          <a:xfrm>
            <a:off x="7783107" y="2011680"/>
            <a:ext cx="4408588" cy="4846320"/>
          </a:xfrm>
          <a:prstGeom prst="rect">
            <a:avLst/>
          </a:prstGeom>
        </p:spPr>
      </p:pic>
      <p:pic>
        <p:nvPicPr>
          <p:cNvPr id="3" name="Image 1" descr="assets/logo_color.png"/>
          <p:cNvPicPr>
            <a:picLocks noChangeAspect="1"/>
          </p:cNvPicPr>
          <p:nvPr/>
        </p:nvPicPr>
        <p:blipFill>
          <a:blip r:embed="rId3"/>
          <a:stretch>
            <a:fillRect/>
          </a:stretch>
        </p:blipFill>
        <p:spPr>
          <a:xfrm>
            <a:off x="685800" y="502920"/>
            <a:ext cx="1874520" cy="442621"/>
          </a:xfrm>
          <a:prstGeom prst="rect">
            <a:avLst/>
          </a:prstGeom>
        </p:spPr>
      </p:pic>
      <p:sp>
        <p:nvSpPr>
          <p:cNvPr id="4" name="Text 0"/>
          <p:cNvSpPr>
            <a:spLocks noGrp="1"/>
          </p:cNvSpPr>
          <p:nvPr>
            <p:ph type="title" idx="102" hasCustomPrompt="1"/>
          </p:nvPr>
        </p:nvSpPr>
        <p:spPr>
          <a:xfrm>
            <a:off x="685800" y="1828800"/>
            <a:ext cx="6858000" cy="1691640"/>
          </a:xfrm>
          <a:prstGeom prst="rect">
            <a:avLst/>
          </a:prstGeom>
          <a:noFill/>
          <a:ln/>
        </p:spPr>
        <p:txBody>
          <a:bodyPr wrap="square" rtlCol="0"/>
          <a:lstStyle>
            <a:lvl1pPr marL="0" indent="0" algn="l">
              <a:buNone/>
              <a:defRPr lang="en-US" sz="44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00306C"/>
                </a:solidFill>
                <a:latin typeface="Pretendard" pitchFamily="34" charset="0"/>
                <a:ea typeface="Pretendard" pitchFamily="34" charset="-122"/>
                <a:cs typeface="Pretendard" pitchFamily="34" charset="-120"/>
              </a:rPr>
              <a:t>발표 제목을 입력하세요</a:t>
            </a:r>
            <a:endParaRPr lang="en-US" sz="4400" dirty="0"/>
          </a:p>
        </p:txBody>
      </p:sp>
      <p:sp>
        <p:nvSpPr>
          <p:cNvPr id="5" name="Text 0"/>
          <p:cNvSpPr>
            <a:spLocks noGrp="1"/>
          </p:cNvSpPr>
          <p:nvPr>
            <p:ph type="body" idx="103" hasCustomPrompt="1"/>
          </p:nvPr>
        </p:nvSpPr>
        <p:spPr>
          <a:xfrm>
            <a:off x="685800" y="3703320"/>
            <a:ext cx="6583680" cy="502920"/>
          </a:xfrm>
          <a:prstGeom prst="rect">
            <a:avLst/>
          </a:prstGeom>
          <a:noFill/>
          <a:ln/>
        </p:spPr>
        <p:txBody>
          <a:bodyPr wrap="square" rtlCol="0"/>
          <a:lstStyle>
            <a:lvl1pPr marL="0" indent="0" algn="l">
              <a:buNone/>
              <a:defRPr lang="en-US" sz="15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500" dirty="0">
                <a:solidFill>
                  <a:srgbClr val="5D6773"/>
                </a:solidFill>
                <a:latin typeface="Pretendard" pitchFamily="34" charset="0"/>
                <a:ea typeface="Pretendard" pitchFamily="34" charset="-122"/>
                <a:cs typeface="Pretendard" pitchFamily="34" charset="-120"/>
              </a:rPr>
              <a:t>부제목 · 행사명 · 날짜</a:t>
            </a:r>
            <a:endParaRPr lang="en-US" sz="1500" dirty="0"/>
          </a:p>
        </p:txBody>
      </p:sp>
      <p:sp>
        <p:nvSpPr>
          <p:cNvPr id="6" name="Text 0"/>
          <p:cNvSpPr>
            <a:spLocks noGrp="1"/>
          </p:cNvSpPr>
          <p:nvPr>
            <p:ph type="body" idx="104" hasCustomPrompt="1"/>
          </p:nvPr>
        </p:nvSpPr>
        <p:spPr>
          <a:xfrm>
            <a:off x="685800" y="4709160"/>
            <a:ext cx="6217920" cy="1645920"/>
          </a:xfrm>
          <a:prstGeom prst="rect">
            <a:avLst/>
          </a:prstGeom>
          <a:noFill/>
          <a:ln/>
        </p:spPr>
        <p:txBody>
          <a:bodyPr wrap="square" rtlCol="0"/>
          <a:lstStyle>
            <a:lvl1pPr marL="0" indent="0" algn="l">
              <a:buNone/>
              <a:defRPr lang="en-US" sz="13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300" dirty="0">
                <a:solidFill>
                  <a:srgbClr val="5D6773"/>
                </a:solidFill>
                <a:latin typeface="Pretendard" pitchFamily="34" charset="0"/>
                <a:ea typeface="Pretendard" pitchFamily="34" charset="-122"/>
                <a:cs typeface="Pretendard" pitchFamily="34" charset="-120"/>
              </a:rPr>
              <a:t>발표자 정보를 입력하세요</a:t>
            </a: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616746" y="1828800"/>
            <a:ext cx="4574950" cy="5029200"/>
          </a:xfrm>
          <a:prstGeom prst="rect">
            <a:avLst/>
          </a:prstGeom>
        </p:spPr>
      </p:pic>
      <p:pic>
        <p:nvPicPr>
          <p:cNvPr id="3" name="Image 1" descr="assets/logo_white.png"/>
          <p:cNvPicPr>
            <a:picLocks noChangeAspect="1"/>
          </p:cNvPicPr>
          <p:nvPr/>
        </p:nvPicPr>
        <p:blipFill>
          <a:blip r:embed="rId3"/>
          <a:stretch>
            <a:fillRect/>
          </a:stretch>
        </p:blipFill>
        <p:spPr>
          <a:xfrm>
            <a:off x="10417759" y="420624"/>
            <a:ext cx="1207008" cy="285005"/>
          </a:xfrm>
          <a:prstGeom prst="rect">
            <a:avLst/>
          </a:prstGeom>
        </p:spPr>
      </p:pic>
      <p:sp>
        <p:nvSpPr>
          <p:cNvPr id="4" name="Text 0"/>
          <p:cNvSpPr>
            <a:spLocks noGrp="1"/>
          </p:cNvSpPr>
          <p:nvPr>
            <p:ph type="title" idx="102" hasCustomPrompt="1"/>
          </p:nvPr>
        </p:nvSpPr>
        <p:spPr>
          <a:xfrm>
            <a:off x="685800" y="3017520"/>
            <a:ext cx="8778240" cy="914400"/>
          </a:xfrm>
          <a:prstGeom prst="rect">
            <a:avLst/>
          </a:prstGeom>
          <a:noFill/>
          <a:ln/>
        </p:spPr>
        <p:txBody>
          <a:bodyPr wrap="square" rtlCol="0"/>
          <a:lstStyle>
            <a:lvl1pPr marL="0" indent="0" algn="l">
              <a:buNone/>
              <a:defRPr lang="en-US" sz="36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3600" b="1" dirty="0">
                <a:solidFill>
                  <a:srgbClr val="FFFFFF"/>
                </a:solidFill>
                <a:latin typeface="Pretendard" pitchFamily="34" charset="0"/>
                <a:ea typeface="Pretendard" pitchFamily="34" charset="-122"/>
                <a:cs typeface="Pretendard" pitchFamily="34" charset="-120"/>
              </a:rPr>
              <a:t>섹션 제목을 입력하세요</a:t>
            </a:r>
            <a:endParaRPr lang="en-US" sz="3600" dirty="0"/>
          </a:p>
        </p:txBody>
      </p:sp>
      <p:sp>
        <p:nvSpPr>
          <p:cNvPr id="5" name="Text 0"/>
          <p:cNvSpPr>
            <a:spLocks noGrp="1"/>
          </p:cNvSpPr>
          <p:nvPr>
            <p:ph type="body" idx="103" hasCustomPrompt="1"/>
          </p:nvPr>
        </p:nvSpPr>
        <p:spPr>
          <a:xfrm>
            <a:off x="685800" y="4160520"/>
            <a:ext cx="8229600" cy="548640"/>
          </a:xfrm>
          <a:prstGeom prst="rect">
            <a:avLst/>
          </a:prstGeom>
          <a:noFill/>
          <a:ln/>
        </p:spPr>
        <p:txBody>
          <a:bodyPr wrap="square" rtlCol="0"/>
          <a:lstStyle>
            <a:lvl1pPr marL="0" indent="0" algn="l">
              <a:buNone/>
              <a:defRPr lang="en-US" sz="145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50" dirty="0">
                <a:solidFill>
                  <a:srgbClr val="C7D2E0"/>
                </a:solidFill>
                <a:latin typeface="Pretendard" pitchFamily="34" charset="0"/>
                <a:ea typeface="Pretendard" pitchFamily="34" charset="-122"/>
                <a:cs typeface="Pretendard" pitchFamily="34" charset="-120"/>
              </a:rPr>
              <a:t>섹션 설명 (선택)</a:t>
            </a:r>
            <a:endParaRPr lang="en-US" sz="14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11055096" cy="5074920"/>
          </a:xfrm>
          <a:prstGeom prst="rect">
            <a:avLst/>
          </a:prstGeom>
          <a:noFill/>
          <a:ln/>
        </p:spPr>
        <p:txBody>
          <a:bodyPr wrap="square" rtlCol="0"/>
          <a:lstStyle>
            <a:lvl1pPr marL="0" indent="0" algn="l">
              <a:buNone/>
              <a:defRPr lang="en-US" sz="150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500" dirty="0">
                <a:solidFill>
                  <a:srgbClr val="21262E"/>
                </a:solidFill>
                <a:latin typeface="Pretendard" pitchFamily="34" charset="0"/>
                <a:ea typeface="Pretendard" pitchFamily="34" charset="-122"/>
                <a:cs typeface="Pretendard" pitchFamily="34" charset="-120"/>
              </a:rPr>
              <a:t>내용을 입력하세요</a:t>
            </a:r>
            <a:endParaRPr lang="en-US" sz="15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_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왼쪽 내용을 입력하세요</a:t>
            </a:r>
            <a:endParaRPr lang="en-US" sz="1450" dirty="0"/>
          </a:p>
        </p:txBody>
      </p:sp>
      <p:sp>
        <p:nvSpPr>
          <p:cNvPr id="5" name="Text 0"/>
          <p:cNvSpPr>
            <a:spLocks noGrp="1"/>
          </p:cNvSpPr>
          <p:nvPr>
            <p:ph type="body" idx="103" hasCustomPrompt="1"/>
          </p:nvPr>
        </p:nvSpPr>
        <p:spPr>
          <a:xfrm>
            <a:off x="6208776"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오른쪽 내용을 입력하세요</a:t>
            </a:r>
            <a:endParaRPr lang="en-US" sz="145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LOSING">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367203" y="1554480"/>
            <a:ext cx="4824492" cy="5303520"/>
          </a:xfrm>
          <a:prstGeom prst="rect">
            <a:avLst/>
          </a:prstGeom>
        </p:spPr>
      </p:pic>
      <p:pic>
        <p:nvPicPr>
          <p:cNvPr id="3" name="Image 1" descr="assets/logo_white.png"/>
          <p:cNvPicPr>
            <a:picLocks noChangeAspect="1"/>
          </p:cNvPicPr>
          <p:nvPr/>
        </p:nvPicPr>
        <p:blipFill>
          <a:blip r:embed="rId3"/>
          <a:stretch>
            <a:fillRect/>
          </a:stretch>
        </p:blipFill>
        <p:spPr>
          <a:xfrm>
            <a:off x="685800" y="502920"/>
            <a:ext cx="1828800" cy="431826"/>
          </a:xfrm>
          <a:prstGeom prst="rect">
            <a:avLst/>
          </a:prstGeom>
        </p:spPr>
      </p:pic>
      <p:sp>
        <p:nvSpPr>
          <p:cNvPr id="4" name="Text 0"/>
          <p:cNvSpPr>
            <a:spLocks noGrp="1"/>
          </p:cNvSpPr>
          <p:nvPr>
            <p:ph type="title" idx="102" hasCustomPrompt="1"/>
          </p:nvPr>
        </p:nvSpPr>
        <p:spPr>
          <a:xfrm>
            <a:off x="685800" y="2377440"/>
            <a:ext cx="7315200" cy="1097280"/>
          </a:xfrm>
          <a:prstGeom prst="rect">
            <a:avLst/>
          </a:prstGeom>
          <a:noFill/>
          <a:ln/>
        </p:spPr>
        <p:txBody>
          <a:bodyPr wrap="square" rtlCol="0"/>
          <a:lstStyle>
            <a:lvl1pPr marL="0" indent="0" algn="l">
              <a:buNone/>
              <a:defRPr lang="en-US" sz="44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FFFFFF"/>
                </a:solidFill>
                <a:latin typeface="Pretendard" pitchFamily="34" charset="0"/>
                <a:ea typeface="Pretendard" pitchFamily="34" charset="-122"/>
                <a:cs typeface="Pretendard" pitchFamily="34" charset="-120"/>
              </a:rPr>
              <a:t>Thank You</a:t>
            </a:r>
            <a:endParaRPr lang="en-US" sz="4400" dirty="0"/>
          </a:p>
        </p:txBody>
      </p:sp>
      <p:sp>
        <p:nvSpPr>
          <p:cNvPr id="5" name="Text 0"/>
          <p:cNvSpPr>
            <a:spLocks noGrp="1"/>
          </p:cNvSpPr>
          <p:nvPr>
            <p:ph type="body" idx="103" hasCustomPrompt="1"/>
          </p:nvPr>
        </p:nvSpPr>
        <p:spPr>
          <a:xfrm>
            <a:off x="685800" y="3749040"/>
            <a:ext cx="6858000" cy="1737360"/>
          </a:xfrm>
          <a:prstGeom prst="rect">
            <a:avLst/>
          </a:prstGeom>
          <a:noFill/>
          <a:ln/>
        </p:spPr>
        <p:txBody>
          <a:bodyPr wrap="square" rtlCol="0"/>
          <a:lstStyle>
            <a:lvl1pPr marL="0" indent="0" algn="l">
              <a:buNone/>
              <a:defRPr lang="en-US" sz="140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00" dirty="0">
                <a:solidFill>
                  <a:srgbClr val="C7D2E0"/>
                </a:solidFill>
                <a:latin typeface="Pretendard" pitchFamily="34" charset="0"/>
                <a:ea typeface="Pretendard" pitchFamily="34" charset="-122"/>
                <a:cs typeface="Pretendard" pitchFamily="34" charset="-120"/>
              </a:rPr>
              <a:t>연락처 정보를 입력하세요</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github.com/mlopezm/Supervised-contrastive-learning-over-prototype-label-embeddings" TargetMode="External"/><Relationship Id="rId4" Type="http://schemas.openxmlformats.org/officeDocument/2006/relationships/hyperlink" Target="https://arxiv.org/abs/2402.06971" TargetMode="External"/><Relationship Id="rId5" Type="http://schemas.openxmlformats.org/officeDocument/2006/relationships/hyperlink" Target="https://valthom.github.i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1"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en-US">
                <a:solidFill>
                  <a:srgbClr val="00306C"/>
                </a:solidFill>
                <a:latin typeface="Pretendard"/>
                <a:ea typeface="Pretendard"/>
                <a:cs typeface="Pretendard"/>
              </a:rPr>
              <a:t>TabPFN for operational intrusion detection</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en-US">
                <a:solidFill>
                  <a:srgbClr val="D6E4F3"/>
                </a:solidFill>
                <a:latin typeface="Pretendard"/>
                <a:ea typeface="Pretendard"/>
                <a:cs typeface="Pretendard"/>
              </a:rPr>
              <a:t>01 Motivation</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en-US">
                <a:solidFill>
                  <a:srgbClr val="FFFFFF"/>
                </a:solidFill>
                <a:latin typeface="Pretendard"/>
                <a:ea typeface="Pretendard"/>
                <a:cs typeface="Pretendard"/>
              </a:rPr>
              <a:t>1</a:t>
            </a:r>
          </a:p>
        </p:txBody>
      </p:sp>
      <p:sp>
        <p:nvSpPr>
          <p:cNvPr id="6" name="TextBox 5"/>
          <p:cNvSpPr txBox="1"/>
          <p:nvPr/>
        </p:nvSpPr>
        <p:spPr>
          <a:xfrm>
            <a:off x="566928" y="1399032"/>
            <a:ext cx="1874519" cy="40233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100" b="1" lang="en-US">
                <a:solidFill>
                  <a:srgbClr val="007BC6"/>
                </a:solidFill>
                <a:latin typeface="Pretendard"/>
                <a:ea typeface="Pretendard"/>
                <a:cs typeface="Pretendard"/>
              </a:rPr>
              <a:t>Prior approach</a:t>
            </a:r>
          </a:p>
        </p:txBody>
      </p:sp>
      <p:sp>
        <p:nvSpPr>
          <p:cNvPr id="7" name="TextBox 6"/>
          <p:cNvSpPr txBox="1"/>
          <p:nvPr/>
        </p:nvSpPr>
        <p:spPr>
          <a:xfrm>
            <a:off x="2670048" y="1399032"/>
            <a:ext cx="8951976" cy="868680"/>
          </a:xfrm>
          <a:prstGeom prst="rect">
            <a:avLst/>
          </a:prstGeom>
          <a:noFill/>
        </p:spPr>
        <p:txBody>
          <a:bodyPr wrap="square" lIns="0" rIns="0" tIns="32004" bIns="32004" anchor="t">
            <a:noAutofit/>
          </a:bodyPr>
          <a:lstStyle/>
          <a:p>
            <a:pPr algn="l">
              <a:lnSpc>
                <a:spcPct val="110000"/>
              </a:lnSpc>
              <a:spcBef>
                <a:spcPts val="0"/>
              </a:spcBef>
              <a:spcAft>
                <a:spcPts val="0"/>
              </a:spcAft>
              <a:buNone/>
              <a:buNone/>
            </a:pPr>
            <a:r>
              <a:rPr sz="2000" b="0" lang="en-US">
                <a:solidFill>
                  <a:srgbClr val="21262E"/>
                </a:solidFill>
                <a:latin typeface="Pretendard"/>
                <a:ea typeface="Pretendard"/>
                <a:cs typeface="Pretendard"/>
              </a:rPr>
              <a:t>IDS benchmark data collected under daily attack scenarios</a:t>
            </a:r>
          </a:p>
          <a:p>
            <a:pPr algn="l">
              <a:lnSpc>
                <a:spcPct val="110000"/>
              </a:lnSpc>
              <a:spcBef>
                <a:spcPts val="0"/>
              </a:spcBef>
              <a:spcAft>
                <a:spcPts val="0"/>
              </a:spcAft>
              <a:buNone/>
            </a:pPr>
            <a:r>
              <a:rPr sz="2000" b="0" lang="en-US">
                <a:solidFill>
                  <a:srgbClr val="21262E"/>
                </a:solidFill>
                <a:latin typeface="Pretendard"/>
                <a:ea typeface="Pretendard"/>
                <a:cs typeface="Pretendard"/>
              </a:rPr>
              <a:t>Train on all attack classes and aim to improve on baseline F1</a:t>
            </a:r>
          </a:p>
        </p:txBody>
      </p:sp>
      <p:sp>
        <p:nvSpPr>
          <p:cNvPr id="8" name="TextBox 7"/>
          <p:cNvSpPr txBox="1"/>
          <p:nvPr/>
        </p:nvSpPr>
        <p:spPr>
          <a:xfrm>
            <a:off x="566928" y="2779776"/>
            <a:ext cx="1874519" cy="40233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100" b="1" lang="en-US">
                <a:solidFill>
                  <a:srgbClr val="007BC6"/>
                </a:solidFill>
                <a:latin typeface="Pretendard"/>
                <a:ea typeface="Pretendard"/>
                <a:cs typeface="Pretendard"/>
              </a:rPr>
              <a:t>Deployment</a:t>
            </a:r>
          </a:p>
        </p:txBody>
      </p:sp>
      <p:sp>
        <p:nvSpPr>
          <p:cNvPr id="9" name="TextBox 8"/>
          <p:cNvSpPr txBox="1"/>
          <p:nvPr/>
        </p:nvSpPr>
        <p:spPr>
          <a:xfrm>
            <a:off x="2670048" y="2779776"/>
            <a:ext cx="8951976" cy="868680"/>
          </a:xfrm>
          <a:prstGeom prst="rect">
            <a:avLst/>
          </a:prstGeom>
          <a:noFill/>
        </p:spPr>
        <p:txBody>
          <a:bodyPr wrap="square" lIns="0" rIns="0" tIns="32004" bIns="32004" anchor="t">
            <a:noAutofit/>
          </a:bodyPr>
          <a:lstStyle/>
          <a:p>
            <a:pPr algn="l">
              <a:lnSpc>
                <a:spcPct val="110000"/>
              </a:lnSpc>
              <a:spcBef>
                <a:spcPts val="0"/>
              </a:spcBef>
              <a:spcAft>
                <a:spcPts val="0"/>
              </a:spcAft>
              <a:buNone/>
              <a:buNone/>
            </a:pPr>
            <a:r>
              <a:rPr sz="2000" b="0" lang="en-US">
                <a:solidFill>
                  <a:srgbClr val="21262E"/>
                </a:solidFill>
                <a:latin typeface="Pretendard"/>
                <a:ea typeface="Pretendard"/>
                <a:cs typeface="Pretendard"/>
              </a:rPr>
              <a:t>New attack labels and changing conditions require model updates</a:t>
            </a:r>
          </a:p>
          <a:p>
            <a:pPr algn="l">
              <a:lnSpc>
                <a:spcPct val="110000"/>
              </a:lnSpc>
              <a:spcBef>
                <a:spcPts val="0"/>
              </a:spcBef>
              <a:spcAft>
                <a:spcPts val="0"/>
              </a:spcAft>
              <a:buNone/>
            </a:pPr>
            <a:r>
              <a:rPr sz="2000" b="0" lang="en-US">
                <a:solidFill>
                  <a:srgbClr val="21262E"/>
                </a:solidFill>
                <a:latin typeface="Pretendard"/>
                <a:ea typeface="Pretendard"/>
                <a:cs typeface="Pretendard"/>
              </a:rPr>
              <a:t>F1 on a fixed test set alone cannot establish operational utility</a:t>
            </a:r>
          </a:p>
        </p:txBody>
      </p:sp>
      <p:sp>
        <p:nvSpPr>
          <p:cNvPr id="10" name="TextBox 9"/>
          <p:cNvSpPr txBox="1"/>
          <p:nvPr/>
        </p:nvSpPr>
        <p:spPr>
          <a:xfrm>
            <a:off x="566928" y="4160520"/>
            <a:ext cx="1874519" cy="40233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100" b="1" lang="en-US">
                <a:solidFill>
                  <a:srgbClr val="007BC6"/>
                </a:solidFill>
                <a:latin typeface="Pretendard"/>
                <a:ea typeface="Pretendard"/>
                <a:cs typeface="Pretendard"/>
              </a:rPr>
              <a:t>Why TabPFN</a:t>
            </a:r>
          </a:p>
        </p:txBody>
      </p:sp>
      <p:sp>
        <p:nvSpPr>
          <p:cNvPr id="11" name="TextBox 10"/>
          <p:cNvSpPr txBox="1"/>
          <p:nvPr/>
        </p:nvSpPr>
        <p:spPr>
          <a:xfrm>
            <a:off x="2670048" y="4160520"/>
            <a:ext cx="8951976" cy="868680"/>
          </a:xfrm>
          <a:prstGeom prst="rect">
            <a:avLst/>
          </a:prstGeom>
          <a:noFill/>
        </p:spPr>
        <p:txBody>
          <a:bodyPr wrap="square" lIns="0" rIns="0" tIns="32004" bIns="32004" anchor="t">
            <a:noAutofit/>
          </a:bodyPr>
          <a:lstStyle/>
          <a:p>
            <a:pPr algn="l">
              <a:lnSpc>
                <a:spcPct val="110000"/>
              </a:lnSpc>
              <a:spcBef>
                <a:spcPts val="0"/>
              </a:spcBef>
              <a:spcAft>
                <a:spcPts val="0"/>
              </a:spcAft>
              <a:buNone/>
              <a:buNone/>
            </a:pPr>
            <a:r>
              <a:rPr sz="2000" b="0" lang="en-US">
                <a:solidFill>
                  <a:srgbClr val="21262E"/>
                </a:solidFill>
                <a:latin typeface="Pretendard"/>
                <a:ea typeface="Pretendard"/>
                <a:cs typeface="Pretendard"/>
              </a:rPr>
              <a:t>A pretrained tabular foundation model used directly for inference</a:t>
            </a:r>
          </a:p>
          <a:p>
            <a:pPr algn="l">
              <a:lnSpc>
                <a:spcPct val="110000"/>
              </a:lnSpc>
              <a:spcBef>
                <a:spcPts val="0"/>
              </a:spcBef>
              <a:spcAft>
                <a:spcPts val="0"/>
              </a:spcAft>
              <a:buNone/>
            </a:pPr>
            <a:r>
              <a:rPr sz="2000" b="0" lang="en-US">
                <a:solidFill>
                  <a:srgbClr val="21262E"/>
                </a:solidFill>
                <a:latin typeface="Pretendard"/>
                <a:ea typeface="Pretendard"/>
                <a:cs typeface="Pretendard"/>
              </a:rPr>
              <a:t>Strong prediction on small data; context updates without retraining</a:t>
            </a:r>
          </a:p>
        </p:txBody>
      </p:sp>
      <p:sp>
        <p:nvSpPr>
          <p:cNvPr id="12" name="TextBox 11"/>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00" b="1" lang="en-US">
                <a:solidFill>
                  <a:srgbClr val="FFFFFF"/>
                </a:solidFill>
                <a:latin typeface="Pretendard"/>
                <a:ea typeface="Pretendard"/>
                <a:cs typeface="Pretendard"/>
              </a:rPr>
              <a:t>Evaluating detector updates by adding labeled attacks to context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2800" b="1" lang="en-US">
                <a:solidFill>
                  <a:srgbClr val="00306C"/>
                </a:solidFill>
                <a:latin typeface="Pretendard"/>
                <a:ea typeface="Pretendard"/>
                <a:cs typeface="Pretendard"/>
              </a:rPr>
              <a:t>Updating an IDS as new attack labels arrive</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000" b="0" lang="en-US">
                <a:solidFill>
                  <a:srgbClr val="D6E4F3"/>
                </a:solidFill>
                <a:latin typeface="Pretendard"/>
                <a:ea typeface="Pretendard"/>
                <a:cs typeface="Pretendard"/>
              </a:rPr>
              <a:t>02 New attack adaptation</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en-US">
                <a:solidFill>
                  <a:srgbClr val="FFFFFF"/>
                </a:solidFill>
                <a:latin typeface="Pretendard"/>
                <a:ea typeface="Pretendard"/>
                <a:cs typeface="Pretendard"/>
              </a:rPr>
              <a:t>2</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1300" b="0" lang="en-US">
                <a:solidFill>
                  <a:srgbClr val="5D6773"/>
                </a:solidFill>
                <a:latin typeface="Pretendard"/>
                <a:ea typeface="Pretendard"/>
                <a:cs typeface="Pretendard"/>
              </a:rPr>
              <a:t>XGBoost retraining vs. Global TabPFN context expansion · Same cumulative examples · Seed 43</a:t>
            </a:r>
          </a:p>
        </p:txBody>
      </p:sp>
      <p:sp>
        <p:nvSpPr>
          <p:cNvPr id="7" name="TextBox 6"/>
          <p:cNvSpPr txBox="1"/>
          <p:nvPr/>
        </p:nvSpPr>
        <p:spPr>
          <a:xfrm>
            <a:off x="566928" y="1399032"/>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800" b="1" lang="en-US">
                <a:solidFill>
                  <a:srgbClr val="00306C"/>
                </a:solidFill>
                <a:latin typeface="Pretendard"/>
                <a:ea typeface="Pretendard"/>
                <a:cs typeface="Pretendard"/>
              </a:rPr>
              <a:t>CIC2018 · 2018</a:t>
            </a:r>
          </a:p>
        </p:txBody>
      </p:sp>
      <p:sp>
        <p:nvSpPr>
          <p:cNvPr id="8" name="Rounded Rectangle 7"/>
          <p:cNvSpPr/>
          <p:nvPr/>
        </p:nvSpPr>
        <p:spPr>
          <a:xfrm>
            <a:off x="566928" y="1847088"/>
            <a:ext cx="2079345" cy="987552"/>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80" b="0" lang="en-US">
                <a:solidFill>
                  <a:srgbClr val="5D6773"/>
                </a:solidFill>
                <a:latin typeface="Pretendard"/>
                <a:ea typeface="Pretendard"/>
                <a:cs typeface="Pretendard"/>
              </a:rPr>
              <a:t>Initial · Feb 14 to 16</a:t>
            </a:r>
          </a:p>
        </p:txBody>
      </p:sp>
      <p:sp>
        <p:nvSpPr>
          <p:cNvPr id="10" name="TextBox 9"/>
          <p:cNvSpPr txBox="1"/>
          <p:nvPr/>
        </p:nvSpPr>
        <p:spPr>
          <a:xfrm>
            <a:off x="658368"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en-US">
                <a:solidFill>
                  <a:srgbClr val="00306C"/>
                </a:solidFill>
                <a:latin typeface="Pretendard"/>
                <a:ea typeface="Pretendard"/>
                <a:cs typeface="Pretendard"/>
              </a:rPr>
              <a:t>Benign</a:t>
            </a:r>
          </a:p>
          <a:p>
            <a:pPr algn="ctr">
              <a:lnSpc>
                <a:spcPct val="110000"/>
              </a:lnSpc>
              <a:spcBef>
                <a:spcPts val="0"/>
              </a:spcBef>
              <a:spcAft>
                <a:spcPts val="0"/>
              </a:spcAft>
              <a:buNone/>
            </a:pPr>
            <a:r>
              <a:rPr sz="1400" b="1" lang="en-US">
                <a:solidFill>
                  <a:srgbClr val="00306C"/>
                </a:solidFill>
                <a:latin typeface="Pretendard"/>
                <a:ea typeface="Pretendard"/>
                <a:cs typeface="Pretendard"/>
              </a:rPr>
              <a:t>Brute force · DoS</a:t>
            </a:r>
          </a:p>
        </p:txBody>
      </p:sp>
      <p:cxnSp>
        <p:nvCxnSpPr>
          <p:cNvPr id="11" name="Connector 10"/>
          <p:cNvCxnSpPr/>
          <p:nvPr/>
        </p:nvCxnSpPr>
        <p:spPr>
          <a:xfrm>
            <a:off x="2664561"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10865"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02305"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80" b="0" lang="en-US">
                <a:solidFill>
                  <a:srgbClr val="5D6773"/>
                </a:solidFill>
                <a:latin typeface="Pretendard"/>
                <a:ea typeface="Pretendard"/>
                <a:cs typeface="Pretendard"/>
              </a:rPr>
              <a:t>Feb 20 to 21</a:t>
            </a:r>
          </a:p>
        </p:txBody>
      </p:sp>
      <p:sp>
        <p:nvSpPr>
          <p:cNvPr id="14" name="TextBox 13"/>
          <p:cNvSpPr txBox="1"/>
          <p:nvPr/>
        </p:nvSpPr>
        <p:spPr>
          <a:xfrm>
            <a:off x="2902305"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en-US">
                <a:solidFill>
                  <a:srgbClr val="00306C"/>
                </a:solidFill>
                <a:latin typeface="Pretendard"/>
                <a:ea typeface="Pretendard"/>
                <a:cs typeface="Pretendard"/>
              </a:rPr>
              <a:t>DDoS</a:t>
            </a:r>
          </a:p>
        </p:txBody>
      </p:sp>
      <p:cxnSp>
        <p:nvCxnSpPr>
          <p:cNvPr id="15" name="Connector 14"/>
          <p:cNvCxnSpPr/>
          <p:nvPr/>
        </p:nvCxnSpPr>
        <p:spPr>
          <a:xfrm>
            <a:off x="4908499"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54803"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46243"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80" b="0" lang="en-US">
                <a:solidFill>
                  <a:srgbClr val="5D6773"/>
                </a:solidFill>
                <a:latin typeface="Pretendard"/>
                <a:ea typeface="Pretendard"/>
                <a:cs typeface="Pretendard"/>
              </a:rPr>
              <a:t>Feb 22</a:t>
            </a:r>
          </a:p>
        </p:txBody>
      </p:sp>
      <p:sp>
        <p:nvSpPr>
          <p:cNvPr id="18" name="TextBox 17"/>
          <p:cNvSpPr txBox="1"/>
          <p:nvPr/>
        </p:nvSpPr>
        <p:spPr>
          <a:xfrm>
            <a:off x="5146243"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en-US">
                <a:solidFill>
                  <a:srgbClr val="00306C"/>
                </a:solidFill>
                <a:latin typeface="Pretendard"/>
                <a:ea typeface="Pretendard"/>
                <a:cs typeface="Pretendard"/>
              </a:rPr>
              <a:t>Web attack</a:t>
            </a:r>
          </a:p>
        </p:txBody>
      </p:sp>
      <p:cxnSp>
        <p:nvCxnSpPr>
          <p:cNvPr id="19" name="Connector 18"/>
          <p:cNvCxnSpPr/>
          <p:nvPr/>
        </p:nvCxnSpPr>
        <p:spPr>
          <a:xfrm>
            <a:off x="7152436"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8740"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0180"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80" b="0" lang="en-US">
                <a:solidFill>
                  <a:srgbClr val="5D6773"/>
                </a:solidFill>
                <a:latin typeface="Pretendard"/>
                <a:ea typeface="Pretendard"/>
                <a:cs typeface="Pretendard"/>
              </a:rPr>
              <a:t>Feb 28</a:t>
            </a:r>
          </a:p>
        </p:txBody>
      </p:sp>
      <p:sp>
        <p:nvSpPr>
          <p:cNvPr id="22" name="TextBox 21"/>
          <p:cNvSpPr txBox="1"/>
          <p:nvPr/>
        </p:nvSpPr>
        <p:spPr>
          <a:xfrm>
            <a:off x="7390180"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en-US">
                <a:solidFill>
                  <a:srgbClr val="00306C"/>
                </a:solidFill>
                <a:latin typeface="Pretendard"/>
                <a:ea typeface="Pretendard"/>
                <a:cs typeface="Pretendard"/>
              </a:rPr>
              <a:t>Infiltration</a:t>
            </a:r>
          </a:p>
        </p:txBody>
      </p:sp>
      <p:cxnSp>
        <p:nvCxnSpPr>
          <p:cNvPr id="23" name="Connector 22"/>
          <p:cNvCxnSpPr/>
          <p:nvPr/>
        </p:nvCxnSpPr>
        <p:spPr>
          <a:xfrm>
            <a:off x="9396374"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542678"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34118"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80" b="0" lang="en-US">
                <a:solidFill>
                  <a:srgbClr val="5D6773"/>
                </a:solidFill>
                <a:latin typeface="Pretendard"/>
                <a:ea typeface="Pretendard"/>
                <a:cs typeface="Pretendard"/>
              </a:rPr>
              <a:t>Mar 2</a:t>
            </a:r>
          </a:p>
        </p:txBody>
      </p:sp>
      <p:sp>
        <p:nvSpPr>
          <p:cNvPr id="26" name="TextBox 25"/>
          <p:cNvSpPr txBox="1"/>
          <p:nvPr/>
        </p:nvSpPr>
        <p:spPr>
          <a:xfrm>
            <a:off x="9634118"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en-US">
                <a:solidFill>
                  <a:srgbClr val="00306C"/>
                </a:solidFill>
                <a:latin typeface="Pretendard"/>
                <a:ea typeface="Pretendard"/>
                <a:cs typeface="Pretendard"/>
              </a:rPr>
              <a:t>Bot</a:t>
            </a:r>
          </a:p>
        </p:txBody>
      </p:sp>
      <p:sp>
        <p:nvSpPr>
          <p:cNvPr id="27" name="TextBox 26"/>
          <p:cNvSpPr txBox="1"/>
          <p:nvPr/>
        </p:nvSpPr>
        <p:spPr>
          <a:xfrm>
            <a:off x="566928" y="3090672"/>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800" b="1" lang="en-US">
                <a:solidFill>
                  <a:srgbClr val="00306C"/>
                </a:solidFill>
                <a:latin typeface="Pretendard"/>
                <a:ea typeface="Pretendard"/>
                <a:cs typeface="Pretendard"/>
              </a:rPr>
              <a:t>ToN · 2019</a:t>
            </a:r>
          </a:p>
        </p:txBody>
      </p:sp>
      <p:sp>
        <p:nvSpPr>
          <p:cNvPr id="28" name="Rounded Rectangle 27"/>
          <p:cNvSpPr/>
          <p:nvPr/>
        </p:nvSpPr>
        <p:spPr>
          <a:xfrm>
            <a:off x="566928" y="3538728"/>
            <a:ext cx="1705356" cy="987552"/>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80" b="0" lang="en-US">
                <a:solidFill>
                  <a:srgbClr val="5D6773"/>
                </a:solidFill>
                <a:latin typeface="Pretendard"/>
                <a:ea typeface="Pretendard"/>
                <a:cs typeface="Pretendard"/>
              </a:rPr>
              <a:t>Initial · Apr 23 to 24</a:t>
            </a:r>
          </a:p>
        </p:txBody>
      </p:sp>
      <p:sp>
        <p:nvSpPr>
          <p:cNvPr id="30" name="TextBox 29"/>
          <p:cNvSpPr txBox="1"/>
          <p:nvPr/>
        </p:nvSpPr>
        <p:spPr>
          <a:xfrm>
            <a:off x="658368"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en-US">
                <a:solidFill>
                  <a:srgbClr val="00306C"/>
                </a:solidFill>
                <a:latin typeface="Pretendard"/>
                <a:ea typeface="Pretendard"/>
                <a:cs typeface="Pretendard"/>
              </a:rPr>
              <a:t>Benign</a:t>
            </a:r>
          </a:p>
          <a:p>
            <a:pPr algn="ctr">
              <a:lnSpc>
                <a:spcPct val="110000"/>
              </a:lnSpc>
              <a:spcBef>
                <a:spcPts val="0"/>
              </a:spcBef>
              <a:spcAft>
                <a:spcPts val="0"/>
              </a:spcAft>
              <a:buNone/>
            </a:pPr>
            <a:r>
              <a:rPr sz="1400" b="1" lang="en-US">
                <a:solidFill>
                  <a:srgbClr val="00306C"/>
                </a:solidFill>
                <a:latin typeface="Pretendard"/>
                <a:ea typeface="Pretendard"/>
                <a:cs typeface="Pretendard"/>
              </a:rPr>
              <a:t>Scanning · DoS</a:t>
            </a:r>
          </a:p>
        </p:txBody>
      </p:sp>
      <p:cxnSp>
        <p:nvCxnSpPr>
          <p:cNvPr id="31" name="Connector 30"/>
          <p:cNvCxnSpPr/>
          <p:nvPr/>
        </p:nvCxnSpPr>
        <p:spPr>
          <a:xfrm>
            <a:off x="2290572"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2436876"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28316"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80" b="0" lang="en-US">
                <a:solidFill>
                  <a:srgbClr val="5D6773"/>
                </a:solidFill>
                <a:latin typeface="Pretendard"/>
                <a:ea typeface="Pretendard"/>
                <a:cs typeface="Pretendard"/>
              </a:rPr>
              <a:t>Apr 25</a:t>
            </a:r>
          </a:p>
        </p:txBody>
      </p:sp>
      <p:sp>
        <p:nvSpPr>
          <p:cNvPr id="34" name="TextBox 33"/>
          <p:cNvSpPr txBox="1"/>
          <p:nvPr/>
        </p:nvSpPr>
        <p:spPr>
          <a:xfrm>
            <a:off x="2528316"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en-US">
                <a:solidFill>
                  <a:srgbClr val="00306C"/>
                </a:solidFill>
                <a:latin typeface="Pretendard"/>
                <a:ea typeface="Pretendard"/>
                <a:cs typeface="Pretendard"/>
              </a:rPr>
              <a:t>Injection</a:t>
            </a:r>
          </a:p>
          <a:p>
            <a:pPr algn="ctr">
              <a:lnSpc>
                <a:spcPct val="110000"/>
              </a:lnSpc>
              <a:spcBef>
                <a:spcPts val="0"/>
              </a:spcBef>
              <a:spcAft>
                <a:spcPts val="0"/>
              </a:spcAft>
              <a:buNone/>
            </a:pPr>
            <a:r>
              <a:rPr sz="1400" b="1" lang="en-US">
                <a:solidFill>
                  <a:srgbClr val="00306C"/>
                </a:solidFill>
                <a:latin typeface="Pretendard"/>
                <a:ea typeface="Pretendard"/>
                <a:cs typeface="Pretendard"/>
              </a:rPr>
              <a:t>DDoS</a:t>
            </a:r>
          </a:p>
        </p:txBody>
      </p:sp>
      <p:cxnSp>
        <p:nvCxnSpPr>
          <p:cNvPr id="35" name="Connector 34"/>
          <p:cNvCxnSpPr/>
          <p:nvPr/>
        </p:nvCxnSpPr>
        <p:spPr>
          <a:xfrm>
            <a:off x="4160520"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06824"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8264"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80" b="0" lang="en-US">
                <a:solidFill>
                  <a:srgbClr val="5D6773"/>
                </a:solidFill>
                <a:latin typeface="Pretendard"/>
                <a:ea typeface="Pretendard"/>
                <a:cs typeface="Pretendard"/>
              </a:rPr>
              <a:t>Apr 26</a:t>
            </a:r>
          </a:p>
        </p:txBody>
      </p:sp>
      <p:sp>
        <p:nvSpPr>
          <p:cNvPr id="38" name="TextBox 37"/>
          <p:cNvSpPr txBox="1"/>
          <p:nvPr/>
        </p:nvSpPr>
        <p:spPr>
          <a:xfrm>
            <a:off x="4398264"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en-US">
                <a:solidFill>
                  <a:srgbClr val="00306C"/>
                </a:solidFill>
                <a:latin typeface="Pretendard"/>
                <a:ea typeface="Pretendard"/>
                <a:cs typeface="Pretendard"/>
              </a:rPr>
              <a:t>Password</a:t>
            </a:r>
          </a:p>
        </p:txBody>
      </p:sp>
      <p:cxnSp>
        <p:nvCxnSpPr>
          <p:cNvPr id="39" name="Connector 38"/>
          <p:cNvCxnSpPr/>
          <p:nvPr/>
        </p:nvCxnSpPr>
        <p:spPr>
          <a:xfrm>
            <a:off x="6030468"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176772"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8212"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80" b="0" lang="en-US">
                <a:solidFill>
                  <a:srgbClr val="5D6773"/>
                </a:solidFill>
                <a:latin typeface="Pretendard"/>
                <a:ea typeface="Pretendard"/>
                <a:cs typeface="Pretendard"/>
              </a:rPr>
              <a:t>Apr 27</a:t>
            </a:r>
          </a:p>
        </p:txBody>
      </p:sp>
      <p:sp>
        <p:nvSpPr>
          <p:cNvPr id="42" name="TextBox 41"/>
          <p:cNvSpPr txBox="1"/>
          <p:nvPr/>
        </p:nvSpPr>
        <p:spPr>
          <a:xfrm>
            <a:off x="6268212"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en-US">
                <a:solidFill>
                  <a:srgbClr val="00306C"/>
                </a:solidFill>
                <a:latin typeface="Pretendard"/>
                <a:ea typeface="Pretendard"/>
                <a:cs typeface="Pretendard"/>
              </a:rPr>
              <a:t>XSS</a:t>
            </a:r>
          </a:p>
        </p:txBody>
      </p:sp>
      <p:cxnSp>
        <p:nvCxnSpPr>
          <p:cNvPr id="43" name="Connector 42"/>
          <p:cNvCxnSpPr/>
          <p:nvPr/>
        </p:nvCxnSpPr>
        <p:spPr>
          <a:xfrm>
            <a:off x="7900415"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046719"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38159"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80" b="0" lang="en-US">
                <a:solidFill>
                  <a:srgbClr val="5D6773"/>
                </a:solidFill>
                <a:latin typeface="Pretendard"/>
                <a:ea typeface="Pretendard"/>
                <a:cs typeface="Pretendard"/>
              </a:rPr>
              <a:t>Apr 28</a:t>
            </a:r>
          </a:p>
        </p:txBody>
      </p:sp>
      <p:sp>
        <p:nvSpPr>
          <p:cNvPr id="46" name="TextBox 45"/>
          <p:cNvSpPr txBox="1"/>
          <p:nvPr/>
        </p:nvSpPr>
        <p:spPr>
          <a:xfrm>
            <a:off x="8138159"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en-US">
                <a:solidFill>
                  <a:srgbClr val="00306C"/>
                </a:solidFill>
                <a:latin typeface="Pretendard"/>
                <a:ea typeface="Pretendard"/>
                <a:cs typeface="Pretendard"/>
              </a:rPr>
              <a:t>Ransomware</a:t>
            </a:r>
          </a:p>
          <a:p>
            <a:pPr algn="ctr">
              <a:lnSpc>
                <a:spcPct val="110000"/>
              </a:lnSpc>
              <a:spcBef>
                <a:spcPts val="0"/>
              </a:spcBef>
              <a:spcAft>
                <a:spcPts val="0"/>
              </a:spcAft>
              <a:buNone/>
            </a:pPr>
            <a:r>
              <a:rPr sz="1400" b="1" lang="en-US">
                <a:solidFill>
                  <a:srgbClr val="00306C"/>
                </a:solidFill>
                <a:latin typeface="Pretendard"/>
                <a:ea typeface="Pretendard"/>
                <a:cs typeface="Pretendard"/>
              </a:rPr>
              <a:t>Backdoor</a:t>
            </a:r>
          </a:p>
        </p:txBody>
      </p:sp>
      <p:cxnSp>
        <p:nvCxnSpPr>
          <p:cNvPr id="47" name="Connector 46"/>
          <p:cNvCxnSpPr/>
          <p:nvPr/>
        </p:nvCxnSpPr>
        <p:spPr>
          <a:xfrm>
            <a:off x="9770363" y="4032504"/>
            <a:ext cx="128017"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916667"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08107"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80" b="0" lang="en-US">
                <a:solidFill>
                  <a:srgbClr val="5D6773"/>
                </a:solidFill>
                <a:latin typeface="Pretendard"/>
                <a:ea typeface="Pretendard"/>
                <a:cs typeface="Pretendard"/>
              </a:rPr>
              <a:t>Apr 29</a:t>
            </a:r>
          </a:p>
        </p:txBody>
      </p:sp>
      <p:sp>
        <p:nvSpPr>
          <p:cNvPr id="50" name="TextBox 49"/>
          <p:cNvSpPr txBox="1"/>
          <p:nvPr/>
        </p:nvSpPr>
        <p:spPr>
          <a:xfrm>
            <a:off x="10008107"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en-US">
                <a:solidFill>
                  <a:srgbClr val="00306C"/>
                </a:solidFill>
                <a:latin typeface="Pretendard"/>
                <a:ea typeface="Pretendard"/>
                <a:cs typeface="Pretendard"/>
              </a:rPr>
              <a:t>MitM</a:t>
            </a:r>
          </a:p>
        </p:txBody>
      </p:sp>
      <p:sp>
        <p:nvSpPr>
          <p:cNvPr id="51" name="Rounded Rectangle 50"/>
          <p:cNvSpPr/>
          <p:nvPr/>
        </p:nvSpPr>
        <p:spPr>
          <a:xfrm>
            <a:off x="566928" y="4919472"/>
            <a:ext cx="11055096" cy="621792"/>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8096" y="5038344"/>
            <a:ext cx="10652760" cy="3657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1500" b="1" lang="en-US">
                <a:solidFill>
                  <a:srgbClr val="00306C"/>
                </a:solidFill>
                <a:latin typeface="Pretendard"/>
                <a:ea typeface="Pretendard"/>
                <a:cs typeface="Pretendard"/>
              </a:rPr>
              <a:t>Final budget: 100,000 rows each · No future classes in training · All test rows of introduced classes</a:t>
            </a:r>
          </a:p>
        </p:txBody>
      </p:sp>
      <p:sp>
        <p:nvSpPr>
          <p:cNvPr id="53" name="TextBox 52"/>
          <p:cNvSpPr txBox="1"/>
          <p:nvPr/>
        </p:nvSpPr>
        <p:spPr>
          <a:xfrm>
            <a:off x="566928" y="5788152"/>
            <a:ext cx="11055096"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1300" b="0" lang="en-US">
                <a:solidFill>
                  <a:srgbClr val="5D6773"/>
                </a:solidFill>
                <a:latin typeface="Pretendard"/>
                <a:ea typeface="Pretendard"/>
                <a:cs typeface="Pretendard"/>
              </a:rPr>
              <a:t>Original class arrival order · New attack performance, existing detection, update and inference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en-US">
                <a:solidFill>
                  <a:srgbClr val="00306C"/>
                </a:solidFill>
                <a:latin typeface="Pretendard"/>
                <a:ea typeface="Pretendard"/>
                <a:cs typeface="Pretendard"/>
              </a:rPr>
              <a:t>CIC2018 · New attack performance and cost</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en-US">
                <a:solidFill>
                  <a:srgbClr val="D6E4F3"/>
                </a:solidFill>
                <a:latin typeface="Pretendard"/>
                <a:ea typeface="Pretendard"/>
                <a:cs typeface="Pretendard"/>
              </a:rPr>
              <a:t>02 New attack adaptation</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en-US">
                <a:solidFill>
                  <a:srgbClr val="FFFFFF"/>
                </a:solidFill>
                <a:latin typeface="Pretendard"/>
                <a:ea typeface="Pretendard"/>
                <a:cs typeface="Pretendard"/>
              </a:rPr>
              <a:t>3</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en-US">
                <a:solidFill>
                  <a:srgbClr val="5D6773"/>
                </a:solidFill>
                <a:latin typeface="Pretendard"/>
                <a:ea typeface="Pretendard"/>
                <a:cs typeface="Pretendard"/>
              </a:rPr>
              <a:t>Same cumulative examples · Global TabPFN v3 · Seed 43 · RTX 4090 · GPU jobs run sequentially</a:t>
            </a:r>
          </a:p>
        </p:txBody>
      </p:sp>
      <p:sp>
        <p:nvSpPr>
          <p:cNvPr id="7" name="TextBox 6"/>
          <p:cNvSpPr txBox="1"/>
          <p:nvPr/>
        </p:nvSpPr>
        <p:spPr>
          <a:xfrm>
            <a:off x="566928" y="1417320"/>
            <a:ext cx="5797296" cy="35661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800" b="1" lang="en-US">
                <a:solidFill>
                  <a:srgbClr val="00306C"/>
                </a:solidFill>
                <a:latin typeface="Pretendard"/>
                <a:ea typeface="Pretendard"/>
                <a:cs typeface="Pretendard"/>
              </a:rPr>
              <a:t>F1 at first introduction (%)</a:t>
            </a:r>
          </a:p>
        </p:txBody>
      </p:sp>
      <p:sp>
        <p:nvSpPr>
          <p:cNvPr id="8" name="TextBox 7"/>
          <p:cNvSpPr txBox="1"/>
          <p:nvPr/>
        </p:nvSpPr>
        <p:spPr>
          <a:xfrm>
            <a:off x="566928" y="1819656"/>
            <a:ext cx="5797296" cy="283464"/>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50" b="0" lang="en-US">
                <a:solidFill>
                  <a:srgbClr val="5D6773"/>
                </a:solidFill>
                <a:latin typeface="Pretendard"/>
                <a:ea typeface="Pretendard"/>
                <a:cs typeface="Pretendard"/>
              </a:rPr>
              <a:t>Sorted by test count · Introduction stage in parentheses</a:t>
            </a:r>
          </a:p>
        </p:txBody>
      </p:sp>
      <p:graphicFrame>
        <p:nvGraphicFramePr>
          <p:cNvPr id="9" name="Table 8"/>
          <p:cNvGraphicFramePr>
            <a:graphicFrameLocks noGrp="1"/>
          </p:cNvGraphicFramePr>
          <p:nvPr/>
        </p:nvGraphicFramePr>
        <p:xfrm>
          <a:off x="566928" y="2212848"/>
          <a:ext cx="5797296" cy="2011680"/>
        </p:xfrm>
        <a:graphic>
          <a:graphicData uri="http://schemas.openxmlformats.org/drawingml/2006/table">
            <a:tbl>
              <a:tblPr>
                <a:tableStyleId>{5C22544A-7EE6-4342-B048-85BDC9FD1C3A}</a:tableStyleId>
              </a:tblPr>
              <a:tblGrid>
                <a:gridCol w="2139696"/>
                <a:gridCol w="1115568"/>
                <a:gridCol w="1271016"/>
                <a:gridCol w="1271016"/>
              </a:tblGrid>
              <a:tr h="402336">
                <a:tc>
                  <a:txBody>
                    <a:bodyPr wrap="square" lIns="64008" rIns="64008" tIns="32004" bIns="32004" anchor="ctr">
                      <a:noAutofit/>
                    </a:bodyPr>
                    <a:lstStyle/>
                    <a:p>
                      <a:pPr algn="l">
                        <a:lnSpc>
                          <a:spcPct val="110000"/>
                        </a:lnSpc>
                        <a:spcBef>
                          <a:spcPts val="0"/>
                        </a:spcBef>
                        <a:spcAft>
                          <a:spcPts val="0"/>
                        </a:spcAft>
                        <a:buNone/>
                        <a:buNone/>
                      </a:pPr>
                      <a:r>
                        <a:rPr sz="1200" b="1" lang="en-US">
                          <a:solidFill>
                            <a:srgbClr val="FFFFFF"/>
                          </a:solidFill>
                          <a:latin typeface="Pretendard"/>
                          <a:ea typeface="Pretendard"/>
                          <a:cs typeface="Pretendard"/>
                        </a:rPr>
                        <a:t>New attack</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buNone/>
                      </a:pPr>
                      <a:r>
                        <a:rPr sz="1200" b="1" lang="en-US">
                          <a:solidFill>
                            <a:srgbClr val="FFFFFF"/>
                          </a:solidFill>
                          <a:latin typeface="Pretendard"/>
                          <a:ea typeface="Pretendard"/>
                          <a:cs typeface="Pretendard"/>
                        </a:rPr>
                        <a:t>Test count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en-US">
                          <a:solidFill>
                            <a:srgbClr val="FFFFFF"/>
                          </a:solidFill>
                          <a:latin typeface="Pretendard"/>
                          <a:ea typeface="Pretendard"/>
                          <a:cs typeface="Pretendard"/>
                        </a:rPr>
                        <a:t>XGBoost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en-US">
                          <a:solidFill>
                            <a:srgbClr val="FFFFFF"/>
                          </a:solidFill>
                          <a:latin typeface="Pretendard"/>
                          <a:ea typeface="Pretendard"/>
                          <a:cs typeface="Pretendard"/>
                        </a:rPr>
                        <a:t>TabPFN</a:t>
                      </a:r>
                    </a:p>
                  </a:txBody>
                  <a:tcPr marL="64008" marR="64008" marT="22860" marB="22860">
                    <a:solidFill>
                      <a:srgbClr val="00306C"/>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en-US">
                          <a:solidFill>
                            <a:srgbClr val="21262E"/>
                          </a:solidFill>
                          <a:latin typeface="Pretendard"/>
                          <a:ea typeface="Pretendard"/>
                          <a:cs typeface="Pretendard"/>
                        </a:rPr>
                        <a:t>DDoS (1)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262,680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99.96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99.53</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en-US">
                          <a:solidFill>
                            <a:srgbClr val="21262E"/>
                          </a:solidFill>
                          <a:latin typeface="Pretendard"/>
                          <a:ea typeface="Pretendard"/>
                          <a:cs typeface="Pretendard"/>
                        </a:rPr>
                        <a:t>Bot (4)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41,542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99.70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99.77</a:t>
                      </a:r>
                    </a:p>
                  </a:txBody>
                  <a:tcPr marL="64008" marR="64008" marT="22860" marB="22860">
                    <a:solidFill>
                      <a:srgbClr val="F3F6FA"/>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en-US">
                          <a:solidFill>
                            <a:srgbClr val="21262E"/>
                          </a:solidFill>
                          <a:latin typeface="Pretendard"/>
                          <a:ea typeface="Pretendard"/>
                          <a:cs typeface="Pretendard"/>
                        </a:rPr>
                        <a:t>Infiltration (3)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8,742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10.68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25.43</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en-US">
                          <a:solidFill>
                            <a:srgbClr val="21262E"/>
                          </a:solidFill>
                          <a:latin typeface="Pretendard"/>
                          <a:ea typeface="Pretendard"/>
                          <a:cs typeface="Pretendard"/>
                        </a:rPr>
                        <a:t>Web attack (2)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127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17.32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31.52</a:t>
                      </a:r>
                    </a:p>
                  </a:txBody>
                  <a:tcPr marL="64008" marR="64008" marT="22860" marB="22860">
                    <a:solidFill>
                      <a:srgbClr val="F3F6FA"/>
                    </a:solidFill>
                  </a:tcPr>
                </a:tc>
              </a:tr>
            </a:tbl>
          </a:graphicData>
        </a:graphic>
      </p:graphicFrame>
      <p:sp>
        <p:nvSpPr>
          <p:cNvPr id="10" name="TextBox 9"/>
          <p:cNvSpPr txBox="1"/>
          <p:nvPr/>
        </p:nvSpPr>
        <p:spPr>
          <a:xfrm>
            <a:off x="6684264" y="1417320"/>
            <a:ext cx="4937760" cy="35661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800" b="1" lang="en-US">
                <a:solidFill>
                  <a:srgbClr val="00306C"/>
                </a:solidFill>
                <a:latin typeface="Pretendard"/>
                <a:ea typeface="Pretendard"/>
                <a:cs typeface="Pretendard"/>
              </a:rPr>
              <a:t>Final stage: 100,000 training examples</a:t>
            </a:r>
          </a:p>
        </p:txBody>
      </p:sp>
      <p:sp>
        <p:nvSpPr>
          <p:cNvPr id="11" name="TextBox 10"/>
          <p:cNvSpPr txBox="1"/>
          <p:nvPr/>
        </p:nvSpPr>
        <p:spPr>
          <a:xfrm>
            <a:off x="6684264" y="1819656"/>
            <a:ext cx="4937760" cy="283464"/>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50" b="0" lang="en-US">
                <a:solidFill>
                  <a:srgbClr val="5D6773"/>
                </a:solidFill>
                <a:latin typeface="Pretendard"/>
                <a:ea typeface="Pretendard"/>
                <a:cs typeface="Pretendard"/>
              </a:rPr>
              <a:t>Full test: 3,042,473 rows · Time in seconds</a:t>
            </a:r>
          </a:p>
        </p:txBody>
      </p:sp>
      <p:graphicFrame>
        <p:nvGraphicFramePr>
          <p:cNvPr id="12" name="Table 11"/>
          <p:cNvGraphicFramePr>
            <a:graphicFrameLocks noGrp="1"/>
          </p:cNvGraphicFramePr>
          <p:nvPr/>
        </p:nvGraphicFramePr>
        <p:xfrm>
          <a:off x="6684264" y="2212848"/>
          <a:ext cx="4937760" cy="2240280"/>
        </p:xfrm>
        <a:graphic>
          <a:graphicData uri="http://schemas.openxmlformats.org/drawingml/2006/table">
            <a:tbl>
              <a:tblPr>
                <a:tableStyleId>{5C22544A-7EE6-4342-B048-85BDC9FD1C3A}</a:tableStyleId>
              </a:tblPr>
              <a:tblGrid>
                <a:gridCol w="2194560"/>
                <a:gridCol w="1371600"/>
                <a:gridCol w="1371600"/>
              </a:tblGrid>
              <a:tr h="448056">
                <a:tc>
                  <a:txBody>
                    <a:bodyPr wrap="square" lIns="64008" rIns="64008" tIns="32004" bIns="32004" anchor="ctr">
                      <a:noAutofit/>
                    </a:bodyPr>
                    <a:lstStyle/>
                    <a:p>
                      <a:pPr algn="l">
                        <a:lnSpc>
                          <a:spcPct val="110000"/>
                        </a:lnSpc>
                        <a:spcBef>
                          <a:spcPts val="0"/>
                        </a:spcBef>
                        <a:spcAft>
                          <a:spcPts val="0"/>
                        </a:spcAft>
                        <a:buNone/>
                        <a:buNone/>
                      </a:pPr>
                      <a:r>
                        <a:rPr sz="1240" b="1" lang="en-US">
                          <a:solidFill>
                            <a:srgbClr val="FFFFFF"/>
                          </a:solidFill>
                          <a:latin typeface="Pretendard"/>
                          <a:ea typeface="Pretendard"/>
                          <a:cs typeface="Pretendard"/>
                        </a:rPr>
                        <a:t>Metric</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40" b="1" lang="en-US">
                          <a:solidFill>
                            <a:srgbClr val="FFFFFF"/>
                          </a:solidFill>
                          <a:latin typeface="Pretendard"/>
                          <a:ea typeface="Pretendard"/>
                          <a:cs typeface="Pretendard"/>
                        </a:rPr>
                        <a:t>XGBoost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40" b="1" lang="en-US">
                          <a:solidFill>
                            <a:srgbClr val="FFFFFF"/>
                          </a:solidFill>
                          <a:latin typeface="Pretendard"/>
                          <a:ea typeface="Pretendard"/>
                          <a:cs typeface="Pretendard"/>
                        </a:rPr>
                        <a:t>TabPFN</a:t>
                      </a:r>
                    </a:p>
                  </a:txBody>
                  <a:tcPr marL="64008" marR="64008" marT="22860" marB="22860">
                    <a:solidFill>
                      <a:srgbClr val="00306C"/>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en-US">
                          <a:solidFill>
                            <a:srgbClr val="21262E"/>
                          </a:solidFill>
                          <a:latin typeface="Pretendard"/>
                          <a:ea typeface="Pretendard"/>
                          <a:cs typeface="Pretendard"/>
                        </a:rPr>
                        <a:t>Macro-F1 (%)</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77.59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78.64</a:t>
                      </a:r>
                    </a:p>
                  </a:txBody>
                  <a:tcPr marL="64008" marR="64008" marT="22860" marB="22860">
                    <a:solidFill>
                      <a:srgbClr val="FFFFFF"/>
                    </a:solidFill>
                  </a:tcPr>
                </a:tc>
              </a:tr>
              <a:tr h="448056">
                <a:tc>
                  <a:txBody>
                    <a:bodyPr wrap="square" lIns="64008" rIns="64008" tIns="32004" bIns="32004" anchor="ctr">
                      <a:noAutofit/>
                    </a:bodyPr>
                    <a:lstStyle/>
                    <a:p>
                      <a:pPr algn="l">
                        <a:lnSpc>
                          <a:spcPct val="110000"/>
                        </a:lnSpc>
                        <a:spcBef>
                          <a:spcPts val="0"/>
                        </a:spcBef>
                        <a:spcAft>
                          <a:spcPts val="0"/>
                        </a:spcAft>
                        <a:buNone/>
                        <a:buNone/>
                      </a:pPr>
                      <a:r>
                        <a:rPr sz="1240" b="1" lang="en-US">
                          <a:solidFill>
                            <a:srgbClr val="21262E"/>
                          </a:solidFill>
                          <a:latin typeface="Pretendard"/>
                          <a:ea typeface="Pretendard"/>
                          <a:cs typeface="Pretendard"/>
                        </a:rPr>
                        <a:t>Benign FPR (%)</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2.10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0.14</a:t>
                      </a:r>
                    </a:p>
                  </a:txBody>
                  <a:tcPr marL="64008" marR="64008" marT="22860" marB="22860">
                    <a:solidFill>
                      <a:srgbClr val="F3F6FA"/>
                    </a:solidFill>
                  </a:tcPr>
                </a:tc>
              </a:tr>
              <a:tr h="448056">
                <a:tc>
                  <a:txBody>
                    <a:bodyPr wrap="square" lIns="64008" rIns="64008" tIns="32004" bIns="32004" anchor="ctr">
                      <a:noAutofit/>
                    </a:bodyPr>
                    <a:lstStyle/>
                    <a:p>
                      <a:pPr algn="l">
                        <a:lnSpc>
                          <a:spcPct val="110000"/>
                        </a:lnSpc>
                        <a:spcBef>
                          <a:spcPts val="0"/>
                        </a:spcBef>
                        <a:spcAft>
                          <a:spcPts val="0"/>
                        </a:spcAft>
                        <a:buNone/>
                        <a:buNone/>
                      </a:pPr>
                      <a:r>
                        <a:rPr sz="1240" b="1" lang="en-US">
                          <a:solidFill>
                            <a:srgbClr val="21262E"/>
                          </a:solidFill>
                          <a:latin typeface="Pretendard"/>
                          <a:ea typeface="Pretendard"/>
                          <a:cs typeface="Pretendard"/>
                        </a:rPr>
                        <a:t>Fit / context setup</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1.98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16.98</a:t>
                      </a:r>
                    </a:p>
                  </a:txBody>
                  <a:tcPr marL="64008" marR="64008" marT="22860" marB="22860">
                    <a:solidFill>
                      <a:srgbClr val="FFFFFF"/>
                    </a:solidFill>
                  </a:tcPr>
                </a:tc>
              </a:tr>
              <a:tr h="448056">
                <a:tc>
                  <a:txBody>
                    <a:bodyPr wrap="square" lIns="64008" rIns="64008" tIns="32004" bIns="32004" anchor="ctr">
                      <a:noAutofit/>
                    </a:bodyPr>
                    <a:lstStyle/>
                    <a:p>
                      <a:pPr algn="l">
                        <a:lnSpc>
                          <a:spcPct val="110000"/>
                        </a:lnSpc>
                        <a:spcBef>
                          <a:spcPts val="0"/>
                        </a:spcBef>
                        <a:spcAft>
                          <a:spcPts val="0"/>
                        </a:spcAft>
                        <a:buNone/>
                        <a:buNone/>
                      </a:pPr>
                      <a:r>
                        <a:rPr sz="1240" b="1" lang="en-US">
                          <a:solidFill>
                            <a:srgbClr val="21262E"/>
                          </a:solidFill>
                          <a:latin typeface="Pretendard"/>
                          <a:ea typeface="Pretendard"/>
                          <a:cs typeface="Pretendard"/>
                        </a:rPr>
                        <a:t>Inference</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1.44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522.63</a:t>
                      </a:r>
                    </a:p>
                  </a:txBody>
                  <a:tcPr marL="64008" marR="64008" marT="22860" marB="22860">
                    <a:solidFill>
                      <a:srgbClr val="F3F6FA"/>
                    </a:solidFill>
                  </a:tcPr>
                </a:tc>
              </a:tr>
            </a:tbl>
          </a:graphicData>
        </a:graphic>
      </p:graphicFrame>
      <p:sp>
        <p:nvSpPr>
          <p:cNvPr id="13" name="TextBox 12"/>
          <p:cNvSpPr txBox="1"/>
          <p:nvPr/>
        </p:nvSpPr>
        <p:spPr>
          <a:xfrm>
            <a:off x="6684264" y="4672584"/>
            <a:ext cx="4937760" cy="612648"/>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250" b="0" lang="en-US">
                <a:solidFill>
                  <a:srgbClr val="5D6773"/>
                </a:solidFill>
                <a:latin typeface="Pretendard"/>
                <a:ea typeface="Pretendard"/>
                <a:cs typeface="Pretendard"/>
              </a:rPr>
              <a:t>TabPFN: fixed weights; preprocessing and cache setup</a:t>
            </a:r>
          </a:p>
          <a:p>
            <a:pPr algn="l">
              <a:lnSpc>
                <a:spcPct val="110000"/>
              </a:lnSpc>
              <a:spcBef>
                <a:spcPts val="0"/>
              </a:spcBef>
              <a:spcAft>
                <a:spcPts val="0"/>
              </a:spcAft>
              <a:buNone/>
            </a:pPr>
            <a:r>
              <a:rPr sz="1250" b="0" lang="en-US">
                <a:solidFill>
                  <a:srgbClr val="5D6773"/>
                </a:solidFill>
                <a:latin typeface="Pretendard"/>
                <a:ea typeface="Pretendard"/>
                <a:cs typeface="Pretendard"/>
              </a:rPr>
              <a:t>XGBoost: retrained on cumulative data at each stage</a:t>
            </a:r>
          </a:p>
        </p:txBody>
      </p:sp>
      <p:sp>
        <p:nvSpPr>
          <p:cNvPr id="14" name="TextBox 13"/>
          <p:cNvSpPr txBox="1"/>
          <p:nvPr/>
        </p:nvSpPr>
        <p:spPr>
          <a:xfrm>
            <a:off x="566928" y="5806440"/>
            <a:ext cx="11055096" cy="35661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600" b="1" lang="en-US">
                <a:solidFill>
                  <a:srgbClr val="00306C"/>
                </a:solidFill>
                <a:latin typeface="Pretendard"/>
                <a:ea typeface="Pretendard"/>
                <a:cs typeface="Pretendard"/>
              </a:rPr>
              <a:t>Higher initial F1 for Web attack and Infiltration · Reduce inference cost with large contexts</a:t>
            </a:r>
          </a:p>
        </p:txBody>
      </p:sp>
      <p:sp>
        <p:nvSpPr>
          <p:cNvPr id="15" name="TextBox 14"/>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00" b="1" lang="en-US">
                <a:solidFill>
                  <a:srgbClr val="FFFFFF"/>
                </a:solidFill>
                <a:latin typeface="Pretendard"/>
                <a:ea typeface="Pretendard"/>
                <a:cs typeface="Pretendard"/>
              </a:rPr>
              <a:t>Evaluate new attack performance and computational cost together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en-US">
                <a:solidFill>
                  <a:srgbClr val="00306C"/>
                </a:solidFill>
                <a:latin typeface="Pretendard"/>
                <a:ea typeface="Pretendard"/>
                <a:cs typeface="Pretendard"/>
              </a:rPr>
              <a:t>ToN · New attack performance and cost</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en-US">
                <a:solidFill>
                  <a:srgbClr val="D6E4F3"/>
                </a:solidFill>
                <a:latin typeface="Pretendard"/>
                <a:ea typeface="Pretendard"/>
                <a:cs typeface="Pretendard"/>
              </a:rPr>
              <a:t>02 New attack adaptation</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en-US">
                <a:solidFill>
                  <a:srgbClr val="FFFFFF"/>
                </a:solidFill>
                <a:latin typeface="Pretendard"/>
                <a:ea typeface="Pretendard"/>
                <a:cs typeface="Pretendard"/>
              </a:rPr>
              <a:t>4</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en-US">
                <a:solidFill>
                  <a:srgbClr val="5D6773"/>
                </a:solidFill>
                <a:latin typeface="Pretendard"/>
                <a:ea typeface="Pretendard"/>
                <a:cs typeface="Pretendard"/>
              </a:rPr>
              <a:t>Same cumulative examples · Global TabPFN v3 · Seed 43 · RTX 4090 · GPU jobs run sequentially</a:t>
            </a:r>
          </a:p>
        </p:txBody>
      </p:sp>
      <p:sp>
        <p:nvSpPr>
          <p:cNvPr id="7" name="TextBox 6"/>
          <p:cNvSpPr txBox="1"/>
          <p:nvPr/>
        </p:nvSpPr>
        <p:spPr>
          <a:xfrm>
            <a:off x="566928" y="1417320"/>
            <a:ext cx="5797296" cy="35661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800" b="1" lang="en-US">
                <a:solidFill>
                  <a:srgbClr val="00306C"/>
                </a:solidFill>
                <a:latin typeface="Pretendard"/>
                <a:ea typeface="Pretendard"/>
                <a:cs typeface="Pretendard"/>
              </a:rPr>
              <a:t>F1 at first introduction (%)</a:t>
            </a:r>
          </a:p>
        </p:txBody>
      </p:sp>
      <p:sp>
        <p:nvSpPr>
          <p:cNvPr id="8" name="TextBox 7"/>
          <p:cNvSpPr txBox="1"/>
          <p:nvPr/>
        </p:nvSpPr>
        <p:spPr>
          <a:xfrm>
            <a:off x="566928" y="1819656"/>
            <a:ext cx="5797296" cy="283464"/>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50" b="0" lang="en-US">
                <a:solidFill>
                  <a:srgbClr val="5D6773"/>
                </a:solidFill>
                <a:latin typeface="Pretendard"/>
                <a:ea typeface="Pretendard"/>
                <a:cs typeface="Pretendard"/>
              </a:rPr>
              <a:t>Sorted by test count · Introduction stage in parentheses</a:t>
            </a:r>
          </a:p>
        </p:txBody>
      </p:sp>
      <p:graphicFrame>
        <p:nvGraphicFramePr>
          <p:cNvPr id="9" name="Table 8"/>
          <p:cNvGraphicFramePr>
            <a:graphicFrameLocks noGrp="1"/>
          </p:cNvGraphicFramePr>
          <p:nvPr/>
        </p:nvGraphicFramePr>
        <p:xfrm>
          <a:off x="566928" y="2212848"/>
          <a:ext cx="5797296" cy="3218688"/>
        </p:xfrm>
        <a:graphic>
          <a:graphicData uri="http://schemas.openxmlformats.org/drawingml/2006/table">
            <a:tbl>
              <a:tblPr>
                <a:tableStyleId>{5C22544A-7EE6-4342-B048-85BDC9FD1C3A}</a:tableStyleId>
              </a:tblPr>
              <a:tblGrid>
                <a:gridCol w="2139696"/>
                <a:gridCol w="1115568"/>
                <a:gridCol w="1271016"/>
                <a:gridCol w="1271016"/>
              </a:tblGrid>
              <a:tr h="402336">
                <a:tc>
                  <a:txBody>
                    <a:bodyPr wrap="square" lIns="64008" rIns="64008" tIns="32004" bIns="32004" anchor="ctr">
                      <a:noAutofit/>
                    </a:bodyPr>
                    <a:lstStyle/>
                    <a:p>
                      <a:pPr algn="l">
                        <a:lnSpc>
                          <a:spcPct val="110000"/>
                        </a:lnSpc>
                        <a:spcBef>
                          <a:spcPts val="0"/>
                        </a:spcBef>
                        <a:spcAft>
                          <a:spcPts val="0"/>
                        </a:spcAft>
                        <a:buNone/>
                        <a:buNone/>
                      </a:pPr>
                      <a:r>
                        <a:rPr sz="1200" b="1" lang="en-US">
                          <a:solidFill>
                            <a:srgbClr val="FFFFFF"/>
                          </a:solidFill>
                          <a:latin typeface="Pretendard"/>
                          <a:ea typeface="Pretendard"/>
                          <a:cs typeface="Pretendard"/>
                        </a:rPr>
                        <a:t>New attack</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buNone/>
                      </a:pPr>
                      <a:r>
                        <a:rPr sz="1200" b="1" lang="en-US">
                          <a:solidFill>
                            <a:srgbClr val="FFFFFF"/>
                          </a:solidFill>
                          <a:latin typeface="Pretendard"/>
                          <a:ea typeface="Pretendard"/>
                          <a:cs typeface="Pretendard"/>
                        </a:rPr>
                        <a:t>Test count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en-US">
                          <a:solidFill>
                            <a:srgbClr val="FFFFFF"/>
                          </a:solidFill>
                          <a:latin typeface="Pretendard"/>
                          <a:ea typeface="Pretendard"/>
                          <a:cs typeface="Pretendard"/>
                        </a:rPr>
                        <a:t>XGBoost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00" b="1" lang="en-US">
                          <a:solidFill>
                            <a:srgbClr val="FFFFFF"/>
                          </a:solidFill>
                          <a:latin typeface="Pretendard"/>
                          <a:ea typeface="Pretendard"/>
                          <a:cs typeface="Pretendard"/>
                        </a:rPr>
                        <a:t>TabPFN</a:t>
                      </a:r>
                    </a:p>
                  </a:txBody>
                  <a:tcPr marL="64008" marR="64008" marT="22860" marB="22860">
                    <a:solidFill>
                      <a:srgbClr val="00306C"/>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en-US">
                          <a:solidFill>
                            <a:srgbClr val="21262E"/>
                          </a:solidFill>
                          <a:latin typeface="Pretendard"/>
                          <a:ea typeface="Pretendard"/>
                          <a:cs typeface="Pretendard"/>
                        </a:rPr>
                        <a:t>XSS (3)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343,854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87.23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82.62</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en-US">
                          <a:solidFill>
                            <a:srgbClr val="21262E"/>
                          </a:solidFill>
                          <a:latin typeface="Pretendard"/>
                          <a:ea typeface="Pretendard"/>
                          <a:cs typeface="Pretendard"/>
                        </a:rPr>
                        <a:t>Password (2)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210,951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88.86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88.99</a:t>
                      </a:r>
                    </a:p>
                  </a:txBody>
                  <a:tcPr marL="64008" marR="64008" marT="22860" marB="22860">
                    <a:solidFill>
                      <a:srgbClr val="F3F6FA"/>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en-US">
                          <a:solidFill>
                            <a:srgbClr val="21262E"/>
                          </a:solidFill>
                          <a:latin typeface="Pretendard"/>
                          <a:ea typeface="Pretendard"/>
                          <a:cs typeface="Pretendard"/>
                        </a:rPr>
                        <a:t>DDoS (1)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103,338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96.88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96.98</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en-US">
                          <a:solidFill>
                            <a:srgbClr val="21262E"/>
                          </a:solidFill>
                          <a:latin typeface="Pretendard"/>
                          <a:ea typeface="Pretendard"/>
                          <a:cs typeface="Pretendard"/>
                        </a:rPr>
                        <a:t>Injection (1)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68,891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68.90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72.71</a:t>
                      </a:r>
                    </a:p>
                  </a:txBody>
                  <a:tcPr marL="64008" marR="64008" marT="22860" marB="22860">
                    <a:solidFill>
                      <a:srgbClr val="F3F6FA"/>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en-US">
                          <a:solidFill>
                            <a:srgbClr val="21262E"/>
                          </a:solidFill>
                          <a:latin typeface="Pretendard"/>
                          <a:ea typeface="Pretendard"/>
                          <a:cs typeface="Pretendard"/>
                        </a:rPr>
                        <a:t>Backdoor (4)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40,030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99.87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99.91</a:t>
                      </a:r>
                    </a:p>
                  </a:txBody>
                  <a:tcPr marL="64008" marR="64008" marT="22860" marB="22860">
                    <a:solidFill>
                      <a:srgbClr val="FFFFFF"/>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en-US">
                          <a:solidFill>
                            <a:srgbClr val="21262E"/>
                          </a:solidFill>
                          <a:latin typeface="Pretendard"/>
                          <a:ea typeface="Pretendard"/>
                          <a:cs typeface="Pretendard"/>
                        </a:rPr>
                        <a:t>MitM (5)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1,161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15.26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4.66</a:t>
                      </a:r>
                    </a:p>
                  </a:txBody>
                  <a:tcPr marL="64008" marR="64008" marT="22860" marB="22860">
                    <a:solidFill>
                      <a:srgbClr val="F3F6FA"/>
                    </a:solidFill>
                  </a:tcPr>
                </a:tc>
              </a:tr>
              <a:tr h="402336">
                <a:tc>
                  <a:txBody>
                    <a:bodyPr wrap="square" lIns="64008" rIns="64008" tIns="32004" bIns="32004" anchor="ctr">
                      <a:noAutofit/>
                    </a:bodyPr>
                    <a:lstStyle/>
                    <a:p>
                      <a:pPr algn="l">
                        <a:lnSpc>
                          <a:spcPct val="110000"/>
                        </a:lnSpc>
                        <a:spcBef>
                          <a:spcPts val="0"/>
                        </a:spcBef>
                        <a:spcAft>
                          <a:spcPts val="0"/>
                        </a:spcAft>
                        <a:buNone/>
                      </a:pPr>
                      <a:r>
                        <a:rPr sz="1200" b="1" lang="en-US">
                          <a:solidFill>
                            <a:srgbClr val="21262E"/>
                          </a:solidFill>
                          <a:latin typeface="Pretendard"/>
                          <a:ea typeface="Pretendard"/>
                          <a:cs typeface="Pretendard"/>
                        </a:rPr>
                        <a:t>Ransomware (4)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709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14.52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65" b="0" lang="en-US">
                          <a:solidFill>
                            <a:srgbClr val="21262E"/>
                          </a:solidFill>
                          <a:latin typeface="DejaVu Sans Mono"/>
                          <a:ea typeface="DejaVu Sans Mono"/>
                          <a:cs typeface="DejaVu Sans Mono"/>
                        </a:rPr>
                        <a:t>12.47</a:t>
                      </a:r>
                    </a:p>
                  </a:txBody>
                  <a:tcPr marL="64008" marR="64008" marT="22860" marB="22860">
                    <a:solidFill>
                      <a:srgbClr val="FFFFFF"/>
                    </a:solidFill>
                  </a:tcPr>
                </a:tc>
              </a:tr>
            </a:tbl>
          </a:graphicData>
        </a:graphic>
      </p:graphicFrame>
      <p:sp>
        <p:nvSpPr>
          <p:cNvPr id="10" name="TextBox 9"/>
          <p:cNvSpPr txBox="1"/>
          <p:nvPr/>
        </p:nvSpPr>
        <p:spPr>
          <a:xfrm>
            <a:off x="6684264" y="1417320"/>
            <a:ext cx="4937760" cy="35661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800" b="1" lang="en-US">
                <a:solidFill>
                  <a:srgbClr val="00306C"/>
                </a:solidFill>
                <a:latin typeface="Pretendard"/>
                <a:ea typeface="Pretendard"/>
                <a:cs typeface="Pretendard"/>
              </a:rPr>
              <a:t>Final stage: 100,000 training examples</a:t>
            </a:r>
          </a:p>
        </p:txBody>
      </p:sp>
      <p:sp>
        <p:nvSpPr>
          <p:cNvPr id="11" name="TextBox 10"/>
          <p:cNvSpPr txBox="1"/>
          <p:nvPr/>
        </p:nvSpPr>
        <p:spPr>
          <a:xfrm>
            <a:off x="6684264" y="1819656"/>
            <a:ext cx="4937760" cy="283464"/>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50" b="0" lang="en-US">
                <a:solidFill>
                  <a:srgbClr val="5D6773"/>
                </a:solidFill>
                <a:latin typeface="Pretendard"/>
                <a:ea typeface="Pretendard"/>
                <a:cs typeface="Pretendard"/>
              </a:rPr>
              <a:t>Full test: 2,271,723 rows · Time in seconds</a:t>
            </a:r>
          </a:p>
        </p:txBody>
      </p:sp>
      <p:graphicFrame>
        <p:nvGraphicFramePr>
          <p:cNvPr id="12" name="Table 11"/>
          <p:cNvGraphicFramePr>
            <a:graphicFrameLocks noGrp="1"/>
          </p:cNvGraphicFramePr>
          <p:nvPr/>
        </p:nvGraphicFramePr>
        <p:xfrm>
          <a:off x="6684264" y="2212848"/>
          <a:ext cx="4937760" cy="2240280"/>
        </p:xfrm>
        <a:graphic>
          <a:graphicData uri="http://schemas.openxmlformats.org/drawingml/2006/table">
            <a:tbl>
              <a:tblPr>
                <a:tableStyleId>{5C22544A-7EE6-4342-B048-85BDC9FD1C3A}</a:tableStyleId>
              </a:tblPr>
              <a:tblGrid>
                <a:gridCol w="2194560"/>
                <a:gridCol w="1371600"/>
                <a:gridCol w="1371600"/>
              </a:tblGrid>
              <a:tr h="448056">
                <a:tc>
                  <a:txBody>
                    <a:bodyPr wrap="square" lIns="64008" rIns="64008" tIns="32004" bIns="32004" anchor="ctr">
                      <a:noAutofit/>
                    </a:bodyPr>
                    <a:lstStyle/>
                    <a:p>
                      <a:pPr algn="l">
                        <a:lnSpc>
                          <a:spcPct val="110000"/>
                        </a:lnSpc>
                        <a:spcBef>
                          <a:spcPts val="0"/>
                        </a:spcBef>
                        <a:spcAft>
                          <a:spcPts val="0"/>
                        </a:spcAft>
                        <a:buNone/>
                        <a:buNone/>
                      </a:pPr>
                      <a:r>
                        <a:rPr sz="1240" b="1" lang="en-US">
                          <a:solidFill>
                            <a:srgbClr val="FFFFFF"/>
                          </a:solidFill>
                          <a:latin typeface="Pretendard"/>
                          <a:ea typeface="Pretendard"/>
                          <a:cs typeface="Pretendard"/>
                        </a:rPr>
                        <a:t>Metric</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40" b="1" lang="en-US">
                          <a:solidFill>
                            <a:srgbClr val="FFFFFF"/>
                          </a:solidFill>
                          <a:latin typeface="Pretendard"/>
                          <a:ea typeface="Pretendard"/>
                          <a:cs typeface="Pretendard"/>
                        </a:rPr>
                        <a:t>XGBoost</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40" b="1" lang="en-US">
                          <a:solidFill>
                            <a:srgbClr val="FFFFFF"/>
                          </a:solidFill>
                          <a:latin typeface="Pretendard"/>
                          <a:ea typeface="Pretendard"/>
                          <a:cs typeface="Pretendard"/>
                        </a:rPr>
                        <a:t>TabPFN</a:t>
                      </a:r>
                    </a:p>
                  </a:txBody>
                  <a:tcPr marL="64008" marR="64008" marT="22860" marB="22860">
                    <a:solidFill>
                      <a:srgbClr val="00306C"/>
                    </a:solidFill>
                  </a:tcPr>
                </a:tc>
              </a:tr>
              <a:tr h="448056">
                <a:tc>
                  <a:txBody>
                    <a:bodyPr wrap="square" lIns="64008" rIns="64008" tIns="32004" bIns="32004" anchor="ctr">
                      <a:noAutofit/>
                    </a:bodyPr>
                    <a:lstStyle/>
                    <a:p>
                      <a:pPr algn="l">
                        <a:lnSpc>
                          <a:spcPct val="110000"/>
                        </a:lnSpc>
                        <a:spcBef>
                          <a:spcPts val="0"/>
                        </a:spcBef>
                        <a:spcAft>
                          <a:spcPts val="0"/>
                        </a:spcAft>
                        <a:buNone/>
                      </a:pPr>
                      <a:r>
                        <a:rPr sz="1240" b="1" lang="en-US">
                          <a:solidFill>
                            <a:srgbClr val="21262E"/>
                          </a:solidFill>
                          <a:latin typeface="Pretendard"/>
                          <a:ea typeface="Pretendard"/>
                          <a:cs typeface="Pretendard"/>
                        </a:rPr>
                        <a:t>Macro-F1 (%)</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71.30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69.51</a:t>
                      </a:r>
                    </a:p>
                  </a:txBody>
                  <a:tcPr marL="64008" marR="64008" marT="22860" marB="22860">
                    <a:solidFill>
                      <a:srgbClr val="FFFFFF"/>
                    </a:solidFill>
                  </a:tcPr>
                </a:tc>
              </a:tr>
              <a:tr h="448056">
                <a:tc>
                  <a:txBody>
                    <a:bodyPr wrap="square" lIns="64008" rIns="64008" tIns="32004" bIns="32004" anchor="ctr">
                      <a:noAutofit/>
                    </a:bodyPr>
                    <a:lstStyle/>
                    <a:p>
                      <a:pPr algn="l">
                        <a:lnSpc>
                          <a:spcPct val="110000"/>
                        </a:lnSpc>
                        <a:spcBef>
                          <a:spcPts val="0"/>
                        </a:spcBef>
                        <a:spcAft>
                          <a:spcPts val="0"/>
                        </a:spcAft>
                        <a:buNone/>
                        <a:buNone/>
                      </a:pPr>
                      <a:r>
                        <a:rPr sz="1240" b="1" lang="en-US">
                          <a:solidFill>
                            <a:srgbClr val="21262E"/>
                          </a:solidFill>
                          <a:latin typeface="Pretendard"/>
                          <a:ea typeface="Pretendard"/>
                          <a:cs typeface="Pretendard"/>
                        </a:rPr>
                        <a:t>Benign FPR (%)</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11.03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13.33</a:t>
                      </a:r>
                    </a:p>
                  </a:txBody>
                  <a:tcPr marL="64008" marR="64008" marT="22860" marB="22860">
                    <a:solidFill>
                      <a:srgbClr val="F3F6FA"/>
                    </a:solidFill>
                  </a:tcPr>
                </a:tc>
              </a:tr>
              <a:tr h="448056">
                <a:tc>
                  <a:txBody>
                    <a:bodyPr wrap="square" lIns="64008" rIns="64008" tIns="32004" bIns="32004" anchor="ctr">
                      <a:noAutofit/>
                    </a:bodyPr>
                    <a:lstStyle/>
                    <a:p>
                      <a:pPr algn="l">
                        <a:lnSpc>
                          <a:spcPct val="110000"/>
                        </a:lnSpc>
                        <a:spcBef>
                          <a:spcPts val="0"/>
                        </a:spcBef>
                        <a:spcAft>
                          <a:spcPts val="0"/>
                        </a:spcAft>
                        <a:buNone/>
                        <a:buNone/>
                      </a:pPr>
                      <a:r>
                        <a:rPr sz="1240" b="1" lang="en-US">
                          <a:solidFill>
                            <a:srgbClr val="21262E"/>
                          </a:solidFill>
                          <a:latin typeface="Pretendard"/>
                          <a:ea typeface="Pretendard"/>
                          <a:cs typeface="Pretendard"/>
                        </a:rPr>
                        <a:t>Fit / context setup</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3.59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17.15</a:t>
                      </a:r>
                    </a:p>
                  </a:txBody>
                  <a:tcPr marL="64008" marR="64008" marT="22860" marB="22860">
                    <a:solidFill>
                      <a:srgbClr val="FFFFFF"/>
                    </a:solidFill>
                  </a:tcPr>
                </a:tc>
              </a:tr>
              <a:tr h="448056">
                <a:tc>
                  <a:txBody>
                    <a:bodyPr wrap="square" lIns="64008" rIns="64008" tIns="32004" bIns="32004" anchor="ctr">
                      <a:noAutofit/>
                    </a:bodyPr>
                    <a:lstStyle/>
                    <a:p>
                      <a:pPr algn="l">
                        <a:lnSpc>
                          <a:spcPct val="110000"/>
                        </a:lnSpc>
                        <a:spcBef>
                          <a:spcPts val="0"/>
                        </a:spcBef>
                        <a:spcAft>
                          <a:spcPts val="0"/>
                        </a:spcAft>
                        <a:buNone/>
                        <a:buNone/>
                      </a:pPr>
                      <a:r>
                        <a:rPr sz="1240" b="1" lang="en-US">
                          <a:solidFill>
                            <a:srgbClr val="21262E"/>
                          </a:solidFill>
                          <a:latin typeface="Pretendard"/>
                          <a:ea typeface="Pretendard"/>
                          <a:cs typeface="Pretendard"/>
                        </a:rPr>
                        <a:t>Inference</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1.61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05" b="0" lang="en-US">
                          <a:solidFill>
                            <a:srgbClr val="21262E"/>
                          </a:solidFill>
                          <a:latin typeface="DejaVu Sans Mono"/>
                          <a:ea typeface="DejaVu Sans Mono"/>
                          <a:cs typeface="DejaVu Sans Mono"/>
                        </a:rPr>
                        <a:t>391.50</a:t>
                      </a:r>
                    </a:p>
                  </a:txBody>
                  <a:tcPr marL="64008" marR="64008" marT="22860" marB="22860">
                    <a:solidFill>
                      <a:srgbClr val="F3F6FA"/>
                    </a:solidFill>
                  </a:tcPr>
                </a:tc>
              </a:tr>
            </a:tbl>
          </a:graphicData>
        </a:graphic>
      </p:graphicFrame>
      <p:sp>
        <p:nvSpPr>
          <p:cNvPr id="13" name="TextBox 12"/>
          <p:cNvSpPr txBox="1"/>
          <p:nvPr/>
        </p:nvSpPr>
        <p:spPr>
          <a:xfrm>
            <a:off x="6684264" y="4672584"/>
            <a:ext cx="4937760" cy="612648"/>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250" b="0" lang="en-US">
                <a:solidFill>
                  <a:srgbClr val="5D6773"/>
                </a:solidFill>
                <a:latin typeface="Pretendard"/>
                <a:ea typeface="Pretendard"/>
                <a:cs typeface="Pretendard"/>
              </a:rPr>
              <a:t>TabPFN MitM · Recall 96.99% · Precision 2.39%</a:t>
            </a:r>
          </a:p>
          <a:p>
            <a:pPr algn="l">
              <a:lnSpc>
                <a:spcPct val="110000"/>
              </a:lnSpc>
              <a:spcBef>
                <a:spcPts val="0"/>
              </a:spcBef>
              <a:spcAft>
                <a:spcPts val="0"/>
              </a:spcAft>
              <a:buNone/>
            </a:pPr>
            <a:r>
              <a:rPr sz="1250" b="0" lang="en-US">
                <a:solidFill>
                  <a:srgbClr val="5D6773"/>
                </a:solidFill>
                <a:latin typeface="Pretendard"/>
                <a:ea typeface="Pretendard"/>
                <a:cs typeface="Pretendard"/>
              </a:rPr>
              <a:t>41,330 benign samples among 46,010 false positives</a:t>
            </a:r>
          </a:p>
        </p:txBody>
      </p:sp>
      <p:sp>
        <p:nvSpPr>
          <p:cNvPr id="14" name="TextBox 13"/>
          <p:cNvSpPr txBox="1"/>
          <p:nvPr/>
        </p:nvSpPr>
        <p:spPr>
          <a:xfrm>
            <a:off x="566928" y="5806440"/>
            <a:ext cx="11055096" cy="35661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600" b="1" lang="en-US">
                <a:solidFill>
                  <a:srgbClr val="00306C"/>
                </a:solidFill>
                <a:latin typeface="Pretendard"/>
                <a:ea typeface="Pretendard"/>
                <a:cs typeface="Pretendard"/>
              </a:rPr>
              <a:t>High MitM recall, many benign false positives · Improve context composition and inference cost</a:t>
            </a:r>
          </a:p>
        </p:txBody>
      </p:sp>
      <p:sp>
        <p:nvSpPr>
          <p:cNvPr id="15" name="TextBox 14"/>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00" b="1" lang="en-US">
                <a:solidFill>
                  <a:srgbClr val="FFFFFF"/>
                </a:solidFill>
                <a:latin typeface="Pretendard"/>
                <a:ea typeface="Pretendard"/>
                <a:cs typeface="Pretendard"/>
              </a:rPr>
              <a:t>Evaluate new attack performance and computational cost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buNone/>
            </a:pPr>
            <a:r>
              <a:rPr sz="2800" b="1" lang="en-US">
                <a:solidFill>
                  <a:srgbClr val="00306C"/>
                </a:solidFill>
                <a:latin typeface="Pretendard"/>
                <a:ea typeface="Pretendard"/>
                <a:cs typeface="Pretendard"/>
              </a:rPr>
              <a:t>Data review: remove rows with conflicting labels</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000" b="0" lang="en-US">
                <a:solidFill>
                  <a:srgbClr val="D6E4F3"/>
                </a:solidFill>
                <a:latin typeface="Pretendard"/>
                <a:ea typeface="Pretendard"/>
                <a:cs typeface="Pretendard"/>
              </a:rPr>
              <a:t>03 Data review</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100" b="1" lang="en-US">
                <a:solidFill>
                  <a:srgbClr val="FFFFFF"/>
                </a:solidFill>
                <a:latin typeface="Pretendard"/>
                <a:ea typeface="Pretendard"/>
                <a:cs typeface="Pretendard"/>
              </a:rPr>
              <a:t>5</a:t>
            </a:r>
          </a:p>
        </p:txBody>
      </p:sp>
      <p:sp>
        <p:nvSpPr>
          <p:cNvPr id="6" name="TextBox 5"/>
          <p:cNvSpPr txBox="1"/>
          <p:nvPr/>
        </p:nvSpPr>
        <p:spPr>
          <a:xfrm>
            <a:off x="566928" y="923544"/>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30" b="0" lang="en-US">
                <a:solidFill>
                  <a:srgbClr val="5D6773"/>
                </a:solidFill>
                <a:latin typeface="Pretendard"/>
                <a:ea typeface="Pretendard"/>
                <a:cs typeface="Pretendard"/>
              </a:rPr>
              <a:t>Identical features · Rows: original labels · Columns: other labels · Cells: row-class share (%) · Sorted by original class size</a:t>
            </a:r>
          </a:p>
        </p:txBody>
      </p:sp>
      <p:pic>
        <p:nvPicPr>
          <p:cNvPr id="24" name="Picture 23" descr="cse_cic_ids2018_matrix.png"/>
          <p:cNvPicPr>
            <a:picLocks noChangeAspect="1"/>
          </p:cNvPicPr>
          <p:nvPr/>
        </p:nvPicPr>
        <p:blipFill>
          <a:blip r:embed="rId11"/>
          <a:stretch>
            <a:fillRect/>
          </a:stretch>
        </p:blipFill>
        <p:spPr>
          <a:xfrm>
            <a:off x="566928" y="1344168"/>
            <a:ext cx="5394960" cy="2057400"/>
          </a:xfrm>
          <a:prstGeom prst="rect">
            <a:avLst/>
          </a:prstGeom>
        </p:spPr>
      </p:pic>
      <p:pic>
        <p:nvPicPr>
          <p:cNvPr id="25" name="Picture 24" descr="ton_iot_matrix.png"/>
          <p:cNvPicPr>
            <a:picLocks noChangeAspect="1"/>
          </p:cNvPicPr>
          <p:nvPr/>
        </p:nvPicPr>
        <p:blipFill>
          <a:blip r:embed="rId7"/>
          <a:stretch>
            <a:fillRect/>
          </a:stretch>
        </p:blipFill>
        <p:spPr>
          <a:xfrm>
            <a:off x="6227064" y="1344168"/>
            <a:ext cx="5394960" cy="2057400"/>
          </a:xfrm>
          <a:prstGeom prst="rect">
            <a:avLst/>
          </a:prstGeom>
        </p:spPr>
      </p:pic>
      <p:pic>
        <p:nvPicPr>
          <p:cNvPr id="26" name="Picture 25" descr="bot_iot_matrix.png"/>
          <p:cNvPicPr>
            <a:picLocks noChangeAspect="1"/>
          </p:cNvPicPr>
          <p:nvPr/>
        </p:nvPicPr>
        <p:blipFill>
          <a:blip r:embed="rId8"/>
          <a:stretch>
            <a:fillRect/>
          </a:stretch>
        </p:blipFill>
        <p:spPr>
          <a:xfrm>
            <a:off x="566928" y="3557016"/>
            <a:ext cx="5394960" cy="2057400"/>
          </a:xfrm>
          <a:prstGeom prst="rect">
            <a:avLst/>
          </a:prstGeom>
        </p:spPr>
      </p:pic>
      <p:pic>
        <p:nvPicPr>
          <p:cNvPr id="27" name="Picture 26" descr="unsw_nb15_matrix.png"/>
          <p:cNvPicPr>
            <a:picLocks noChangeAspect="1"/>
          </p:cNvPicPr>
          <p:nvPr/>
        </p:nvPicPr>
        <p:blipFill>
          <a:blip r:embed="rId9"/>
          <a:stretch>
            <a:fillRect/>
          </a:stretch>
        </p:blipFill>
        <p:spPr>
          <a:xfrm>
            <a:off x="6227064" y="3557016"/>
            <a:ext cx="5394960" cy="2057400"/>
          </a:xfrm>
          <a:prstGeom prst="rect">
            <a:avLst/>
          </a:prstGeom>
        </p:spPr>
      </p:pic>
      <p:sp>
        <p:nvSpPr>
          <p:cNvPr id="11" name="TextBox 10"/>
          <p:cNvSpPr txBox="1"/>
          <p:nvPr/>
        </p:nvSpPr>
        <p:spPr>
          <a:xfrm>
            <a:off x="566928" y="5696712"/>
            <a:ext cx="6537960" cy="475488"/>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00" b="0" lang="en-US">
                <a:solidFill>
                  <a:srgbClr val="5D6773"/>
                </a:solidFill>
                <a:latin typeface="Pretendard"/>
                <a:ea typeface="Pretendard"/>
                <a:cs typeface="Pretendard"/>
              </a:rPr>
              <a:t>Blank: 0% · Dot: &lt;1% · Grey: same class</a:t>
            </a:r>
          </a:p>
          <a:p>
            <a:pPr algn="l">
              <a:lnSpc>
                <a:spcPct val="110000"/>
              </a:lnSpc>
              <a:spcBef>
                <a:spcPts val="0"/>
              </a:spcBef>
              <a:spcAft>
                <a:spcPts val="0"/>
              </a:spcAft>
              <a:buNone/>
            </a:pPr>
            <a:r>
              <a:rPr sz="1100" b="0" lang="en-US">
                <a:solidFill>
                  <a:srgbClr val="5D6773"/>
                </a:solidFill>
                <a:latin typeface="Pretendard"/>
                <a:ea typeface="Pretendard"/>
                <a:cs typeface="Pretendard"/>
              </a:rPr>
              <a:t>Overlapping counts; cell percentages cannot be summed</a:t>
            </a:r>
          </a:p>
        </p:txBody>
      </p:sp>
      <p:sp>
        <p:nvSpPr>
          <p:cNvPr id="12" name="Rectangle 11"/>
          <p:cNvSpPr/>
          <p:nvPr/>
        </p:nvSpPr>
        <p:spPr>
          <a:xfrm>
            <a:off x="7699248" y="5843016"/>
            <a:ext cx="411480" cy="128016"/>
          </a:xfrm>
          <a:prstGeom prst="rect">
            <a:avLst/>
          </a:prstGeom>
          <a:solidFill>
            <a:srgbClr val="F2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en-US">
                <a:solidFill>
                  <a:srgbClr val="5D6773"/>
                </a:solidFill>
                <a:latin typeface="Pretendard"/>
                <a:ea typeface="Pretendard"/>
                <a:cs typeface="Pretendard"/>
              </a:rPr>
              <a:t>0</a:t>
            </a:r>
          </a:p>
        </p:txBody>
      </p:sp>
      <p:sp>
        <p:nvSpPr>
          <p:cNvPr id="14" name="Rectangle 13"/>
          <p:cNvSpPr/>
          <p:nvPr/>
        </p:nvSpPr>
        <p:spPr>
          <a:xfrm>
            <a:off x="8302752" y="5843016"/>
            <a:ext cx="411480" cy="128016"/>
          </a:xfrm>
          <a:prstGeom prst="rect">
            <a:avLst/>
          </a:prstGeom>
          <a:solidFill>
            <a:srgbClr val="9CC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en-US">
                <a:solidFill>
                  <a:srgbClr val="5D6773"/>
                </a:solidFill>
                <a:latin typeface="Pretendard"/>
                <a:ea typeface="Pretendard"/>
                <a:cs typeface="Pretendard"/>
              </a:rPr>
              <a:t>25</a:t>
            </a:r>
          </a:p>
        </p:txBody>
      </p:sp>
      <p:sp>
        <p:nvSpPr>
          <p:cNvPr id="16" name="Rectangle 15"/>
          <p:cNvSpPr/>
          <p:nvPr/>
        </p:nvSpPr>
        <p:spPr>
          <a:xfrm>
            <a:off x="8906256" y="5843016"/>
            <a:ext cx="411480" cy="128016"/>
          </a:xfrm>
          <a:prstGeom prst="rect">
            <a:avLst/>
          </a:prstGeom>
          <a:solidFill>
            <a:srgbClr val="4B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78824"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en-US">
                <a:solidFill>
                  <a:srgbClr val="5D6773"/>
                </a:solidFill>
                <a:latin typeface="Pretendard"/>
                <a:ea typeface="Pretendard"/>
                <a:cs typeface="Pretendard"/>
              </a:rPr>
              <a:t>50</a:t>
            </a:r>
          </a:p>
        </p:txBody>
      </p:sp>
      <p:sp>
        <p:nvSpPr>
          <p:cNvPr id="18" name="Rectangle 17"/>
          <p:cNvSpPr/>
          <p:nvPr/>
        </p:nvSpPr>
        <p:spPr>
          <a:xfrm>
            <a:off x="9509760" y="5843016"/>
            <a:ext cx="411480" cy="128016"/>
          </a:xfrm>
          <a:prstGeom prst="rect">
            <a:avLst/>
          </a:prstGeom>
          <a:solidFill>
            <a:srgbClr val="126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82328"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en-US">
                <a:solidFill>
                  <a:srgbClr val="5D6773"/>
                </a:solidFill>
                <a:latin typeface="Pretendard"/>
                <a:ea typeface="Pretendard"/>
                <a:cs typeface="Pretendard"/>
              </a:rPr>
              <a:t>75</a:t>
            </a:r>
          </a:p>
        </p:txBody>
      </p:sp>
      <p:sp>
        <p:nvSpPr>
          <p:cNvPr id="20" name="Rectangle 19"/>
          <p:cNvSpPr/>
          <p:nvPr/>
        </p:nvSpPr>
        <p:spPr>
          <a:xfrm>
            <a:off x="10113264" y="5843016"/>
            <a:ext cx="411480" cy="128016"/>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85832"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en-US">
                <a:solidFill>
                  <a:srgbClr val="5D6773"/>
                </a:solidFill>
                <a:latin typeface="Pretendard"/>
                <a:ea typeface="Pretendard"/>
                <a:cs typeface="Pretendard"/>
              </a:rPr>
              <a:t>100</a:t>
            </a:r>
          </a:p>
        </p:txBody>
      </p:sp>
      <p:sp>
        <p:nvSpPr>
          <p:cNvPr id="22" name="TextBox 21"/>
          <p:cNvSpPr txBox="1"/>
          <p:nvPr/>
        </p:nvSpPr>
        <p:spPr>
          <a:xfrm>
            <a:off x="10799064" y="5815584"/>
            <a:ext cx="822960" cy="24688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000" b="0" lang="en-US">
                <a:solidFill>
                  <a:srgbClr val="5D6773"/>
                </a:solidFill>
                <a:latin typeface="Pretendard"/>
                <a:ea typeface="Pretendard"/>
                <a:cs typeface="Pretendard"/>
              </a:rPr>
              <a:t>%</a:t>
            </a:r>
          </a:p>
        </p:txBody>
      </p:sp>
      <p:sp>
        <p:nvSpPr>
          <p:cNvPr id="23" name="TextBox 22"/>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00" b="1" lang="en-US">
                <a:solidFill>
                  <a:srgbClr val="FFFFFF"/>
                </a:solidFill>
                <a:latin typeface="Pretendard"/>
                <a:ea typeface="Pretendard"/>
                <a:cs typeface="Pretendard"/>
              </a:rPr>
              <a:t>Web attack: 1,764 + 432 − 429 overlapping rows = 1,767 removed · 771 retained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2800" b="1" lang="en-US">
                <a:solidFill>
                  <a:srgbClr val="00306C"/>
                </a:solidFill>
                <a:latin typeface="Pretendard"/>
                <a:ea typeface="Pretendard"/>
                <a:cs typeface="Pretendard"/>
              </a:rPr>
              <a:t>Class distribution after cleaning and the fixed test set</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000" b="0" lang="en-US">
                <a:solidFill>
                  <a:srgbClr val="D6E4F3"/>
                </a:solidFill>
                <a:latin typeface="Pretendard"/>
                <a:ea typeface="Pretendard"/>
                <a:cs typeface="Pretendard"/>
              </a:rPr>
              <a:t>03 Data review</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en-US">
                <a:solidFill>
                  <a:srgbClr val="FFFFFF"/>
                </a:solidFill>
                <a:latin typeface="Pretendard"/>
                <a:ea typeface="Pretendard"/>
                <a:cs typeface="Pretendard"/>
              </a:rPr>
              <a:t>6</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en-US">
                <a:solidFill>
                  <a:srgbClr val="5D6773"/>
                </a:solidFill>
                <a:latin typeface="Pretendard"/>
                <a:ea typeface="Pretendard"/>
                <a:cs typeface="Pretendard"/>
              </a:rPr>
              <a:t>Before/after: full dataset · Test: fixed cleaned holdout · Sorted by class count after cleaning</a:t>
            </a:r>
          </a:p>
        </p:txBody>
      </p:sp>
      <p:sp>
        <p:nvSpPr>
          <p:cNvPr id="7" name="TextBox 6"/>
          <p:cNvSpPr txBox="1"/>
          <p:nvPr/>
        </p:nvSpPr>
        <p:spPr>
          <a:xfrm>
            <a:off x="566928" y="1380744"/>
            <a:ext cx="539496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en-US">
                <a:solidFill>
                  <a:srgbClr val="00306C"/>
                </a:solidFill>
                <a:latin typeface="Pretendard"/>
                <a:ea typeface="Pretendard"/>
                <a:cs typeface="Pretendard"/>
              </a:rPr>
              <a:t>CIC2018</a:t>
            </a:r>
          </a:p>
        </p:txBody>
      </p:sp>
      <p:graphicFrame>
        <p:nvGraphicFramePr>
          <p:cNvPr id="8" name="Table 7"/>
          <p:cNvGraphicFramePr>
            <a:graphicFrameLocks noGrp="1"/>
          </p:cNvGraphicFramePr>
          <p:nvPr/>
        </p:nvGraphicFramePr>
        <p:xfrm>
          <a:off x="566928" y="1819656"/>
          <a:ext cx="5394960" cy="3061404"/>
        </p:xfrm>
        <a:graphic>
          <a:graphicData uri="http://schemas.openxmlformats.org/drawingml/2006/table">
            <a:tbl>
              <a:tblPr>
                <a:tableStyleId>{5C22544A-7EE6-4342-B048-85BDC9FD1C3A}</a:tableStyleId>
              </a:tblPr>
              <a:tblGrid>
                <a:gridCol w="1289304"/>
                <a:gridCol w="1472184"/>
                <a:gridCol w="1417320"/>
                <a:gridCol w="1216152"/>
              </a:tblGrid>
              <a:tr h="340156">
                <a:tc>
                  <a:txBody>
                    <a:bodyPr wrap="square" lIns="64008" rIns="64008" tIns="32004" bIns="32004" anchor="ctr">
                      <a:noAutofit/>
                    </a:bodyPr>
                    <a:lstStyle/>
                    <a:p>
                      <a:pPr algn="l">
                        <a:lnSpc>
                          <a:spcPct val="110000"/>
                        </a:lnSpc>
                        <a:spcBef>
                          <a:spcPts val="0"/>
                        </a:spcBef>
                        <a:spcAft>
                          <a:spcPts val="0"/>
                        </a:spcAft>
                        <a:buNone/>
                        <a:buNone/>
                      </a:pPr>
                      <a:r>
                        <a:rPr sz="1120" b="1" lang="en-US">
                          <a:solidFill>
                            <a:srgbClr val="FFFFFF"/>
                          </a:solidFill>
                          <a:latin typeface="Pretendard"/>
                          <a:ea typeface="Pretendard"/>
                          <a:cs typeface="Pretendard"/>
                        </a:rPr>
                        <a:t>Class</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buNone/>
                      </a:pPr>
                      <a:r>
                        <a:rPr sz="1120" b="1" lang="en-US">
                          <a:solidFill>
                            <a:srgbClr val="FFFFFF"/>
                          </a:solidFill>
                          <a:latin typeface="Pretendard"/>
                          <a:ea typeface="Pretendard"/>
                          <a:cs typeface="Pretendard"/>
                        </a:rPr>
                        <a:t>Before cleaning</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buNone/>
                      </a:pPr>
                      <a:r>
                        <a:rPr sz="1120" b="1" lang="en-US">
                          <a:solidFill>
                            <a:srgbClr val="FFFFFF"/>
                          </a:solidFill>
                          <a:latin typeface="Pretendard"/>
                          <a:ea typeface="Pretendard"/>
                          <a:cs typeface="Pretendard"/>
                        </a:rPr>
                        <a:t>After cleaning</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en-US">
                          <a:solidFill>
                            <a:srgbClr val="FFFFFF"/>
                          </a:solidFill>
                          <a:latin typeface="Pretendard"/>
                          <a:ea typeface="Pretendard"/>
                          <a:cs typeface="Pretendard"/>
                        </a:rPr>
                        <a:t>Test</a:t>
                      </a:r>
                    </a:p>
                  </a:txBody>
                  <a:tcPr marL="64008" marR="64008" marT="22860" marB="22860">
                    <a:solidFill>
                      <a:srgbClr val="00306C"/>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Benign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17,514,626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12,798,328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2,652,203</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1,324,350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1,316,025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262,680</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Bot</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207,703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207,703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41,542</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302,966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197,415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39,483</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Brute force</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575,194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188,414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37,696</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Infiltration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188,152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46,761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8,742</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Web attack</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2,538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771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127</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buNone/>
                      </a:pPr>
                      <a:r>
                        <a:rPr sz="1120" b="1" lang="en-US">
                          <a:solidFill>
                            <a:srgbClr val="00306C"/>
                          </a:solidFill>
                          <a:latin typeface="Pretendard"/>
                          <a:ea typeface="Pretendard"/>
                          <a:cs typeface="Pretendard"/>
                        </a:rPr>
                        <a:t>Total</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en-US">
                          <a:solidFill>
                            <a:srgbClr val="00306C"/>
                          </a:solidFill>
                          <a:latin typeface="DejaVu Sans Mono"/>
                          <a:ea typeface="DejaVu Sans Mono"/>
                          <a:cs typeface="DejaVu Sans Mono"/>
                        </a:rPr>
                        <a:t>20,115,529</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en-US">
                          <a:solidFill>
                            <a:srgbClr val="00306C"/>
                          </a:solidFill>
                          <a:latin typeface="DejaVu Sans Mono"/>
                          <a:ea typeface="DejaVu Sans Mono"/>
                          <a:cs typeface="DejaVu Sans Mono"/>
                        </a:rPr>
                        <a:t>14,755,417</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en-US">
                          <a:solidFill>
                            <a:srgbClr val="00306C"/>
                          </a:solidFill>
                          <a:latin typeface="DejaVu Sans Mono"/>
                          <a:ea typeface="DejaVu Sans Mono"/>
                          <a:cs typeface="DejaVu Sans Mono"/>
                        </a:rPr>
                        <a:t>3,042,473</a:t>
                      </a:r>
                    </a:p>
                  </a:txBody>
                  <a:tcPr marL="64008" marR="64008" marT="22860" marB="22860">
                    <a:solidFill>
                      <a:srgbClr val="E7F0F8"/>
                    </a:solidFill>
                  </a:tcPr>
                </a:tc>
              </a:tr>
            </a:tbl>
          </a:graphicData>
        </a:graphic>
      </p:graphicFrame>
      <p:sp>
        <p:nvSpPr>
          <p:cNvPr id="9" name="TextBox 8"/>
          <p:cNvSpPr txBox="1"/>
          <p:nvPr/>
        </p:nvSpPr>
        <p:spPr>
          <a:xfrm>
            <a:off x="6227064" y="1380744"/>
            <a:ext cx="539496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en-US">
                <a:solidFill>
                  <a:srgbClr val="00306C"/>
                </a:solidFill>
                <a:latin typeface="Pretendard"/>
                <a:ea typeface="Pretendard"/>
                <a:cs typeface="Pretendard"/>
              </a:rPr>
              <a:t>ToN</a:t>
            </a:r>
          </a:p>
        </p:txBody>
      </p:sp>
      <p:graphicFrame>
        <p:nvGraphicFramePr>
          <p:cNvPr id="10" name="Table 9"/>
          <p:cNvGraphicFramePr>
            <a:graphicFrameLocks noGrp="1"/>
          </p:cNvGraphicFramePr>
          <p:nvPr/>
        </p:nvGraphicFramePr>
        <p:xfrm>
          <a:off x="6227064" y="1819656"/>
          <a:ext cx="5394960" cy="4081872"/>
        </p:xfrm>
        <a:graphic>
          <a:graphicData uri="http://schemas.openxmlformats.org/drawingml/2006/table">
            <a:tbl>
              <a:tblPr>
                <a:tableStyleId>{5C22544A-7EE6-4342-B048-85BDC9FD1C3A}</a:tableStyleId>
              </a:tblPr>
              <a:tblGrid>
                <a:gridCol w="1289304"/>
                <a:gridCol w="1472184"/>
                <a:gridCol w="1417320"/>
                <a:gridCol w="1216152"/>
              </a:tblGrid>
              <a:tr h="340156">
                <a:tc>
                  <a:txBody>
                    <a:bodyPr wrap="square" lIns="64008" rIns="64008" tIns="32004" bIns="32004" anchor="ctr">
                      <a:noAutofit/>
                    </a:bodyPr>
                    <a:lstStyle/>
                    <a:p>
                      <a:pPr algn="l">
                        <a:lnSpc>
                          <a:spcPct val="110000"/>
                        </a:lnSpc>
                        <a:spcBef>
                          <a:spcPts val="0"/>
                        </a:spcBef>
                        <a:spcAft>
                          <a:spcPts val="0"/>
                        </a:spcAft>
                        <a:buNone/>
                        <a:buNone/>
                      </a:pPr>
                      <a:r>
                        <a:rPr sz="1120" b="1" lang="en-US">
                          <a:solidFill>
                            <a:srgbClr val="FFFFFF"/>
                          </a:solidFill>
                          <a:latin typeface="Pretendard"/>
                          <a:ea typeface="Pretendard"/>
                          <a:cs typeface="Pretendard"/>
                        </a:rPr>
                        <a:t>Class</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buNone/>
                      </a:pPr>
                      <a:r>
                        <a:rPr sz="1120" b="1" lang="en-US">
                          <a:solidFill>
                            <a:srgbClr val="FFFFFF"/>
                          </a:solidFill>
                          <a:latin typeface="Pretendard"/>
                          <a:ea typeface="Pretendard"/>
                          <a:cs typeface="Pretendard"/>
                        </a:rPr>
                        <a:t>Before cleaning</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buNone/>
                      </a:pPr>
                      <a:r>
                        <a:rPr sz="1120" b="1" lang="en-US">
                          <a:solidFill>
                            <a:srgbClr val="FFFFFF"/>
                          </a:solidFill>
                          <a:latin typeface="Pretendard"/>
                          <a:ea typeface="Pretendard"/>
                          <a:cs typeface="Pretendard"/>
                        </a:rPr>
                        <a:t>After cleaning</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en-US">
                          <a:solidFill>
                            <a:srgbClr val="FFFFFF"/>
                          </a:solidFill>
                          <a:latin typeface="Pretendard"/>
                          <a:ea typeface="Pretendard"/>
                          <a:cs typeface="Pretendard"/>
                        </a:rPr>
                        <a:t>Test</a:t>
                      </a:r>
                    </a:p>
                  </a:txBody>
                  <a:tcPr marL="64008" marR="64008" marT="22860" marB="22860">
                    <a:solidFill>
                      <a:srgbClr val="00306C"/>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Benign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16,792,214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6,446,120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1,474,302</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XSS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2,834,435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1,670,497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343,854</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Password</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1,594,777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1,061,699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210,951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4,141,256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925,247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103,338</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Injection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381,777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341,263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68,891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Backdoor</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203,384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200,688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40,030</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DoS</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203,456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113,655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22,458</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Scanning</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1,358,977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39,069</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6,029</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MitM</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6,013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5,446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1,161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en-US">
                          <a:solidFill>
                            <a:srgbClr val="21262E"/>
                          </a:solidFill>
                          <a:latin typeface="Pretendard"/>
                          <a:ea typeface="Pretendard"/>
                          <a:cs typeface="Pretendard"/>
                        </a:rPr>
                        <a:t>Ransomware</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3,971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3,604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en-US">
                          <a:solidFill>
                            <a:srgbClr val="21262E"/>
                          </a:solidFill>
                          <a:latin typeface="DejaVu Sans Mono"/>
                          <a:ea typeface="DejaVu Sans Mono"/>
                          <a:cs typeface="DejaVu Sans Mono"/>
                        </a:rPr>
                        <a:t>709</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buNone/>
                      </a:pPr>
                      <a:r>
                        <a:rPr sz="1120" b="1" lang="en-US">
                          <a:solidFill>
                            <a:srgbClr val="00306C"/>
                          </a:solidFill>
                          <a:latin typeface="Pretendard"/>
                          <a:ea typeface="Pretendard"/>
                          <a:cs typeface="Pretendard"/>
                        </a:rPr>
                        <a:t>Total</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en-US">
                          <a:solidFill>
                            <a:srgbClr val="00306C"/>
                          </a:solidFill>
                          <a:latin typeface="DejaVu Sans Mono"/>
                          <a:ea typeface="DejaVu Sans Mono"/>
                          <a:cs typeface="DejaVu Sans Mono"/>
                        </a:rPr>
                        <a:t>27,520,260</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en-US">
                          <a:solidFill>
                            <a:srgbClr val="00306C"/>
                          </a:solidFill>
                          <a:latin typeface="DejaVu Sans Mono"/>
                          <a:ea typeface="DejaVu Sans Mono"/>
                          <a:cs typeface="DejaVu Sans Mono"/>
                        </a:rPr>
                        <a:t>10,807,288</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en-US">
                          <a:solidFill>
                            <a:srgbClr val="00306C"/>
                          </a:solidFill>
                          <a:latin typeface="DejaVu Sans Mono"/>
                          <a:ea typeface="DejaVu Sans Mono"/>
                          <a:cs typeface="DejaVu Sans Mono"/>
                        </a:rPr>
                        <a:t>2,271,723</a:t>
                      </a:r>
                    </a:p>
                  </a:txBody>
                  <a:tcPr marL="64008" marR="64008" marT="22860" marB="22860">
                    <a:solidFill>
                      <a:srgbClr val="E7F0F8"/>
                    </a:solidFill>
                  </a:tcPr>
                </a:tc>
              </a:tr>
            </a:tbl>
          </a:graphicData>
        </a:graphic>
      </p:graphicFrame>
      <p:sp>
        <p:nvSpPr>
          <p:cNvPr id="13" name="TextBox 12"/>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1100" b="1" lang="en-US">
                <a:solidFill>
                  <a:srgbClr val="FFFFFF"/>
                </a:solidFill>
                <a:latin typeface="Pretendard"/>
                <a:ea typeface="Pretendard"/>
                <a:cs typeface="Pretendard"/>
              </a:rPr>
              <a:t>Class counts before and after cleaning, with fixed test support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buNone/>
            </a:pPr>
            <a:r>
              <a:rPr sz="2800" b="1" lang="en-US">
                <a:solidFill>
                  <a:srgbClr val="00306C"/>
                </a:solidFill>
                <a:latin typeface="Pretendard"/>
                <a:ea typeface="Pretendard"/>
                <a:cs typeface="Pretendard"/>
              </a:rPr>
              <a:t>Global and expert models built from contexts</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000" b="0" lang="en-US">
                <a:solidFill>
                  <a:srgbClr val="D6E4F3"/>
                </a:solidFill>
                <a:latin typeface="Pretendard"/>
                <a:ea typeface="Pretendard"/>
                <a:cs typeface="Pretendard"/>
              </a:rPr>
              <a:t>04 Current model</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100" b="1" lang="en-US">
                <a:solidFill>
                  <a:srgbClr val="FFFFFF"/>
                </a:solidFill>
                <a:latin typeface="Pretendard"/>
                <a:ea typeface="Pretendard"/>
                <a:cs typeface="Pretendard"/>
              </a:rPr>
              <a:t>7</a:t>
            </a:r>
          </a:p>
        </p:txBody>
      </p:sp>
      <p:sp>
        <p:nvSpPr>
          <p:cNvPr id="6" name="TextBox 5"/>
          <p:cNvSpPr txBox="1"/>
          <p:nvPr/>
        </p:nvSpPr>
        <p:spPr>
          <a:xfrm>
            <a:off x="566928" y="932688"/>
            <a:ext cx="11055096" cy="283464"/>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1300" b="0" lang="en-US">
                <a:solidFill>
                  <a:srgbClr val="5D6773"/>
                </a:solidFill>
                <a:latin typeface="Pretendard"/>
                <a:ea typeface="Pretendard"/>
                <a:cs typeface="Pretendard"/>
              </a:rPr>
              <a:t>Shared and specialized contexts · Frozen TabPFN backbone · Scorer and verifier trained separately</a:t>
            </a:r>
          </a:p>
        </p:txBody>
      </p:sp>
      <p:sp>
        <p:nvSpPr>
          <p:cNvPr id="7" name="Rounded Rectangle 6"/>
          <p:cNvSpPr/>
          <p:nvPr/>
        </p:nvSpPr>
        <p:spPr>
          <a:xfrm>
            <a:off x="566928"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buNone/>
            </a:pPr>
            <a:r>
              <a:rPr sz="1200" b="1" lang="en-US">
                <a:solidFill>
                  <a:srgbClr val="00306C"/>
                </a:solidFill>
                <a:latin typeface="Pretendard"/>
                <a:ea typeface="Pretendard"/>
                <a:cs typeface="Pretendard"/>
              </a:rPr>
              <a:t>Global pool · shared context</a:t>
            </a:r>
          </a:p>
        </p:txBody>
      </p:sp>
      <p:sp>
        <p:nvSpPr>
          <p:cNvPr id="8" name="Rounded Rectangle 7"/>
          <p:cNvSpPr/>
          <p:nvPr/>
        </p:nvSpPr>
        <p:spPr>
          <a:xfrm>
            <a:off x="4325112"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buNone/>
            </a:pPr>
            <a:r>
              <a:rPr sz="1200" b="1" lang="en-US">
                <a:solidFill>
                  <a:srgbClr val="00306C"/>
                </a:solidFill>
                <a:latin typeface="Pretendard"/>
                <a:ea typeface="Pretendard"/>
                <a:cs typeface="Pretendard"/>
              </a:rPr>
              <a:t>Expert pool · residuals and experts</a:t>
            </a:r>
          </a:p>
        </p:txBody>
      </p:sp>
      <p:sp>
        <p:nvSpPr>
          <p:cNvPr id="9" name="Rounded Rectangle 8"/>
          <p:cNvSpPr/>
          <p:nvPr/>
        </p:nvSpPr>
        <p:spPr>
          <a:xfrm>
            <a:off x="8083296"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buNone/>
            </a:pPr>
            <a:r>
              <a:rPr sz="1200" b="1" lang="en-US">
                <a:solidFill>
                  <a:srgbClr val="00306C"/>
                </a:solidFill>
                <a:latin typeface="Pretendard"/>
                <a:ea typeface="Pretendard"/>
                <a:cs typeface="Pretendard"/>
              </a:rPr>
              <a:t>Route pool · S/V training</a:t>
            </a:r>
          </a:p>
        </p:txBody>
      </p:sp>
      <p:sp>
        <p:nvSpPr>
          <p:cNvPr id="10" name="TextBox 9"/>
          <p:cNvSpPr txBox="1"/>
          <p:nvPr/>
        </p:nvSpPr>
        <p:spPr>
          <a:xfrm>
            <a:off x="566928" y="1993392"/>
            <a:ext cx="11055096" cy="25603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1" lang="en-US">
                <a:solidFill>
                  <a:srgbClr val="5D6773"/>
                </a:solidFill>
                <a:latin typeface="Pretendard"/>
                <a:ea typeface="Pretendard"/>
                <a:cs typeface="Pretendard"/>
              </a:rPr>
              <a:t>Offline · model construction</a:t>
            </a:r>
          </a:p>
        </p:txBody>
      </p:sp>
      <p:sp>
        <p:nvSpPr>
          <p:cNvPr id="11" name="Rounded Rectangle 10"/>
          <p:cNvSpPr/>
          <p:nvPr/>
        </p:nvSpPr>
        <p:spPr>
          <a:xfrm>
            <a:off x="566928"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500" b="1" lang="en-US">
                <a:solidFill>
                  <a:srgbClr val="00306C"/>
                </a:solidFill>
                <a:latin typeface="Pretendard"/>
                <a:ea typeface="Pretendard"/>
                <a:cs typeface="Pretendard"/>
              </a:rPr>
              <a:t>Build Global</a:t>
            </a:r>
          </a:p>
        </p:txBody>
      </p:sp>
      <p:sp>
        <p:nvSpPr>
          <p:cNvPr id="13" name="TextBox 12"/>
          <p:cNvSpPr txBox="1"/>
          <p:nvPr/>
        </p:nvSpPr>
        <p:spPr>
          <a:xfrm>
            <a:off x="640080"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050" b="0" lang="en-US">
                <a:solidFill>
                  <a:srgbClr val="5D6773"/>
                </a:solidFill>
                <a:latin typeface="Pretendard"/>
                <a:ea typeface="Pretendard"/>
                <a:cs typeface="Pretendard"/>
              </a:rPr>
              <a:t>Base classifier from</a:t>
            </a:r>
          </a:p>
          <a:p>
            <a:pPr algn="ctr">
              <a:lnSpc>
                <a:spcPct val="110000"/>
              </a:lnSpc>
              <a:spcBef>
                <a:spcPts val="0"/>
              </a:spcBef>
              <a:spcAft>
                <a:spcPts val="0"/>
              </a:spcAft>
              <a:buNone/>
            </a:pPr>
            <a:r>
              <a:rPr sz="1050" b="0" lang="en-US">
                <a:solidFill>
                  <a:srgbClr val="5D6773"/>
                </a:solidFill>
                <a:latin typeface="Pretendard"/>
                <a:ea typeface="Pretendard"/>
                <a:cs typeface="Pretendard"/>
              </a:rPr>
              <a:t>shared context</a:t>
            </a:r>
          </a:p>
        </p:txBody>
      </p:sp>
      <p:sp>
        <p:nvSpPr>
          <p:cNvPr id="14" name="Rounded Rectangle 13"/>
          <p:cNvSpPr/>
          <p:nvPr/>
        </p:nvSpPr>
        <p:spPr>
          <a:xfrm>
            <a:off x="2825496"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500" b="1" lang="en-US">
                <a:solidFill>
                  <a:srgbClr val="00306C"/>
                </a:solidFill>
                <a:latin typeface="Pretendard"/>
                <a:ea typeface="Pretendard"/>
                <a:cs typeface="Pretendard"/>
              </a:rPr>
              <a:t>Compute residuals</a:t>
            </a:r>
          </a:p>
        </p:txBody>
      </p:sp>
      <p:sp>
        <p:nvSpPr>
          <p:cNvPr id="16" name="TextBox 15"/>
          <p:cNvSpPr txBox="1"/>
          <p:nvPr/>
        </p:nvSpPr>
        <p:spPr>
          <a:xfrm>
            <a:off x="2898648"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050" b="0" lang="en-US">
                <a:solidFill>
                  <a:srgbClr val="5D6773"/>
                </a:solidFill>
                <a:latin typeface="Pretendard"/>
                <a:ea typeface="Pretendard"/>
                <a:cs typeface="Pretendard"/>
              </a:rPr>
              <a:t>Features · probabilities</a:t>
            </a:r>
          </a:p>
          <a:p>
            <a:pPr algn="ctr">
              <a:lnSpc>
                <a:spcPct val="110000"/>
              </a:lnSpc>
              <a:spcBef>
                <a:spcPts val="0"/>
              </a:spcBef>
              <a:spcAft>
                <a:spcPts val="0"/>
              </a:spcAft>
              <a:buNone/>
            </a:pPr>
            <a:r>
              <a:rPr sz="1050" b="0" lang="en-US">
                <a:solidFill>
                  <a:srgbClr val="5D6773"/>
                </a:solidFill>
                <a:latin typeface="Pretendard"/>
                <a:ea typeface="Pretendard"/>
                <a:cs typeface="Pretendard"/>
              </a:rPr>
              <a:t>Label residual · error size</a:t>
            </a:r>
          </a:p>
        </p:txBody>
      </p:sp>
      <p:sp>
        <p:nvSpPr>
          <p:cNvPr id="17" name="Rounded Rectangle 16"/>
          <p:cNvSpPr/>
          <p:nvPr/>
        </p:nvSpPr>
        <p:spPr>
          <a:xfrm>
            <a:off x="5084064"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38927"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500" b="1" lang="en-US">
                <a:solidFill>
                  <a:srgbClr val="00306C"/>
                </a:solidFill>
                <a:latin typeface="Pretendard"/>
                <a:ea typeface="Pretendard"/>
                <a:cs typeface="Pretendard"/>
              </a:rPr>
              <a:t>Cluster residuals</a:t>
            </a:r>
          </a:p>
        </p:txBody>
      </p:sp>
      <p:sp>
        <p:nvSpPr>
          <p:cNvPr id="19" name="TextBox 18"/>
          <p:cNvSpPr txBox="1"/>
          <p:nvPr/>
        </p:nvSpPr>
        <p:spPr>
          <a:xfrm>
            <a:off x="5157216"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050" b="0" lang="en-US">
                <a:solidFill>
                  <a:srgbClr val="5D6773"/>
                </a:solidFill>
                <a:latin typeface="Pretendard"/>
                <a:ea typeface="Pretendard"/>
                <a:cs typeface="Pretendard"/>
              </a:rPr>
              <a:t>K clusters grouped</a:t>
            </a:r>
          </a:p>
          <a:p>
            <a:pPr algn="ctr">
              <a:lnSpc>
                <a:spcPct val="110000"/>
              </a:lnSpc>
              <a:spcBef>
                <a:spcPts val="0"/>
              </a:spcBef>
              <a:spcAft>
                <a:spcPts val="0"/>
              </a:spcAft>
              <a:buNone/>
            </a:pPr>
            <a:r>
              <a:rPr sz="1050" b="0" lang="en-US">
                <a:solidFill>
                  <a:srgbClr val="5D6773"/>
                </a:solidFill>
                <a:latin typeface="Pretendard"/>
                <a:ea typeface="Pretendard"/>
                <a:cs typeface="Pretendard"/>
              </a:rPr>
              <a:t>by failure pattern</a:t>
            </a:r>
          </a:p>
        </p:txBody>
      </p:sp>
      <p:sp>
        <p:nvSpPr>
          <p:cNvPr id="20" name="Rounded Rectangle 19"/>
          <p:cNvSpPr/>
          <p:nvPr/>
        </p:nvSpPr>
        <p:spPr>
          <a:xfrm>
            <a:off x="7342631"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7496"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500" b="1" lang="en-US">
                <a:solidFill>
                  <a:srgbClr val="00306C"/>
                </a:solidFill>
                <a:latin typeface="Pretendard"/>
                <a:ea typeface="Pretendard"/>
                <a:cs typeface="Pretendard"/>
              </a:rPr>
              <a:t>Build experts</a:t>
            </a:r>
          </a:p>
        </p:txBody>
      </p:sp>
      <p:sp>
        <p:nvSpPr>
          <p:cNvPr id="22" name="TextBox 21"/>
          <p:cNvSpPr txBox="1"/>
          <p:nvPr/>
        </p:nvSpPr>
        <p:spPr>
          <a:xfrm>
            <a:off x="7415783"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050" b="0" lang="en-US">
                <a:solidFill>
                  <a:srgbClr val="5D6773"/>
                </a:solidFill>
                <a:latin typeface="Pretendard"/>
                <a:ea typeface="Pretendard"/>
                <a:cs typeface="Pretendard"/>
              </a:rPr>
              <a:t>Shared anchor</a:t>
            </a:r>
          </a:p>
          <a:p>
            <a:pPr algn="ctr">
              <a:lnSpc>
                <a:spcPct val="110000"/>
              </a:lnSpc>
              <a:spcBef>
                <a:spcPts val="0"/>
              </a:spcBef>
              <a:spcAft>
                <a:spcPts val="0"/>
              </a:spcAft>
              <a:buNone/>
            </a:pPr>
            <a:r>
              <a:rPr sz="1050" b="0" lang="en-US">
                <a:solidFill>
                  <a:srgbClr val="5D6773"/>
                </a:solidFill>
                <a:latin typeface="Pretendard"/>
                <a:ea typeface="Pretendard"/>
                <a:cs typeface="Pretendard"/>
              </a:rPr>
              <a:t>+ cluster-specific block</a:t>
            </a:r>
          </a:p>
        </p:txBody>
      </p:sp>
      <p:sp>
        <p:nvSpPr>
          <p:cNvPr id="23" name="Rounded Rectangle 22"/>
          <p:cNvSpPr/>
          <p:nvPr/>
        </p:nvSpPr>
        <p:spPr>
          <a:xfrm>
            <a:off x="9601200"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56064"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500" b="1" lang="en-US">
                <a:solidFill>
                  <a:srgbClr val="00306C"/>
                </a:solidFill>
                <a:latin typeface="Pretendard"/>
                <a:ea typeface="Pretendard"/>
                <a:cs typeface="Pretendard"/>
              </a:rPr>
              <a:t>Train S/V</a:t>
            </a:r>
          </a:p>
        </p:txBody>
      </p:sp>
      <p:sp>
        <p:nvSpPr>
          <p:cNvPr id="25" name="TextBox 24"/>
          <p:cNvSpPr txBox="1"/>
          <p:nvPr/>
        </p:nvSpPr>
        <p:spPr>
          <a:xfrm>
            <a:off x="9674352"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050" b="0" lang="en-US">
                <a:solidFill>
                  <a:srgbClr val="5D6773"/>
                </a:solidFill>
                <a:latin typeface="Pretendard"/>
                <a:ea typeface="Pretendard"/>
                <a:cs typeface="Pretendard"/>
              </a:rPr>
              <a:t>Learn from corrections</a:t>
            </a:r>
          </a:p>
          <a:p>
            <a:pPr algn="ctr">
              <a:lnSpc>
                <a:spcPct val="110000"/>
              </a:lnSpc>
              <a:spcBef>
                <a:spcPts val="0"/>
              </a:spcBef>
              <a:spcAft>
                <a:spcPts val="0"/>
              </a:spcAft>
              <a:buNone/>
            </a:pPr>
            <a:r>
              <a:rPr sz="1050" b="0" lang="en-US">
                <a:solidFill>
                  <a:srgbClr val="5D6773"/>
                </a:solidFill>
                <a:latin typeface="Pretendard"/>
                <a:ea typeface="Pretendard"/>
                <a:cs typeface="Pretendard"/>
              </a:rPr>
              <a:t>and errors by Global/experts</a:t>
            </a:r>
          </a:p>
        </p:txBody>
      </p:sp>
      <p:cxnSp>
        <p:nvCxnSpPr>
          <p:cNvPr id="26" name="Connector 25"/>
          <p:cNvCxnSpPr/>
          <p:nvPr/>
        </p:nvCxnSpPr>
        <p:spPr>
          <a:xfrm>
            <a:off x="2587752" y="2944368"/>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846320" y="2944368"/>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104888" y="2944368"/>
            <a:ext cx="237743"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63455" y="2944368"/>
            <a:ext cx="237745"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3685032"/>
            <a:ext cx="11055096" cy="25603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1" lang="en-US">
                <a:solidFill>
                  <a:srgbClr val="5D6773"/>
                </a:solidFill>
                <a:latin typeface="Pretendard"/>
                <a:ea typeface="Pretendard"/>
                <a:cs typeface="Pretendard"/>
              </a:rPr>
              <a:t>Online · per-input prediction</a:t>
            </a:r>
          </a:p>
        </p:txBody>
      </p:sp>
      <p:sp>
        <p:nvSpPr>
          <p:cNvPr id="31" name="Rounded Rectangle 30"/>
          <p:cNvSpPr/>
          <p:nvPr/>
        </p:nvSpPr>
        <p:spPr>
          <a:xfrm>
            <a:off x="566928"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500" b="1" lang="en-US">
                <a:solidFill>
                  <a:srgbClr val="00306C"/>
                </a:solidFill>
                <a:latin typeface="Pretendard"/>
                <a:ea typeface="Pretendard"/>
                <a:cs typeface="Pretendard"/>
              </a:rPr>
              <a:t>Global prediction</a:t>
            </a:r>
          </a:p>
        </p:txBody>
      </p:sp>
      <p:sp>
        <p:nvSpPr>
          <p:cNvPr id="33" name="TextBox 32"/>
          <p:cNvSpPr txBox="1"/>
          <p:nvPr/>
        </p:nvSpPr>
        <p:spPr>
          <a:xfrm>
            <a:off x="640080"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050" b="0" lang="en-US">
                <a:solidFill>
                  <a:srgbClr val="5D6773"/>
                </a:solidFill>
                <a:latin typeface="Pretendard"/>
                <a:ea typeface="Pretendard"/>
                <a:cs typeface="Pretendard"/>
              </a:rPr>
              <a:t>Base class prediction</a:t>
            </a:r>
          </a:p>
        </p:txBody>
      </p:sp>
      <p:sp>
        <p:nvSpPr>
          <p:cNvPr id="34" name="Rounded Rectangle 33"/>
          <p:cNvSpPr/>
          <p:nvPr/>
        </p:nvSpPr>
        <p:spPr>
          <a:xfrm>
            <a:off x="2825496" y="4142232"/>
            <a:ext cx="2020824" cy="969264"/>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80360"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en-US">
                <a:solidFill>
                  <a:srgbClr val="00306C"/>
                </a:solidFill>
                <a:latin typeface="Pretendard"/>
                <a:ea typeface="Pretendard"/>
                <a:cs typeface="Pretendard"/>
              </a:rPr>
              <a:t>Scorer</a:t>
            </a:r>
          </a:p>
        </p:txBody>
      </p:sp>
      <p:sp>
        <p:nvSpPr>
          <p:cNvPr id="36" name="TextBox 35"/>
          <p:cNvSpPr txBox="1"/>
          <p:nvPr/>
        </p:nvSpPr>
        <p:spPr>
          <a:xfrm>
            <a:off x="2898648"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050" b="0" lang="en-US">
                <a:solidFill>
                  <a:srgbClr val="5D6773"/>
                </a:solidFill>
                <a:latin typeface="Pretendard"/>
                <a:ea typeface="Pretendard"/>
                <a:cs typeface="Pretendard"/>
              </a:rPr>
              <a:t>Select an expert;</a:t>
            </a:r>
          </a:p>
          <a:p>
            <a:pPr algn="ctr">
              <a:lnSpc>
                <a:spcPct val="110000"/>
              </a:lnSpc>
              <a:spcBef>
                <a:spcPts val="0"/>
              </a:spcBef>
              <a:spcAft>
                <a:spcPts val="0"/>
              </a:spcAft>
              <a:buNone/>
            </a:pPr>
            <a:r>
              <a:rPr sz="1050" b="0" lang="en-US">
                <a:solidFill>
                  <a:srgbClr val="5D6773"/>
                </a:solidFill>
                <a:latin typeface="Pretendard"/>
                <a:ea typeface="Pretendard"/>
                <a:cs typeface="Pretendard"/>
              </a:rPr>
              <a:t>decide whether to call</a:t>
            </a:r>
          </a:p>
        </p:txBody>
      </p:sp>
      <p:sp>
        <p:nvSpPr>
          <p:cNvPr id="37" name="Rounded Rectangle 36"/>
          <p:cNvSpPr/>
          <p:nvPr/>
        </p:nvSpPr>
        <p:spPr>
          <a:xfrm>
            <a:off x="5084064"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38927"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500" b="1" lang="en-US">
                <a:solidFill>
                  <a:srgbClr val="00306C"/>
                </a:solidFill>
                <a:latin typeface="Pretendard"/>
                <a:ea typeface="Pretendard"/>
                <a:cs typeface="Pretendard"/>
              </a:rPr>
              <a:t>Expert inference</a:t>
            </a:r>
          </a:p>
        </p:txBody>
      </p:sp>
      <p:sp>
        <p:nvSpPr>
          <p:cNvPr id="39" name="TextBox 38"/>
          <p:cNvSpPr txBox="1"/>
          <p:nvPr/>
        </p:nvSpPr>
        <p:spPr>
          <a:xfrm>
            <a:off x="5157216"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050" b="0" lang="en-US">
                <a:solidFill>
                  <a:srgbClr val="5D6773"/>
                </a:solidFill>
                <a:latin typeface="Pretendard"/>
                <a:ea typeface="Pretendard"/>
                <a:cs typeface="Pretendard"/>
              </a:rPr>
              <a:t>Classify with the</a:t>
            </a:r>
          </a:p>
          <a:p>
            <a:pPr algn="ctr">
              <a:lnSpc>
                <a:spcPct val="110000"/>
              </a:lnSpc>
              <a:spcBef>
                <a:spcPts val="0"/>
              </a:spcBef>
              <a:spcAft>
                <a:spcPts val="0"/>
              </a:spcAft>
              <a:buNone/>
            </a:pPr>
            <a:r>
              <a:rPr sz="1050" b="0" lang="en-US">
                <a:solidFill>
                  <a:srgbClr val="5D6773"/>
                </a:solidFill>
                <a:latin typeface="Pretendard"/>
                <a:ea typeface="Pretendard"/>
                <a:cs typeface="Pretendard"/>
              </a:rPr>
              <a:t>selected context</a:t>
            </a:r>
          </a:p>
        </p:txBody>
      </p:sp>
      <p:sp>
        <p:nvSpPr>
          <p:cNvPr id="40" name="Rounded Rectangle 39"/>
          <p:cNvSpPr/>
          <p:nvPr/>
        </p:nvSpPr>
        <p:spPr>
          <a:xfrm>
            <a:off x="7342631" y="4142232"/>
            <a:ext cx="2020824" cy="969264"/>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97496"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en-US">
                <a:solidFill>
                  <a:srgbClr val="00306C"/>
                </a:solidFill>
                <a:latin typeface="Pretendard"/>
                <a:ea typeface="Pretendard"/>
                <a:cs typeface="Pretendard"/>
              </a:rPr>
              <a:t>Verifier</a:t>
            </a:r>
          </a:p>
        </p:txBody>
      </p:sp>
      <p:sp>
        <p:nvSpPr>
          <p:cNvPr id="42" name="TextBox 41"/>
          <p:cNvSpPr txBox="1"/>
          <p:nvPr/>
        </p:nvSpPr>
        <p:spPr>
          <a:xfrm>
            <a:off x="7415783"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050" b="0" lang="en-US">
                <a:solidFill>
                  <a:srgbClr val="5D6773"/>
                </a:solidFill>
                <a:latin typeface="Pretendard"/>
                <a:ea typeface="Pretendard"/>
                <a:cs typeface="Pretendard"/>
              </a:rPr>
              <a:t>Accept or reject</a:t>
            </a:r>
          </a:p>
          <a:p>
            <a:pPr algn="ctr">
              <a:lnSpc>
                <a:spcPct val="110000"/>
              </a:lnSpc>
              <a:spcBef>
                <a:spcPts val="0"/>
              </a:spcBef>
              <a:spcAft>
                <a:spcPts val="0"/>
              </a:spcAft>
              <a:buNone/>
            </a:pPr>
            <a:r>
              <a:rPr sz="1050" b="0" lang="en-US">
                <a:solidFill>
                  <a:srgbClr val="5D6773"/>
                </a:solidFill>
                <a:latin typeface="Pretendard"/>
                <a:ea typeface="Pretendard"/>
                <a:cs typeface="Pretendard"/>
              </a:rPr>
              <a:t>the expert prediction</a:t>
            </a:r>
          </a:p>
        </p:txBody>
      </p:sp>
      <p:sp>
        <p:nvSpPr>
          <p:cNvPr id="43" name="Rounded Rectangle 42"/>
          <p:cNvSpPr/>
          <p:nvPr/>
        </p:nvSpPr>
        <p:spPr>
          <a:xfrm>
            <a:off x="9601200"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56064"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500" b="1" lang="en-US">
                <a:solidFill>
                  <a:srgbClr val="00306C"/>
                </a:solidFill>
                <a:latin typeface="Pretendard"/>
                <a:ea typeface="Pretendard"/>
                <a:cs typeface="Pretendard"/>
              </a:rPr>
              <a:t>Final prediction</a:t>
            </a:r>
          </a:p>
        </p:txBody>
      </p:sp>
      <p:sp>
        <p:nvSpPr>
          <p:cNvPr id="45" name="TextBox 44"/>
          <p:cNvSpPr txBox="1"/>
          <p:nvPr/>
        </p:nvSpPr>
        <p:spPr>
          <a:xfrm>
            <a:off x="9674352"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buNone/>
            </a:pPr>
            <a:r>
              <a:rPr sz="1050" b="0" lang="en-US">
                <a:solidFill>
                  <a:srgbClr val="5D6773"/>
                </a:solidFill>
                <a:latin typeface="Pretendard"/>
                <a:ea typeface="Pretendard"/>
                <a:cs typeface="Pretendard"/>
              </a:rPr>
              <a:t>Expert prediction</a:t>
            </a:r>
          </a:p>
          <a:p>
            <a:pPr algn="ctr">
              <a:lnSpc>
                <a:spcPct val="110000"/>
              </a:lnSpc>
              <a:spcBef>
                <a:spcPts val="0"/>
              </a:spcBef>
              <a:spcAft>
                <a:spcPts val="0"/>
              </a:spcAft>
              <a:buNone/>
            </a:pPr>
            <a:r>
              <a:rPr sz="1050" b="0" lang="en-US">
                <a:solidFill>
                  <a:srgbClr val="5D6773"/>
                </a:solidFill>
                <a:latin typeface="Pretendard"/>
                <a:ea typeface="Pretendard"/>
                <a:cs typeface="Pretendard"/>
              </a:rPr>
              <a:t>if accepted</a:t>
            </a:r>
          </a:p>
        </p:txBody>
      </p:sp>
      <p:cxnSp>
        <p:nvCxnSpPr>
          <p:cNvPr id="46" name="Connector 45"/>
          <p:cNvCxnSpPr/>
          <p:nvPr/>
        </p:nvCxnSpPr>
        <p:spPr>
          <a:xfrm>
            <a:off x="2587752" y="4626864"/>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846320" y="4626864"/>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104888" y="4626864"/>
            <a:ext cx="237743"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363455" y="4626864"/>
            <a:ext cx="237745"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835908" y="5111496"/>
            <a:ext cx="0" cy="466344"/>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353044" y="5111496"/>
            <a:ext cx="0" cy="466344"/>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835908" y="5577840"/>
            <a:ext cx="6775704" cy="0"/>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0611612" y="5111496"/>
            <a:ext cx="0" cy="466344"/>
          </a:xfrm>
          <a:prstGeom prst="line">
            <a:avLst/>
          </a:prstGeom>
          <a:ln w="16510">
            <a:solidFill>
              <a:srgbClr val="8393A5"/>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66928" y="5733288"/>
            <a:ext cx="11055096" cy="283464"/>
          </a:xfrm>
          <a:prstGeom prst="rect">
            <a:avLst/>
          </a:prstGeom>
          <a:noFill/>
        </p:spPr>
        <p:txBody>
          <a:bodyPr wrap="square" lIns="0" rIns="0" tIns="32004" bIns="32004" anchor="ctr">
            <a:noAutofit/>
          </a:bodyPr>
          <a:lstStyle/>
          <a:p>
            <a:pPr algn="ctr">
              <a:lnSpc>
                <a:spcPct val="110000"/>
              </a:lnSpc>
              <a:spcBef>
                <a:spcPts val="0"/>
              </a:spcBef>
              <a:spcAft>
                <a:spcPts val="0"/>
              </a:spcAft>
              <a:buNone/>
              <a:buNone/>
            </a:pPr>
            <a:r>
              <a:rPr sz="1300" b="0" lang="en-US">
                <a:solidFill>
                  <a:srgbClr val="5D6773"/>
                </a:solidFill>
                <a:latin typeface="Pretendard"/>
                <a:ea typeface="Pretendard"/>
                <a:cs typeface="Pretendard"/>
              </a:rPr>
              <a:t>Call or acceptance condition not met → Keep the Global prediction</a:t>
            </a:r>
          </a:p>
        </p:txBody>
      </p:sp>
      <p:sp>
        <p:nvSpPr>
          <p:cNvPr id="55" name="TextBox 54"/>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1100" b="1" lang="en-US">
                <a:solidFill>
                  <a:srgbClr val="FFFFFF"/>
                </a:solidFill>
                <a:latin typeface="Pretendard"/>
                <a:ea typeface="Pretendard"/>
                <a:cs typeface="Pretendard"/>
              </a:rPr>
              <a:t>Shared and specialized contexts · S/V select prediction corrections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2800" b="1" lang="en-US">
                <a:solidFill>
                  <a:srgbClr val="00306C"/>
                </a:solidFill>
                <a:latin typeface="Pretendard"/>
                <a:ea typeface="Pretendard"/>
                <a:cs typeface="Pretendard"/>
              </a:rPr>
              <a:t>Current static performance · SOTA comparison</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000" b="0" lang="en-US">
                <a:solidFill>
                  <a:srgbClr val="D6E4F3"/>
                </a:solidFill>
                <a:latin typeface="Pretendard"/>
                <a:ea typeface="Pretendard"/>
                <a:cs typeface="Pretendard"/>
              </a:rPr>
              <a:t>04 Current model</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en-US">
                <a:solidFill>
                  <a:srgbClr val="FFFFFF"/>
                </a:solidFill>
                <a:latin typeface="Pretendard"/>
                <a:ea typeface="Pretendard"/>
                <a:cs typeface="Pretendard"/>
              </a:rPr>
              <a:t>8</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en-US">
                <a:solidFill>
                  <a:srgbClr val="5D6773"/>
                </a:solidFill>
                <a:latin typeface="Pretendard"/>
                <a:ea typeface="Pretendard"/>
                <a:cs typeface="Pretendard"/>
              </a:rPr>
              <a:t>Static setting with all attack classes in training · Same cleaned test set · Seed 43 · Macro-F1 (%)</a:t>
            </a:r>
          </a:p>
        </p:txBody>
      </p:sp>
      <p:graphicFrame>
        <p:nvGraphicFramePr>
          <p:cNvPr id="7" name="Table 6"/>
          <p:cNvGraphicFramePr>
            <a:graphicFrameLocks noGrp="1"/>
          </p:cNvGraphicFramePr>
          <p:nvPr/>
        </p:nvGraphicFramePr>
        <p:xfrm>
          <a:off x="566928" y="1481328"/>
          <a:ext cx="11055096" cy="3511296"/>
        </p:xfrm>
        <a:graphic>
          <a:graphicData uri="http://schemas.openxmlformats.org/drawingml/2006/table">
            <a:tbl>
              <a:tblPr>
                <a:tableStyleId>{5C22544A-7EE6-4342-B048-85BDC9FD1C3A}</a:tableStyleId>
              </a:tblPr>
              <a:tblGrid>
                <a:gridCol w="3931920"/>
                <a:gridCol w="1417320"/>
                <a:gridCol w="1417320"/>
                <a:gridCol w="4288536"/>
              </a:tblGrid>
              <a:tr h="438912">
                <a:tc>
                  <a:txBody>
                    <a:bodyPr wrap="square" lIns="64008" rIns="64008" tIns="32004" bIns="32004" anchor="ctr">
                      <a:noAutofit/>
                    </a:bodyPr>
                    <a:lstStyle/>
                    <a:p>
                      <a:pPr algn="l">
                        <a:lnSpc>
                          <a:spcPct val="110000"/>
                        </a:lnSpc>
                        <a:spcBef>
                          <a:spcPts val="0"/>
                        </a:spcBef>
                        <a:spcAft>
                          <a:spcPts val="0"/>
                        </a:spcAft>
                        <a:buNone/>
                        <a:buNone/>
                      </a:pPr>
                      <a:r>
                        <a:rPr sz="1400" b="1" lang="en-US">
                          <a:solidFill>
                            <a:srgbClr val="FFFFFF"/>
                          </a:solidFill>
                          <a:latin typeface="Pretendard"/>
                          <a:ea typeface="Pretendard"/>
                          <a:cs typeface="Pretendard"/>
                        </a:rPr>
                        <a:t>Method</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en-US">
                          <a:solidFill>
                            <a:srgbClr val="FFFFFF"/>
                          </a:solidFill>
                          <a:latin typeface="Pretendard"/>
                          <a:ea typeface="Pretendard"/>
                          <a:cs typeface="Pretendard"/>
                        </a:rPr>
                        <a:t>CIC2018</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en-US">
                          <a:solidFill>
                            <a:srgbClr val="FFFFFF"/>
                          </a:solidFill>
                          <a:latin typeface="Pretendard"/>
                          <a:ea typeface="Pretendard"/>
                          <a:cs typeface="Pretendard"/>
                        </a:rPr>
                        <a:t>ToN</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buNone/>
                      </a:pPr>
                      <a:r>
                        <a:rPr sz="1400" b="1" lang="en-US">
                          <a:solidFill>
                            <a:srgbClr val="FFFFFF"/>
                          </a:solidFill>
                          <a:latin typeface="Pretendard"/>
                          <a:ea typeface="Pretendard"/>
                          <a:cs typeface="Pretendard"/>
                        </a:rPr>
                        <a:t>Training data</a:t>
                      </a:r>
                    </a:p>
                  </a:txBody>
                  <a:tcPr marL="64008" marR="64008" marT="22860" marB="22860">
                    <a:solidFill>
                      <a:srgbClr val="00306C"/>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en-US">
                          <a:solidFill>
                            <a:srgbClr val="21262E"/>
                          </a:solidFill>
                          <a:latin typeface="Pretendard"/>
                          <a:ea typeface="Pretendard"/>
                          <a:cs typeface="Pretendard"/>
                        </a:rPr>
                        <a:t>Global TabPFN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78.24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67.96</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buNone/>
                      </a:pPr>
                      <a:r>
                        <a:rPr sz="1400" b="0" lang="en-US">
                          <a:solidFill>
                            <a:srgbClr val="21262E"/>
                          </a:solidFill>
                          <a:latin typeface="Pretendard"/>
                          <a:ea typeface="Pretendard"/>
                          <a:cs typeface="Pretendard"/>
                        </a:rPr>
                        <a:t>Shared 100,000 rows</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en-US">
                          <a:solidFill>
                            <a:srgbClr val="21262E"/>
                          </a:solidFill>
                          <a:latin typeface="Pretendard"/>
                          <a:ea typeface="Pretendard"/>
                          <a:cs typeface="Pretendard"/>
                        </a:rPr>
                        <a:t>XGBoost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78.21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69.83</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buNone/>
                      </a:pPr>
                      <a:r>
                        <a:rPr sz="1400" b="0" lang="en-US">
                          <a:solidFill>
                            <a:srgbClr val="21262E"/>
                          </a:solidFill>
                          <a:latin typeface="Pretendard"/>
                          <a:ea typeface="Pretendard"/>
                          <a:cs typeface="Pretendard"/>
                        </a:rPr>
                        <a:t>Shared 100,000 rows</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en-US">
                          <a:solidFill>
                            <a:srgbClr val="21262E"/>
                          </a:solidFill>
                          <a:latin typeface="Pretendard"/>
                          <a:ea typeface="Pretendard"/>
                          <a:cs typeface="Pretendard"/>
                        </a:rPr>
                        <a:t>BoostPFN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71.48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58.66</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buNone/>
                      </a:pPr>
                      <a:r>
                        <a:rPr sz="1400" b="0" lang="en-US">
                          <a:solidFill>
                            <a:srgbClr val="21262E"/>
                          </a:solidFill>
                          <a:latin typeface="Pretendard"/>
                          <a:ea typeface="Pretendard"/>
                          <a:cs typeface="Pretendard"/>
                        </a:rPr>
                        <a:t>Shared 100,000 rows</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en-US">
                          <a:solidFill>
                            <a:srgbClr val="21262E"/>
                          </a:solidFill>
                          <a:latin typeface="Pretendard"/>
                          <a:ea typeface="Pretendard"/>
                          <a:cs typeface="Pretendard"/>
                        </a:rPr>
                        <a:t>LoCalPFN · FT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70.24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64.62</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buNone/>
                      </a:pPr>
                      <a:r>
                        <a:rPr sz="1400" b="0" lang="en-US">
                          <a:solidFill>
                            <a:srgbClr val="21262E"/>
                          </a:solidFill>
                          <a:latin typeface="Pretendard"/>
                          <a:ea typeface="Pretendard"/>
                          <a:cs typeface="Pretendard"/>
                        </a:rPr>
                        <a:t>Shared 100,000 rows</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en-US">
                          <a:solidFill>
                            <a:srgbClr val="21262E"/>
                          </a:solidFill>
                          <a:latin typeface="Pretendard"/>
                          <a:ea typeface="Pretendard"/>
                          <a:cs typeface="Pretendard"/>
                        </a:rPr>
                        <a:t>DistPFN ·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78.39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66.82</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buNone/>
                      </a:pPr>
                      <a:r>
                        <a:rPr sz="1400" b="0" lang="en-US">
                          <a:solidFill>
                            <a:srgbClr val="21262E"/>
                          </a:solidFill>
                          <a:latin typeface="Pretendard"/>
                          <a:ea typeface="Pretendard"/>
                          <a:cs typeface="Pretendard"/>
                        </a:rPr>
                        <a:t>Shared 100,000 rows</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buNone/>
                      </a:pPr>
                      <a:r>
                        <a:rPr sz="1400" b="1" lang="en-US">
                          <a:solidFill>
                            <a:srgbClr val="21262E"/>
                          </a:solidFill>
                          <a:latin typeface="Pretendard"/>
                          <a:ea typeface="Pretendard"/>
                          <a:cs typeface="Pretendard"/>
                        </a:rPr>
                        <a:t>XGBoost · full train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77.95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en-US">
                          <a:solidFill>
                            <a:srgbClr val="21262E"/>
                          </a:solidFill>
                          <a:latin typeface="DejaVu Sans Mono"/>
                          <a:ea typeface="DejaVu Sans Mono"/>
                          <a:cs typeface="DejaVu Sans Mono"/>
                        </a:rPr>
                        <a:t>71.62</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buNone/>
                      </a:pPr>
                      <a:r>
                        <a:rPr sz="1400" b="0" lang="en-US">
                          <a:solidFill>
                            <a:srgbClr val="21262E"/>
                          </a:solidFill>
                          <a:latin typeface="Pretendard"/>
                          <a:ea typeface="Pretendard"/>
                          <a:cs typeface="Pretendard"/>
                        </a:rPr>
                        <a:t>Full training set</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buNone/>
                      </a:pPr>
                      <a:r>
                        <a:rPr sz="1400" b="1" lang="en-US">
                          <a:solidFill>
                            <a:srgbClr val="00306C"/>
                          </a:solidFill>
                          <a:latin typeface="Pretendard"/>
                          <a:ea typeface="Pretendard"/>
                          <a:cs typeface="Pretendard"/>
                        </a:rPr>
                        <a:t>Proposed model · K = 4 · S/V</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65" b="1" lang="en-US">
                          <a:solidFill>
                            <a:srgbClr val="00306C"/>
                          </a:solidFill>
                          <a:latin typeface="DejaVu Sans Mono"/>
                          <a:ea typeface="DejaVu Sans Mono"/>
                          <a:cs typeface="DejaVu Sans Mono"/>
                        </a:rPr>
                        <a:t>78.24</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65" b="1" lang="en-US">
                          <a:solidFill>
                            <a:srgbClr val="00306C"/>
                          </a:solidFill>
                          <a:latin typeface="DejaVu Sans Mono"/>
                          <a:ea typeface="DejaVu Sans Mono"/>
                          <a:cs typeface="DejaVu Sans Mono"/>
                        </a:rPr>
                        <a:t>76.17</a:t>
                      </a:r>
                    </a:p>
                  </a:txBody>
                  <a:tcPr marL="64008" marR="64008" marT="22860" marB="22860">
                    <a:solidFill>
                      <a:srgbClr val="E7F0F8"/>
                    </a:solidFill>
                  </a:tcPr>
                </a:tc>
                <a:tc>
                  <a:txBody>
                    <a:bodyPr wrap="square" lIns="64008" rIns="64008" tIns="32004" bIns="32004" anchor="ctr">
                      <a:noAutofit/>
                    </a:bodyPr>
                    <a:lstStyle/>
                    <a:p>
                      <a:pPr algn="ctr">
                        <a:lnSpc>
                          <a:spcPct val="110000"/>
                        </a:lnSpc>
                        <a:spcBef>
                          <a:spcPts val="0"/>
                        </a:spcBef>
                        <a:spcAft>
                          <a:spcPts val="0"/>
                        </a:spcAft>
                        <a:buNone/>
                        <a:buNone/>
                      </a:pPr>
                      <a:r>
                        <a:rPr sz="1400" b="1" lang="en-US">
                          <a:solidFill>
                            <a:srgbClr val="00306C"/>
                          </a:solidFill>
                          <a:latin typeface="Pretendard"/>
                          <a:ea typeface="Pretendard"/>
                          <a:cs typeface="Pretendard"/>
                        </a:rPr>
                        <a:t>Global + Expert and Route pools</a:t>
                      </a:r>
                    </a:p>
                  </a:txBody>
                  <a:tcPr marL="64008" marR="64008" marT="22860" marB="22860">
                    <a:solidFill>
                      <a:srgbClr val="E7F0F8"/>
                    </a:solidFill>
                  </a:tcPr>
                </a:tc>
              </a:tr>
            </a:tbl>
          </a:graphicData>
        </a:graphic>
      </p:graphicFrame>
      <p:sp>
        <p:nvSpPr>
          <p:cNvPr id="8" name="TextBox 7"/>
          <p:cNvSpPr txBox="1"/>
          <p:nvPr/>
        </p:nvSpPr>
        <p:spPr>
          <a:xfrm>
            <a:off x="566928" y="5148072"/>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en-US">
                <a:solidFill>
                  <a:srgbClr val="5D6773"/>
                </a:solidFill>
                <a:latin typeface="Pretendard"/>
                <a:ea typeface="Pretendard"/>
                <a:cs typeface="Pretendard"/>
              </a:rPr>
              <a:t>Proposed model: existing anchor + residual blocks · Additional labels from Expert and Route pools</a:t>
            </a:r>
          </a:p>
        </p:txBody>
      </p:sp>
      <p:sp>
        <p:nvSpPr>
          <p:cNvPr id="9" name="TextBox 8"/>
          <p:cNvSpPr txBox="1"/>
          <p:nvPr/>
        </p:nvSpPr>
        <p:spPr>
          <a:xfrm>
            <a:off x="566928" y="5577840"/>
            <a:ext cx="11055096" cy="429768"/>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1600" b="1" lang="en-US">
                <a:solidFill>
                  <a:srgbClr val="00306C"/>
                </a:solidFill>
                <a:latin typeface="Pretendard"/>
                <a:ea typeface="Pretendard"/>
                <a:cs typeface="Pretendard"/>
              </a:rPr>
              <a:t>Current static performance · Separate from the Global comparison under sequential attack introduction</a:t>
            </a:r>
          </a:p>
        </p:txBody>
      </p:sp>
      <p:sp>
        <p:nvSpPr>
          <p:cNvPr id="10" name="TextBox 9"/>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00" b="1" lang="en-US">
                <a:solidFill>
                  <a:srgbClr val="FFFFFF"/>
                </a:solidFill>
                <a:latin typeface="Pretendard"/>
                <a:ea typeface="Pretendard"/>
                <a:cs typeface="Pretendard"/>
              </a:rPr>
              <a:t>Current static performance · New attack updates evaluated separately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buNone/>
            </a:pPr>
            <a:r>
              <a:rPr sz="2800" b="1" lang="en-US">
                <a:solidFill>
                  <a:srgbClr val="00306C"/>
                </a:solidFill>
                <a:latin typeface="Pretendard"/>
                <a:ea typeface="Pretendard"/>
                <a:cs typeface="Pretendard"/>
              </a:rPr>
              <a:t>SOTA cost on cleaned data</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000" b="0" lang="en-US">
                <a:solidFill>
                  <a:srgbClr val="D6E4F3"/>
                </a:solidFill>
                <a:latin typeface="Pretendard"/>
                <a:ea typeface="Pretendard"/>
                <a:cs typeface="Pretendard"/>
              </a:rPr>
              <a:t>04 Current model</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buNone/>
            </a:pPr>
            <a:r>
              <a:rPr sz="1100" b="1" lang="en-US">
                <a:solidFill>
                  <a:srgbClr val="FFFFFF"/>
                </a:solidFill>
                <a:latin typeface="Pretendard"/>
                <a:ea typeface="Pretendard"/>
                <a:cs typeface="Pretendard"/>
              </a:rPr>
              <a:t>9</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en-US">
                <a:solidFill>
                  <a:srgbClr val="5D6773"/>
                </a:solidFill>
                <a:latin typeface="Pretendard"/>
                <a:ea typeface="Pretendard"/>
                <a:cs typeface="Pretendard"/>
              </a:rPr>
              <a:t>RTX 4090 24GB · Up to 2 concurrent jobs · Elapsed time includes resource contention</a:t>
            </a:r>
          </a:p>
        </p:txBody>
      </p:sp>
      <p:graphicFrame>
        <p:nvGraphicFramePr>
          <p:cNvPr id="7" name="Table 6"/>
          <p:cNvGraphicFramePr>
            <a:graphicFrameLocks noGrp="1"/>
          </p:cNvGraphicFramePr>
          <p:nvPr/>
        </p:nvGraphicFramePr>
        <p:xfrm>
          <a:off x="566928" y="1563624"/>
          <a:ext cx="11055096" cy="3392424"/>
        </p:xfrm>
        <a:graphic>
          <a:graphicData uri="http://schemas.openxmlformats.org/drawingml/2006/table">
            <a:tbl>
              <a:tblPr>
                <a:tableStyleId>{5C22544A-7EE6-4342-B048-85BDC9FD1C3A}</a:tableStyleId>
              </a:tblPr>
              <a:tblGrid>
                <a:gridCol w="2770632"/>
                <a:gridCol w="1408176"/>
                <a:gridCol w="1408176"/>
                <a:gridCol w="1408176"/>
                <a:gridCol w="1408176"/>
                <a:gridCol w="1325880"/>
                <a:gridCol w="1325880"/>
              </a:tblGrid>
              <a:tr h="484632">
                <a:tc>
                  <a:txBody>
                    <a:bodyPr wrap="square" lIns="64008" rIns="64008" tIns="32004" bIns="32004" anchor="ctr">
                      <a:noAutofit/>
                    </a:bodyPr>
                    <a:lstStyle/>
                    <a:p>
                      <a:pPr algn="l">
                        <a:lnSpc>
                          <a:spcPct val="110000"/>
                        </a:lnSpc>
                        <a:spcBef>
                          <a:spcPts val="0"/>
                        </a:spcBef>
                        <a:spcAft>
                          <a:spcPts val="0"/>
                        </a:spcAft>
                        <a:buNone/>
                        <a:buNone/>
                      </a:pPr>
                      <a:r>
                        <a:rPr sz="1210" b="1" lang="en-US">
                          <a:solidFill>
                            <a:srgbClr val="FFFFFF"/>
                          </a:solidFill>
                          <a:latin typeface="Pretendard"/>
                          <a:ea typeface="Pretendard"/>
                          <a:cs typeface="Pretendard"/>
                        </a:rPr>
                        <a:t>Method</a:t>
                      </a:r>
                    </a:p>
                  </a:txBody>
                  <a:tcPr marL="64008" marR="64008" marT="22860" marB="22860">
                    <a:solidFill>
                      <a:srgbClr val="00306C"/>
                    </a:solidFill>
                  </a:tcPr>
                </a:tc>
                <a:tc>
                  <a:txBody>
                    <a:bodyPr wrap="square" lIns="36576" rIns="36576" tIns="32004" bIns="32004" anchor="ctr">
                      <a:noAutofit/>
                    </a:bodyPr>
                    <a:lstStyle/>
                    <a:p>
                      <a:pPr algn="ctr">
                        <a:lnSpc>
                          <a:spcPct val="110000"/>
                        </a:lnSpc>
                        <a:spcBef>
                          <a:spcPts val="0"/>
                        </a:spcBef>
                        <a:spcAft>
                          <a:spcPts val="0"/>
                        </a:spcAft>
                        <a:buNone/>
                        <a:buNone/>
                        <a:buNone/>
                      </a:pPr>
                      <a:r>
                        <a:rPr sz="1100" b="1" lang="en-US">
                          <a:solidFill>
                            <a:srgbClr val="FFFFFF"/>
                          </a:solidFill>
                          <a:latin typeface="Pretendard"/>
                          <a:ea typeface="Pretendard"/>
                          <a:cs typeface="Pretendard"/>
                        </a:rPr>
                        <a:t>CIC fit/setup</a:t>
                      </a:r>
                    </a:p>
                    <a:p>
                      <a:pPr algn="ctr">
                        <a:lnSpc>
                          <a:spcPct val="110000"/>
                        </a:lnSpc>
                        <a:spcBef>
                          <a:spcPts val="0"/>
                        </a:spcBef>
                        <a:spcAft>
                          <a:spcPts val="0"/>
                        </a:spcAft>
                        <a:buNone/>
                      </a:pPr>
                      <a:r>
                        <a:rPr sz="1100" b="1" lang="en-US">
                          <a:solidFill>
                            <a:srgbClr val="FFFFFF"/>
                          </a:solidFill>
                          <a:latin typeface="Pretendard"/>
                          <a:ea typeface="Pretendard"/>
                          <a:cs typeface="Pretendard"/>
                        </a:rPr>
                        <a:t>s</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buNone/>
                      </a:pPr>
                      <a:r>
                        <a:rPr sz="1210" b="1" lang="en-US">
                          <a:solidFill>
                            <a:srgbClr val="FFFFFF"/>
                          </a:solidFill>
                          <a:latin typeface="Pretendard"/>
                          <a:ea typeface="Pretendard"/>
                          <a:cs typeface="Pretendard"/>
                        </a:rPr>
                        <a:t>CIC inference</a:t>
                      </a:r>
                    </a:p>
                    <a:p>
                      <a:pPr algn="ctr">
                        <a:lnSpc>
                          <a:spcPct val="110000"/>
                        </a:lnSpc>
                        <a:spcBef>
                          <a:spcPts val="0"/>
                        </a:spcBef>
                        <a:spcAft>
                          <a:spcPts val="0"/>
                        </a:spcAft>
                        <a:buNone/>
                      </a:pPr>
                      <a:r>
                        <a:rPr sz="1210" b="1" lang="en-US">
                          <a:solidFill>
                            <a:srgbClr val="FFFFFF"/>
                          </a:solidFill>
                          <a:latin typeface="Pretendard"/>
                          <a:ea typeface="Pretendard"/>
                          <a:cs typeface="Pretendard"/>
                        </a:rPr>
                        <a:t>s</a:t>
                      </a:r>
                    </a:p>
                  </a:txBody>
                  <a:tcPr marL="64008" marR="64008" marT="22860" marB="22860">
                    <a:solidFill>
                      <a:srgbClr val="00306C"/>
                    </a:solidFill>
                  </a:tcPr>
                </a:tc>
                <a:tc>
                  <a:txBody>
                    <a:bodyPr wrap="square" lIns="36576" rIns="36576" tIns="32004" bIns="32004" anchor="ctr">
                      <a:noAutofit/>
                    </a:bodyPr>
                    <a:lstStyle/>
                    <a:p>
                      <a:pPr algn="ctr">
                        <a:lnSpc>
                          <a:spcPct val="110000"/>
                        </a:lnSpc>
                        <a:spcBef>
                          <a:spcPts val="0"/>
                        </a:spcBef>
                        <a:spcAft>
                          <a:spcPts val="0"/>
                        </a:spcAft>
                        <a:buNone/>
                        <a:buNone/>
                        <a:buNone/>
                      </a:pPr>
                      <a:r>
                        <a:rPr sz="1100" b="1" lang="en-US">
                          <a:solidFill>
                            <a:srgbClr val="FFFFFF"/>
                          </a:solidFill>
                          <a:latin typeface="Pretendard"/>
                          <a:ea typeface="Pretendard"/>
                          <a:cs typeface="Pretendard"/>
                        </a:rPr>
                        <a:t>ToN fit/setup</a:t>
                      </a:r>
                    </a:p>
                    <a:p>
                      <a:pPr algn="ctr">
                        <a:lnSpc>
                          <a:spcPct val="110000"/>
                        </a:lnSpc>
                        <a:spcBef>
                          <a:spcPts val="0"/>
                        </a:spcBef>
                        <a:spcAft>
                          <a:spcPts val="0"/>
                        </a:spcAft>
                        <a:buNone/>
                      </a:pPr>
                      <a:r>
                        <a:rPr sz="1100" b="1" lang="en-US">
                          <a:solidFill>
                            <a:srgbClr val="FFFFFF"/>
                          </a:solidFill>
                          <a:latin typeface="Pretendard"/>
                          <a:ea typeface="Pretendard"/>
                          <a:cs typeface="Pretendard"/>
                        </a:rPr>
                        <a:t>s</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buNone/>
                      </a:pPr>
                      <a:r>
                        <a:rPr sz="1210" b="1" lang="en-US">
                          <a:solidFill>
                            <a:srgbClr val="FFFFFF"/>
                          </a:solidFill>
                          <a:latin typeface="Pretendard"/>
                          <a:ea typeface="Pretendard"/>
                          <a:cs typeface="Pretendard"/>
                        </a:rPr>
                        <a:t>ToN inference</a:t>
                      </a:r>
                    </a:p>
                    <a:p>
                      <a:pPr algn="ctr">
                        <a:lnSpc>
                          <a:spcPct val="110000"/>
                        </a:lnSpc>
                        <a:spcBef>
                          <a:spcPts val="0"/>
                        </a:spcBef>
                        <a:spcAft>
                          <a:spcPts val="0"/>
                        </a:spcAft>
                        <a:buNone/>
                      </a:pPr>
                      <a:r>
                        <a:rPr sz="1210" b="1" lang="en-US">
                          <a:solidFill>
                            <a:srgbClr val="FFFFFF"/>
                          </a:solidFill>
                          <a:latin typeface="Pretendard"/>
                          <a:ea typeface="Pretendard"/>
                          <a:cs typeface="Pretendard"/>
                        </a:rPr>
                        <a:t>s</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en-US">
                          <a:solidFill>
                            <a:srgbClr val="FFFFFF"/>
                          </a:solidFill>
                          <a:latin typeface="Pretendard"/>
                          <a:ea typeface="Pretendard"/>
                          <a:cs typeface="Pretendard"/>
                        </a:rPr>
                        <a:t>CIC GPU</a:t>
                      </a:r>
                    </a:p>
                    <a:p>
                      <a:pPr algn="ctr">
                        <a:lnSpc>
                          <a:spcPct val="110000"/>
                        </a:lnSpc>
                        <a:spcBef>
                          <a:spcPts val="0"/>
                        </a:spcBef>
                        <a:spcAft>
                          <a:spcPts val="0"/>
                        </a:spcAft>
                        <a:buNone/>
                      </a:pPr>
                      <a:r>
                        <a:rPr sz="1210" b="1" lang="en-US">
                          <a:solidFill>
                            <a:srgbClr val="FFFFFF"/>
                          </a:solidFill>
                          <a:latin typeface="Pretendard"/>
                          <a:ea typeface="Pretendard"/>
                          <a:cs typeface="Pretendard"/>
                        </a:rPr>
                        <a:t>GiB</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en-US">
                          <a:solidFill>
                            <a:srgbClr val="FFFFFF"/>
                          </a:solidFill>
                          <a:latin typeface="Pretendard"/>
                          <a:ea typeface="Pretendard"/>
                          <a:cs typeface="Pretendard"/>
                        </a:rPr>
                        <a:t>ToN GPU</a:t>
                      </a:r>
                    </a:p>
                    <a:p>
                      <a:pPr algn="ctr">
                        <a:lnSpc>
                          <a:spcPct val="110000"/>
                        </a:lnSpc>
                        <a:spcBef>
                          <a:spcPts val="0"/>
                        </a:spcBef>
                        <a:spcAft>
                          <a:spcPts val="0"/>
                        </a:spcAft>
                        <a:buNone/>
                      </a:pPr>
                      <a:r>
                        <a:rPr sz="1210" b="1" lang="en-US">
                          <a:solidFill>
                            <a:srgbClr val="FFFFFF"/>
                          </a:solidFill>
                          <a:latin typeface="Pretendard"/>
                          <a:ea typeface="Pretendard"/>
                          <a:cs typeface="Pretendard"/>
                        </a:rPr>
                        <a:t>GiB</a:t>
                      </a:r>
                    </a:p>
                  </a:txBody>
                  <a:tcPr marL="64008" marR="64008" marT="22860" marB="22860">
                    <a:solidFill>
                      <a:srgbClr val="00306C"/>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en-US">
                          <a:solidFill>
                            <a:srgbClr val="21262E"/>
                          </a:solidFill>
                          <a:latin typeface="Pretendard"/>
                          <a:ea typeface="Pretendard"/>
                          <a:cs typeface="Pretendard"/>
                        </a:rPr>
                        <a:t>Global TabPFN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36.4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1,099.3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36.7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821.7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2.92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2.94</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en-US">
                          <a:solidFill>
                            <a:srgbClr val="21262E"/>
                          </a:solidFill>
                          <a:latin typeface="Pretendard"/>
                          <a:ea typeface="Pretendard"/>
                          <a:cs typeface="Pretendard"/>
                        </a:rPr>
                        <a:t>XGBoost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2.3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55.4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0.55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0.53</a:t>
                      </a:r>
                    </a:p>
                  </a:txBody>
                  <a:tcPr marL="64008" marR="64008" marT="22860" marB="22860">
                    <a:solidFill>
                      <a:srgbClr val="F3F6FA"/>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en-US">
                          <a:solidFill>
                            <a:srgbClr val="21262E"/>
                          </a:solidFill>
                          <a:latin typeface="Pretendard"/>
                          <a:ea typeface="Pretendard"/>
                          <a:cs typeface="Pretendard"/>
                        </a:rPr>
                        <a:t>BoostPFN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98.5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2,308.5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97.8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1,737.6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0.89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0.89</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en-US">
                          <a:solidFill>
                            <a:srgbClr val="21262E"/>
                          </a:solidFill>
                          <a:latin typeface="Pretendard"/>
                          <a:ea typeface="Pretendard"/>
                          <a:cs typeface="Pretendard"/>
                        </a:rPr>
                        <a:t>LoCalPFN · FT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3,196.3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17,300.8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5,783.1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11,144.8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7.54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7.54</a:t>
                      </a:r>
                    </a:p>
                  </a:txBody>
                  <a:tcPr marL="64008" marR="64008" marT="22860" marB="22860">
                    <a:solidFill>
                      <a:srgbClr val="F3F6FA"/>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en-US">
                          <a:solidFill>
                            <a:srgbClr val="21262E"/>
                          </a:solidFill>
                          <a:latin typeface="Pretendard"/>
                          <a:ea typeface="Pretendard"/>
                          <a:cs typeface="Pretendard"/>
                        </a:rPr>
                        <a:t>DistPFN ·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36.4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1,099.4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36.7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821.9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2.92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2.94</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buNone/>
                      </a:pPr>
                      <a:r>
                        <a:rPr sz="1210" b="1" lang="en-US">
                          <a:solidFill>
                            <a:srgbClr val="21262E"/>
                          </a:solidFill>
                          <a:latin typeface="Pretendard"/>
                          <a:ea typeface="Pretendard"/>
                          <a:cs typeface="Pretendard"/>
                        </a:rPr>
                        <a:t>XGBoost · full train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107.8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143.2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2.20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en-US">
                          <a:solidFill>
                            <a:srgbClr val="21262E"/>
                          </a:solidFill>
                          <a:latin typeface="DejaVu Sans Mono"/>
                          <a:ea typeface="DejaVu Sans Mono"/>
                          <a:cs typeface="DejaVu Sans Mono"/>
                        </a:rPr>
                        <a:t>1.59</a:t>
                      </a:r>
                    </a:p>
                  </a:txBody>
                  <a:tcPr marL="64008" marR="64008" marT="22860" marB="22860">
                    <a:solidFill>
                      <a:srgbClr val="F3F6FA"/>
                    </a:solidFill>
                  </a:tcPr>
                </a:tc>
              </a:tr>
            </a:tbl>
          </a:graphicData>
        </a:graphic>
      </p:graphicFrame>
      <p:sp>
        <p:nvSpPr>
          <p:cNvPr id="8" name="TextBox 7"/>
          <p:cNvSpPr txBox="1"/>
          <p:nvPr/>
        </p:nvSpPr>
        <p:spPr>
          <a:xfrm>
            <a:off x="566928" y="5102352"/>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200" b="0" lang="en-US">
                <a:solidFill>
                  <a:srgbClr val="5D6773"/>
                </a:solidFill>
                <a:latin typeface="Pretendard"/>
                <a:ea typeface="Pretendard"/>
                <a:cs typeface="Pretendard"/>
              </a:rPr>
              <a:t>LoCalPFN: validation in fit, retrieval in inference · DistPFN: Global computation plus prior correction</a:t>
            </a:r>
          </a:p>
        </p:txBody>
      </p:sp>
      <p:sp>
        <p:nvSpPr>
          <p:cNvPr id="9" name="Rounded Rectangle 8"/>
          <p:cNvSpPr/>
          <p:nvPr/>
        </p:nvSpPr>
        <p:spPr>
          <a:xfrm>
            <a:off x="566928" y="5577840"/>
            <a:ext cx="11055096" cy="521207"/>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660136"/>
            <a:ext cx="10725912" cy="338328"/>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250" b="1" lang="en-US">
                <a:solidFill>
                  <a:srgbClr val="00306C"/>
                </a:solidFill>
                <a:latin typeface="Pretendard"/>
                <a:ea typeface="Pretendard"/>
                <a:cs typeface="Pretendard"/>
              </a:rPr>
              <a:t>Current K = 4 model · Policy call rate: CIC2018 0.00%, ToN 100.00% · Conditional runtime to be measured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2800" b="1" lang="en-US">
                <a:solidFill>
                  <a:srgbClr val="00306C"/>
                </a:solidFill>
                <a:latin typeface="Pretendard"/>
                <a:ea typeface="Pretendard"/>
                <a:cs typeface="Pretendard"/>
              </a:rPr>
              <a:t>Next steps · An IDS that incorporates new attacks</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000" b="0" lang="en-US">
                <a:solidFill>
                  <a:srgbClr val="D6E4F3"/>
                </a:solidFill>
                <a:latin typeface="Pretendard"/>
                <a:ea typeface="Pretendard"/>
                <a:cs typeface="Pretendard"/>
              </a:rPr>
              <a:t>05 Next steps</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en-US">
                <a:solidFill>
                  <a:srgbClr val="FFFFFF"/>
                </a:solidFill>
                <a:latin typeface="Pretendard"/>
                <a:ea typeface="Pretendard"/>
                <a:cs typeface="Pretendard"/>
              </a:rPr>
              <a:t>10</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1300" b="0" lang="en-US">
                <a:solidFill>
                  <a:srgbClr val="5D6773"/>
                </a:solidFill>
                <a:latin typeface="Pretendard"/>
                <a:ea typeface="Pretendard"/>
                <a:cs typeface="Pretendard"/>
              </a:rPr>
              <a:t>Gains on some new CIC2018 attacks · Reduce ToN false alarms and computational cost on both datasets</a:t>
            </a:r>
          </a:p>
        </p:txBody>
      </p:sp>
      <p:sp>
        <p:nvSpPr>
          <p:cNvPr id="7" name="Rounded Rectangle 6"/>
          <p:cNvSpPr/>
          <p:nvPr/>
        </p:nvSpPr>
        <p:spPr>
          <a:xfrm>
            <a:off x="566928"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700" b="1" lang="en-US">
                <a:solidFill>
                  <a:srgbClr val="00306C"/>
                </a:solidFill>
                <a:latin typeface="Pretendard"/>
                <a:ea typeface="Pretendard"/>
                <a:cs typeface="Pretendard"/>
              </a:rPr>
              <a:t>New attack adaptation</a:t>
            </a:r>
          </a:p>
        </p:txBody>
      </p:sp>
      <p:sp>
        <p:nvSpPr>
          <p:cNvPr id="9" name="TextBox 8"/>
          <p:cNvSpPr txBox="1"/>
          <p:nvPr/>
        </p:nvSpPr>
        <p:spPr>
          <a:xfrm>
            <a:off x="704088"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500" b="0" lang="en-US">
                <a:solidFill>
                  <a:srgbClr val="21262E"/>
                </a:solidFill>
                <a:latin typeface="Pretendard"/>
                <a:ea typeface="Pretendard"/>
                <a:cs typeface="Pretendard"/>
              </a:rPr>
              <a:t>Same newly labeled examples</a:t>
            </a:r>
          </a:p>
          <a:p>
            <a:pPr algn="l">
              <a:lnSpc>
                <a:spcPct val="110000"/>
              </a:lnSpc>
              <a:spcBef>
                <a:spcPts val="0"/>
              </a:spcBef>
              <a:spcAft>
                <a:spcPts val="0"/>
              </a:spcAft>
              <a:buNone/>
            </a:pPr>
            <a:r>
              <a:rPr sz="1500" b="0" lang="en-US">
                <a:solidFill>
                  <a:srgbClr val="21262E"/>
                </a:solidFill>
                <a:latin typeface="Pretendard"/>
                <a:ea typeface="Pretendard"/>
                <a:cs typeface="Pretendard"/>
              </a:rPr>
              <a:t>Per-attack performance after updates</a:t>
            </a:r>
          </a:p>
          <a:p>
            <a:pPr algn="l">
              <a:lnSpc>
                <a:spcPct val="110000"/>
              </a:lnSpc>
              <a:spcBef>
                <a:spcPts val="0"/>
              </a:spcBef>
              <a:spcAft>
                <a:spcPts val="0"/>
              </a:spcAft>
              <a:buNone/>
            </a:pPr>
            <a:r>
              <a:rPr sz="1500" b="0" lang="en-US">
                <a:solidFill>
                  <a:srgbClr val="21262E"/>
                </a:solidFill>
                <a:latin typeface="Pretendard"/>
                <a:ea typeface="Pretendard"/>
                <a:cs typeface="Pretendard"/>
              </a:rPr>
              <a:t>Changes in rare-class detection</a:t>
            </a:r>
          </a:p>
        </p:txBody>
      </p:sp>
      <p:sp>
        <p:nvSpPr>
          <p:cNvPr id="10" name="Rounded Rectangle 9"/>
          <p:cNvSpPr/>
          <p:nvPr/>
        </p:nvSpPr>
        <p:spPr>
          <a:xfrm>
            <a:off x="4379976"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700" b="1" lang="en-US">
                <a:solidFill>
                  <a:srgbClr val="00306C"/>
                </a:solidFill>
                <a:latin typeface="Pretendard"/>
                <a:ea typeface="Pretendard"/>
                <a:cs typeface="Pretendard"/>
              </a:rPr>
              <a:t>Preserve existing detection</a:t>
            </a:r>
          </a:p>
        </p:txBody>
      </p:sp>
      <p:sp>
        <p:nvSpPr>
          <p:cNvPr id="12" name="TextBox 11"/>
          <p:cNvSpPr txBox="1"/>
          <p:nvPr/>
        </p:nvSpPr>
        <p:spPr>
          <a:xfrm>
            <a:off x="4517136"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500" b="0" lang="en-US">
                <a:solidFill>
                  <a:srgbClr val="21262E"/>
                </a:solidFill>
                <a:latin typeface="Pretendard"/>
                <a:ea typeface="Pretendard"/>
                <a:cs typeface="Pretendard"/>
              </a:rPr>
              <a:t>Same existing test samples</a:t>
            </a:r>
          </a:p>
          <a:p>
            <a:pPr algn="l">
              <a:lnSpc>
                <a:spcPct val="110000"/>
              </a:lnSpc>
              <a:spcBef>
                <a:spcPts val="0"/>
              </a:spcBef>
              <a:spcAft>
                <a:spcPts val="0"/>
              </a:spcAft>
              <a:buNone/>
            </a:pPr>
            <a:r>
              <a:rPr sz="1500" b="0" lang="en-US">
                <a:solidFill>
                  <a:srgbClr val="21262E"/>
                </a:solidFill>
                <a:latin typeface="Pretendard"/>
                <a:ea typeface="Pretendard"/>
                <a:cs typeface="Pretendard"/>
              </a:rPr>
              <a:t>Corrections, errors and benign FPR</a:t>
            </a:r>
          </a:p>
          <a:p>
            <a:pPr algn="l">
              <a:lnSpc>
                <a:spcPct val="110000"/>
              </a:lnSpc>
              <a:spcBef>
                <a:spcPts val="0"/>
              </a:spcBef>
              <a:spcAft>
                <a:spcPts val="0"/>
              </a:spcAft>
              <a:buNone/>
            </a:pPr>
            <a:r>
              <a:rPr sz="1500" b="0" lang="en-US">
                <a:solidFill>
                  <a:srgbClr val="21262E"/>
                </a:solidFill>
                <a:latin typeface="Pretendard"/>
                <a:ea typeface="Pretendard"/>
                <a:cs typeface="Pretendard"/>
              </a:rPr>
              <a:t>Effect of context composition</a:t>
            </a:r>
          </a:p>
        </p:txBody>
      </p:sp>
      <p:sp>
        <p:nvSpPr>
          <p:cNvPr id="13" name="Rounded Rectangle 12"/>
          <p:cNvSpPr/>
          <p:nvPr/>
        </p:nvSpPr>
        <p:spPr>
          <a:xfrm>
            <a:off x="8193024"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4"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700" b="1" lang="en-US">
                <a:solidFill>
                  <a:srgbClr val="00306C"/>
                </a:solidFill>
                <a:latin typeface="Pretendard"/>
                <a:ea typeface="Pretendard"/>
                <a:cs typeface="Pretendard"/>
              </a:rPr>
              <a:t>Operational cost</a:t>
            </a:r>
          </a:p>
        </p:txBody>
      </p:sp>
      <p:sp>
        <p:nvSpPr>
          <p:cNvPr id="15" name="TextBox 14"/>
          <p:cNvSpPr txBox="1"/>
          <p:nvPr/>
        </p:nvSpPr>
        <p:spPr>
          <a:xfrm>
            <a:off x="8330184"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500" b="0" lang="en-US">
                <a:solidFill>
                  <a:srgbClr val="21262E"/>
                </a:solidFill>
                <a:latin typeface="Pretendard"/>
                <a:ea typeface="Pretendard"/>
                <a:cs typeface="Pretendard"/>
              </a:rPr>
              <a:t>Update cost when examples arrive</a:t>
            </a:r>
          </a:p>
          <a:p>
            <a:pPr algn="l">
              <a:lnSpc>
                <a:spcPct val="110000"/>
              </a:lnSpc>
              <a:spcBef>
                <a:spcPts val="0"/>
              </a:spcBef>
              <a:spcAft>
                <a:spcPts val="0"/>
              </a:spcAft>
              <a:buNone/>
            </a:pPr>
            <a:r>
              <a:rPr sz="1500" b="0" lang="en-US">
                <a:solidFill>
                  <a:srgbClr val="21262E"/>
                </a:solidFill>
                <a:latin typeface="Pretendard"/>
                <a:ea typeface="Pretendard"/>
                <a:cs typeface="Pretendard"/>
              </a:rPr>
              <a:t>Inference cost until the next update</a:t>
            </a:r>
          </a:p>
          <a:p>
            <a:pPr algn="l">
              <a:lnSpc>
                <a:spcPct val="110000"/>
              </a:lnSpc>
              <a:spcBef>
                <a:spcPts val="0"/>
              </a:spcBef>
              <a:spcAft>
                <a:spcPts val="0"/>
              </a:spcAft>
              <a:buNone/>
            </a:pPr>
            <a:r>
              <a:rPr sz="1500" b="0" lang="en-US">
                <a:solidFill>
                  <a:srgbClr val="21262E"/>
                </a:solidFill>
                <a:latin typeface="Pretendard"/>
                <a:ea typeface="Pretendard"/>
                <a:cs typeface="Pretendard"/>
              </a:rPr>
              <a:t>Throughput and memory</a:t>
            </a:r>
          </a:p>
        </p:txBody>
      </p:sp>
      <p:sp>
        <p:nvSpPr>
          <p:cNvPr id="16" name="Rounded Rectangle 15"/>
          <p:cNvSpPr/>
          <p:nvPr/>
        </p:nvSpPr>
        <p:spPr>
          <a:xfrm>
            <a:off x="566928" y="4041648"/>
            <a:ext cx="11055096" cy="950976"/>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206240"/>
            <a:ext cx="10616184" cy="68580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000" b="1" lang="en-US">
                <a:solidFill>
                  <a:srgbClr val="00306C"/>
                </a:solidFill>
                <a:latin typeface="Pretendard"/>
                <a:ea typeface="Pretendard"/>
                <a:cs typeface="Pretendard"/>
              </a:rPr>
              <a:t>Research criterion: how well new attacks are incorporated,</a:t>
            </a:r>
          </a:p>
          <a:p>
            <a:pPr algn="l">
              <a:lnSpc>
                <a:spcPct val="110000"/>
              </a:lnSpc>
              <a:spcBef>
                <a:spcPts val="0"/>
              </a:spcBef>
              <a:spcAft>
                <a:spcPts val="0"/>
              </a:spcAft>
              <a:buNone/>
            </a:pPr>
            <a:r>
              <a:rPr sz="2000" b="1" lang="en-US">
                <a:solidFill>
                  <a:srgbClr val="00306C"/>
                </a:solidFill>
                <a:latin typeface="Pretendard"/>
                <a:ea typeface="Pretendard"/>
                <a:cs typeface="Pretendard"/>
              </a:rPr>
              <a:t>and at what cost existing detection performance is preserved</a:t>
            </a:r>
          </a:p>
        </p:txBody>
      </p:sp>
      <p:sp>
        <p:nvSpPr>
          <p:cNvPr id="18" name="TextBox 17"/>
          <p:cNvSpPr txBox="1"/>
          <p:nvPr/>
        </p:nvSpPr>
        <p:spPr>
          <a:xfrm>
            <a:off x="566928" y="5376672"/>
            <a:ext cx="11055096" cy="365760"/>
          </a:xfrm>
          <a:prstGeom prst="rect">
            <a:avLst/>
          </a:prstGeom>
          <a:noFill/>
        </p:spPr>
        <p:txBody>
          <a:bodyPr wrap="square" lIns="0" rIns="0" tIns="32004" bIns="32004" anchor="ctr">
            <a:noAutofit/>
          </a:bodyPr>
          <a:lstStyle/>
          <a:p>
            <a:pPr algn="l">
              <a:lnSpc>
                <a:spcPct val="110000"/>
              </a:lnSpc>
              <a:spcBef>
                <a:spcPts val="0"/>
              </a:spcBef>
              <a:spcAft>
                <a:spcPts val="0"/>
              </a:spcAft>
              <a:buNone/>
              <a:buNone/>
              <a:buNone/>
            </a:pPr>
            <a:r>
              <a:rPr sz="1600" b="1" lang="en-US">
                <a:solidFill>
                  <a:srgbClr val="007BC6"/>
                </a:solidFill>
                <a:latin typeface="Pretendard"/>
                <a:ea typeface="Pretendard"/>
                <a:cs typeface="Pretendard"/>
              </a:rPr>
              <a:t>Vary benign examples and context size → Compare false alarms and cost → Test expert/S/V updates</a:t>
            </a:r>
          </a:p>
        </p:txBody>
      </p:sp>
      <p:sp>
        <p:nvSpPr>
          <p:cNvPr id="19" name="TextBox 18"/>
          <p:cNvSpPr txBox="1"/>
          <p:nvPr/>
        </p:nvSpPr>
        <p:spPr>
          <a:xfrm>
            <a:off x="566928" y="5870448"/>
            <a:ext cx="11055096" cy="237744"/>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en-US">
                <a:solidFill>
                  <a:srgbClr val="5D6773"/>
                </a:solidFill>
                <a:latin typeface="Pretendard"/>
                <a:ea typeface="Pretendard"/>
                <a:cs typeface="Pretendard"/>
              </a:rPr>
              <a:t>F1 is one measure of system utility · Unknown-attack recognition is a later OOD extension</a:t>
            </a:r>
          </a:p>
        </p:txBody>
      </p:sp>
    </p:spTree>
  </p:cSld>
  <p:clrMapOvr>
    <a:masterClrMapping/>
  </p:clrMapOvr>
</p:sld>
</file>

<file path=ppt/theme/theme1.xml><?xml version="1.0" encoding="utf-8"?>
<a:theme xmlns:a="http://schemas.openxmlformats.org/drawingml/2006/main" name="Office Theme">
  <a:themeElements>
    <a:clrScheme name="KENTECH">
      <a:dk1>
        <a:srgbClr val="21262E"/>
      </a:dk1>
      <a:lt1>
        <a:srgbClr val="FFFFFF"/>
      </a:lt1>
      <a:dk2>
        <a:srgbClr val="00306C"/>
      </a:dk2>
      <a:lt2>
        <a:srgbClr val="F3F6FA"/>
      </a:lt2>
      <a:accent1>
        <a:srgbClr val="007BC6"/>
      </a:accent1>
      <a:accent2>
        <a:srgbClr val="00B8EE"/>
      </a:accent2>
      <a:accent3>
        <a:srgbClr val="00306C"/>
      </a:accent3>
      <a:accent4>
        <a:srgbClr val="4DA3DC"/>
      </a:accent4>
      <a:accent5>
        <a:srgbClr val="5D6773"/>
      </a:accent5>
      <a:accent6>
        <a:srgbClr val="9AA3AE"/>
      </a:accent6>
      <a:hlink>
        <a:srgbClr val="007BC6"/>
      </a:hlink>
      <a:folHlink>
        <a:srgbClr val="5D6773"/>
      </a:folHlink>
    </a:clrScheme>
    <a:fontScheme name="KENTECH">
      <a:majorFont>
        <a:latin typeface="Pretendard"/>
        <a:ea typeface="Pretendard"/>
        <a:cs typeface=""/>
        <a:font script="Hang" typeface="Pretendard"/>
        <a:font script="Jpan" typeface="Yu Gothic"/>
        <a:font script="Hans" typeface="DengXian"/>
        <a:font script="Hant" typeface="新細明體"/>
      </a:majorFont>
      <a:minorFont>
        <a:latin typeface="Pretendard"/>
        <a:ea typeface="Pretendard"/>
        <a:cs typeface=""/>
        <a:font script="Hang" typeface="Pretendard"/>
        <a:font script="Jpan" typeface="Yu Gothic"/>
        <a:font script="Hans" typeface="DengXian"/>
        <a:font script="Hant" typeface="新細明體"/>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TotalTime>
  <Words>1251</Words>
  <Application>Microsoft Office PowerPoint</Application>
  <PresentationFormat>와이드스크린</PresentationFormat>
  <Paragraphs>283</Paragraphs>
  <Slides>8</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Pretendard</vt:lpstr>
      <vt:lpstr>Arial</vt:lpstr>
      <vt:lpstr>Office Theme</vt:lpstr>
      <vt:lpstr>Architecture</vt:lpstr>
      <vt:lpstr>TabPFN · 학습 데이터를 입력으로 읽는 표 형식 foundation model</vt:lpstr>
      <vt:lpstr>TabPFN 적합성 · 같은 컨텍스트 행으로 학습한 XGBoost와 비교</vt:lpstr>
      <vt:lpstr>SOTA 선정</vt:lpstr>
      <vt:lpstr>BoostPFN</vt:lpstr>
      <vt:lpstr>실험 예정</vt:lpstr>
      <vt:lpstr>Oracle과 실험결과</vt:lpstr>
      <vt:lpstr>100k 컨텍스트, benign 0.75, 공격 균등 · 클래스별 F1 (seed 42~45)</vt:lpstr>
    </vt:vector>
  </TitlesOfParts>
  <Company>Korea Institute of Energy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TabPFN for operational intrusion detection</dc:title>
  <dc:subject>New attack adaptation, data review, static performance and cost</dc:subject>
  <dc:creator>Seunghyun Yoon</dc:creator>
  <cp:lastModifiedBy>박민서</cp:lastModifiedBy>
  <cp:revision>4</cp:revision>
  <dcterms:created xsi:type="dcterms:W3CDTF">2026-08-09T04:01:58Z</dcterms:created>
  <dcterms:modified xsi:type="dcterms:W3CDTF">2026-09-03T15:12:22Z</dcterms:modified>
  <dc:description>English translation of the latest 10-slide Korean deck, including completed CIC2018 and ToN EXP70 results</dc:description>
</cp:coreProperties>
</file>