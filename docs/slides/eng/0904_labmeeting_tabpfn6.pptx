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8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107" y="2011680"/>
            <a:ext cx="4408588" cy="4846320"/>
          </a:xfrm>
          <a:prstGeom prst="rect">
            <a:avLst/>
          </a:prstGeom>
        </p:spPr>
      </p:pic>
      <p:pic>
        <p:nvPicPr>
          <p:cNvPr id="3" name="Image 1" descr="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74520" cy="442621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1828800"/>
            <a:ext cx="685800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제목을 입력하세요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03320"/>
            <a:ext cx="6583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부제목 · 행사명 · 날짜</a:t>
            </a:r>
            <a:endParaRPr lang="en-US" sz="15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685800" y="4709160"/>
            <a:ext cx="62179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정보를 입력하세요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746" y="1828800"/>
            <a:ext cx="4574950" cy="502920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3017520"/>
            <a:ext cx="8778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제목을 입력하세요</a:t>
            </a:r>
            <a:endParaRPr lang="en-US" sz="36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설명 (선택)</a:t>
            </a:r>
            <a:endParaRPr lang="en-US" sz="14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11055096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내용을 입력하세요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내용을 입력하세요</a:t>
            </a:r>
            <a:endParaRPr lang="en-US" sz="145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208776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내용을 입력하세요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203" y="1554480"/>
            <a:ext cx="4824492" cy="530352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28800" cy="43182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49040"/>
            <a:ext cx="68580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 정보를 입력하세요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solidFill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96112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150" b="0">
                <a:solidFill>
                  <a:srgbClr val="5D6773"/>
                </a:solidFill>
              </a:rPr>
              <a:t>RACE-PFN · offline construction (top) and online inference (bottom); dashed boxes are learned gates, currently closed at the calibration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950" b="1">
                <a:solidFill>
                  <a:srgbClr val="5D6773"/>
                </a:solidFill>
              </a:rPr>
              <a:t>OFFLINE · built once, then frozen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00306C"/>
                </a:solidFill>
              </a:rPr>
              <a:t>Global TFM  F(C0, ·)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C0 = benign 0.75 · attacks equal · 100k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7208" y="164592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00306C"/>
                </a:solidFill>
              </a:rPr>
              <a:t>Failure signature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position φ(16d) · direction y − p · severity, held-out errors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38928" y="164592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00306C"/>
                </a:solidFill>
              </a:rPr>
              <a:t>K failure regimes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k-means in signature space, disjoint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7768" y="164592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00306C"/>
                </a:solidFill>
              </a:rPr>
              <a:t>Expert bank Cₖ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balanced anchor ∪ regime rows (≤186k)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1645920"/>
            <a:ext cx="2185416" cy="9144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00306C"/>
                </a:solidFill>
              </a:rPr>
              <a:t>Upper bound (oracle)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label-picked best per row: macro 0.83~0.87 &gt; XGB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23744" y="2002536"/>
            <a:ext cx="246888" cy="201168"/>
          </a:xfrm>
          <a:prstGeom prst="rightArrow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75688" y="1421892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850" b="0">
                <a:solidFill>
                  <a:srgbClr val="5D6773"/>
                </a:solidFill>
              </a:rPr>
              <a:t>held-out errors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55464" y="2002536"/>
            <a:ext cx="246888" cy="201168"/>
          </a:xfrm>
          <a:prstGeom prst="rightArrow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07407" y="1421892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850" b="0">
                <a:solidFill>
                  <a:srgbClr val="5D6773"/>
                </a:solidFill>
              </a:rPr>
              <a:t>cluster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04304" y="2002536"/>
            <a:ext cx="246888" cy="201168"/>
          </a:xfrm>
          <a:prstGeom prst="rightArrow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6248" y="1421892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850" b="0">
                <a:solidFill>
                  <a:srgbClr val="5D6773"/>
                </a:solidFill>
              </a:rPr>
              <a:t>to contexts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153144" y="2002536"/>
            <a:ext cx="246888" cy="201168"/>
          </a:xfrm>
          <a:prstGeom prst="rightArrow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05088" y="1421892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850" b="0">
                <a:solidFill>
                  <a:srgbClr val="5D6773"/>
                </a:solidFill>
              </a:rPr>
              <a:t>score with labels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01752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950" b="1">
                <a:solidFill>
                  <a:srgbClr val="5D6773"/>
                </a:solidFill>
              </a:rPr>
              <a:t>ONLINE · per input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310128"/>
            <a:ext cx="1783080" cy="914400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00306C"/>
                </a:solidFill>
              </a:rPr>
              <a:t>1  Global prediction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every input, once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70048" y="3310128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5875">
            <a:solidFill>
              <a:srgbClr val="9AA3A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5D6773"/>
                </a:solidFill>
              </a:rPr>
              <a:t>2  Proposal gate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P(gain &gt; 0) &gt; τ_pre · learned scorer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93208" y="3310128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00306C"/>
                </a:solidFill>
              </a:rPr>
              <a:t>3  Top-1 expert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one call, predict with context Cₖ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33488" y="3310128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5875">
            <a:solidFill>
              <a:srgbClr val="9AA3A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5D6773"/>
                </a:solidFill>
              </a:rPr>
              <a:t>4  Verification gate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gain lower bound &gt; τ_post · learned verifier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56648" y="3310128"/>
            <a:ext cx="1865376" cy="914400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00306C"/>
                </a:solidFill>
              </a:rPr>
              <a:t>Swap / keep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"no" at either gate keeps the global prediction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386584" y="3666744"/>
            <a:ext cx="246888" cy="201168"/>
          </a:xfrm>
          <a:prstGeom prst="rightArrow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4809744" y="3666744"/>
            <a:ext cx="246888" cy="201168"/>
          </a:xfrm>
          <a:prstGeom prst="rightArrow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7050024" y="3666744"/>
            <a:ext cx="246888" cy="201168"/>
          </a:xfrm>
          <a:prstGeom prst="rightArrow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ight Arrow 26"/>
          <p:cNvSpPr/>
          <p:nvPr/>
        </p:nvSpPr>
        <p:spPr>
          <a:xfrm>
            <a:off x="9473184" y="3666744"/>
            <a:ext cx="246888" cy="201168"/>
          </a:xfrm>
          <a:prstGeom prst="rightArrow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4526280"/>
            <a:ext cx="1105509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000" b="0">
                <a:solidFill>
                  <a:srgbClr val="5D6773"/>
                </a:solidFill>
              </a:rPr>
              <a:t>Only the context row sets (C0, Cₖ) and the two gate models are learned; backbone θ is never updated · experts emerge from the global model's failure signatures, not from attack names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18288" rIns="228600" bIns="18288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356848" y="6355080"/>
            <a:ext cx="54864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>
          <a:xfrm>
            <a:off x="566928" y="274320"/>
            <a:ext cx="10842424" cy="594360"/>
          </a:xfrm>
        </p:spPr>
        <p:txBody>
          <a:bodyPr/>
          <a:lstStyle/>
          <a:p>
            <a:r>
              <a:rPr dirty="0" err="1">
                <a:solidFill/>
              </a:rPr>
              <a:t>TabPFN · a tabular foundation model that reads training data as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96112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150" b="0">
                <a:solidFill>
                  <a:srgbClr val="5D6773"/>
                </a:solidFill>
              </a:rPr>
              <a:t>Hollmann et al., </a:t>
            </a:r>
            <a:r>
              <a:rPr sz="1150" b="1">
                <a:solidFill>
                  <a:srgbClr val="5D6773"/>
                </a:solidFill>
              </a:rPr>
              <a:t>Accurate predictions on small data with a tabular foundation model</a:t>
            </a:r>
            <a:r>
              <a:rPr sz="1150" b="0">
                <a:solidFill>
                  <a:srgbClr val="5D6773"/>
                </a:solidFill>
              </a:rPr>
              <a:t>, Nature 2025 · 1st generation at ICLR 2023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5989320" cy="4160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1248" y="1783080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00306C"/>
                </a:solidFill>
              </a:rPr>
              <a:t>Context</a:t>
            </a:r>
          </a:p>
          <a:p>
            <a:pPr algn="ctr">
              <a:spcBef>
                <a:spcPts val="0"/>
              </a:spcBef>
              <a:buNone/>
            </a:pPr>
            <a:r>
              <a:rPr sz="1000" b="0">
                <a:solidFill>
                  <a:srgbClr val="21262E"/>
                </a:solidFill>
              </a:rPr>
              <a:t>(x₁,y₁) … (xₙ,yₙ)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n labeled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3429000"/>
            <a:ext cx="1783080" cy="685800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00306C"/>
                </a:solidFill>
              </a:rPr>
              <a:t>query row x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15768" y="2377440"/>
            <a:ext cx="502920" cy="201168"/>
          </a:xfrm>
          <a:prstGeom prst="rightArrow">
            <a:avLst/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2715768" y="3675887"/>
            <a:ext cx="502920" cy="201168"/>
          </a:xfrm>
          <a:prstGeom prst="rightArrow">
            <a:avLst/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10128" y="2148840"/>
            <a:ext cx="1783080" cy="1965960"/>
          </a:xfrm>
          <a:prstGeom prst="roundRect">
            <a:avLst>
              <a:gd name="adj" fmla="val 8000"/>
            </a:avLst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50" b="1">
                <a:solidFill>
                  <a:srgbClr val="FFFFFF"/>
                </a:solidFill>
              </a:rPr>
              <a:t>Transformer</a:t>
            </a:r>
          </a:p>
          <a:p>
            <a:pPr algn="ctr">
              <a:spcBef>
                <a:spcPts val="0"/>
              </a:spcBef>
              <a:buNone/>
            </a:pPr>
            <a:r>
              <a:rPr sz="1150" b="1">
                <a:solidFill>
                  <a:srgbClr val="00B8EE"/>
                </a:solidFill>
              </a:rPr>
              <a:t>θ frozen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D6E4F3"/>
                </a:solidFill>
              </a:rPr>
              <a:t>pre-trained once on synthetic data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184648" y="3026664"/>
            <a:ext cx="502920" cy="201168"/>
          </a:xfrm>
          <a:prstGeom prst="rightArrow">
            <a:avLst/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779008" y="2560320"/>
            <a:ext cx="658368" cy="1143000"/>
          </a:xfrm>
          <a:prstGeom prst="roundRect">
            <a:avLst>
              <a:gd name="adj" fmla="val 8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050" b="1">
                <a:solidFill>
                  <a:srgbClr val="00306C"/>
                </a:solidFill>
              </a:rPr>
              <a:t>p(y|x)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343400"/>
            <a:ext cx="544068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000" b="1">
                <a:solidFill>
                  <a:srgbClr val="21262E"/>
                </a:solidFill>
              </a:rPr>
              <a:t>No gradient step · no fitting · one forward pass predicts the whole test set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Swapping context rows gives a different classifier with the same θ; specialization = row swap</a:t>
            </a:r>
          </a:p>
        </p:txBody>
      </p:sp>
      <p:sp>
        <p:nvSpPr>
          <p:cNvPr id="13" name="Oval 12"/>
          <p:cNvSpPr/>
          <p:nvPr/>
        </p:nvSpPr>
        <p:spPr>
          <a:xfrm>
            <a:off x="6784848" y="1554480"/>
            <a:ext cx="329184" cy="329184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463040"/>
            <a:ext cx="4352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150" b="1">
                <a:solidFill>
                  <a:srgbClr val="00306C"/>
                </a:solidFill>
              </a:rPr>
              <a:t>1  Pre-training</a:t>
            </a:r>
          </a:p>
          <a:p>
            <a:pPr algn="l">
              <a:spcBef>
                <a:spcPts val="0"/>
              </a:spcBef>
              <a:buNone/>
            </a:pPr>
            <a:r>
              <a:rPr sz="1000" b="0">
                <a:solidFill>
                  <a:srgbClr val="5D6773"/>
                </a:solidFill>
              </a:rPr>
              <a:t>Transformer trained once on ~100M synthetic datasets drawn from a structural causal model (SCM) prior; no real data used</a:t>
            </a:r>
          </a:p>
        </p:txBody>
      </p:sp>
      <p:sp>
        <p:nvSpPr>
          <p:cNvPr id="15" name="Oval 14"/>
          <p:cNvSpPr/>
          <p:nvPr/>
        </p:nvSpPr>
        <p:spPr>
          <a:xfrm>
            <a:off x="6784848" y="2560320"/>
            <a:ext cx="329184" cy="329184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468880"/>
            <a:ext cx="4352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150" b="1">
                <a:solidFill>
                  <a:srgbClr val="00306C"/>
                </a:solidFill>
              </a:rPr>
              <a:t>2  In-context inference</a:t>
            </a:r>
          </a:p>
          <a:p>
            <a:pPr algn="l">
              <a:spcBef>
                <a:spcPts val="0"/>
              </a:spcBef>
              <a:buNone/>
            </a:pPr>
            <a:r>
              <a:rPr sz="1000" b="0">
                <a:solidFill>
                  <a:srgbClr val="5D6773"/>
                </a:solidFill>
              </a:rPr>
              <a:t>Feeds (sample, label) pairs as context and outputs the query row's posterior in one forward pass, approximating Bayesian inference</a:t>
            </a:r>
          </a:p>
        </p:txBody>
      </p:sp>
      <p:sp>
        <p:nvSpPr>
          <p:cNvPr id="17" name="Oval 16"/>
          <p:cNvSpPr/>
          <p:nvPr/>
        </p:nvSpPr>
        <p:spPr>
          <a:xfrm>
            <a:off x="6784848" y="3566160"/>
            <a:ext cx="329184" cy="329184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474720"/>
            <a:ext cx="4352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150" b="1">
                <a:solidFill>
                  <a:srgbClr val="00306C"/>
                </a:solidFill>
              </a:rPr>
              <a:t>3  Scale by generation</a:t>
            </a:r>
          </a:p>
          <a:p>
            <a:pPr algn="l">
              <a:spcBef>
                <a:spcPts val="0"/>
              </a:spcBef>
              <a:buNone/>
            </a:pPr>
            <a:r>
              <a:rPr sz="1000" b="0">
                <a:solidFill>
                  <a:srgbClr val="5D6773"/>
                </a:solidFill>
              </a:rPr>
              <a:t>v1 1K rows · v2 10K rows × 500 features · v2.5 50K × 2K · v3 (2026.05) 1M rows; this work uses the v3 classification checkpoint</a:t>
            </a:r>
          </a:p>
        </p:txBody>
      </p:sp>
      <p:sp>
        <p:nvSpPr>
          <p:cNvPr id="19" name="Oval 18"/>
          <p:cNvSpPr/>
          <p:nvPr/>
        </p:nvSpPr>
        <p:spPr>
          <a:xfrm>
            <a:off x="6784848" y="4572000"/>
            <a:ext cx="329184" cy="329184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4480560"/>
            <a:ext cx="4352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150" b="1">
                <a:solidFill>
                  <a:srgbClr val="00306C"/>
                </a:solidFill>
              </a:rPr>
              <a:t>4  Role in this work</a:t>
            </a:r>
          </a:p>
          <a:p>
            <a:pPr algn="l">
              <a:spcBef>
                <a:spcPts val="0"/>
              </a:spcBef>
              <a:buNone/>
            </a:pPr>
            <a:r>
              <a:rPr sz="1000" b="0">
                <a:solidFill>
                  <a:srgbClr val="5D6773"/>
                </a:solidFill>
              </a:rPr>
              <a:t>Context of 100k~1M rows is the experimental variable; inference on 4.02M rows takes ~100 s on an RTX 4090 with a 100k context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18288" rIns="228600" bIns="18288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356848" y="6355080"/>
            <a:ext cx="54864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solidFill/>
              </a:rPr>
              <a:t>Is TabPFN a fit · comparison with XGBoost trained on the same context rows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512060"/>
              </p:ext>
            </p:extLst>
          </p:nvPr>
        </p:nvGraphicFramePr>
        <p:xfrm>
          <a:off x="566928" y="1325880"/>
          <a:ext cx="11055096" cy="22128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53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Context composition (= XGBoost training rows)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benign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6 attack classes (per class)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web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XGBoost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TabPFN-v3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Natural ratio · 250k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217,676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natural (ddos 16,459 · inf 2,338)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32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0.7561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b="0" dirty="0">
                          <a:solidFill>
                            <a:srgbClr val="21262E"/>
                          </a:solidFill>
                        </a:rPr>
                        <a:t>0.6515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benign 0.75 · natural split · 100k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75,000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natural (ddos 12,730 · inf 1,809)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24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0.7572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dirty="0">
                          <a:solidFill>
                            <a:srgbClr val="21262E"/>
                          </a:solidFill>
                        </a:rPr>
                        <a:t>0.7491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benign 0.75 · equal · 100k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75,000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4,848 each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761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0.7525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0.7562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benign 0.75 · equal · 250k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187,500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12,348 each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761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0.7474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0.7513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benign 0.75 · natural split · 1M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750,000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natural (ddos 127,298 · inf 18,085)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244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0.7523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0.7430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Full training pool · 12.07M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10,508,775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all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1,522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0.7548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dirty="0">
                          <a:solidFill>
                            <a:srgbClr val="21262E"/>
                          </a:solidFill>
                        </a:rPr>
                        <a:t>-</a:t>
                      </a:r>
                      <a:endParaRPr sz="1000" b="0" dirty="0">
                        <a:solidFill>
                          <a:srgbClr val="21262E"/>
                        </a:solidFill>
                      </a:endParaRP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3593592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endParaRPr sz="950" b="0" dirty="0">
              <a:solidFill>
                <a:srgbClr val="5D6773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5404" y="3922777"/>
            <a:ext cx="11056620" cy="1132154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 Same Side Corner Rectangle 8"/>
          <p:cNvSpPr/>
          <p:nvPr/>
        </p:nvSpPr>
        <p:spPr>
          <a:xfrm>
            <a:off x="566928" y="3922776"/>
            <a:ext cx="11055096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250" b="1" dirty="0" err="1">
                <a:solidFill>
                  <a:srgbClr val="00306C"/>
                </a:solidFill>
              </a:rPr>
              <a:t>Why TabPFN moves with the composition (0.65~0.76)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452" y="4325112"/>
            <a:ext cx="11055096" cy="654607"/>
          </a:xfrm>
          <a:prstGeom prst="rect">
            <a:avLst/>
          </a:prstGeom>
          <a:noFill/>
        </p:spPr>
        <p:txBody>
          <a:bodyPr wrap="square" lIns="182880" tIns="80467" rIns="146304" bIns="65836" anchor="t">
            <a:noAutofit/>
          </a:bodyPr>
          <a:lstStyle/>
          <a:p>
            <a:pPr marL="182880" indent="-182880" algn="l">
              <a:spcBef>
                <a:spcPts val="0"/>
              </a:spcBef>
              <a:buClr>
                <a:srgbClr val="007BC6"/>
              </a:buClr>
              <a:buSzPct val="75000"/>
              <a:buFont typeface="Arial"/>
              <a:buChar char="•"/>
            </a:pPr>
            <a:r>
              <a:rPr sz="1050" b="0" dirty="0">
                <a:solidFill>
                  <a:srgbClr val="21262E"/>
                </a:solidFill>
              </a:rPr>
              <a:t>In-context learning reads the class ratio of the context as a prior</a:t>
            </a:r>
            <a:endParaRPr sz="1050" b="0" dirty="0">
              <a:solidFill>
                <a:srgbClr val="21262E"/>
              </a:solidFill>
            </a:endParaRPr>
          </a:p>
          <a:p>
            <a:pPr marL="182880" indent="-182880" algn="l">
              <a:spcBef>
                <a:spcPts val="0"/>
              </a:spcBef>
              <a:buClr>
                <a:srgbClr val="007BC6"/>
              </a:buClr>
              <a:buSzPct val="75000"/>
              <a:buFont typeface="Arial"/>
              <a:buChar char="•"/>
            </a:pPr>
            <a:r>
              <a:rPr sz="1050" b="0" dirty="0" err="1">
                <a:solidFill>
                  <a:srgbClr val="21262E"/>
                </a:solidFill>
              </a:rPr>
              <a:t>Cost · heavy per-call inference (4.02M rows in 100 s on GPU); a 1M context needs 19.5 GB and is seed-unstable</a:t>
            </a:r>
            <a:endParaRPr sz="1050" b="0" dirty="0">
              <a:solidFill>
                <a:srgbClr val="21262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18288" rIns="228600" bIns="18288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356848" y="6355080"/>
            <a:ext cx="54864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solidFill/>
              </a:rPr>
              <a:t>SOTA selection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71600"/>
          <a:ext cx="11055096" cy="33101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9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Family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Question it isolates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1262E"/>
                          </a:solidFill>
                        </a:rPr>
                        <a:t>XGBoost (full pool, 12.07M rows)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Tree boosting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Strong default baseline for tabular data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KDD 2016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1262E"/>
                          </a:solidFill>
                        </a:rPr>
                        <a:t>TabPFN · random natural-ratio context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Same-model control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Isolates the effect of the composition rule (share · allocation)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ICLR 2023 · Nature 2025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1262E"/>
                          </a:solidFill>
                        </a:rPr>
                        <a:t>BoostPFN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Boosted PFN ensemble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Does a residual-driven context ensemble beat one composed context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AISTATS 2025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1262E"/>
                          </a:solidFill>
                        </a:rPr>
                        <a:t>LoCalPFN · TabPFN-kNN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Per-query retrieved context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Does retrieval (kNN) context beat rule-based allocation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NeurIPS 2024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1262E"/>
                          </a:solidFill>
                        </a:rPr>
                        <a:t>MixturePFN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Cluster-routed context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How input-space clustering differs from failure-signature clustering (this work)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ICLR 2025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1262E"/>
                          </a:solidFill>
                        </a:rPr>
                        <a:t>DistPFN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Posterior label-shift correction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Does correction alone, without changing the context, give the same gain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ICML 2026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1262E"/>
                          </a:solidFill>
                        </a:rPr>
                        <a:t>Energy-based open-set flow classifier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open-set NIDS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Energy-score baseline for unseen-attack scenarios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Computers &amp; Security 2025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18288" rIns="228600" bIns="18288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56848" y="6355080"/>
            <a:ext cx="54864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dirty="0" err="1">
                <a:solidFill/>
              </a:rPr>
              <a:t>BoostPFN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76072" y="896112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150" b="1">
                <a:solidFill>
                  <a:srgbClr val="5D6773"/>
                </a:solidFill>
              </a:rPr>
              <a:t>Prior-Fitted Networks Scale to Larger Datasets When Treated as Weak Learners</a:t>
            </a:r>
            <a:r>
              <a:rPr sz="1150" b="0">
                <a:solidFill>
                  <a:srgbClr val="5D6773"/>
                </a:solidFill>
              </a:rPr>
              <a:t>, AISTATS 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5989320" cy="4160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1248" y="1691640"/>
            <a:ext cx="1600200" cy="868680"/>
          </a:xfrm>
          <a:prstGeom prst="roundRect">
            <a:avLst>
              <a:gd name="adj" fmla="val 1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00306C"/>
                </a:solidFill>
              </a:rPr>
              <a:t>Training data D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sample weights wₜ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14600" y="2020824"/>
            <a:ext cx="457200" cy="201168"/>
          </a:xfrm>
          <a:prstGeom prst="rightArrow">
            <a:avLst/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044952" y="1691640"/>
            <a:ext cx="1783080" cy="868680"/>
          </a:xfrm>
          <a:prstGeom prst="roundRect">
            <a:avLst>
              <a:gd name="adj" fmla="val 1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050" b="1">
                <a:solidFill>
                  <a:srgbClr val="00306C"/>
                </a:solidFill>
              </a:rPr>
              <a:t>Sample subset by wₜ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= context Cₜ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01184" y="2020824"/>
            <a:ext cx="457200" cy="201168"/>
          </a:xfrm>
          <a:prstGeom prst="rightArrow">
            <a:avLst/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31536" y="1691640"/>
            <a:ext cx="914400" cy="868680"/>
          </a:xfrm>
          <a:prstGeom prst="roundRect">
            <a:avLst>
              <a:gd name="adj" fmla="val 10000"/>
            </a:avLst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050" b="1">
                <a:solidFill>
                  <a:srgbClr val="FFFFFF"/>
                </a:solidFill>
              </a:rPr>
              <a:t>PFN fₜ</a:t>
            </a:r>
          </a:p>
          <a:p>
            <a:pPr algn="ctr">
              <a:spcBef>
                <a:spcPts val="0"/>
              </a:spcBef>
              <a:buNone/>
            </a:pPr>
            <a:r>
              <a:rPr sz="900" b="0">
                <a:solidFill>
                  <a:srgbClr val="D6E4F3"/>
                </a:solidFill>
              </a:rPr>
              <a:t>θ frozen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44952" y="3063240"/>
            <a:ext cx="3300984" cy="777240"/>
          </a:xfrm>
          <a:prstGeom prst="roundRect">
            <a:avLst>
              <a:gd name="adj" fmla="val 1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00306C"/>
                </a:solidFill>
              </a:rPr>
              <a:t>Ensemble Fₜ = Fₜ₋₁ + η·fₜ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residual rₜ = y − Fₜ(x)</a:t>
            </a:r>
          </a:p>
        </p:txBody>
      </p:sp>
      <p:sp>
        <p:nvSpPr>
          <p:cNvPr id="11" name="Right Arrow 10"/>
          <p:cNvSpPr/>
          <p:nvPr/>
        </p:nvSpPr>
        <p:spPr>
          <a:xfrm rot="5400000">
            <a:off x="5788152" y="2651760"/>
            <a:ext cx="201168" cy="347472"/>
          </a:xfrm>
          <a:prstGeom prst="rightArrow">
            <a:avLst/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1248" y="3063240"/>
            <a:ext cx="1874519" cy="77724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050" b="1">
                <a:solidFill>
                  <a:srgbClr val="00306C"/>
                </a:solidFill>
              </a:rPr>
              <a:t>Update weights wₜ₊₁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high-residual samples ↑</a:t>
            </a:r>
          </a:p>
        </p:txBody>
      </p:sp>
      <p:sp>
        <p:nvSpPr>
          <p:cNvPr id="13" name="Right Arrow 12"/>
          <p:cNvSpPr/>
          <p:nvPr/>
        </p:nvSpPr>
        <p:spPr>
          <a:xfrm rot="10800000">
            <a:off x="2788920" y="3355848"/>
            <a:ext cx="201168" cy="201168"/>
          </a:xfrm>
          <a:prstGeom prst="rightArrow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 rot="16200000">
            <a:off x="1673352" y="2651760"/>
            <a:ext cx="201168" cy="347472"/>
          </a:xfrm>
          <a:prstGeom prst="rightArrow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4069080"/>
            <a:ext cx="5440680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One weak learner = one PFN inference with a subset context,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a sequential ensemble where high-residual samples are drawn more into the next context</a:t>
            </a:r>
          </a:p>
        </p:txBody>
      </p:sp>
      <p:sp>
        <p:nvSpPr>
          <p:cNvPr id="16" name="Oval 15"/>
          <p:cNvSpPr/>
          <p:nvPr/>
        </p:nvSpPr>
        <p:spPr>
          <a:xfrm>
            <a:off x="6784848" y="1554480"/>
            <a:ext cx="329184" cy="329184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1463040"/>
            <a:ext cx="4352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150" b="1">
                <a:solidFill>
                  <a:srgbClr val="00306C"/>
                </a:solidFill>
              </a:rPr>
              <a:t>1  PFN as a weak learner</a:t>
            </a:r>
          </a:p>
          <a:p>
            <a:pPr algn="l">
              <a:spcBef>
                <a:spcPts val="0"/>
              </a:spcBef>
              <a:buNone/>
            </a:pPr>
            <a:r>
              <a:rPr sz="1000" b="0">
                <a:solidFill>
                  <a:srgbClr val="5D6773"/>
                </a:solidFill>
              </a:rPr>
              <a:t>A PFN whose context is a subset of the training data is the boosting weak learner; no parameter update</a:t>
            </a:r>
          </a:p>
        </p:txBody>
      </p:sp>
      <p:sp>
        <p:nvSpPr>
          <p:cNvPr id="18" name="Oval 17"/>
          <p:cNvSpPr/>
          <p:nvPr/>
        </p:nvSpPr>
        <p:spPr>
          <a:xfrm>
            <a:off x="6784848" y="2560320"/>
            <a:ext cx="329184" cy="329184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468880"/>
            <a:ext cx="4352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150" b="1">
                <a:solidFill>
                  <a:srgbClr val="00306C"/>
                </a:solidFill>
              </a:rPr>
              <a:t>2  Residuals pick the next context</a:t>
            </a:r>
          </a:p>
          <a:p>
            <a:pPr algn="l">
              <a:spcBef>
                <a:spcPts val="0"/>
              </a:spcBef>
              <a:buNone/>
            </a:pPr>
            <a:r>
              <a:rPr sz="1000" b="0">
                <a:solidFill>
                  <a:srgbClr val="5D6773"/>
                </a:solidFill>
              </a:rPr>
              <a:t>Boosting residuals of the current ensemble update the sample weights, which draw the next context, added sequentially</a:t>
            </a:r>
          </a:p>
        </p:txBody>
      </p:sp>
      <p:sp>
        <p:nvSpPr>
          <p:cNvPr id="20" name="Oval 19"/>
          <p:cNvSpPr/>
          <p:nvPr/>
        </p:nvSpPr>
        <p:spPr>
          <a:xfrm>
            <a:off x="6784848" y="3566160"/>
            <a:ext cx="329184" cy="329184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474720"/>
            <a:ext cx="4352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150" b="1">
                <a:solidFill>
                  <a:srgbClr val="00306C"/>
                </a:solidFill>
              </a:rPr>
              <a:t>3  Scale</a:t>
            </a:r>
          </a:p>
          <a:p>
            <a:pPr algn="l">
              <a:spcBef>
                <a:spcPts val="0"/>
              </a:spcBef>
              <a:buNone/>
            </a:pPr>
            <a:r>
              <a:rPr sz="1000" b="0">
                <a:solidFill>
                  <a:srgbClr val="5D6773"/>
                </a:solidFill>
              </a:rPr>
              <a:t>Beats a plain PFN up to 50× the pre-training context limit, with shorter training time than GBDT, deep learning and AutoML (as reported)</a:t>
            </a:r>
          </a:p>
        </p:txBody>
      </p:sp>
      <p:sp>
        <p:nvSpPr>
          <p:cNvPr id="22" name="Oval 21"/>
          <p:cNvSpPr/>
          <p:nvPr/>
        </p:nvSpPr>
        <p:spPr>
          <a:xfrm>
            <a:off x="6784848" y="4572000"/>
            <a:ext cx="329184" cy="329184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480560"/>
            <a:ext cx="4352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150" b="1">
                <a:solidFill>
                  <a:srgbClr val="00306C"/>
                </a:solidFill>
              </a:rPr>
              <a:t>4  Difference from this work</a:t>
            </a:r>
          </a:p>
          <a:p>
            <a:pPr algn="l">
              <a:spcBef>
                <a:spcPts val="0"/>
              </a:spcBef>
              <a:buNone/>
            </a:pPr>
            <a:r>
              <a:rPr sz="1000" b="0">
                <a:solidFill>
                  <a:srgbClr val="5D6773"/>
                </a:solidFill>
              </a:rPr>
              <a:t>Both use residuals, but BoostPFN sums every weak learner on every input; this work calls one failure-regime context (top-1) only on inputs where a gain is expected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18288" rIns="228600" bIns="18288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356848" y="6355080"/>
            <a:ext cx="54864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solidFill/>
              </a:rPr>
              <a:t>Planned experiments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71600"/>
          <a:ext cx="11055096" cy="2560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1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Experiment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Setup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Metrics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1262E"/>
                          </a:solidFill>
                        </a:rPr>
                        <a:t>E1  Closed-set classification · 4 datasets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Apply the benign 0.75 · equal · 100k rule to ton_iot · bot_iot · unsw_nb15 without retuning, chronological split, knobs chosen on the validation split (D_cal) then one test run, all seeds reported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macro-F1 · tail-macro-F1 · per-class recall · benign recall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1262E"/>
                          </a:solidFill>
                        </a:rPr>
                        <a:t>E2  Imbalance-severity sweep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Subsample tail classes in the context pool to IR 10²·10³·10⁴ and recompose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tail-F1 vs IR curve and severity AUC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1262E"/>
                          </a:solidFill>
                        </a:rPr>
                        <a:t>E3  Unseen attack families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Temporal zero-shot novelty (scenario A) · unseen-count sweep (scenario D), paper draft §5.2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AUROC · FPR95 · AUOSCR (at matched known macro-F1) · benign retention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1262E"/>
                          </a:solidFill>
                        </a:rPr>
                        <a:t>E4  Cost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Context 100k~1M, inference time · GPU memory, baselines on the same axes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seconds · GB · macro-F1 vs context size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18288" rIns="228600" bIns="18288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56848" y="6355080"/>
            <a:ext cx="54864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00" b="1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>
                <a:solidFill/>
              </a:rPr>
              <a:t>Oracle and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96112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endParaRPr sz="1150" b="0" dirty="0">
              <a:solidFill>
                <a:srgbClr val="5D677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517904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50" b="1">
                <a:solidFill>
                  <a:srgbClr val="21262E"/>
                </a:solidFill>
              </a:rPr>
              <a:t>Expert-bank upper bound (oracle)</a:t>
            </a:r>
          </a:p>
          <a:p>
            <a:pPr algn="l">
              <a:spcBef>
                <a:spcPts val="0"/>
              </a:spcBef>
              <a:buNone/>
            </a:pPr>
            <a:r>
              <a:rPr sz="900" b="0">
                <a:solidFill>
                  <a:srgbClr val="5D6773"/>
                </a:solidFill>
              </a:rPr>
              <a:t>best of global/experts picked per row using labels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0" y="1627632"/>
            <a:ext cx="7498079" cy="256032"/>
          </a:xfrm>
          <a:prstGeom prst="rect">
            <a:avLst/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931920" y="1627632"/>
            <a:ext cx="5748527" cy="256032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680447" y="1627632"/>
            <a:ext cx="999744" cy="256032"/>
          </a:xfrm>
          <a:prstGeom prst="rect">
            <a:avLst/>
          </a:prstGeom>
          <a:solidFill>
            <a:srgbClr val="7F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53344" y="1600200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50" b="1">
                <a:solidFill>
                  <a:srgbClr val="00306C"/>
                </a:solidFill>
              </a:rPr>
              <a:t>0.83~0.87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84831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50" b="1">
                <a:solidFill>
                  <a:srgbClr val="21262E"/>
                </a:solidFill>
              </a:rPr>
              <a:t>XGBoost, full pool</a:t>
            </a:r>
          </a:p>
          <a:p>
            <a:pPr algn="l">
              <a:spcBef>
                <a:spcPts val="0"/>
              </a:spcBef>
              <a:buNone/>
            </a:pPr>
            <a:r>
              <a:rPr sz="900" b="0">
                <a:solidFill>
                  <a:srgbClr val="5D6773"/>
                </a:solidFill>
              </a:rPr>
              <a:t>trained on 12.07M rows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2194560"/>
            <a:ext cx="7498079" cy="256032"/>
          </a:xfrm>
          <a:prstGeom prst="rect">
            <a:avLst/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931920" y="2194560"/>
            <a:ext cx="3869009" cy="256032"/>
          </a:xfrm>
          <a:prstGeom prst="rect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74081" y="2167127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50" b="1">
                <a:solidFill>
                  <a:srgbClr val="00306C"/>
                </a:solidFill>
              </a:rPr>
              <a:t>0.7548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65176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50" b="1" dirty="0" err="1">
                <a:solidFill>
                  <a:srgbClr val="21262E"/>
                </a:solidFill>
              </a:rPr>
              <a:t>Proposed · composed context C0</a:t>
            </a:r>
          </a:p>
          <a:p>
            <a:pPr algn="l">
              <a:spcBef>
                <a:spcPts val="0"/>
              </a:spcBef>
              <a:buNone/>
            </a:pPr>
            <a:r>
              <a:rPr sz="900" b="0" dirty="0">
                <a:solidFill>
                  <a:srgbClr val="5D6773"/>
                </a:solidFill>
              </a:rPr>
              <a:t>benign 0.75 · equal · 100k, 4-seed mean, before expert calls</a:t>
            </a:r>
            <a:endParaRPr sz="900" b="0" dirty="0">
              <a:solidFill>
                <a:srgbClr val="5D6773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931920" y="2761488"/>
            <a:ext cx="7498079" cy="256032"/>
          </a:xfrm>
          <a:prstGeom prst="rect">
            <a:avLst/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931920" y="2761488"/>
            <a:ext cx="3849014" cy="256032"/>
          </a:xfrm>
          <a:prstGeom prst="rect">
            <a:avLst/>
          </a:prstGeom>
          <a:solidFill>
            <a:srgbClr val="117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54086" y="2734056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50" b="1">
                <a:solidFill>
                  <a:srgbClr val="00306C"/>
                </a:solidFill>
              </a:rPr>
              <a:t>0.7540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18687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50" b="1">
                <a:solidFill>
                  <a:srgbClr val="21262E"/>
                </a:solidFill>
              </a:rPr>
              <a:t>TabPFN · 1M natural context (before composition)</a:t>
            </a:r>
          </a:p>
          <a:p>
            <a:pPr algn="l">
              <a:spcBef>
                <a:spcPts val="0"/>
              </a:spcBef>
              <a:buNone/>
            </a:pPr>
            <a:r>
              <a:rPr sz="900" b="0">
                <a:solidFill>
                  <a:srgbClr val="5D6773"/>
                </a:solidFill>
              </a:rPr>
              <a:t>benign 87%, seed 42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3328415"/>
            <a:ext cx="7498079" cy="256032"/>
          </a:xfrm>
          <a:prstGeom prst="rect">
            <a:avLst/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31920" y="3328415"/>
            <a:ext cx="3029224" cy="256032"/>
          </a:xfrm>
          <a:prstGeom prst="rect">
            <a:avLst/>
          </a:prstGeom>
          <a:solidFill>
            <a:srgbClr val="258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34296" y="3300983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50" b="1">
                <a:solidFill>
                  <a:srgbClr val="00306C"/>
                </a:solidFill>
              </a:rPr>
              <a:t>0.7212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858768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900" b="0">
                <a:solidFill>
                  <a:srgbClr val="9AA3AE"/>
                </a:solidFill>
              </a:rPr>
              <a:t>0.60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6959" y="3858768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900" b="0">
                <a:solidFill>
                  <a:srgbClr val="9AA3AE"/>
                </a:solidFill>
              </a:rPr>
              <a:t>0.70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6319" y="3858768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900" b="0">
                <a:solidFill>
                  <a:srgbClr val="9AA3AE"/>
                </a:solidFill>
              </a:rPr>
              <a:t>0.80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3858768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900" b="0">
                <a:solidFill>
                  <a:srgbClr val="9AA3AE"/>
                </a:solidFill>
              </a:rPr>
              <a:t>0.90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18288" rIns="228600" bIns="18288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356848" y="6355080"/>
            <a:ext cx="54864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00" b="1">
                <a:solidFill>
                  <a:srgbClr val="FFFFFF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>
          <a:xfrm>
            <a:off x="566927" y="274320"/>
            <a:ext cx="10580043" cy="594360"/>
          </a:xfrm>
        </p:spPr>
        <p:txBody>
          <a:bodyPr/>
          <a:lstStyle/>
          <a:p>
            <a:r>
              <a:rPr>
                <a:solidFill/>
              </a:rPr>
              <a:t>100k context, benign 0.75, attacks equal · per-class F1 (seeds 42~45)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280160"/>
          <a:ext cx="11055096" cy="27980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Class F1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s42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s43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s44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s45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4-seed mean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XGB, same 100k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XGB, full pool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benign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0.9909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0.9924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0.9878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0.9927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0.9910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0.9924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0.9943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bot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0.9984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0.9981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0.9984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0.9984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0.9983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0.9973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0.9978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brute_force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0.9159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0.9159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0.9158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0.9158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0.9159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0.9159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0.9159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ddos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0.9459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0.9588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B83A3A"/>
                          </a:solidFill>
                        </a:rPr>
                        <a:t>0.8879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0.9596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B83A3A"/>
                          </a:solidFill>
                        </a:rPr>
                        <a:t>0.9381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0.9994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0.9921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dos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0.7807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0.7810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0.7814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0.7811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0.7811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0.7818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0.7822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infiltration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0.4201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0.4439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0.4045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0.4175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0.4215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0.3370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0.4291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web_attacks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0.2418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0.2419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0.2333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0.2118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0.2322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0.2439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0.1724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macro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0.7562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0.7617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0.7442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0.7539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0.7540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0.7525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0.7548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tail (dos·inf·web)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0.5534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0.5613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0.5454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0.5426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0.5507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0.5260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0.5331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66927" y="4242815"/>
            <a:ext cx="6376614" cy="1214088"/>
          </a:xfrm>
          <a:prstGeom prst="roundRect">
            <a:avLst>
              <a:gd name="adj" fmla="val 4072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 Same Side Corner Rectangle 4"/>
          <p:cNvSpPr/>
          <p:nvPr/>
        </p:nvSpPr>
        <p:spPr>
          <a:xfrm>
            <a:off x="566927" y="4242815"/>
            <a:ext cx="6376613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00306C"/>
                </a:solidFill>
              </a:rPr>
              <a:t>Results</a:t>
            </a:r>
            <a:endParaRPr sz="1250" b="1" dirty="0">
              <a:solidFill>
                <a:srgbClr val="00306C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7" y="4645151"/>
            <a:ext cx="6117041" cy="811752"/>
          </a:xfrm>
          <a:prstGeom prst="rect">
            <a:avLst/>
          </a:prstGeom>
          <a:noFill/>
        </p:spPr>
        <p:txBody>
          <a:bodyPr wrap="square" lIns="182880" tIns="80467" rIns="146304" bIns="65836" anchor="t">
            <a:noAutofit/>
          </a:bodyPr>
          <a:lstStyle/>
          <a:p>
            <a:pPr marL="182880" indent="-182880" algn="l">
              <a:spcBef>
                <a:spcPts val="0"/>
              </a:spcBef>
              <a:buClr>
                <a:srgbClr val="007BC6"/>
              </a:buClr>
              <a:buSzPct val="75000"/>
              <a:buFont typeface="Arial"/>
              <a:buChar char="•"/>
            </a:pPr>
            <a:r>
              <a:rPr sz="1050" b="0" dirty="0">
                <a:solidFill>
                  <a:srgbClr val="21262E"/>
                </a:solidFill>
              </a:rPr>
              <a:t>macro 0.7540 ties XGBoost 0.7548; tail (dos·inf·web) 0.551 &gt; 0.533 in all 4 seeds</a:t>
            </a:r>
            <a:endParaRPr sz="1050" b="0" dirty="0">
              <a:solidFill>
                <a:srgbClr val="21262E"/>
              </a:solidFill>
            </a:endParaRPr>
          </a:p>
          <a:p>
            <a:pPr marL="182880" indent="-182880" algn="l">
              <a:spcBef>
                <a:spcPts val="0"/>
              </a:spcBef>
              <a:buClr>
                <a:srgbClr val="007BC6"/>
              </a:buClr>
              <a:buSzPct val="75000"/>
              <a:buFont typeface="Arial"/>
              <a:buChar char="•"/>
            </a:pPr>
            <a:r>
              <a:rPr sz="1050" b="0" dirty="0">
                <a:solidFill>
                  <a:srgbClr val="21262E"/>
                </a:solidFill>
              </a:rPr>
              <a:t>DDoS deficit and still-modest inf/web gains: further experiments on the expert-call gate needed.</a:t>
            </a:r>
            <a:endParaRPr sz="1050" b="0" dirty="0">
              <a:solidFill>
                <a:srgbClr val="21262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18288" rIns="228600" bIns="18288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356848" y="6355080"/>
            <a:ext cx="54864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00" b="1">
                <a:solidFill>
                  <a:srgbClr val="FFFFFF"/>
                </a:solidFill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ENTECH">
      <a:dk1>
        <a:srgbClr val="21262E"/>
      </a:dk1>
      <a:lt1>
        <a:srgbClr val="FFFFFF"/>
      </a:lt1>
      <a:dk2>
        <a:srgbClr val="00306C"/>
      </a:dk2>
      <a:lt2>
        <a:srgbClr val="F3F6FA"/>
      </a:lt2>
      <a:accent1>
        <a:srgbClr val="007BC6"/>
      </a:accent1>
      <a:accent2>
        <a:srgbClr val="00B8EE"/>
      </a:accent2>
      <a:accent3>
        <a:srgbClr val="00306C"/>
      </a:accent3>
      <a:accent4>
        <a:srgbClr val="4DA3DC"/>
      </a:accent4>
      <a:accent5>
        <a:srgbClr val="5D6773"/>
      </a:accent5>
      <a:accent6>
        <a:srgbClr val="9AA3AE"/>
      </a:accent6>
      <a:hlink>
        <a:srgbClr val="007BC6"/>
      </a:hlink>
      <a:folHlink>
        <a:srgbClr val="5D6773"/>
      </a:folHlink>
    </a:clrScheme>
    <a:fontScheme name="KENTECH">
      <a:maj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ajorFont>
      <a:min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1251</Words>
  <Application>Microsoft Office PowerPoint</Application>
  <PresentationFormat>와이드스크린</PresentationFormat>
  <Paragraphs>283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Pretendard</vt:lpstr>
      <vt:lpstr>Arial</vt:lpstr>
      <vt:lpstr>Office Theme</vt:lpstr>
      <vt:lpstr>Architecture</vt:lpstr>
      <vt:lpstr>TabPFN · 학습 데이터를 입력으로 읽는 표 형식 foundation model</vt:lpstr>
      <vt:lpstr>TabPFN 적합성 · 같은 컨텍스트 행으로 학습한 XGBoost와 비교</vt:lpstr>
      <vt:lpstr>SOTA 선정</vt:lpstr>
      <vt:lpstr>BoostPFN</vt:lpstr>
      <vt:lpstr>실험 예정</vt:lpstr>
      <vt:lpstr>Oracle과 실험결과</vt:lpstr>
      <vt:lpstr>100k 컨텍스트, benign 0.75, 공격 균등 · 클래스별 F1 (seed 42~45)</vt:lpstr>
    </vt:vector>
  </TitlesOfParts>
  <Company>Korea Institute of Energy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KENTECH Presentation Template</dc:title>
  <dc:subject>PptxGenJS Presentation</dc:subject>
  <dc:creator>Seunghyun Yoon</dc:creator>
  <cp:lastModifiedBy>박민서</cp:lastModifiedBy>
  <cp:revision>4</cp:revision>
  <dcterms:created xsi:type="dcterms:W3CDTF">2026-08-09T04:01:58Z</dcterms:created>
  <dcterms:modified xsi:type="dcterms:W3CDTF">2026-09-03T15:12:22Z</dcterms:modified>
</cp:coreProperties>
</file>