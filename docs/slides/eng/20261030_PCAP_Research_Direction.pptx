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Prior XGB, TabPFN, SOTA, and proposed-model experiments used CICFlowMeter CSV vectors as classification inputs. Many IDS tabular-classification studies also trained and evaluated with the supplied flow statistics. The right half shows how CIC-IDS2017 produced this CSV: network traffic was captured as PCAP, then CICFlowMeter grouped packets into flows and calculated duration, packet-count, IAT, and flag statistics. A CSV row is a summary of these fixed statistics, not the packet sequence itself.</a:t>
            </a:r>
          </a:p>
          <a:p/>
          <a:p>
            <a:r>
              <a:t>원문 근거</a:t>
            </a:r>
          </a:p>
          <a:p>
            <a:r>
              <a:t>CIC-IDS2017 official dataset</a:t>
            </a:r>
          </a:p>
          <a:p>
            <a:r>
              <a:t>UNB CIC, 2017</a:t>
            </a:r>
          </a:p>
          <a:p>
            <a:r>
              <a:t>PCAP, labeled CICFlowMeter CSV, capture setup and attack timetable</a:t>
            </a:r>
          </a:p>
          <a:p>
            <a:r>
              <a:t>https://www.unb.ca/cic/datasets/ids-2017.html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The CSV-based evaluation revealed two issues. First, some head attacks retained high F1 even after their label budget was reduced sharply, so the representation and task difficulty should be checked before collecting more labels. Second, some rows had identical flow statistics but different labels. This does not mean that every label is wrong; it means that the current statistical representation cannot let a deterministic classifier predict both labels correctly. The next two slides show the observations through performance curves and literal source-CSV rows.</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This figure extends the earlier CSV-based EXP87 attack-only condition from n = 2 to n = 450. Macro F1 still rises after n = 20, so the entire dataset is not fully saturated. However, head classes such as DDoS and Bot already reach high F1 around n = 20 and change little relative to n = 450. Web attacks remain low even with a larger label budget. Thus, the high average does not mean that every attack is easy: early head saturation and residual tail errors must be examined separately. This is a diagnostic of attack-to-attack classification, not IDS detection with benign traffic included.</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This slide audits the ten original CIC2018 CICFlowMeter CSV files, rather than an NF-v3-derived input. Rows were grouped when all 78 statistical fields common to every file agreed after excluding timestamps and flow identifiers. The table shows literal source-CSV values: displayed fields and the omitted 69 fields are identical, but the NF-v3 class differs. The bars retain the order benign, ddos, bot, dos, bf, inf, web. Their length and endpoint show the share and number of rows from each class in identical-feature, different-class groups. These values do not imply a single cause or that every label is wrong; they show why the representation and label-generation evidence must be examined together.</a:t>
            </a:r>
          </a:p>
          <a:p/>
          <a:p>
            <a:r>
              <a:t>원문 근거</a:t>
            </a:r>
          </a:p>
          <a:p>
            <a:r>
              <a:t>CSE-CIC-IDS2018 official dataset</a:t>
            </a:r>
          </a:p>
          <a:p>
            <a:r>
              <a:t>UNB CIC, 2018</a:t>
            </a:r>
          </a:p>
          <a:p>
            <a:r>
              <a:t>PCAP/system logs, feature list and attack setup</a:t>
            </a:r>
          </a:p>
          <a:p>
            <a:r>
              <a:t>https://www.unb.ca/cic/datasets/ids-2018.html</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CICFlowMeter calculates CSV features using pre-specified flow rules and statistics. The new pipeline preserves PCAP, time, and label linkage while a packet-sequence encoder generates embeddings and PCA is fit only on the training split. The encoder interface is interchangeable, so netFound, ET-BERT, and NetMamba can be compared with the same inputs, split, and evaluation. Each new vector space is first audited for identical embeddings with different labels and for PCAP label evidence. XGB and TabPFN baselines, few-shot learning curves, and classwise F1 then test whether early head saturation persists in the new representation.</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The presentation has three steps. Existing IDS classifiers used fixed CICFlowMeter statistics from CSV inputs. Inspection of those inputs identified early saturation for some head attacks and identical-feature, different-class rows in the original CSV. The next step is to measure both phenomena again on new CIC2018 vectors created by PCAP encoders, using the same audit and baseline protocol. Only after verifying whether the representation reduces conflicts and improves separation of tail or emerging attacks can a classification benefit from the new representation or model design be assessed.</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CICFlowMeter CSV is the standard input for IDS classification</a:t>
            </a:r>
          </a:p>
        </p:txBody>
      </p:sp>
      <p:sp>
        <p:nvSpPr>
          <p:cNvPr id="3" name="TextBox 2"/>
          <p:cNvSpPr txBox="1"/>
          <p:nvPr/>
        </p:nvSpPr>
        <p:spPr>
          <a:xfrm>
            <a:off x="594360" y="987552"/>
            <a:ext cx="10972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Prior experiments: XGB · TabPFN · SOTA · proposed models  →  CICFlowMeter CSV vectors</a:t>
            </a:r>
          </a:p>
        </p:txBody>
      </p:sp>
      <p:sp>
        <p:nvSpPr>
          <p:cNvPr id="4" name="TextBox 3"/>
          <p:cNvSpPr txBox="1"/>
          <p:nvPr/>
        </p:nvSpPr>
        <p:spPr>
          <a:xfrm>
            <a:off x="594360" y="1389888"/>
            <a:ext cx="10972800" cy="279273"/>
          </a:xfrm>
          <a:prstGeom prst="rect">
            <a:avLst/>
          </a:prstGeom>
          <a:noFill/>
          <a:effectLst/>
        </p:spPr>
        <p:txBody>
          <a:bodyPr wrap="none" anchor="t" lIns="0" rIns="0" tIns="0" bIns="0">
            <a:noAutofit/>
          </a:bodyPr>
          <a:lstStyle/>
          <a:p>
            <a:pPr algn="l">
              <a:lnSpc>
                <a:spcPct val="118000"/>
              </a:lnSpc>
              <a:spcBef>
                <a:spcPts val="0"/>
              </a:spcBef>
              <a:spcAft>
                <a:spcPts val="0"/>
              </a:spcAft>
            </a:pPr>
            <a:r>
              <a:rPr sz="1650" b="0" lang="ko-KR">
                <a:solidFill>
                  <a:srgbClr val="617080"/>
                </a:solidFill>
                <a:latin typeface="Pretendard"/>
                <a:ea typeface="Pretendard"/>
                <a:cs typeface="Pretendard"/>
              </a:rPr>
              <a:t>Most IDS tabular-classification studies also train and evaluate on the supplied flow-statistics CSV</a:t>
            </a:r>
          </a:p>
        </p:txBody>
      </p:sp>
      <p:sp>
        <p:nvSpPr>
          <p:cNvPr id="5" name="TextBox 4"/>
          <p:cNvSpPr txBox="1"/>
          <p:nvPr/>
        </p:nvSpPr>
        <p:spPr>
          <a:xfrm>
            <a:off x="594360" y="1975104"/>
            <a:ext cx="40690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Input to prior classifiers</a:t>
            </a:r>
          </a:p>
        </p:txBody>
      </p:sp>
      <p:sp>
        <p:nvSpPr>
          <p:cNvPr id="6" name="Rectangle 5"/>
          <p:cNvSpPr/>
          <p:nvPr/>
        </p:nvSpPr>
        <p:spPr>
          <a:xfrm>
            <a:off x="594360" y="2414016"/>
            <a:ext cx="4069080" cy="1188720"/>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594360" y="2414016"/>
            <a:ext cx="406908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04088" y="2482596"/>
            <a:ext cx="384962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One CSV row</a:t>
            </a:r>
          </a:p>
        </p:txBody>
      </p:sp>
      <p:sp>
        <p:nvSpPr>
          <p:cNvPr id="9" name="TextBox 8"/>
          <p:cNvSpPr txBox="1"/>
          <p:nvPr/>
        </p:nvSpPr>
        <p:spPr>
          <a:xfrm>
            <a:off x="740664" y="2980944"/>
            <a:ext cx="3776472" cy="472592"/>
          </a:xfrm>
          <a:prstGeom prst="rect">
            <a:avLst/>
          </a:prstGeom>
          <a:noFill/>
          <a:effectLst/>
        </p:spPr>
        <p:txBody>
          <a:bodyPr wrap="none" anchor="t" lIns="0" rIns="0" tIns="0" bIns="0">
            <a:noAutofit/>
          </a:bodyPr>
          <a:lstStyle/>
          <a:p>
            <a:pPr algn="ctr">
              <a:lnSpc>
                <a:spcPct val="118000"/>
              </a:lnSpc>
              <a:spcBef>
                <a:spcPts val="0"/>
              </a:spcBef>
              <a:spcAft>
                <a:spcPts val="0"/>
              </a:spcAft>
            </a:pPr>
            <a:r>
              <a:rPr sz="1470" b="0" lang="ko-KR">
                <a:solidFill>
                  <a:srgbClr val="20262E"/>
                </a:solidFill>
                <a:latin typeface="Pretendard"/>
                <a:ea typeface="Pretendard"/>
                <a:cs typeface="Pretendard"/>
              </a:rPr>
              <a:t>[duration, packets, length, IAT, flags, …]</a:t>
            </a:r>
          </a:p>
          <a:p>
            <a:pPr algn="ctr">
              <a:lnSpc>
                <a:spcPct val="118000"/>
              </a:lnSpc>
              <a:spcBef>
                <a:spcPts val="0"/>
              </a:spcBef>
              <a:spcAft>
                <a:spcPts val="0"/>
              </a:spcAft>
            </a:pPr>
            <a:r>
              <a:rPr sz="1470" b="0" lang="ko-KR">
                <a:solidFill>
                  <a:srgbClr val="20262E"/>
                </a:solidFill>
                <a:latin typeface="Pretendard"/>
                <a:ea typeface="Pretendard"/>
                <a:cs typeface="Pretendard"/>
              </a:rPr>
              <a:t>→ numeric vector + label</a:t>
            </a:r>
          </a:p>
        </p:txBody>
      </p:sp>
      <p:sp>
        <p:nvSpPr>
          <p:cNvPr id="10" name="Right Arrow 9"/>
          <p:cNvSpPr/>
          <p:nvPr/>
        </p:nvSpPr>
        <p:spPr>
          <a:xfrm>
            <a:off x="2441448" y="3840480"/>
            <a:ext cx="384048"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4360" y="4370832"/>
            <a:ext cx="4069080"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1" lang="ko-KR">
                <a:solidFill>
                  <a:srgbClr val="007BC6"/>
                </a:solidFill>
                <a:latin typeface="Pretendard"/>
                <a:ea typeface="Pretendard"/>
                <a:cs typeface="Pretendard"/>
              </a:rPr>
              <a:t>Each row treated as an independent sample</a:t>
            </a:r>
          </a:p>
        </p:txBody>
      </p:sp>
      <p:sp>
        <p:nvSpPr>
          <p:cNvPr id="12" name="TextBox 11"/>
          <p:cNvSpPr txBox="1"/>
          <p:nvPr/>
        </p:nvSpPr>
        <p:spPr>
          <a:xfrm>
            <a:off x="5074920" y="1975104"/>
            <a:ext cx="64465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CIC-IDS2017: How PCAP becomes CSV</a:t>
            </a:r>
          </a:p>
        </p:txBody>
      </p:sp>
      <p:sp>
        <p:nvSpPr>
          <p:cNvPr id="13" name="Rectangle 12"/>
          <p:cNvSpPr/>
          <p:nvPr/>
        </p:nvSpPr>
        <p:spPr>
          <a:xfrm>
            <a:off x="50749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0749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663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Testbed</a:t>
            </a:r>
          </a:p>
        </p:txBody>
      </p:sp>
      <p:sp>
        <p:nvSpPr>
          <p:cNvPr id="16" name="TextBox 15"/>
          <p:cNvSpPr txBox="1"/>
          <p:nvPr/>
        </p:nvSpPr>
        <p:spPr>
          <a:xfrm>
            <a:off x="51846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benign +</a:t>
            </a:r>
          </a:p>
          <a:p>
            <a:pPr algn="ctr">
              <a:lnSpc>
                <a:spcPct val="118000"/>
              </a:lnSpc>
              <a:spcBef>
                <a:spcPts val="0"/>
              </a:spcBef>
              <a:spcAft>
                <a:spcPts val="0"/>
              </a:spcAft>
            </a:pPr>
            <a:r>
              <a:rPr sz="1500" b="0" lang="ko-KR">
                <a:solidFill>
                  <a:srgbClr val="20262E"/>
                </a:solidFill>
                <a:latin typeface="Pretendard"/>
                <a:ea typeface="Pretendard"/>
                <a:cs typeface="Pretendard"/>
              </a:rPr>
              <a:t>attack</a:t>
            </a:r>
          </a:p>
        </p:txBody>
      </p:sp>
      <p:sp>
        <p:nvSpPr>
          <p:cNvPr id="17" name="Rectangle 16"/>
          <p:cNvSpPr/>
          <p:nvPr/>
        </p:nvSpPr>
        <p:spPr>
          <a:xfrm>
            <a:off x="66751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6751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7665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20" name="TextBox 19"/>
          <p:cNvSpPr txBox="1"/>
          <p:nvPr/>
        </p:nvSpPr>
        <p:spPr>
          <a:xfrm>
            <a:off x="67848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raw packets</a:t>
            </a:r>
          </a:p>
          <a:p>
            <a:pPr algn="ctr">
              <a:lnSpc>
                <a:spcPct val="118000"/>
              </a:lnSpc>
              <a:spcBef>
                <a:spcPts val="0"/>
              </a:spcBef>
              <a:spcAft>
                <a:spcPts val="0"/>
              </a:spcAft>
            </a:pPr>
            <a:r>
              <a:rPr sz="1500" b="0" lang="ko-KR">
                <a:solidFill>
                  <a:srgbClr val="20262E"/>
                </a:solidFill>
                <a:latin typeface="Pretendard"/>
                <a:ea typeface="Pretendard"/>
                <a:cs typeface="Pretendard"/>
              </a:rPr>
              <a:t>in time order</a:t>
            </a:r>
          </a:p>
        </p:txBody>
      </p:sp>
      <p:sp>
        <p:nvSpPr>
          <p:cNvPr id="21" name="Rectangle 20"/>
          <p:cNvSpPr/>
          <p:nvPr/>
        </p:nvSpPr>
        <p:spPr>
          <a:xfrm>
            <a:off x="8275320" y="2423160"/>
            <a:ext cx="1920240"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8275320" y="2423160"/>
            <a:ext cx="192024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66760" y="2491740"/>
            <a:ext cx="173736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CICFlowMeter</a:t>
            </a:r>
          </a:p>
        </p:txBody>
      </p:sp>
      <p:sp>
        <p:nvSpPr>
          <p:cNvPr id="24" name="TextBox 23"/>
          <p:cNvSpPr txBox="1"/>
          <p:nvPr/>
        </p:nvSpPr>
        <p:spPr>
          <a:xfrm>
            <a:off x="8385048" y="2999232"/>
            <a:ext cx="170078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flows + fixed</a:t>
            </a:r>
          </a:p>
          <a:p>
            <a:pPr algn="ctr">
              <a:lnSpc>
                <a:spcPct val="118000"/>
              </a:lnSpc>
              <a:spcBef>
                <a:spcPts val="0"/>
              </a:spcBef>
              <a:spcAft>
                <a:spcPts val="0"/>
              </a:spcAft>
            </a:pPr>
            <a:r>
              <a:rPr sz="1500" b="0" lang="ko-KR">
                <a:solidFill>
                  <a:srgbClr val="20262E"/>
                </a:solidFill>
                <a:latin typeface="Pretendard"/>
                <a:ea typeface="Pretendard"/>
                <a:cs typeface="Pretendard"/>
              </a:rPr>
              <a:t>statistics</a:t>
            </a:r>
          </a:p>
        </p:txBody>
      </p:sp>
      <p:sp>
        <p:nvSpPr>
          <p:cNvPr id="25" name="Rectangle 24"/>
          <p:cNvSpPr/>
          <p:nvPr/>
        </p:nvSpPr>
        <p:spPr>
          <a:xfrm>
            <a:off x="10533888" y="2423160"/>
            <a:ext cx="1033271"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10533888" y="2423160"/>
            <a:ext cx="1033271"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0625328" y="2491740"/>
            <a:ext cx="85039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CSV</a:t>
            </a:r>
          </a:p>
        </p:txBody>
      </p:sp>
      <p:sp>
        <p:nvSpPr>
          <p:cNvPr id="28" name="TextBox 27"/>
          <p:cNvSpPr txBox="1"/>
          <p:nvPr/>
        </p:nvSpPr>
        <p:spPr>
          <a:xfrm>
            <a:off x="10643615" y="2999232"/>
            <a:ext cx="813815"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vector</a:t>
            </a:r>
          </a:p>
          <a:p>
            <a:pPr algn="ctr">
              <a:lnSpc>
                <a:spcPct val="118000"/>
              </a:lnSpc>
              <a:spcBef>
                <a:spcPts val="0"/>
              </a:spcBef>
              <a:spcAft>
                <a:spcPts val="0"/>
              </a:spcAft>
            </a:pPr>
            <a:r>
              <a:rPr sz="1500" b="0" lang="ko-KR">
                <a:solidFill>
                  <a:srgbClr val="20262E"/>
                </a:solidFill>
                <a:latin typeface="Pretendard"/>
                <a:ea typeface="Pretendard"/>
                <a:cs typeface="Pretendard"/>
              </a:rPr>
              <a:t>+ label</a:t>
            </a:r>
          </a:p>
        </p:txBody>
      </p:sp>
      <p:sp>
        <p:nvSpPr>
          <p:cNvPr id="29" name="Right Arrow 28"/>
          <p:cNvSpPr/>
          <p:nvPr/>
        </p:nvSpPr>
        <p:spPr>
          <a:xfrm>
            <a:off x="6446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ight Arrow 29"/>
          <p:cNvSpPr/>
          <p:nvPr/>
        </p:nvSpPr>
        <p:spPr>
          <a:xfrm>
            <a:off x="80467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ight Arrow 30"/>
          <p:cNvSpPr/>
          <p:nvPr/>
        </p:nvSpPr>
        <p:spPr>
          <a:xfrm>
            <a:off x="9875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74920" y="4041648"/>
            <a:ext cx="640080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306C"/>
                </a:solidFill>
                <a:latin typeface="Pretendard"/>
                <a:ea typeface="Pretendard"/>
                <a:cs typeface="Pretendard"/>
              </a:rPr>
              <a:t>Examples of fixed flow statistics in the CSV</a:t>
            </a:r>
          </a:p>
        </p:txBody>
      </p:sp>
      <p:sp>
        <p:nvSpPr>
          <p:cNvPr id="33" name="Rectangle 32"/>
          <p:cNvSpPr/>
          <p:nvPr/>
        </p:nvSpPr>
        <p:spPr>
          <a:xfrm>
            <a:off x="5074920"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ectangle 33"/>
          <p:cNvSpPr/>
          <p:nvPr/>
        </p:nvSpPr>
        <p:spPr>
          <a:xfrm>
            <a:off x="5074920"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166359"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duration</a:t>
            </a:r>
          </a:p>
        </p:txBody>
      </p:sp>
      <p:sp>
        <p:nvSpPr>
          <p:cNvPr id="36" name="TextBox 35"/>
          <p:cNvSpPr txBox="1"/>
          <p:nvPr/>
        </p:nvSpPr>
        <p:spPr>
          <a:xfrm>
            <a:off x="5184648" y="5074920"/>
            <a:ext cx="1682496" cy="229819"/>
          </a:xfrm>
          <a:prstGeom prst="rect">
            <a:avLst/>
          </a:prstGeom>
          <a:noFill/>
          <a:effectLst/>
        </p:spPr>
        <p:txBody>
          <a:bodyPr wrap="none" anchor="t" lIns="0" rIns="0" tIns="0" bIns="0">
            <a:noAutofit/>
          </a:bodyPr>
          <a:lstStyle/>
          <a:p>
            <a:pPr algn="ctr">
              <a:lnSpc>
                <a:spcPct val="118000"/>
              </a:lnSpc>
              <a:spcBef>
                <a:spcPts val="0"/>
              </a:spcBef>
              <a:spcAft>
                <a:spcPts val="0"/>
              </a:spcAft>
            </a:pPr>
            <a:r>
              <a:rPr sz="1320" b="0" lang="ko-KR">
                <a:solidFill>
                  <a:srgbClr val="20262E"/>
                </a:solidFill>
                <a:latin typeface="Pretendard"/>
                <a:ea typeface="Pretendard"/>
                <a:cs typeface="Pretendard"/>
              </a:rPr>
              <a:t>first to last packet</a:t>
            </a:r>
          </a:p>
        </p:txBody>
      </p:sp>
      <p:sp>
        <p:nvSpPr>
          <p:cNvPr id="37" name="Rectangle 36"/>
          <p:cNvSpPr/>
          <p:nvPr/>
        </p:nvSpPr>
        <p:spPr>
          <a:xfrm>
            <a:off x="7242048"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angle 37"/>
          <p:cNvSpPr/>
          <p:nvPr/>
        </p:nvSpPr>
        <p:spPr>
          <a:xfrm>
            <a:off x="7242048"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333488"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Fwd. packets</a:t>
            </a:r>
          </a:p>
        </p:txBody>
      </p:sp>
      <p:sp>
        <p:nvSpPr>
          <p:cNvPr id="40" name="TextBox 39"/>
          <p:cNvSpPr txBox="1"/>
          <p:nvPr/>
        </p:nvSpPr>
        <p:spPr>
          <a:xfrm>
            <a:off x="7351775" y="5074920"/>
            <a:ext cx="1682496" cy="229819"/>
          </a:xfrm>
          <a:prstGeom prst="rect">
            <a:avLst/>
          </a:prstGeom>
          <a:noFill/>
          <a:effectLst/>
        </p:spPr>
        <p:txBody>
          <a:bodyPr wrap="none" anchor="t" lIns="0" rIns="0" tIns="0" bIns="0">
            <a:noAutofit/>
          </a:bodyPr>
          <a:lstStyle/>
          <a:p>
            <a:pPr algn="ctr">
              <a:lnSpc>
                <a:spcPct val="118000"/>
              </a:lnSpc>
              <a:spcBef>
                <a:spcPts val="0"/>
              </a:spcBef>
              <a:spcAft>
                <a:spcPts val="0"/>
              </a:spcAft>
            </a:pPr>
            <a:r>
              <a:rPr sz="1320" b="0" lang="ko-KR">
                <a:solidFill>
                  <a:srgbClr val="20262E"/>
                </a:solidFill>
                <a:latin typeface="Pretendard"/>
                <a:ea typeface="Pretendard"/>
                <a:cs typeface="Pretendard"/>
              </a:rPr>
              <a:t>packets sent</a:t>
            </a:r>
          </a:p>
        </p:txBody>
      </p:sp>
      <p:sp>
        <p:nvSpPr>
          <p:cNvPr id="41" name="Rectangle 40"/>
          <p:cNvSpPr/>
          <p:nvPr/>
        </p:nvSpPr>
        <p:spPr>
          <a:xfrm>
            <a:off x="9409176"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ectangle 41"/>
          <p:cNvSpPr/>
          <p:nvPr/>
        </p:nvSpPr>
        <p:spPr>
          <a:xfrm>
            <a:off x="9409176"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9500615"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Packet interval</a:t>
            </a:r>
          </a:p>
        </p:txBody>
      </p:sp>
      <p:sp>
        <p:nvSpPr>
          <p:cNvPr id="44" name="TextBox 43"/>
          <p:cNvSpPr txBox="1"/>
          <p:nvPr/>
        </p:nvSpPr>
        <p:spPr>
          <a:xfrm>
            <a:off x="9518903" y="5074920"/>
            <a:ext cx="1682496" cy="229819"/>
          </a:xfrm>
          <a:prstGeom prst="rect">
            <a:avLst/>
          </a:prstGeom>
          <a:noFill/>
          <a:effectLst/>
        </p:spPr>
        <p:txBody>
          <a:bodyPr wrap="none" anchor="t" lIns="0" rIns="0" tIns="0" bIns="0">
            <a:noAutofit/>
          </a:bodyPr>
          <a:lstStyle/>
          <a:p>
            <a:pPr algn="ctr">
              <a:lnSpc>
                <a:spcPct val="118000"/>
              </a:lnSpc>
              <a:spcBef>
                <a:spcPts val="0"/>
              </a:spcBef>
              <a:spcAft>
                <a:spcPts val="0"/>
              </a:spcAft>
            </a:pPr>
            <a:r>
              <a:rPr sz="1320" b="0" lang="ko-KR">
                <a:solidFill>
                  <a:srgbClr val="20262E"/>
                </a:solidFill>
                <a:latin typeface="Pretendard"/>
                <a:ea typeface="Pretendard"/>
                <a:cs typeface="Pretendard"/>
              </a:rPr>
              <a:t>interval statistics</a:t>
            </a:r>
          </a:p>
        </p:txBody>
      </p:sp>
      <p:sp>
        <p:nvSpPr>
          <p:cNvPr id="45" name="TextBox 44"/>
          <p:cNvSpPr txBox="1"/>
          <p:nvPr/>
        </p:nvSpPr>
        <p:spPr>
          <a:xfrm>
            <a:off x="5120640" y="5852160"/>
            <a:ext cx="6309360" cy="241808"/>
          </a:xfrm>
          <a:prstGeom prst="rect">
            <a:avLst/>
          </a:prstGeom>
          <a:noFill/>
          <a:effectLst/>
        </p:spPr>
        <p:txBody>
          <a:bodyPr wrap="none" anchor="t" lIns="0" rIns="0" tIns="0" bIns="0">
            <a:noAutofit/>
          </a:bodyPr>
          <a:lstStyle/>
          <a:p>
            <a:pPr algn="ctr">
              <a:lnSpc>
                <a:spcPct val="118000"/>
              </a:lnSpc>
              <a:spcBef>
                <a:spcPts val="0"/>
              </a:spcBef>
              <a:spcAft>
                <a:spcPts val="0"/>
              </a:spcAft>
            </a:pPr>
            <a:r>
              <a:rPr sz="1400" b="0" lang="ko-KR">
                <a:solidFill>
                  <a:srgbClr val="617080"/>
                </a:solidFill>
                <a:latin typeface="Pretendard"/>
                <a:ea typeface="Pretendard"/>
                <a:cs typeface="Pretendard"/>
              </a:rPr>
              <a:t>A summary of predefined flow statistics, not the packet sequence itself</a:t>
            </a:r>
          </a:p>
        </p:txBody>
      </p:sp>
      <p:sp>
        <p:nvSpPr>
          <p:cNvPr id="46" name="Rectangle 4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Prior models use the supplied flow-statistics CSV</a:t>
            </a:r>
          </a:p>
        </p:txBody>
      </p:sp>
      <p:sp>
        <p:nvSpPr>
          <p:cNvPr id="48" name="TextBox 4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Existing CSV</a:t>
            </a:r>
          </a:p>
        </p:txBody>
      </p:sp>
      <p:sp>
        <p:nvSpPr>
          <p:cNvPr id="49" name="TextBox 4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Two issues in CSV-based IDS classification</a:t>
            </a:r>
          </a:p>
        </p:txBody>
      </p:sp>
      <p:sp>
        <p:nvSpPr>
          <p:cNvPr id="3" name="Rectangle 2"/>
          <p:cNvSpPr/>
          <p:nvPr/>
        </p:nvSpPr>
        <p:spPr>
          <a:xfrm>
            <a:off x="594360"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719072"/>
            <a:ext cx="5276088"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Issue 1  Early saturation in some attacks</a:t>
            </a:r>
          </a:p>
        </p:txBody>
      </p:sp>
      <p:sp>
        <p:nvSpPr>
          <p:cNvPr id="6" name="TextBox 5"/>
          <p:cNvSpPr txBox="1"/>
          <p:nvPr/>
        </p:nvSpPr>
        <p:spPr>
          <a:xfrm>
            <a:off x="740664" y="2286000"/>
            <a:ext cx="4983479" cy="1170940"/>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Head attacks such as DDoS and Bot</a:t>
            </a:r>
          </a:p>
          <a:p>
            <a:pPr algn="ctr">
              <a:lnSpc>
                <a:spcPct val="118000"/>
              </a:lnSpc>
              <a:spcBef>
                <a:spcPts val="0"/>
              </a:spcBef>
              <a:spcAft>
                <a:spcPts val="0"/>
              </a:spcAft>
            </a:pPr>
            <a:r>
              <a:rPr sz="1900" b="0" lang="ko-KR">
                <a:solidFill>
                  <a:srgbClr val="20262E"/>
                </a:solidFill>
                <a:latin typeface="Pretendard"/>
                <a:ea typeface="Pretendard"/>
                <a:cs typeface="Pretendard"/>
              </a:rPr>
              <a:t>reach F1 in the 90% range with n = 2 to 20</a:t>
            </a:r>
          </a:p>
          <a:p>
            <a:pPr algn="ctr">
              <a:lnSpc>
                <a:spcPct val="118000"/>
              </a:lnSpc>
              <a:spcBef>
                <a:spcPts val="0"/>
              </a:spcBef>
              <a:spcAft>
                <a:spcPts val="0"/>
              </a:spcAft>
            </a:pPr>
            <a:r>
              <a:rPr sz="1900" b="0" lang="ko-KR">
                <a:solidFill>
                  <a:srgbClr val="20262E"/>
                </a:solidFill>
                <a:latin typeface="Pretendard"/>
                <a:ea typeface="Pretendard"/>
                <a:cs typeface="Pretendard"/>
              </a:rPr>
              <a:t/>
            </a:r>
          </a:p>
          <a:p>
            <a:pPr algn="ctr">
              <a:lnSpc>
                <a:spcPct val="118000"/>
              </a:lnSpc>
              <a:spcBef>
                <a:spcPts val="0"/>
              </a:spcBef>
              <a:spcAft>
                <a:spcPts val="0"/>
              </a:spcAft>
            </a:pPr>
            <a:r>
              <a:rPr sz="1900" b="0" lang="ko-KR">
                <a:solidFill>
                  <a:srgbClr val="20262E"/>
                </a:solidFill>
                <a:latin typeface="Pretendard"/>
                <a:ea typeface="Pretendard"/>
                <a:cs typeface="Pretendard"/>
              </a:rPr>
              <a:t>→ a high data ceiling before adding labels</a:t>
            </a:r>
          </a:p>
        </p:txBody>
      </p:sp>
      <p:sp>
        <p:nvSpPr>
          <p:cNvPr id="7" name="Rectangle 6"/>
          <p:cNvSpPr/>
          <p:nvPr/>
        </p:nvSpPr>
        <p:spPr>
          <a:xfrm>
            <a:off x="6318504"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318504" y="1719072"/>
            <a:ext cx="5276088"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28232"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Issue 2  Identical features, different labels</a:t>
            </a:r>
          </a:p>
        </p:txBody>
      </p:sp>
      <p:sp>
        <p:nvSpPr>
          <p:cNvPr id="10" name="TextBox 9"/>
          <p:cNvSpPr txBox="1"/>
          <p:nvPr/>
        </p:nvSpPr>
        <p:spPr>
          <a:xfrm>
            <a:off x="6464808" y="2286000"/>
            <a:ext cx="4983479" cy="1170940"/>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Rows with dozens of identical flow statistics</a:t>
            </a:r>
          </a:p>
          <a:p>
            <a:pPr algn="ctr">
              <a:lnSpc>
                <a:spcPct val="118000"/>
              </a:lnSpc>
              <a:spcBef>
                <a:spcPts val="0"/>
              </a:spcBef>
              <a:spcAft>
                <a:spcPts val="0"/>
              </a:spcAft>
            </a:pPr>
            <a:r>
              <a:rPr sz="1900" b="0" lang="ko-KR">
                <a:solidFill>
                  <a:srgbClr val="20262E"/>
                </a:solidFill>
                <a:latin typeface="Pretendard"/>
                <a:ea typeface="Pretendard"/>
                <a:cs typeface="Pretendard"/>
              </a:rPr>
              <a:t>can still have different recorded labels</a:t>
            </a:r>
          </a:p>
          <a:p>
            <a:pPr algn="ctr">
              <a:lnSpc>
                <a:spcPct val="118000"/>
              </a:lnSpc>
              <a:spcBef>
                <a:spcPts val="0"/>
              </a:spcBef>
              <a:spcAft>
                <a:spcPts val="0"/>
              </a:spcAft>
            </a:pPr>
            <a:r>
              <a:rPr sz="1900" b="0" lang="ko-KR">
                <a:solidFill>
                  <a:srgbClr val="20262E"/>
                </a:solidFill>
                <a:latin typeface="Pretendard"/>
                <a:ea typeface="Pretendard"/>
                <a:cs typeface="Pretendard"/>
              </a:rPr>
              <a:t/>
            </a:r>
          </a:p>
          <a:p>
            <a:pPr algn="ctr">
              <a:lnSpc>
                <a:spcPct val="118000"/>
              </a:lnSpc>
              <a:spcBef>
                <a:spcPts val="0"/>
              </a:spcBef>
              <a:spcAft>
                <a:spcPts val="0"/>
              </a:spcAft>
            </a:pPr>
            <a:r>
              <a:rPr sz="1900" b="0" lang="ko-KR">
                <a:solidFill>
                  <a:srgbClr val="20262E"/>
                </a:solidFill>
                <a:latin typeface="Pretendard"/>
                <a:ea typeface="Pretendard"/>
                <a:cs typeface="Pretendard"/>
              </a:rPr>
              <a:t>→ one deterministic classifier cannot fit both</a:t>
            </a:r>
          </a:p>
        </p:txBody>
      </p:sp>
      <p:sp>
        <p:nvSpPr>
          <p:cNvPr id="11" name="Rectangle 10"/>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Early saturation and feature–label contradictions require separate diagnosis</a:t>
            </a:r>
          </a:p>
        </p:txBody>
      </p:sp>
      <p:sp>
        <p:nvSpPr>
          <p:cNvPr id="13" name="TextBox 12"/>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Existing CSV</a:t>
            </a:r>
          </a:p>
        </p:txBody>
      </p:sp>
      <p:sp>
        <p:nvSpPr>
          <p:cNvPr id="14" name="TextBox 13"/>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Some head attacks already have high F1 with few labels</a:t>
            </a:r>
          </a:p>
        </p:txBody>
      </p:sp>
      <p:sp>
        <p:nvSpPr>
          <p:cNvPr id="3" name="TextBox 2"/>
          <p:cNvSpPr txBox="1"/>
          <p:nvPr/>
        </p:nvSpPr>
        <p:spPr>
          <a:xfrm>
            <a:off x="594360" y="1005840"/>
            <a:ext cx="10972800" cy="279273"/>
          </a:xfrm>
          <a:prstGeom prst="rect">
            <a:avLst/>
          </a:prstGeom>
          <a:noFill/>
          <a:effectLst/>
        </p:spPr>
        <p:txBody>
          <a:bodyPr wrap="none" anchor="t" lIns="0" rIns="0" tIns="0" bIns="0">
            <a:noAutofit/>
          </a:bodyPr>
          <a:lstStyle/>
          <a:p>
            <a:pPr algn="l">
              <a:lnSpc>
                <a:spcPct val="118000"/>
              </a:lnSpc>
              <a:spcBef>
                <a:spcPts val="0"/>
              </a:spcBef>
              <a:spcAft>
                <a:spcPts val="0"/>
              </a:spcAft>
            </a:pPr>
            <a:r>
              <a:rPr sz="1650" b="0" lang="ko-KR">
                <a:solidFill>
                  <a:srgbClr val="617080"/>
                </a:solidFill>
                <a:latin typeface="Pretendard"/>
                <a:ea typeface="Pretendard"/>
                <a:cs typeface="Pretendard"/>
              </a:rPr>
              <a:t>Macro F1 still changes beyond n = 20, but DDoS and Bot approach high F1 with few labels</a:t>
            </a:r>
          </a:p>
        </p:txBody>
      </p:sp>
      <p:pic>
        <p:nvPicPr>
          <p:cNvPr id="4" name="Picture 3" descr="ceiling_curve_heatmaps.png"/>
          <p:cNvPicPr>
            <a:picLocks noChangeAspect="1"/>
          </p:cNvPicPr>
          <p:nvPr/>
        </p:nvPicPr>
        <p:blipFill>
          <a:blip r:embed="rId3"/>
          <a:stretch>
            <a:fillRect/>
          </a:stretch>
        </p:blipFill>
        <p:spPr>
          <a:xfrm>
            <a:off x="620833" y="1353312"/>
            <a:ext cx="10938141" cy="4160520"/>
          </a:xfrm>
          <a:prstGeom prst="rect">
            <a:avLst/>
          </a:prstGeom>
          <a:effectLst/>
        </p:spPr>
      </p:pic>
      <p:sp>
        <p:nvSpPr>
          <p:cNvPr id="5" name="TextBox 4"/>
          <p:cNvSpPr txBox="1"/>
          <p:nvPr/>
        </p:nvSpPr>
        <p:spPr>
          <a:xfrm>
            <a:off x="658368" y="5751576"/>
            <a:ext cx="10789920" cy="220827"/>
          </a:xfrm>
          <a:prstGeom prst="rect">
            <a:avLst/>
          </a:prstGeom>
          <a:noFill/>
          <a:effectLst/>
        </p:spPr>
        <p:txBody>
          <a:bodyPr wrap="none" anchor="t" lIns="0" rIns="0" tIns="0" bIns="0">
            <a:noAutofit/>
          </a:bodyPr>
          <a:lstStyle/>
          <a:p>
            <a:pPr algn="l">
              <a:lnSpc>
                <a:spcPct val="118000"/>
              </a:lnSpc>
              <a:spcBef>
                <a:spcPts val="0"/>
              </a:spcBef>
              <a:spcAft>
                <a:spcPts val="0"/>
              </a:spcAft>
            </a:pPr>
            <a:r>
              <a:rPr sz="1260" b="0" lang="ko-KR">
                <a:solidFill>
                  <a:srgbClr val="617080"/>
                </a:solidFill>
                <a:latin typeface="Pretendard"/>
                <a:ea typeface="Pretendard"/>
                <a:cs typeface="Pretendard"/>
              </a:rPr>
              <a:t>EXP87 · attack-only training and evaluation · benign excluded · 5 seeds · fixed conflict-free test · n = 450 is the balanced-label-budget ceiling</a:t>
            </a:r>
          </a:p>
        </p:txBody>
      </p:sp>
      <p:sp>
        <p:nvSpPr>
          <p:cNvPr id="6" name="Rectangle 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Macro F1 changes with n, while classwise saturation is uneven</a:t>
            </a:r>
          </a:p>
        </p:txBody>
      </p:sp>
      <p:sp>
        <p:nvSpPr>
          <p:cNvPr id="8" name="TextBox 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Data ceiling</a:t>
            </a:r>
          </a:p>
        </p:txBody>
      </p:sp>
      <p:sp>
        <p:nvSpPr>
          <p:cNvPr id="9" name="TextBox 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Identical features, different classes in CIC2018 CSV</a:t>
            </a:r>
          </a:p>
        </p:txBody>
      </p:sp>
      <p:sp>
        <p:nvSpPr>
          <p:cNvPr id="3" name="TextBox 2"/>
          <p:cNvSpPr txBox="1"/>
          <p:nvPr/>
        </p:nvSpPr>
        <p:spPr>
          <a:xfrm>
            <a:off x="594360" y="1005840"/>
            <a:ext cx="1097280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Exact agreement on 78 common CICFlowMeter statistics, excluding timestamps, identifiers, addresses, ports, and labels</a:t>
            </a:r>
          </a:p>
        </p:txBody>
      </p:sp>
      <p:sp>
        <p:nvSpPr>
          <p:cNvPr id="4" name="Rectangle 3"/>
          <p:cNvSpPr/>
          <p:nvPr/>
        </p:nvSpPr>
        <p:spPr>
          <a:xfrm>
            <a:off x="594360" y="1481328"/>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613916"/>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Dst Port</a:t>
            </a:r>
          </a:p>
        </p:txBody>
      </p:sp>
      <p:sp>
        <p:nvSpPr>
          <p:cNvPr id="6" name="Rectangle 5"/>
          <p:cNvSpPr/>
          <p:nvPr/>
        </p:nvSpPr>
        <p:spPr>
          <a:xfrm>
            <a:off x="1554480" y="1481328"/>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600200" y="1613916"/>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Protocol</a:t>
            </a:r>
          </a:p>
        </p:txBody>
      </p:sp>
      <p:sp>
        <p:nvSpPr>
          <p:cNvPr id="8" name="Rectangle 7"/>
          <p:cNvSpPr/>
          <p:nvPr/>
        </p:nvSpPr>
        <p:spPr>
          <a:xfrm>
            <a:off x="2194560" y="1481328"/>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240280" y="1613916"/>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Duration</a:t>
            </a:r>
          </a:p>
        </p:txBody>
      </p:sp>
      <p:sp>
        <p:nvSpPr>
          <p:cNvPr id="10" name="Rectangle 9"/>
          <p:cNvSpPr/>
          <p:nvPr/>
        </p:nvSpPr>
        <p:spPr>
          <a:xfrm>
            <a:off x="3456432" y="1481328"/>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502152"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Fwd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2" name="Rectangle 11"/>
          <p:cNvSpPr/>
          <p:nvPr/>
        </p:nvSpPr>
        <p:spPr>
          <a:xfrm>
            <a:off x="4306824" y="1481328"/>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352544"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4" name="Rectangle 13"/>
          <p:cNvSpPr/>
          <p:nvPr/>
        </p:nvSpPr>
        <p:spPr>
          <a:xfrm>
            <a:off x="5157216" y="1481328"/>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202936" y="1613916"/>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16" name="Rectangle 15"/>
          <p:cNvSpPr/>
          <p:nvPr/>
        </p:nvSpPr>
        <p:spPr>
          <a:xfrm>
            <a:off x="6364224" y="1481328"/>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09944" y="1613916"/>
            <a:ext cx="1051560"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TotLen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8" name="Rectangle 17"/>
          <p:cNvSpPr/>
          <p:nvPr/>
        </p:nvSpPr>
        <p:spPr>
          <a:xfrm>
            <a:off x="7507224" y="1481328"/>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552944" y="1613916"/>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Byts/s</a:t>
            </a:r>
          </a:p>
        </p:txBody>
      </p:sp>
      <p:sp>
        <p:nvSpPr>
          <p:cNvPr id="20" name="Rectangle 19"/>
          <p:cNvSpPr/>
          <p:nvPr/>
        </p:nvSpPr>
        <p:spPr>
          <a:xfrm>
            <a:off x="8266176" y="1481328"/>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11896" y="1613916"/>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Pkts/s</a:t>
            </a:r>
          </a:p>
        </p:txBody>
      </p:sp>
      <p:sp>
        <p:nvSpPr>
          <p:cNvPr id="22" name="Rectangle 21"/>
          <p:cNvSpPr/>
          <p:nvPr/>
        </p:nvSpPr>
        <p:spPr>
          <a:xfrm>
            <a:off x="9290304" y="1481328"/>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336024" y="1613916"/>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Idle Min</a:t>
            </a:r>
          </a:p>
        </p:txBody>
      </p:sp>
      <p:sp>
        <p:nvSpPr>
          <p:cNvPr id="24" name="Rectangle 23"/>
          <p:cNvSpPr/>
          <p:nvPr/>
        </p:nvSpPr>
        <p:spPr>
          <a:xfrm>
            <a:off x="10040112" y="1481328"/>
            <a:ext cx="1554480" cy="438912"/>
          </a:xfrm>
          <a:prstGeom prst="rect">
            <a:avLst/>
          </a:prstGeom>
          <a:solidFill>
            <a:srgbClr val="00306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0085832" y="1613916"/>
            <a:ext cx="1463039"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NF-v3</a:t>
            </a:r>
          </a:p>
          <a:p>
            <a:pPr algn="ctr">
              <a:lnSpc>
                <a:spcPct val="118000"/>
              </a:lnSpc>
              <a:spcBef>
                <a:spcPts val="0"/>
              </a:spcBef>
              <a:spcAft>
                <a:spcPts val="0"/>
              </a:spcAft>
            </a:pPr>
            <a:r>
              <a:rPr sz="980" b="1" lang="ko-KR">
                <a:solidFill>
                  <a:srgbClr val="20262E"/>
                </a:solidFill>
                <a:latin typeface="Pretendard"/>
                <a:ea typeface="Pretendard"/>
                <a:cs typeface="Pretendard"/>
              </a:rPr>
              <a:t>class</a:t>
            </a:r>
          </a:p>
        </p:txBody>
      </p:sp>
      <p:sp>
        <p:nvSpPr>
          <p:cNvPr id="26" name="Rectangle 25"/>
          <p:cNvSpPr/>
          <p:nvPr/>
        </p:nvSpPr>
        <p:spPr>
          <a:xfrm>
            <a:off x="594360" y="1929384"/>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0080" y="2061972"/>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28" name="Rectangle 27"/>
          <p:cNvSpPr/>
          <p:nvPr/>
        </p:nvSpPr>
        <p:spPr>
          <a:xfrm>
            <a:off x="1554480" y="1929384"/>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600200" y="2061972"/>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30" name="Rectangle 29"/>
          <p:cNvSpPr/>
          <p:nvPr/>
        </p:nvSpPr>
        <p:spPr>
          <a:xfrm>
            <a:off x="2194560" y="1929384"/>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240280" y="2061972"/>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32" name="Rectangle 31"/>
          <p:cNvSpPr/>
          <p:nvPr/>
        </p:nvSpPr>
        <p:spPr>
          <a:xfrm>
            <a:off x="3456432" y="1929384"/>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502152"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4" name="Rectangle 33"/>
          <p:cNvSpPr/>
          <p:nvPr/>
        </p:nvSpPr>
        <p:spPr>
          <a:xfrm>
            <a:off x="4306824" y="1929384"/>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352544"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6" name="Rectangle 35"/>
          <p:cNvSpPr/>
          <p:nvPr/>
        </p:nvSpPr>
        <p:spPr>
          <a:xfrm>
            <a:off x="5157216" y="1929384"/>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5202936" y="2061972"/>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38" name="Rectangle 37"/>
          <p:cNvSpPr/>
          <p:nvPr/>
        </p:nvSpPr>
        <p:spPr>
          <a:xfrm>
            <a:off x="6364224" y="1929384"/>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409944" y="2061972"/>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0" name="Rectangle 39"/>
          <p:cNvSpPr/>
          <p:nvPr/>
        </p:nvSpPr>
        <p:spPr>
          <a:xfrm>
            <a:off x="7507224" y="1929384"/>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552944" y="2061972"/>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2" name="Rectangle 41"/>
          <p:cNvSpPr/>
          <p:nvPr/>
        </p:nvSpPr>
        <p:spPr>
          <a:xfrm>
            <a:off x="8266176" y="1929384"/>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8311896" y="2061972"/>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44" name="Rectangle 43"/>
          <p:cNvSpPr/>
          <p:nvPr/>
        </p:nvSpPr>
        <p:spPr>
          <a:xfrm>
            <a:off x="9290304" y="1929384"/>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36024" y="2061972"/>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6" name="Rectangle 45"/>
          <p:cNvSpPr/>
          <p:nvPr/>
        </p:nvSpPr>
        <p:spPr>
          <a:xfrm>
            <a:off x="10040112" y="1929384"/>
            <a:ext cx="1554480" cy="438912"/>
          </a:xfrm>
          <a:prstGeom prst="rect">
            <a:avLst/>
          </a:prstGeom>
          <a:solidFill>
            <a:srgbClr val="FBE8E7"/>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10085832" y="2061972"/>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dos</a:t>
            </a:r>
          </a:p>
        </p:txBody>
      </p:sp>
      <p:sp>
        <p:nvSpPr>
          <p:cNvPr id="48" name="Rectangle 47"/>
          <p:cNvSpPr/>
          <p:nvPr/>
        </p:nvSpPr>
        <p:spPr>
          <a:xfrm>
            <a:off x="594360" y="2377440"/>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0080" y="2510028"/>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50" name="Rectangle 49"/>
          <p:cNvSpPr/>
          <p:nvPr/>
        </p:nvSpPr>
        <p:spPr>
          <a:xfrm>
            <a:off x="1554480" y="2377440"/>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600200" y="2510028"/>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52" name="Rectangle 51"/>
          <p:cNvSpPr/>
          <p:nvPr/>
        </p:nvSpPr>
        <p:spPr>
          <a:xfrm>
            <a:off x="2194560" y="2377440"/>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2240280" y="2510028"/>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54" name="Rectangle 53"/>
          <p:cNvSpPr/>
          <p:nvPr/>
        </p:nvSpPr>
        <p:spPr>
          <a:xfrm>
            <a:off x="3456432" y="2377440"/>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3502152"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6" name="Rectangle 55"/>
          <p:cNvSpPr/>
          <p:nvPr/>
        </p:nvSpPr>
        <p:spPr>
          <a:xfrm>
            <a:off x="4306824" y="2377440"/>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352544"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8" name="Rectangle 57"/>
          <p:cNvSpPr/>
          <p:nvPr/>
        </p:nvSpPr>
        <p:spPr>
          <a:xfrm>
            <a:off x="5157216" y="2377440"/>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202936" y="2510028"/>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60" name="Rectangle 59"/>
          <p:cNvSpPr/>
          <p:nvPr/>
        </p:nvSpPr>
        <p:spPr>
          <a:xfrm>
            <a:off x="6364224" y="2377440"/>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6409944" y="2510028"/>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2" name="Rectangle 61"/>
          <p:cNvSpPr/>
          <p:nvPr/>
        </p:nvSpPr>
        <p:spPr>
          <a:xfrm>
            <a:off x="7507224" y="2377440"/>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552944" y="2510028"/>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4" name="Rectangle 63"/>
          <p:cNvSpPr/>
          <p:nvPr/>
        </p:nvSpPr>
        <p:spPr>
          <a:xfrm>
            <a:off x="8266176" y="2377440"/>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311896" y="2510028"/>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66" name="Rectangle 65"/>
          <p:cNvSpPr/>
          <p:nvPr/>
        </p:nvSpPr>
        <p:spPr>
          <a:xfrm>
            <a:off x="9290304" y="2377440"/>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9336024" y="2510028"/>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8" name="Rectangle 67"/>
          <p:cNvSpPr/>
          <p:nvPr/>
        </p:nvSpPr>
        <p:spPr>
          <a:xfrm>
            <a:off x="10040112" y="2377440"/>
            <a:ext cx="1554480" cy="438912"/>
          </a:xfrm>
          <a:prstGeom prst="rect">
            <a:avLst/>
          </a:prstGeom>
          <a:solidFill>
            <a:srgbClr val="E6F1F8"/>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10085832" y="2510028"/>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bf</a:t>
            </a:r>
          </a:p>
        </p:txBody>
      </p:sp>
      <p:sp>
        <p:nvSpPr>
          <p:cNvPr id="70" name="TextBox 69"/>
          <p:cNvSpPr txBox="1"/>
          <p:nvPr/>
        </p:nvSpPr>
        <p:spPr>
          <a:xfrm>
            <a:off x="658368" y="2962656"/>
            <a:ext cx="10789920" cy="264287"/>
          </a:xfrm>
          <a:prstGeom prst="rect">
            <a:avLst/>
          </a:prstGeom>
          <a:noFill/>
          <a:effectLst/>
        </p:spPr>
        <p:txBody>
          <a:bodyPr wrap="none" anchor="t" lIns="0" rIns="0" tIns="0" bIns="0">
            <a:noAutofit/>
          </a:bodyPr>
          <a:lstStyle/>
          <a:p>
            <a:pPr algn="l">
              <a:lnSpc>
                <a:spcPct val="118000"/>
              </a:lnSpc>
              <a:spcBef>
                <a:spcPts val="0"/>
              </a:spcBef>
              <a:spcAft>
                <a:spcPts val="0"/>
              </a:spcAft>
            </a:pPr>
            <a:r>
              <a:rPr sz="1550" b="1" lang="ko-KR">
                <a:solidFill>
                  <a:srgbClr val="B44948"/>
                </a:solidFill>
                <a:latin typeface="Pretendard"/>
                <a:ea typeface="Pretendard"/>
                <a:cs typeface="Pretendard"/>
              </a:rPr>
              <a:t>The two rows above: bf · dos  ·  all other 69 fields are also identical</a:t>
            </a:r>
          </a:p>
        </p:txBody>
      </p:sp>
      <p:pic>
        <p:nvPicPr>
          <p:cNvPr id="71" name="Picture 70" descr="original_csv_conflict_rates.png"/>
          <p:cNvPicPr>
            <a:picLocks noChangeAspect="1"/>
          </p:cNvPicPr>
          <p:nvPr/>
        </p:nvPicPr>
        <p:blipFill>
          <a:blip r:embed="rId3"/>
          <a:stretch>
            <a:fillRect/>
          </a:stretch>
        </p:blipFill>
        <p:spPr>
          <a:xfrm>
            <a:off x="1202316" y="3172968"/>
            <a:ext cx="9775175" cy="2130552"/>
          </a:xfrm>
          <a:prstGeom prst="rect">
            <a:avLst/>
          </a:prstGeom>
          <a:effectLst/>
        </p:spPr>
      </p:pic>
      <p:sp>
        <p:nvSpPr>
          <p:cNvPr id="72" name="TextBox 71"/>
          <p:cNvSpPr txBox="1"/>
          <p:nvPr/>
        </p:nvSpPr>
        <p:spPr>
          <a:xfrm>
            <a:off x="658368" y="5532120"/>
            <a:ext cx="10835640" cy="222326"/>
          </a:xfrm>
          <a:prstGeom prst="rect">
            <a:avLst/>
          </a:prstGeom>
          <a:noFill/>
          <a:effectLst/>
        </p:spPr>
        <p:txBody>
          <a:bodyPr wrap="none" anchor="t" lIns="0" rIns="0" tIns="0" bIns="0">
            <a:noAutofit/>
          </a:bodyPr>
          <a:lstStyle/>
          <a:p>
            <a:pPr algn="l">
              <a:lnSpc>
                <a:spcPct val="118000"/>
              </a:lnSpc>
              <a:spcBef>
                <a:spcPts val="0"/>
              </a:spcBef>
              <a:spcAft>
                <a:spcPts val="0"/>
              </a:spcAft>
            </a:pPr>
            <a:r>
              <a:rPr sz="1270" b="0" lang="ko-KR">
                <a:solidFill>
                  <a:srgbClr val="617080"/>
                </a:solidFill>
                <a:latin typeface="Pretendard"/>
                <a:ea typeface="Pretendard"/>
                <a:cs typeface="Pretendard"/>
              </a:rPr>
              <a:t>Audit of all 16,232,943 raw CSV rows · aggregated to seven NF-v3 classes · bar endpoint: different-class rows</a:t>
            </a:r>
          </a:p>
        </p:txBody>
      </p:sp>
      <p:sp>
        <p:nvSpPr>
          <p:cNvPr id="73" name="Rectangle 72"/>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Literal rows share all 78 common flow statistics but belong to different NF-v3 classes</a:t>
            </a:r>
          </a:p>
        </p:txBody>
      </p:sp>
      <p:sp>
        <p:nvSpPr>
          <p:cNvPr id="75" name="TextBox 74"/>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Label conflicts</a:t>
            </a:r>
          </a:p>
        </p:txBody>
      </p:sp>
      <p:sp>
        <p:nvSpPr>
          <p:cNvPr id="76" name="TextBox 75"/>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A PCAP-based CIC2018 representation pipeline</a:t>
            </a:r>
          </a:p>
        </p:txBody>
      </p:sp>
      <p:sp>
        <p:nvSpPr>
          <p:cNvPr id="3" name="TextBox 2"/>
          <p:cNvSpPr txBox="1"/>
          <p:nvPr/>
        </p:nvSpPr>
        <p:spPr>
          <a:xfrm>
            <a:off x="594360" y="1005840"/>
            <a:ext cx="1097280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Generate representations from packet sequences, then recheck both issues under the same protocol</a:t>
            </a:r>
          </a:p>
        </p:txBody>
      </p:sp>
      <p:sp>
        <p:nvSpPr>
          <p:cNvPr id="4" name="Rectangle 3"/>
          <p:cNvSpPr/>
          <p:nvPr/>
        </p:nvSpPr>
        <p:spPr>
          <a:xfrm>
            <a:off x="594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 + labels</a:t>
            </a:r>
          </a:p>
        </p:txBody>
      </p:sp>
      <p:sp>
        <p:nvSpPr>
          <p:cNvPr id="7" name="TextBox 6"/>
          <p:cNvSpPr txBox="1"/>
          <p:nvPr/>
        </p:nvSpPr>
        <p:spPr>
          <a:xfrm>
            <a:off x="704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packet, time,</a:t>
            </a:r>
          </a:p>
          <a:p>
            <a:pPr algn="ctr">
              <a:lnSpc>
                <a:spcPct val="118000"/>
              </a:lnSpc>
              <a:spcBef>
                <a:spcPts val="0"/>
              </a:spcBef>
              <a:spcAft>
                <a:spcPts val="0"/>
              </a:spcAft>
            </a:pPr>
            <a:r>
              <a:rPr sz="1500" b="0" lang="ko-KR">
                <a:solidFill>
                  <a:srgbClr val="20262E"/>
                </a:solidFill>
                <a:latin typeface="Pretendard"/>
                <a:ea typeface="Pretendard"/>
                <a:cs typeface="Pretendard"/>
              </a:rPr>
              <a:t>label evidence</a:t>
            </a:r>
          </a:p>
        </p:txBody>
      </p:sp>
      <p:sp>
        <p:nvSpPr>
          <p:cNvPr id="8" name="Rectangle 7"/>
          <p:cNvSpPr/>
          <p:nvPr/>
        </p:nvSpPr>
        <p:spPr>
          <a:xfrm>
            <a:off x="2880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880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71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linkage</a:t>
            </a:r>
          </a:p>
        </p:txBody>
      </p:sp>
      <p:sp>
        <p:nvSpPr>
          <p:cNvPr id="11" name="TextBox 10"/>
          <p:cNvSpPr txBox="1"/>
          <p:nvPr/>
        </p:nvSpPr>
        <p:spPr>
          <a:xfrm>
            <a:off x="2990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traceable traffic</a:t>
            </a:r>
          </a:p>
          <a:p>
            <a:pPr algn="ctr">
              <a:lnSpc>
                <a:spcPct val="118000"/>
              </a:lnSpc>
              <a:spcBef>
                <a:spcPts val="0"/>
              </a:spcBef>
              <a:spcAft>
                <a:spcPts val="0"/>
              </a:spcAft>
            </a:pPr>
            <a:r>
              <a:rPr sz="1500" b="0" lang="ko-KR">
                <a:solidFill>
                  <a:srgbClr val="20262E"/>
                </a:solidFill>
                <a:latin typeface="Pretendard"/>
                <a:ea typeface="Pretendard"/>
                <a:cs typeface="Pretendard"/>
              </a:rPr>
              <a:t>and labels</a:t>
            </a:r>
          </a:p>
        </p:txBody>
      </p:sp>
      <p:sp>
        <p:nvSpPr>
          <p:cNvPr id="12" name="Rectangle 11"/>
          <p:cNvSpPr/>
          <p:nvPr/>
        </p:nvSpPr>
        <p:spPr>
          <a:xfrm>
            <a:off x="5166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166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57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Encoder</a:t>
            </a:r>
          </a:p>
        </p:txBody>
      </p:sp>
      <p:sp>
        <p:nvSpPr>
          <p:cNvPr id="15" name="TextBox 14"/>
          <p:cNvSpPr txBox="1"/>
          <p:nvPr/>
        </p:nvSpPr>
        <p:spPr>
          <a:xfrm>
            <a:off x="5276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packet-sequence</a:t>
            </a:r>
          </a:p>
          <a:p>
            <a:pPr algn="ctr">
              <a:lnSpc>
                <a:spcPct val="118000"/>
              </a:lnSpc>
              <a:spcBef>
                <a:spcPts val="0"/>
              </a:spcBef>
              <a:spcAft>
                <a:spcPts val="0"/>
              </a:spcAft>
            </a:pPr>
            <a:r>
              <a:rPr sz="1500" b="0" lang="ko-KR">
                <a:solidFill>
                  <a:srgbClr val="20262E"/>
                </a:solidFill>
                <a:latin typeface="Pretendard"/>
                <a:ea typeface="Pretendard"/>
                <a:cs typeface="Pretendard"/>
              </a:rPr>
              <a:t>embedding</a:t>
            </a:r>
          </a:p>
        </p:txBody>
      </p:sp>
      <p:sp>
        <p:nvSpPr>
          <p:cNvPr id="16" name="Rectangle 15"/>
          <p:cNvSpPr/>
          <p:nvPr/>
        </p:nvSpPr>
        <p:spPr>
          <a:xfrm>
            <a:off x="7452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7452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543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Projection</a:t>
            </a:r>
          </a:p>
        </p:txBody>
      </p:sp>
      <p:sp>
        <p:nvSpPr>
          <p:cNvPr id="19" name="TextBox 18"/>
          <p:cNvSpPr txBox="1"/>
          <p:nvPr/>
        </p:nvSpPr>
        <p:spPr>
          <a:xfrm>
            <a:off x="7562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fit PCA on the</a:t>
            </a:r>
          </a:p>
          <a:p>
            <a:pPr algn="ctr">
              <a:lnSpc>
                <a:spcPct val="118000"/>
              </a:lnSpc>
              <a:spcBef>
                <a:spcPts val="0"/>
              </a:spcBef>
              <a:spcAft>
                <a:spcPts val="0"/>
              </a:spcAft>
            </a:pPr>
            <a:r>
              <a:rPr sz="1500" b="0" lang="ko-KR">
                <a:solidFill>
                  <a:srgbClr val="20262E"/>
                </a:solidFill>
                <a:latin typeface="Pretendard"/>
                <a:ea typeface="Pretendard"/>
                <a:cs typeface="Pretendard"/>
              </a:rPr>
              <a:t>training split only</a:t>
            </a:r>
          </a:p>
        </p:txBody>
      </p:sp>
      <p:sp>
        <p:nvSpPr>
          <p:cNvPr id="20" name="Rectangle 19"/>
          <p:cNvSpPr/>
          <p:nvPr/>
        </p:nvSpPr>
        <p:spPr>
          <a:xfrm>
            <a:off x="9738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9738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829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New vectors</a:t>
            </a:r>
          </a:p>
        </p:txBody>
      </p:sp>
      <p:sp>
        <p:nvSpPr>
          <p:cNvPr id="23" name="TextBox 22"/>
          <p:cNvSpPr txBox="1"/>
          <p:nvPr/>
        </p:nvSpPr>
        <p:spPr>
          <a:xfrm>
            <a:off x="9848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XGB + TabPFN</a:t>
            </a:r>
          </a:p>
          <a:p>
            <a:pPr algn="ctr">
              <a:lnSpc>
                <a:spcPct val="118000"/>
              </a:lnSpc>
              <a:spcBef>
                <a:spcPts val="0"/>
              </a:spcBef>
              <a:spcAft>
                <a:spcPts val="0"/>
              </a:spcAft>
            </a:pPr>
            <a:r>
              <a:rPr sz="1500" b="0" lang="ko-KR">
                <a:solidFill>
                  <a:srgbClr val="20262E"/>
                </a:solidFill>
                <a:latin typeface="Pretendard"/>
                <a:ea typeface="Pretendard"/>
                <a:cs typeface="Pretendard"/>
              </a:rPr>
              <a:t>same evaluation</a:t>
            </a:r>
          </a:p>
        </p:txBody>
      </p:sp>
      <p:sp>
        <p:nvSpPr>
          <p:cNvPr id="24" name="Right Arrow 23"/>
          <p:cNvSpPr/>
          <p:nvPr/>
        </p:nvSpPr>
        <p:spPr>
          <a:xfrm>
            <a:off x="2551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ight Arrow 24"/>
          <p:cNvSpPr/>
          <p:nvPr/>
        </p:nvSpPr>
        <p:spPr>
          <a:xfrm>
            <a:off x="4837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ight Arrow 25"/>
          <p:cNvSpPr/>
          <p:nvPr/>
        </p:nvSpPr>
        <p:spPr>
          <a:xfrm>
            <a:off x="7123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ight Arrow 26"/>
          <p:cNvSpPr/>
          <p:nvPr/>
        </p:nvSpPr>
        <p:spPr>
          <a:xfrm>
            <a:off x="9409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594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594360" y="3593592"/>
            <a:ext cx="5285232"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04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Representation audit</a:t>
            </a:r>
          </a:p>
        </p:txBody>
      </p:sp>
      <p:sp>
        <p:nvSpPr>
          <p:cNvPr id="31" name="TextBox 30"/>
          <p:cNvSpPr txBox="1"/>
          <p:nvPr/>
        </p:nvSpPr>
        <p:spPr>
          <a:xfrm>
            <a:off x="740664" y="4160520"/>
            <a:ext cx="4992624" cy="466597"/>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identical embeddings with different labels</a:t>
            </a:r>
          </a:p>
          <a:p>
            <a:pPr algn="ctr">
              <a:lnSpc>
                <a:spcPct val="118000"/>
              </a:lnSpc>
              <a:spcBef>
                <a:spcPts val="0"/>
              </a:spcBef>
              <a:spcAft>
                <a:spcPts val="0"/>
              </a:spcAft>
            </a:pPr>
            <a:r>
              <a:rPr sz="1450" b="0" lang="ko-KR">
                <a:solidFill>
                  <a:srgbClr val="20262E"/>
                </a:solidFill>
                <a:latin typeface="Pretendard"/>
                <a:ea typeface="Pretendard"/>
                <a:cs typeface="Pretendard"/>
              </a:rPr>
              <a:t>and the PCAP evidence for each label</a:t>
            </a:r>
          </a:p>
        </p:txBody>
      </p:sp>
      <p:sp>
        <p:nvSpPr>
          <p:cNvPr id="32" name="Rectangle 31"/>
          <p:cNvSpPr/>
          <p:nvPr/>
        </p:nvSpPr>
        <p:spPr>
          <a:xfrm>
            <a:off x="6309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ectangle 32"/>
          <p:cNvSpPr/>
          <p:nvPr/>
        </p:nvSpPr>
        <p:spPr>
          <a:xfrm>
            <a:off x="6309360" y="3593592"/>
            <a:ext cx="5285232"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419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Classification evaluation</a:t>
            </a:r>
          </a:p>
        </p:txBody>
      </p:sp>
      <p:sp>
        <p:nvSpPr>
          <p:cNvPr id="35" name="TextBox 34"/>
          <p:cNvSpPr txBox="1"/>
          <p:nvPr/>
        </p:nvSpPr>
        <p:spPr>
          <a:xfrm>
            <a:off x="6455664" y="4160520"/>
            <a:ext cx="4992624" cy="466597"/>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baselines, few-shot curves, and classwise F1</a:t>
            </a:r>
          </a:p>
          <a:p>
            <a:pPr algn="ctr">
              <a:lnSpc>
                <a:spcPct val="118000"/>
              </a:lnSpc>
              <a:spcBef>
                <a:spcPts val="0"/>
              </a:spcBef>
              <a:spcAft>
                <a:spcPts val="0"/>
              </a:spcAft>
            </a:pPr>
            <a:r>
              <a:rPr sz="1450" b="0" lang="ko-KR">
                <a:solidFill>
                  <a:srgbClr val="20262E"/>
                </a:solidFill>
                <a:latin typeface="Pretendard"/>
                <a:ea typeface="Pretendard"/>
                <a:cs typeface="Pretendard"/>
              </a:rPr>
              <a:t>to test whether early head saturation remains</a:t>
            </a:r>
          </a:p>
        </p:txBody>
      </p:sp>
      <p:sp>
        <p:nvSpPr>
          <p:cNvPr id="36" name="TextBox 35"/>
          <p:cNvSpPr txBox="1"/>
          <p:nvPr/>
        </p:nvSpPr>
        <p:spPr>
          <a:xfrm>
            <a:off x="658368" y="5148072"/>
            <a:ext cx="1088136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Candidate encoders  netFound (arXiv, 2026) · ET-BERT (WWW, 2022) · NetMamba (ICNP, 2024)</a:t>
            </a:r>
          </a:p>
        </p:txBody>
      </p:sp>
      <p:sp>
        <p:nvSpPr>
          <p:cNvPr id="37" name="TextBox 36"/>
          <p:cNvSpPr txBox="1"/>
          <p:nvPr/>
        </p:nvSpPr>
        <p:spPr>
          <a:xfrm>
            <a:off x="658368" y="5495544"/>
            <a:ext cx="10881360" cy="244805"/>
          </a:xfrm>
          <a:prstGeom prst="rect">
            <a:avLst/>
          </a:prstGeom>
          <a:noFill/>
          <a:effectLst/>
        </p:spPr>
        <p:txBody>
          <a:bodyPr wrap="none" anchor="t" lIns="0" rIns="0" tIns="0" bIns="0">
            <a:noAutofit/>
          </a:bodyPr>
          <a:lstStyle/>
          <a:p>
            <a:pPr algn="l">
              <a:lnSpc>
                <a:spcPct val="118000"/>
              </a:lnSpc>
              <a:spcBef>
                <a:spcPts val="0"/>
              </a:spcBef>
              <a:spcAft>
                <a:spcPts val="0"/>
              </a:spcAft>
            </a:pPr>
            <a:r>
              <a:rPr sz="1420" b="1" lang="ko-KR">
                <a:solidFill>
                  <a:srgbClr val="00306C"/>
                </a:solidFill>
                <a:latin typeface="Pretendard"/>
                <a:ea typeface="Pretendard"/>
                <a:cs typeface="Pretendard"/>
              </a:rPr>
              <a:t>CICFlowMeter uses specified statistics; encoders learn from packet order, timing, and headers</a:t>
            </a:r>
          </a:p>
        </p:txBody>
      </p:sp>
      <p:sp>
        <p:nvSpPr>
          <p:cNvPr id="38" name="Rectangle 37"/>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Keep encoders interchangeable and repeat representation audits with matched classification evaluation</a:t>
            </a:r>
          </a:p>
        </p:txBody>
      </p:sp>
      <p:sp>
        <p:nvSpPr>
          <p:cNvPr id="40" name="TextBox 39"/>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PCAP reconstruction</a:t>
            </a:r>
          </a:p>
        </p:txBody>
      </p:sp>
      <p:sp>
        <p:nvSpPr>
          <p:cNvPr id="41" name="TextBox 40"/>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Summary</a:t>
            </a:r>
          </a:p>
        </p:txBody>
      </p:sp>
      <p:sp>
        <p:nvSpPr>
          <p:cNvPr id="3" name="Rectangle 2"/>
          <p:cNvSpPr/>
          <p:nvPr/>
        </p:nvSpPr>
        <p:spPr>
          <a:xfrm>
            <a:off x="594360"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353312"/>
            <a:ext cx="324612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1  Existing CSV input</a:t>
            </a:r>
          </a:p>
        </p:txBody>
      </p:sp>
      <p:sp>
        <p:nvSpPr>
          <p:cNvPr id="6" name="TextBox 5"/>
          <p:cNvSpPr txBox="1"/>
          <p:nvPr/>
        </p:nvSpPr>
        <p:spPr>
          <a:xfrm>
            <a:off x="740664" y="1920240"/>
            <a:ext cx="2953512" cy="751332"/>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XGB · TabPFN · SOTA</a:t>
            </a:r>
          </a:p>
          <a:p>
            <a:pPr algn="ctr">
              <a:lnSpc>
                <a:spcPct val="118000"/>
              </a:lnSpc>
              <a:spcBef>
                <a:spcPts val="0"/>
              </a:spcBef>
              <a:spcAft>
                <a:spcPts val="0"/>
              </a:spcAft>
            </a:pPr>
            <a:r>
              <a:rPr sz="1600" b="0" lang="ko-KR">
                <a:solidFill>
                  <a:srgbClr val="20262E"/>
                </a:solidFill>
                <a:latin typeface="Pretendard"/>
                <a:ea typeface="Pretendard"/>
                <a:cs typeface="Pretendard"/>
              </a:rPr>
              <a:t>CICFlowMeter flow statistics</a:t>
            </a:r>
          </a:p>
          <a:p>
            <a:pPr algn="ctr">
              <a:lnSpc>
                <a:spcPct val="118000"/>
              </a:lnSpc>
              <a:spcBef>
                <a:spcPts val="0"/>
              </a:spcBef>
              <a:spcAft>
                <a:spcPts val="0"/>
              </a:spcAft>
            </a:pPr>
            <a:r>
              <a:rPr sz="1600" b="0" lang="ko-KR">
                <a:solidFill>
                  <a:srgbClr val="20262E"/>
                </a:solidFill>
                <a:latin typeface="Pretendard"/>
                <a:ea typeface="Pretendard"/>
                <a:cs typeface="Pretendard"/>
              </a:rPr>
              <a:t>row-level inputs</a:t>
            </a:r>
          </a:p>
        </p:txBody>
      </p:sp>
      <p:sp>
        <p:nvSpPr>
          <p:cNvPr id="7" name="Right Arrow 6"/>
          <p:cNvSpPr/>
          <p:nvPr/>
        </p:nvSpPr>
        <p:spPr>
          <a:xfrm>
            <a:off x="4050791"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4608576"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4608576" y="1353312"/>
            <a:ext cx="3246120"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4"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2  Observed data issues</a:t>
            </a:r>
          </a:p>
        </p:txBody>
      </p:sp>
      <p:sp>
        <p:nvSpPr>
          <p:cNvPr id="11" name="TextBox 10"/>
          <p:cNvSpPr txBox="1"/>
          <p:nvPr/>
        </p:nvSpPr>
        <p:spPr>
          <a:xfrm>
            <a:off x="4754880" y="1920240"/>
            <a:ext cx="2953512" cy="1066038"/>
          </a:xfrm>
          <a:prstGeom prst="rect">
            <a:avLst/>
          </a:prstGeom>
          <a:noFill/>
          <a:effectLst/>
        </p:spPr>
        <p:txBody>
          <a:bodyPr wrap="none" anchor="t" lIns="0" rIns="0" tIns="0" bIns="0">
            <a:noAutofit/>
          </a:bodyPr>
          <a:lstStyle/>
          <a:p>
            <a:pPr algn="ctr">
              <a:lnSpc>
                <a:spcPct val="118000"/>
              </a:lnSpc>
              <a:spcBef>
                <a:spcPts val="0"/>
              </a:spcBef>
              <a:spcAft>
                <a:spcPts val="0"/>
              </a:spcAft>
            </a:pPr>
            <a:r>
              <a:rPr sz="1380" b="0" lang="ko-KR">
                <a:solidFill>
                  <a:srgbClr val="20262E"/>
                </a:solidFill>
                <a:latin typeface="Pretendard"/>
                <a:ea typeface="Pretendard"/>
                <a:cs typeface="Pretendard"/>
              </a:rPr>
              <a:t>early head saturation</a:t>
            </a:r>
          </a:p>
          <a:p>
            <a:pPr algn="ctr">
              <a:lnSpc>
                <a:spcPct val="118000"/>
              </a:lnSpc>
              <a:spcBef>
                <a:spcPts val="0"/>
              </a:spcBef>
              <a:spcAft>
                <a:spcPts val="0"/>
              </a:spcAft>
            </a:pPr>
            <a:r>
              <a:rPr sz="1380" b="0" lang="ko-KR">
                <a:solidFill>
                  <a:srgbClr val="20262E"/>
                </a:solidFill>
                <a:latin typeface="Pretendard"/>
                <a:ea typeface="Pretendard"/>
                <a:cs typeface="Pretendard"/>
              </a:rPr>
              <a:t>identical features, different classes</a:t>
            </a:r>
          </a:p>
          <a:p>
            <a:pPr algn="ctr">
              <a:lnSpc>
                <a:spcPct val="118000"/>
              </a:lnSpc>
              <a:spcBef>
                <a:spcPts val="0"/>
              </a:spcBef>
              <a:spcAft>
                <a:spcPts val="0"/>
              </a:spcAft>
            </a:pPr>
            <a:r>
              <a:rPr sz="1380" b="0" lang="ko-KR">
                <a:solidFill>
                  <a:srgbClr val="20262E"/>
                </a:solidFill>
                <a:latin typeface="Pretendard"/>
                <a:ea typeface="Pretendard"/>
                <a:cs typeface="Pretendard"/>
              </a:rPr>
              <a:t/>
            </a:r>
          </a:p>
          <a:p>
            <a:pPr algn="ctr">
              <a:lnSpc>
                <a:spcPct val="118000"/>
              </a:lnSpc>
              <a:spcBef>
                <a:spcPts val="0"/>
              </a:spcBef>
              <a:spcAft>
                <a:spcPts val="0"/>
              </a:spcAft>
            </a:pPr>
            <a:r>
              <a:rPr sz="1380" b="0" lang="ko-KR">
                <a:solidFill>
                  <a:srgbClr val="20262E"/>
                </a:solidFill>
                <a:latin typeface="Pretendard"/>
                <a:ea typeface="Pretendard"/>
                <a:cs typeface="Pretendard"/>
              </a:rPr>
              <a:t>average score alone</a:t>
            </a:r>
          </a:p>
          <a:p>
            <a:pPr algn="ctr">
              <a:lnSpc>
                <a:spcPct val="118000"/>
              </a:lnSpc>
              <a:spcBef>
                <a:spcPts val="0"/>
              </a:spcBef>
              <a:spcAft>
                <a:spcPts val="0"/>
              </a:spcAft>
            </a:pPr>
            <a:r>
              <a:rPr sz="1380" b="0" lang="ko-KR">
                <a:solidFill>
                  <a:srgbClr val="20262E"/>
                </a:solidFill>
                <a:latin typeface="Pretendard"/>
                <a:ea typeface="Pretendard"/>
                <a:cs typeface="Pretendard"/>
              </a:rPr>
              <a:t>does not establish difficulty</a:t>
            </a:r>
          </a:p>
        </p:txBody>
      </p:sp>
      <p:sp>
        <p:nvSpPr>
          <p:cNvPr id="12" name="Right Arrow 11"/>
          <p:cNvSpPr/>
          <p:nvPr/>
        </p:nvSpPr>
        <p:spPr>
          <a:xfrm>
            <a:off x="8065008"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622792" y="1353312"/>
            <a:ext cx="297180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8622792" y="1353312"/>
            <a:ext cx="2971800" cy="393192"/>
          </a:xfrm>
          <a:prstGeom prst="rect">
            <a:avLst/>
          </a:prstGeom>
          <a:solidFill>
            <a:srgbClr val="227B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732519" y="1421892"/>
            <a:ext cx="275234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3  Next validation</a:t>
            </a:r>
          </a:p>
        </p:txBody>
      </p:sp>
      <p:sp>
        <p:nvSpPr>
          <p:cNvPr id="16" name="TextBox 15"/>
          <p:cNvSpPr txBox="1"/>
          <p:nvPr/>
        </p:nvSpPr>
        <p:spPr>
          <a:xfrm>
            <a:off x="8769096" y="1920240"/>
            <a:ext cx="2679192" cy="859231"/>
          </a:xfrm>
          <a:prstGeom prst="rect">
            <a:avLst/>
          </a:prstGeom>
          <a:noFill/>
          <a:effectLst/>
        </p:spPr>
        <p:txBody>
          <a:bodyPr wrap="none" anchor="t" lIns="0" rIns="0" tIns="0" bIns="0">
            <a:noAutofit/>
          </a:bodyPr>
          <a:lstStyle/>
          <a:p>
            <a:pPr algn="ctr">
              <a:lnSpc>
                <a:spcPct val="118000"/>
              </a:lnSpc>
              <a:spcBef>
                <a:spcPts val="0"/>
              </a:spcBef>
              <a:spcAft>
                <a:spcPts val="0"/>
              </a:spcAft>
            </a:pPr>
            <a:r>
              <a:rPr sz="1380" b="0" lang="ko-KR">
                <a:solidFill>
                  <a:srgbClr val="20262E"/>
                </a:solidFill>
                <a:latin typeface="Pretendard"/>
                <a:ea typeface="Pretendard"/>
                <a:cs typeface="Pretendard"/>
              </a:rPr>
              <a:t>new vectors from PCAP</a:t>
            </a:r>
          </a:p>
          <a:p>
            <a:pPr algn="ctr">
              <a:lnSpc>
                <a:spcPct val="118000"/>
              </a:lnSpc>
              <a:spcBef>
                <a:spcPts val="0"/>
              </a:spcBef>
              <a:spcAft>
                <a:spcPts val="0"/>
              </a:spcAft>
            </a:pPr>
            <a:r>
              <a:rPr sz="1380" b="0" lang="ko-KR">
                <a:solidFill>
                  <a:srgbClr val="20262E"/>
                </a:solidFill>
                <a:latin typeface="Pretendard"/>
                <a:ea typeface="Pretendard"/>
                <a:cs typeface="Pretendard"/>
              </a:rPr>
              <a:t/>
            </a:r>
          </a:p>
          <a:p>
            <a:pPr algn="ctr">
              <a:lnSpc>
                <a:spcPct val="118000"/>
              </a:lnSpc>
              <a:spcBef>
                <a:spcPts val="0"/>
              </a:spcBef>
              <a:spcAft>
                <a:spcPts val="0"/>
              </a:spcAft>
            </a:pPr>
            <a:r>
              <a:rPr sz="1380" b="0" lang="ko-KR">
                <a:solidFill>
                  <a:srgbClr val="20262E"/>
                </a:solidFill>
                <a:latin typeface="Pretendard"/>
                <a:ea typeface="Pretendard"/>
                <a:cs typeface="Pretendard"/>
              </a:rPr>
              <a:t>repeat audits and baselines</a:t>
            </a:r>
          </a:p>
          <a:p>
            <a:pPr algn="ctr">
              <a:lnSpc>
                <a:spcPct val="118000"/>
              </a:lnSpc>
              <a:spcBef>
                <a:spcPts val="0"/>
              </a:spcBef>
              <a:spcAft>
                <a:spcPts val="0"/>
              </a:spcAft>
            </a:pPr>
            <a:r>
              <a:rPr sz="1380" b="0" lang="ko-KR">
                <a:solidFill>
                  <a:srgbClr val="20262E"/>
                </a:solidFill>
                <a:latin typeface="Pretendard"/>
                <a:ea typeface="Pretendard"/>
                <a:cs typeface="Pretendard"/>
              </a:rPr>
              <a:t>under the same protocol</a:t>
            </a:r>
          </a:p>
        </p:txBody>
      </p:sp>
      <p:sp>
        <p:nvSpPr>
          <p:cNvPr id="17" name="Rectangle 16"/>
          <p:cNvSpPr/>
          <p:nvPr/>
        </p:nvSpPr>
        <p:spPr>
          <a:xfrm>
            <a:off x="594360" y="4361688"/>
            <a:ext cx="11000232" cy="1005840"/>
          </a:xfrm>
          <a:prstGeom prst="rect">
            <a:avLst/>
          </a:prstGeom>
          <a:solidFill>
            <a:srgbClr val="F6F9F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48" y="4626864"/>
            <a:ext cx="10515600" cy="274777"/>
          </a:xfrm>
          <a:prstGeom prst="rect">
            <a:avLst/>
          </a:prstGeom>
          <a:noFill/>
          <a:effectLst/>
        </p:spPr>
        <p:txBody>
          <a:bodyPr wrap="none" anchor="t" lIns="0" rIns="0" tIns="0" bIns="0">
            <a:noAutofit/>
          </a:bodyPr>
          <a:lstStyle/>
          <a:p>
            <a:pPr algn="ctr">
              <a:lnSpc>
                <a:spcPct val="118000"/>
              </a:lnSpc>
              <a:spcBef>
                <a:spcPts val="0"/>
              </a:spcBef>
              <a:spcAft>
                <a:spcPts val="0"/>
              </a:spcAft>
            </a:pPr>
            <a:r>
              <a:rPr sz="1620" b="1" lang="ko-KR">
                <a:solidFill>
                  <a:srgbClr val="00306C"/>
                </a:solidFill>
                <a:latin typeface="Pretendard"/>
                <a:ea typeface="Pretendard"/>
                <a:cs typeface="Pretendard"/>
              </a:rPr>
              <a:t>Goal  Test whether new representations reduce the data ceiling and feature–label conflicts</a:t>
            </a:r>
          </a:p>
        </p:txBody>
      </p:sp>
      <p:sp>
        <p:nvSpPr>
          <p:cNvPr id="19" name="TextBox 18"/>
          <p:cNvSpPr txBox="1"/>
          <p:nvPr/>
        </p:nvSpPr>
        <p:spPr>
          <a:xfrm>
            <a:off x="841248" y="5148072"/>
            <a:ext cx="10515600"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617080"/>
                </a:solidFill>
                <a:latin typeface="Pretendard"/>
                <a:ea typeface="Pretendard"/>
                <a:cs typeface="Pretendard"/>
              </a:rPr>
              <a:t>If reduced, repeat TabPFN and XGB comparisons on the new vectors; if retained, examine PCAP label linkage further</a:t>
            </a:r>
          </a:p>
        </p:txBody>
      </p:sp>
      <p:sp>
        <p:nvSpPr>
          <p:cNvPr id="20" name="Rectangle 19"/>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Recheck both CSV observations in a new PCAP-based representation</a:t>
            </a:r>
          </a:p>
        </p:txBody>
      </p:sp>
      <p:sp>
        <p:nvSpPr>
          <p:cNvPr id="22" name="TextBox 21"/>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05 Summary</a:t>
            </a:r>
          </a:p>
        </p:txBody>
      </p:sp>
      <p:sp>
        <p:nvSpPr>
          <p:cNvPr id="23" name="TextBox 22"/>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Limits of CIC CSV Inputs and PCAP-Based Representation Learning</dc:title>
  <dc:subject>Raw CIC2018 CSV audit and EXP87 learning curves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