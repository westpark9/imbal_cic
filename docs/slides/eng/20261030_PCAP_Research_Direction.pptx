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 will begin with the input that has been used throughout our IDS experiments. CIC datasets first record network traffic as PCAP files. CICFlowMeter then groups packets into flows and writes one CSV row per flow using fixed statistics such as duration, packet counts, packet lengths, inter-arrival times, and TCP flags. Our previous XGB, TabPFN, SOTA, and proposed-model experiments all used these CSV vectors, as do many IDS studies that frame the task as tabular classification. The important point is that a row is a predefined statistical summary. It does not retain the full order of packets that generated the flow. The following observations therefore concern both the classifiers and this shared input representation.</a:t>
            </a:r>
          </a:p>
          <a:p/>
          <a:p>
            <a:r>
              <a:t>Sources</a:t>
            </a:r>
          </a:p>
          <a:p>
            <a:r>
              <a:t>CIC-IDS2017 official dataset</a:t>
            </a:r>
          </a:p>
          <a:p>
            <a:r>
              <a:t>UNB CIC, 2017</a:t>
            </a:r>
          </a:p>
          <a:p>
            <a:r>
              <a:t>PCAP, labeled CICFlowMeter CSV, capture setup and attack timetable</a:t>
            </a:r>
          </a:p>
          <a:p>
            <a:r>
              <a:t>https://www.unb.ca/cic/datasets/ids-2017.html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When we inspected the CSV-based experiments, two patterns required separate attention. First, some head attack classes reached very high F1 with only a small label budget. Second, the raw CSV contained rows whose flow statistics were identical even though their recorded classes differed. These patterns affect how classification scores should be interpreted. The next slide quantifies the first pattern across label budgets, and the slide after that shows literal source-CSV rows for the second pattern.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figure is a diagnostic learning curve for attack-only classification. At n equals 20 labels per class, XGB reached F1 of 99.3 for DDoS, 98.6 for Bot, 96.7 for DoS, and 99.9 for BF. TabPFN reached 99.7 for DDoS, 99.4 for Bot, 96.1 for DoS, and 100.0 for BF under the same condition. Infiltration remained around 78 to 79, and web attacks remained around 9 to 11. The curve shows that adding labels still changes macro F1, but four classes are already close to saturation at n equals 20 while difficult classes remain difficult. This classwise imbalance motivates checking the data representation before drawing conclusions from an aggregate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Next, we inspected the original CIC2018 CSV files directly. We grouped rows whose 78 common CICFlowMeter statistics were exactly identical after excluding Timestamp, Flow ID, source IP and port, destination IP, and Label. The two rows at the top are a literal example: every displayed value and the omitted 69 fields agree, but their NF-v3 classes are dos and bf. Across all 16.23 million rows, 406,811 rows, or 2.51 percent, belong to identical-feature groups that span multiple NF-v3 classes. The incidence is particularly large for bf at 42.7 percent, followed by inf at 25.5 percent and dos at 11.8 percent. A classifier receives the same input for these cases, so the representation and the evidence used to assign labels must be examined together.</a:t>
            </a:r>
          </a:p>
          <a:p/>
          <a:p>
            <a:r>
              <a:t>Sources</a:t>
            </a:r>
          </a:p>
          <a:p>
            <a:r>
              <a:t>CSE-CIC-IDS2018 official dataset</a:t>
            </a:r>
          </a:p>
          <a:p>
            <a:r>
              <a:t>UNB CIC, 2018</a:t>
            </a:r>
          </a:p>
          <a:p>
            <a:r>
              <a:t>PCAP/system logs, feature list and attack setup</a:t>
            </a:r>
          </a:p>
          <a:p>
            <a:r>
              <a:t>https://www.unb.ca/cic/datasets/ids-2018.html</a:t>
            </a:r>
          </a:p>
          <a:p/>
          <a:p>
            <a:r>
              <a:t>Error Prevalence in NIDS datasets: A Case Study on CIC-IDS-2017 and CSE-CIC-IDS-2018</a:t>
            </a:r>
          </a:p>
          <a:p>
            <a:r>
              <a:t>IEEE CNS, 2022</a:t>
            </a:r>
          </a:p>
          <a:p>
            <a:r>
              <a:t>Author tools and dataset documentation, corrected labels updated 2023; 2018 FTP closed-port example</a:t>
            </a:r>
          </a:p>
          <a:p>
            <a:r>
              <a:t>https://intrusion-detection.distrinet-research.be/CNS2022/index.html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next step is to build a new CIC2018 feature representation from the raw PCAP files. We preserve the link among each flow, its packets, its label evidence, and its train or test split. A network encoder then reads packet direction, size, timing, protocol, and header patterns and produces one vector per flow. NetFound is the first encoder in this pipeline. It is a pretrained network-data encoder; in this study it serves only to generate a 512-dimensional flow representation, which is projected to 64 dimensions using PCA fit on the training split. NetFound does not produce the attack label here. XGB and TabPFN receive its output vectors and perform the classification. The same corpus and split can later be reused with ET-BERT or NetMamba, so encoder choice can be evaluated under matched conditions.</a:t>
            </a:r>
          </a:p>
          <a:p/>
          <a:p>
            <a:r>
              <a:t>Sources</a:t>
            </a:r>
          </a:p>
          <a:p>
            <a:r>
              <a:t>netFound: Principled Design for Network Foundation Models</a:t>
            </a:r>
          </a:p>
          <a:p>
            <a:r>
              <a:t>arXiv v5 / implementation v2, 2026</a:t>
            </a:r>
          </a:p>
          <a:p>
            <a:r>
              <a:t>Frozen header/metadata encoder, excludes IP and payload; repo b3ab5a3, HF e27221d</a:t>
            </a:r>
          </a:p>
          <a:p>
            <a:r>
              <a:t>https://arxiv.org/abs/2310.17025v5</a:t>
            </a:r>
          </a:p>
          <a:p/>
          <a:p>
            <a:r>
              <a:t>ET-BERT: A Contextualized Datagram Representation with Pre-training Transformers for Encrypted Traffic Classification</a:t>
            </a:r>
          </a:p>
          <a:p>
            <a:r>
              <a:t>The Web Conference (WWW), 2022</a:t>
            </a:r>
          </a:p>
          <a:p>
            <a:r>
              <a:t>Datagram byte representations with Transformer; https://github.com/linwhitehat/ET-BERT</a:t>
            </a:r>
          </a:p>
          <a:p>
            <a:r>
              <a:t>https://arxiv.org/abs/2202.06335</a:t>
            </a:r>
          </a:p>
          <a:p/>
          <a:p>
            <a:r>
              <a:t>NetMamba: Efficient Network Traffic Classification via Pre-training Unidirectional Mamba</a:t>
            </a:r>
          </a:p>
          <a:p>
            <a:r>
              <a:t>IEEE ICNP, 2024</a:t>
            </a:r>
          </a:p>
          <a:p>
            <a:r>
              <a:t>Byte-sequence representation with state-space model; ICNP 2024 implementation, distinct from NetMamba+ 2026</a:t>
            </a:r>
          </a:p>
          <a:p>
            <a:r>
              <a:t>https://github.com/wangtz19/NetMamba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presentation establishes the reason for rebuilding the input representation. The CSV experiments revealed early saturation for several head classes and exact feature conflicts across recorded classes in the original data. The PCAP pipeline creates a reusable corpus and encoder-specific vector views while keeping labels and splits traceable. The next evaluation will first repeat the representation audit, then rerun XGB and TabPFN baselines and few-shot curves on the new vectors. These checks will show whether the new representation changes the feature conflicts and classwise learning behavior observed in the current CSV experiments.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CICFlowMeter CSV is the standard input for IDS classification</a:t>
            </a:r>
          </a:p>
        </p:txBody>
      </p:sp>
      <p:sp>
        <p:nvSpPr>
          <p:cNvPr id="3" name="TextBox 2"/>
          <p:cNvSpPr txBox="1"/>
          <p:nvPr/>
        </p:nvSpPr>
        <p:spPr>
          <a:xfrm>
            <a:off x="594360" y="987552"/>
            <a:ext cx="1097280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Prior experiments: XGB · TabPFN · SOTA · proposed models  →  CICFlowMeter CSV vectors</a:t>
            </a:r>
          </a:p>
        </p:txBody>
      </p:sp>
      <p:sp>
        <p:nvSpPr>
          <p:cNvPr id="4" name="TextBox 3"/>
          <p:cNvSpPr txBox="1"/>
          <p:nvPr/>
        </p:nvSpPr>
        <p:spPr>
          <a:xfrm>
            <a:off x="594360" y="1389888"/>
            <a:ext cx="10972800" cy="279273"/>
          </a:xfrm>
          <a:prstGeom prst="rect">
            <a:avLst/>
          </a:prstGeom>
          <a:noFill/>
          <a:effectLst/>
        </p:spPr>
        <p:txBody>
          <a:bodyPr wrap="none" anchor="t" lIns="0" rIns="0" tIns="0" bIns="0">
            <a:noAutofit/>
          </a:bodyPr>
          <a:lstStyle/>
          <a:p>
            <a:pPr algn="l">
              <a:lnSpc>
                <a:spcPct val="118000"/>
              </a:lnSpc>
              <a:spcBef>
                <a:spcPts val="0"/>
              </a:spcBef>
              <a:spcAft>
                <a:spcPts val="0"/>
              </a:spcAft>
            </a:pPr>
            <a:r>
              <a:rPr sz="1650" b="0" lang="ko-KR">
                <a:solidFill>
                  <a:srgbClr val="617080"/>
                </a:solidFill>
                <a:latin typeface="Pretendard"/>
                <a:ea typeface="Pretendard"/>
                <a:cs typeface="Pretendard"/>
              </a:rPr>
              <a:t>Most IDS tabular-classification studies also train and evaluate on the supplied flow-statistics CSV</a:t>
            </a:r>
          </a:p>
        </p:txBody>
      </p:sp>
      <p:sp>
        <p:nvSpPr>
          <p:cNvPr id="5" name="TextBox 4"/>
          <p:cNvSpPr txBox="1"/>
          <p:nvPr/>
        </p:nvSpPr>
        <p:spPr>
          <a:xfrm>
            <a:off x="594360" y="1975104"/>
            <a:ext cx="406908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Input to prior classifiers</a:t>
            </a:r>
          </a:p>
        </p:txBody>
      </p:sp>
      <p:sp>
        <p:nvSpPr>
          <p:cNvPr id="6" name="Rectangle 5"/>
          <p:cNvSpPr/>
          <p:nvPr/>
        </p:nvSpPr>
        <p:spPr>
          <a:xfrm>
            <a:off x="594360" y="2414016"/>
            <a:ext cx="4069080" cy="1188720"/>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94360" y="2414016"/>
            <a:ext cx="4069080"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04088" y="2482596"/>
            <a:ext cx="3849624"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One CSV row</a:t>
            </a:r>
          </a:p>
        </p:txBody>
      </p:sp>
      <p:sp>
        <p:nvSpPr>
          <p:cNvPr id="9" name="TextBox 8"/>
          <p:cNvSpPr txBox="1"/>
          <p:nvPr/>
        </p:nvSpPr>
        <p:spPr>
          <a:xfrm>
            <a:off x="740664" y="2980944"/>
            <a:ext cx="3776472" cy="472592"/>
          </a:xfrm>
          <a:prstGeom prst="rect">
            <a:avLst/>
          </a:prstGeom>
          <a:noFill/>
          <a:effectLst/>
        </p:spPr>
        <p:txBody>
          <a:bodyPr wrap="none" anchor="t" lIns="0" rIns="0" tIns="0" bIns="0">
            <a:noAutofit/>
          </a:bodyPr>
          <a:lstStyle/>
          <a:p>
            <a:pPr algn="ctr">
              <a:lnSpc>
                <a:spcPct val="118000"/>
              </a:lnSpc>
              <a:spcBef>
                <a:spcPts val="0"/>
              </a:spcBef>
              <a:spcAft>
                <a:spcPts val="0"/>
              </a:spcAft>
            </a:pPr>
            <a:r>
              <a:rPr sz="1470" b="0" lang="ko-KR">
                <a:solidFill>
                  <a:srgbClr val="20262E"/>
                </a:solidFill>
                <a:latin typeface="Pretendard"/>
                <a:ea typeface="Pretendard"/>
                <a:cs typeface="Pretendard"/>
              </a:rPr>
              <a:t>[duration, packets, length, IAT, flags, …]</a:t>
            </a:r>
          </a:p>
          <a:p>
            <a:pPr algn="ctr">
              <a:lnSpc>
                <a:spcPct val="118000"/>
              </a:lnSpc>
              <a:spcBef>
                <a:spcPts val="0"/>
              </a:spcBef>
              <a:spcAft>
                <a:spcPts val="0"/>
              </a:spcAft>
            </a:pPr>
            <a:r>
              <a:rPr sz="1470" b="0" lang="ko-KR">
                <a:solidFill>
                  <a:srgbClr val="20262E"/>
                </a:solidFill>
                <a:latin typeface="Pretendard"/>
                <a:ea typeface="Pretendard"/>
                <a:cs typeface="Pretendard"/>
              </a:rPr>
              <a:t>→ numeric vector + label</a:t>
            </a:r>
          </a:p>
        </p:txBody>
      </p:sp>
      <p:sp>
        <p:nvSpPr>
          <p:cNvPr id="10" name="Right Arrow 9"/>
          <p:cNvSpPr/>
          <p:nvPr/>
        </p:nvSpPr>
        <p:spPr>
          <a:xfrm>
            <a:off x="2441448" y="3840480"/>
            <a:ext cx="384048"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94360" y="4370832"/>
            <a:ext cx="4069080" cy="264287"/>
          </a:xfrm>
          <a:prstGeom prst="rect">
            <a:avLst/>
          </a:prstGeom>
          <a:noFill/>
          <a:effectLst/>
        </p:spPr>
        <p:txBody>
          <a:bodyPr wrap="none" anchor="t" lIns="0" rIns="0" tIns="0" bIns="0">
            <a:noAutofit/>
          </a:bodyPr>
          <a:lstStyle/>
          <a:p>
            <a:pPr algn="ctr">
              <a:lnSpc>
                <a:spcPct val="118000"/>
              </a:lnSpc>
              <a:spcBef>
                <a:spcPts val="0"/>
              </a:spcBef>
              <a:spcAft>
                <a:spcPts val="0"/>
              </a:spcAft>
            </a:pPr>
            <a:r>
              <a:rPr sz="1550" b="1" lang="ko-KR">
                <a:solidFill>
                  <a:srgbClr val="007BC6"/>
                </a:solidFill>
                <a:latin typeface="Pretendard"/>
                <a:ea typeface="Pretendard"/>
                <a:cs typeface="Pretendard"/>
              </a:rPr>
              <a:t>Each row treated as an independent sample</a:t>
            </a:r>
          </a:p>
        </p:txBody>
      </p:sp>
      <p:sp>
        <p:nvSpPr>
          <p:cNvPr id="12" name="TextBox 11"/>
          <p:cNvSpPr txBox="1"/>
          <p:nvPr/>
        </p:nvSpPr>
        <p:spPr>
          <a:xfrm>
            <a:off x="5074920" y="1975104"/>
            <a:ext cx="644652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CIC-IDS2017: How PCAP becomes CSV</a:t>
            </a:r>
          </a:p>
        </p:txBody>
      </p:sp>
      <p:sp>
        <p:nvSpPr>
          <p:cNvPr id="13" name="Rectangle 12"/>
          <p:cNvSpPr/>
          <p:nvPr/>
        </p:nvSpPr>
        <p:spPr>
          <a:xfrm>
            <a:off x="5074920" y="2423160"/>
            <a:ext cx="1307592"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074920" y="2423160"/>
            <a:ext cx="13075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166359" y="2491740"/>
            <a:ext cx="112471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Testbed</a:t>
            </a:r>
          </a:p>
        </p:txBody>
      </p:sp>
      <p:sp>
        <p:nvSpPr>
          <p:cNvPr id="16" name="TextBox 15"/>
          <p:cNvSpPr txBox="1"/>
          <p:nvPr/>
        </p:nvSpPr>
        <p:spPr>
          <a:xfrm>
            <a:off x="5184648" y="2999232"/>
            <a:ext cx="1088136"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benign +</a:t>
            </a:r>
          </a:p>
          <a:p>
            <a:pPr algn="ctr">
              <a:lnSpc>
                <a:spcPct val="118000"/>
              </a:lnSpc>
              <a:spcBef>
                <a:spcPts val="0"/>
              </a:spcBef>
              <a:spcAft>
                <a:spcPts val="0"/>
              </a:spcAft>
            </a:pPr>
            <a:r>
              <a:rPr sz="1500" b="0" lang="ko-KR">
                <a:solidFill>
                  <a:srgbClr val="20262E"/>
                </a:solidFill>
                <a:latin typeface="Pretendard"/>
                <a:ea typeface="Pretendard"/>
                <a:cs typeface="Pretendard"/>
              </a:rPr>
              <a:t>attack</a:t>
            </a:r>
          </a:p>
        </p:txBody>
      </p:sp>
      <p:sp>
        <p:nvSpPr>
          <p:cNvPr id="17" name="Rectangle 16"/>
          <p:cNvSpPr/>
          <p:nvPr/>
        </p:nvSpPr>
        <p:spPr>
          <a:xfrm>
            <a:off x="6675120" y="2423160"/>
            <a:ext cx="1307592"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675120" y="2423160"/>
            <a:ext cx="13075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766559" y="2491740"/>
            <a:ext cx="112471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PCAP</a:t>
            </a:r>
          </a:p>
        </p:txBody>
      </p:sp>
      <p:sp>
        <p:nvSpPr>
          <p:cNvPr id="20" name="TextBox 19"/>
          <p:cNvSpPr txBox="1"/>
          <p:nvPr/>
        </p:nvSpPr>
        <p:spPr>
          <a:xfrm>
            <a:off x="6784848" y="2999232"/>
            <a:ext cx="1088136"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raw packets</a:t>
            </a:r>
          </a:p>
          <a:p>
            <a:pPr algn="ctr">
              <a:lnSpc>
                <a:spcPct val="118000"/>
              </a:lnSpc>
              <a:spcBef>
                <a:spcPts val="0"/>
              </a:spcBef>
              <a:spcAft>
                <a:spcPts val="0"/>
              </a:spcAft>
            </a:pPr>
            <a:r>
              <a:rPr sz="1500" b="0" lang="ko-KR">
                <a:solidFill>
                  <a:srgbClr val="20262E"/>
                </a:solidFill>
                <a:latin typeface="Pretendard"/>
                <a:ea typeface="Pretendard"/>
                <a:cs typeface="Pretendard"/>
              </a:rPr>
              <a:t>in time order</a:t>
            </a:r>
          </a:p>
        </p:txBody>
      </p:sp>
      <p:sp>
        <p:nvSpPr>
          <p:cNvPr id="21" name="Rectangle 20"/>
          <p:cNvSpPr/>
          <p:nvPr/>
        </p:nvSpPr>
        <p:spPr>
          <a:xfrm>
            <a:off x="8275320" y="2423160"/>
            <a:ext cx="1920240"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275320" y="2423160"/>
            <a:ext cx="192024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66760" y="2491740"/>
            <a:ext cx="173736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CICFlowMeter</a:t>
            </a:r>
          </a:p>
        </p:txBody>
      </p:sp>
      <p:sp>
        <p:nvSpPr>
          <p:cNvPr id="24" name="TextBox 23"/>
          <p:cNvSpPr txBox="1"/>
          <p:nvPr/>
        </p:nvSpPr>
        <p:spPr>
          <a:xfrm>
            <a:off x="8385048" y="2999232"/>
            <a:ext cx="170078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flows + fixed</a:t>
            </a:r>
          </a:p>
          <a:p>
            <a:pPr algn="ctr">
              <a:lnSpc>
                <a:spcPct val="118000"/>
              </a:lnSpc>
              <a:spcBef>
                <a:spcPts val="0"/>
              </a:spcBef>
              <a:spcAft>
                <a:spcPts val="0"/>
              </a:spcAft>
            </a:pPr>
            <a:r>
              <a:rPr sz="1500" b="0" lang="ko-KR">
                <a:solidFill>
                  <a:srgbClr val="20262E"/>
                </a:solidFill>
                <a:latin typeface="Pretendard"/>
                <a:ea typeface="Pretendard"/>
                <a:cs typeface="Pretendard"/>
              </a:rPr>
              <a:t>statistics</a:t>
            </a:r>
          </a:p>
        </p:txBody>
      </p:sp>
      <p:sp>
        <p:nvSpPr>
          <p:cNvPr id="25" name="Rectangle 24"/>
          <p:cNvSpPr/>
          <p:nvPr/>
        </p:nvSpPr>
        <p:spPr>
          <a:xfrm>
            <a:off x="10533888" y="2423160"/>
            <a:ext cx="1033271"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10533888" y="2423160"/>
            <a:ext cx="1033271"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0625328" y="2491740"/>
            <a:ext cx="85039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CSV</a:t>
            </a:r>
          </a:p>
        </p:txBody>
      </p:sp>
      <p:sp>
        <p:nvSpPr>
          <p:cNvPr id="28" name="TextBox 27"/>
          <p:cNvSpPr txBox="1"/>
          <p:nvPr/>
        </p:nvSpPr>
        <p:spPr>
          <a:xfrm>
            <a:off x="10643615" y="2999232"/>
            <a:ext cx="813815"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vector</a:t>
            </a:r>
          </a:p>
          <a:p>
            <a:pPr algn="ctr">
              <a:lnSpc>
                <a:spcPct val="118000"/>
              </a:lnSpc>
              <a:spcBef>
                <a:spcPts val="0"/>
              </a:spcBef>
              <a:spcAft>
                <a:spcPts val="0"/>
              </a:spcAft>
            </a:pPr>
            <a:r>
              <a:rPr sz="1500" b="0" lang="ko-KR">
                <a:solidFill>
                  <a:srgbClr val="20262E"/>
                </a:solidFill>
                <a:latin typeface="Pretendard"/>
                <a:ea typeface="Pretendard"/>
                <a:cs typeface="Pretendard"/>
              </a:rPr>
              <a:t>+ label</a:t>
            </a:r>
          </a:p>
        </p:txBody>
      </p:sp>
      <p:sp>
        <p:nvSpPr>
          <p:cNvPr id="29" name="Right Arrow 28"/>
          <p:cNvSpPr/>
          <p:nvPr/>
        </p:nvSpPr>
        <p:spPr>
          <a:xfrm>
            <a:off x="64465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ight Arrow 29"/>
          <p:cNvSpPr/>
          <p:nvPr/>
        </p:nvSpPr>
        <p:spPr>
          <a:xfrm>
            <a:off x="80467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ight Arrow 30"/>
          <p:cNvSpPr/>
          <p:nvPr/>
        </p:nvSpPr>
        <p:spPr>
          <a:xfrm>
            <a:off x="98755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4920" y="4041648"/>
            <a:ext cx="6400800" cy="316738"/>
          </a:xfrm>
          <a:prstGeom prst="rect">
            <a:avLst/>
          </a:prstGeom>
          <a:noFill/>
          <a:effectLst/>
        </p:spPr>
        <p:txBody>
          <a:bodyPr wrap="none" anchor="t" lIns="0" rIns="0" tIns="0" bIns="0">
            <a:noAutofit/>
          </a:bodyPr>
          <a:lstStyle/>
          <a:p>
            <a:pPr algn="l">
              <a:lnSpc>
                <a:spcPct val="118000"/>
              </a:lnSpc>
              <a:spcBef>
                <a:spcPts val="0"/>
              </a:spcBef>
              <a:spcAft>
                <a:spcPts val="0"/>
              </a:spcAft>
            </a:pPr>
            <a:r>
              <a:rPr sz="1900" b="1" lang="ko-KR">
                <a:solidFill>
                  <a:srgbClr val="00306C"/>
                </a:solidFill>
                <a:latin typeface="Pretendard"/>
                <a:ea typeface="Pretendard"/>
                <a:cs typeface="Pretendard"/>
              </a:rPr>
              <a:t>Examples of fixed flow statistics in the CSV</a:t>
            </a:r>
          </a:p>
        </p:txBody>
      </p:sp>
      <p:sp>
        <p:nvSpPr>
          <p:cNvPr id="33" name="Rectangle 32"/>
          <p:cNvSpPr/>
          <p:nvPr/>
        </p:nvSpPr>
        <p:spPr>
          <a:xfrm>
            <a:off x="5074920"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5074920"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66359"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Flow duration</a:t>
            </a:r>
          </a:p>
        </p:txBody>
      </p:sp>
      <p:sp>
        <p:nvSpPr>
          <p:cNvPr id="36" name="TextBox 35"/>
          <p:cNvSpPr txBox="1"/>
          <p:nvPr/>
        </p:nvSpPr>
        <p:spPr>
          <a:xfrm>
            <a:off x="5184648" y="5074920"/>
            <a:ext cx="1682496" cy="229819"/>
          </a:xfrm>
          <a:prstGeom prst="rect">
            <a:avLst/>
          </a:prstGeom>
          <a:noFill/>
          <a:effectLst/>
        </p:spPr>
        <p:txBody>
          <a:bodyPr wrap="none" anchor="t" lIns="0" rIns="0" tIns="0" bIns="0">
            <a:noAutofit/>
          </a:bodyPr>
          <a:lstStyle/>
          <a:p>
            <a:pPr algn="ctr">
              <a:lnSpc>
                <a:spcPct val="118000"/>
              </a:lnSpc>
              <a:spcBef>
                <a:spcPts val="0"/>
              </a:spcBef>
              <a:spcAft>
                <a:spcPts val="0"/>
              </a:spcAft>
            </a:pPr>
            <a:r>
              <a:rPr sz="1320" b="0" lang="ko-KR">
                <a:solidFill>
                  <a:srgbClr val="20262E"/>
                </a:solidFill>
                <a:latin typeface="Pretendard"/>
                <a:ea typeface="Pretendard"/>
                <a:cs typeface="Pretendard"/>
              </a:rPr>
              <a:t>first to last packet</a:t>
            </a:r>
          </a:p>
        </p:txBody>
      </p:sp>
      <p:sp>
        <p:nvSpPr>
          <p:cNvPr id="37" name="Rectangle 36"/>
          <p:cNvSpPr/>
          <p:nvPr/>
        </p:nvSpPr>
        <p:spPr>
          <a:xfrm>
            <a:off x="7242048"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7242048"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7333488"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Fwd. packets</a:t>
            </a:r>
          </a:p>
        </p:txBody>
      </p:sp>
      <p:sp>
        <p:nvSpPr>
          <p:cNvPr id="40" name="TextBox 39"/>
          <p:cNvSpPr txBox="1"/>
          <p:nvPr/>
        </p:nvSpPr>
        <p:spPr>
          <a:xfrm>
            <a:off x="7351775" y="5074920"/>
            <a:ext cx="1682496" cy="229819"/>
          </a:xfrm>
          <a:prstGeom prst="rect">
            <a:avLst/>
          </a:prstGeom>
          <a:noFill/>
          <a:effectLst/>
        </p:spPr>
        <p:txBody>
          <a:bodyPr wrap="none" anchor="t" lIns="0" rIns="0" tIns="0" bIns="0">
            <a:noAutofit/>
          </a:bodyPr>
          <a:lstStyle/>
          <a:p>
            <a:pPr algn="ctr">
              <a:lnSpc>
                <a:spcPct val="118000"/>
              </a:lnSpc>
              <a:spcBef>
                <a:spcPts val="0"/>
              </a:spcBef>
              <a:spcAft>
                <a:spcPts val="0"/>
              </a:spcAft>
            </a:pPr>
            <a:r>
              <a:rPr sz="1320" b="0" lang="ko-KR">
                <a:solidFill>
                  <a:srgbClr val="20262E"/>
                </a:solidFill>
                <a:latin typeface="Pretendard"/>
                <a:ea typeface="Pretendard"/>
                <a:cs typeface="Pretendard"/>
              </a:rPr>
              <a:t>packets sent</a:t>
            </a:r>
          </a:p>
        </p:txBody>
      </p:sp>
      <p:sp>
        <p:nvSpPr>
          <p:cNvPr id="41" name="Rectangle 40"/>
          <p:cNvSpPr/>
          <p:nvPr/>
        </p:nvSpPr>
        <p:spPr>
          <a:xfrm>
            <a:off x="9409176"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9409176"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500615"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Packet interval</a:t>
            </a:r>
          </a:p>
        </p:txBody>
      </p:sp>
      <p:sp>
        <p:nvSpPr>
          <p:cNvPr id="44" name="TextBox 43"/>
          <p:cNvSpPr txBox="1"/>
          <p:nvPr/>
        </p:nvSpPr>
        <p:spPr>
          <a:xfrm>
            <a:off x="9518903" y="5074920"/>
            <a:ext cx="1682496" cy="229819"/>
          </a:xfrm>
          <a:prstGeom prst="rect">
            <a:avLst/>
          </a:prstGeom>
          <a:noFill/>
          <a:effectLst/>
        </p:spPr>
        <p:txBody>
          <a:bodyPr wrap="none" anchor="t" lIns="0" rIns="0" tIns="0" bIns="0">
            <a:noAutofit/>
          </a:bodyPr>
          <a:lstStyle/>
          <a:p>
            <a:pPr algn="ctr">
              <a:lnSpc>
                <a:spcPct val="118000"/>
              </a:lnSpc>
              <a:spcBef>
                <a:spcPts val="0"/>
              </a:spcBef>
              <a:spcAft>
                <a:spcPts val="0"/>
              </a:spcAft>
            </a:pPr>
            <a:r>
              <a:rPr sz="1320" b="0" lang="ko-KR">
                <a:solidFill>
                  <a:srgbClr val="20262E"/>
                </a:solidFill>
                <a:latin typeface="Pretendard"/>
                <a:ea typeface="Pretendard"/>
                <a:cs typeface="Pretendard"/>
              </a:rPr>
              <a:t>interval statistics</a:t>
            </a:r>
          </a:p>
        </p:txBody>
      </p:sp>
      <p:sp>
        <p:nvSpPr>
          <p:cNvPr id="45" name="TextBox 44"/>
          <p:cNvSpPr txBox="1"/>
          <p:nvPr/>
        </p:nvSpPr>
        <p:spPr>
          <a:xfrm>
            <a:off x="5120640" y="5852160"/>
            <a:ext cx="6309360" cy="241808"/>
          </a:xfrm>
          <a:prstGeom prst="rect">
            <a:avLst/>
          </a:prstGeom>
          <a:noFill/>
          <a:effectLst/>
        </p:spPr>
        <p:txBody>
          <a:bodyPr wrap="none" anchor="t" lIns="0" rIns="0" tIns="0" bIns="0">
            <a:noAutofit/>
          </a:bodyPr>
          <a:lstStyle/>
          <a:p>
            <a:pPr algn="ctr">
              <a:lnSpc>
                <a:spcPct val="118000"/>
              </a:lnSpc>
              <a:spcBef>
                <a:spcPts val="0"/>
              </a:spcBef>
              <a:spcAft>
                <a:spcPts val="0"/>
              </a:spcAft>
            </a:pPr>
            <a:r>
              <a:rPr sz="1400" b="0" lang="ko-KR">
                <a:solidFill>
                  <a:srgbClr val="617080"/>
                </a:solidFill>
                <a:latin typeface="Pretendard"/>
                <a:ea typeface="Pretendard"/>
                <a:cs typeface="Pretendard"/>
              </a:rPr>
              <a:t>A summary of predefined flow statistics, not the packet sequence itself</a:t>
            </a:r>
          </a:p>
        </p:txBody>
      </p:sp>
      <p:sp>
        <p:nvSpPr>
          <p:cNvPr id="46" name="Rectangle 45"/>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Prior models use the supplied flow-statistics CSV</a:t>
            </a:r>
          </a:p>
        </p:txBody>
      </p:sp>
      <p:sp>
        <p:nvSpPr>
          <p:cNvPr id="48" name="TextBox 47"/>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Existing CSV</a:t>
            </a:r>
          </a:p>
        </p:txBody>
      </p:sp>
      <p:sp>
        <p:nvSpPr>
          <p:cNvPr id="49" name="TextBox 48"/>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Two issues in CSV-based IDS classification</a:t>
            </a:r>
          </a:p>
        </p:txBody>
      </p:sp>
      <p:sp>
        <p:nvSpPr>
          <p:cNvPr id="3" name="Rectangle 2"/>
          <p:cNvSpPr/>
          <p:nvPr/>
        </p:nvSpPr>
        <p:spPr>
          <a:xfrm>
            <a:off x="594360" y="1719072"/>
            <a:ext cx="5276088" cy="3355848"/>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594360" y="1719072"/>
            <a:ext cx="5276088"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1787651"/>
            <a:ext cx="5056631"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Issue 1  Early saturation in some attacks</a:t>
            </a:r>
          </a:p>
        </p:txBody>
      </p:sp>
      <p:sp>
        <p:nvSpPr>
          <p:cNvPr id="6" name="TextBox 5"/>
          <p:cNvSpPr txBox="1"/>
          <p:nvPr/>
        </p:nvSpPr>
        <p:spPr>
          <a:xfrm>
            <a:off x="740664" y="2286000"/>
            <a:ext cx="4983479" cy="1170940"/>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Head attacks such as DDoS and Bot</a:t>
            </a:r>
          </a:p>
          <a:p>
            <a:pPr algn="ctr">
              <a:lnSpc>
                <a:spcPct val="118000"/>
              </a:lnSpc>
              <a:spcBef>
                <a:spcPts val="0"/>
              </a:spcBef>
              <a:spcAft>
                <a:spcPts val="0"/>
              </a:spcAft>
            </a:pPr>
            <a:r>
              <a:rPr sz="1900" b="0" lang="ko-KR">
                <a:solidFill>
                  <a:srgbClr val="20262E"/>
                </a:solidFill>
                <a:latin typeface="Pretendard"/>
                <a:ea typeface="Pretendard"/>
                <a:cs typeface="Pretendard"/>
              </a:rPr>
              <a:t>reach F1 in the 90% range with n = 2 to 20</a:t>
            </a:r>
          </a:p>
          <a:p>
            <a:pPr algn="ctr">
              <a:lnSpc>
                <a:spcPct val="118000"/>
              </a:lnSpc>
              <a:spcBef>
                <a:spcPts val="0"/>
              </a:spcBef>
              <a:spcAft>
                <a:spcPts val="0"/>
              </a:spcAft>
            </a:pPr>
            <a:r>
              <a:rPr sz="1900" b="0" lang="ko-KR">
                <a:solidFill>
                  <a:srgbClr val="20262E"/>
                </a:solidFill>
                <a:latin typeface="Pretendard"/>
                <a:ea typeface="Pretendard"/>
                <a:cs typeface="Pretendard"/>
              </a:rPr>
              <a:t/>
            </a:r>
          </a:p>
          <a:p>
            <a:pPr algn="ctr">
              <a:lnSpc>
                <a:spcPct val="118000"/>
              </a:lnSpc>
              <a:spcBef>
                <a:spcPts val="0"/>
              </a:spcBef>
              <a:spcAft>
                <a:spcPts val="0"/>
              </a:spcAft>
            </a:pPr>
            <a:r>
              <a:rPr sz="1900" b="0" lang="ko-KR">
                <a:solidFill>
                  <a:srgbClr val="20262E"/>
                </a:solidFill>
                <a:latin typeface="Pretendard"/>
                <a:ea typeface="Pretendard"/>
                <a:cs typeface="Pretendard"/>
              </a:rPr>
              <a:t>→ a high data ceiling before adding labels</a:t>
            </a:r>
          </a:p>
        </p:txBody>
      </p:sp>
      <p:sp>
        <p:nvSpPr>
          <p:cNvPr id="7" name="Rectangle 6"/>
          <p:cNvSpPr/>
          <p:nvPr/>
        </p:nvSpPr>
        <p:spPr>
          <a:xfrm>
            <a:off x="6318504" y="1719072"/>
            <a:ext cx="5276088" cy="3355848"/>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318504" y="1719072"/>
            <a:ext cx="5276088"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28232" y="1787651"/>
            <a:ext cx="5056631"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Issue 2  Identical features, different labels</a:t>
            </a:r>
          </a:p>
        </p:txBody>
      </p:sp>
      <p:sp>
        <p:nvSpPr>
          <p:cNvPr id="10" name="TextBox 9"/>
          <p:cNvSpPr txBox="1"/>
          <p:nvPr/>
        </p:nvSpPr>
        <p:spPr>
          <a:xfrm>
            <a:off x="6464808" y="2286000"/>
            <a:ext cx="4983479" cy="1170940"/>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0" lang="ko-KR">
                <a:solidFill>
                  <a:srgbClr val="20262E"/>
                </a:solidFill>
                <a:latin typeface="Pretendard"/>
                <a:ea typeface="Pretendard"/>
                <a:cs typeface="Pretendard"/>
              </a:rPr>
              <a:t>Rows with dozens of identical flow statistics</a:t>
            </a:r>
          </a:p>
          <a:p>
            <a:pPr algn="ctr">
              <a:lnSpc>
                <a:spcPct val="118000"/>
              </a:lnSpc>
              <a:spcBef>
                <a:spcPts val="0"/>
              </a:spcBef>
              <a:spcAft>
                <a:spcPts val="0"/>
              </a:spcAft>
            </a:pPr>
            <a:r>
              <a:rPr sz="1900" b="0" lang="ko-KR">
                <a:solidFill>
                  <a:srgbClr val="20262E"/>
                </a:solidFill>
                <a:latin typeface="Pretendard"/>
                <a:ea typeface="Pretendard"/>
                <a:cs typeface="Pretendard"/>
              </a:rPr>
              <a:t>can still have different recorded labels</a:t>
            </a:r>
          </a:p>
          <a:p>
            <a:pPr algn="ctr">
              <a:lnSpc>
                <a:spcPct val="118000"/>
              </a:lnSpc>
              <a:spcBef>
                <a:spcPts val="0"/>
              </a:spcBef>
              <a:spcAft>
                <a:spcPts val="0"/>
              </a:spcAft>
            </a:pPr>
            <a:r>
              <a:rPr sz="1900" b="0" lang="ko-KR">
                <a:solidFill>
                  <a:srgbClr val="20262E"/>
                </a:solidFill>
                <a:latin typeface="Pretendard"/>
                <a:ea typeface="Pretendard"/>
                <a:cs typeface="Pretendard"/>
              </a:rPr>
              <a:t/>
            </a:r>
          </a:p>
          <a:p>
            <a:pPr algn="ctr">
              <a:lnSpc>
                <a:spcPct val="118000"/>
              </a:lnSpc>
              <a:spcBef>
                <a:spcPts val="0"/>
              </a:spcBef>
              <a:spcAft>
                <a:spcPts val="0"/>
              </a:spcAft>
            </a:pPr>
            <a:r>
              <a:rPr sz="1900" b="0" lang="ko-KR">
                <a:solidFill>
                  <a:srgbClr val="20262E"/>
                </a:solidFill>
                <a:latin typeface="Pretendard"/>
                <a:ea typeface="Pretendard"/>
                <a:cs typeface="Pretendard"/>
              </a:rPr>
              <a:t>→ one deterministic classifier cannot fit both</a:t>
            </a:r>
          </a:p>
        </p:txBody>
      </p:sp>
      <p:sp>
        <p:nvSpPr>
          <p:cNvPr id="11" name="Rectangle 10"/>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Early saturation and feature–label contradictions require separate diagnosis</a:t>
            </a:r>
          </a:p>
        </p:txBody>
      </p:sp>
      <p:sp>
        <p:nvSpPr>
          <p:cNvPr id="13" name="TextBox 12"/>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Existing CSV</a:t>
            </a:r>
          </a:p>
        </p:txBody>
      </p:sp>
      <p:sp>
        <p:nvSpPr>
          <p:cNvPr id="14" name="TextBox 13"/>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Some head attacks already have high F1 with few labels</a:t>
            </a:r>
          </a:p>
        </p:txBody>
      </p:sp>
      <p:sp>
        <p:nvSpPr>
          <p:cNvPr id="3" name="TextBox 2"/>
          <p:cNvSpPr txBox="1"/>
          <p:nvPr/>
        </p:nvSpPr>
        <p:spPr>
          <a:xfrm>
            <a:off x="594360" y="1005840"/>
            <a:ext cx="10972800" cy="279273"/>
          </a:xfrm>
          <a:prstGeom prst="rect">
            <a:avLst/>
          </a:prstGeom>
          <a:noFill/>
          <a:effectLst/>
        </p:spPr>
        <p:txBody>
          <a:bodyPr wrap="none" anchor="t" lIns="0" rIns="0" tIns="0" bIns="0">
            <a:noAutofit/>
          </a:bodyPr>
          <a:lstStyle/>
          <a:p>
            <a:pPr algn="l">
              <a:lnSpc>
                <a:spcPct val="118000"/>
              </a:lnSpc>
              <a:spcBef>
                <a:spcPts val="0"/>
              </a:spcBef>
              <a:spcAft>
                <a:spcPts val="0"/>
              </a:spcAft>
            </a:pPr>
            <a:r>
              <a:rPr sz="1650" b="0" lang="ko-KR">
                <a:solidFill>
                  <a:srgbClr val="617080"/>
                </a:solidFill>
                <a:latin typeface="Pretendard"/>
                <a:ea typeface="Pretendard"/>
                <a:cs typeface="Pretendard"/>
              </a:rPr>
              <a:t>Macro F1 still changes beyond n = 20, but DDoS and Bot approach high F1 with few labels</a:t>
            </a:r>
          </a:p>
        </p:txBody>
      </p:sp>
      <p:pic>
        <p:nvPicPr>
          <p:cNvPr id="4" name="Picture 3" descr="ceiling_curve_heatmaps.png"/>
          <p:cNvPicPr>
            <a:picLocks noChangeAspect="1"/>
          </p:cNvPicPr>
          <p:nvPr/>
        </p:nvPicPr>
        <p:blipFill>
          <a:blip r:embed="rId3"/>
          <a:stretch>
            <a:fillRect/>
          </a:stretch>
        </p:blipFill>
        <p:spPr>
          <a:xfrm>
            <a:off x="620833" y="1353312"/>
            <a:ext cx="10938141" cy="4160520"/>
          </a:xfrm>
          <a:prstGeom prst="rect">
            <a:avLst/>
          </a:prstGeom>
          <a:effectLst/>
        </p:spPr>
      </p:pic>
      <p:sp>
        <p:nvSpPr>
          <p:cNvPr id="5" name="TextBox 4"/>
          <p:cNvSpPr txBox="1"/>
          <p:nvPr/>
        </p:nvSpPr>
        <p:spPr>
          <a:xfrm>
            <a:off x="658368" y="5751576"/>
            <a:ext cx="10789920" cy="220827"/>
          </a:xfrm>
          <a:prstGeom prst="rect">
            <a:avLst/>
          </a:prstGeom>
          <a:noFill/>
          <a:effectLst/>
        </p:spPr>
        <p:txBody>
          <a:bodyPr wrap="none" anchor="t" lIns="0" rIns="0" tIns="0" bIns="0">
            <a:noAutofit/>
          </a:bodyPr>
          <a:lstStyle/>
          <a:p>
            <a:pPr algn="l">
              <a:lnSpc>
                <a:spcPct val="118000"/>
              </a:lnSpc>
              <a:spcBef>
                <a:spcPts val="0"/>
              </a:spcBef>
              <a:spcAft>
                <a:spcPts val="0"/>
              </a:spcAft>
            </a:pPr>
            <a:r>
              <a:rPr sz="1260" b="0" lang="ko-KR">
                <a:solidFill>
                  <a:srgbClr val="617080"/>
                </a:solidFill>
                <a:latin typeface="Pretendard"/>
                <a:ea typeface="Pretendard"/>
                <a:cs typeface="Pretendard"/>
              </a:rPr>
              <a:t>EXP87 · attack-only training and evaluation · benign excluded · 5 seeds · fixed conflict-free test · n = 450 is the balanced-label-budget ceiling</a:t>
            </a:r>
          </a:p>
        </p:txBody>
      </p:sp>
      <p:sp>
        <p:nvSpPr>
          <p:cNvPr id="6" name="Rectangle 5"/>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Macro F1 changes with n, while classwise saturation is uneven</a:t>
            </a:r>
          </a:p>
        </p:txBody>
      </p:sp>
      <p:sp>
        <p:nvSpPr>
          <p:cNvPr id="8" name="TextBox 7"/>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Data ceiling</a:t>
            </a:r>
          </a:p>
        </p:txBody>
      </p:sp>
      <p:sp>
        <p:nvSpPr>
          <p:cNvPr id="9" name="TextBox 8"/>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Identical features, different classes in CIC2018 CSV</a:t>
            </a:r>
          </a:p>
        </p:txBody>
      </p:sp>
      <p:sp>
        <p:nvSpPr>
          <p:cNvPr id="3" name="TextBox 2"/>
          <p:cNvSpPr txBox="1"/>
          <p:nvPr/>
        </p:nvSpPr>
        <p:spPr>
          <a:xfrm>
            <a:off x="594360" y="1005840"/>
            <a:ext cx="10972800" cy="229819"/>
          </a:xfrm>
          <a:prstGeom prst="rect">
            <a:avLst/>
          </a:prstGeom>
          <a:noFill/>
          <a:effectLst/>
        </p:spPr>
        <p:txBody>
          <a:bodyPr wrap="none" anchor="t" lIns="0" rIns="0" tIns="0" bIns="0">
            <a:noAutofit/>
          </a:bodyPr>
          <a:lstStyle/>
          <a:p>
            <a:pPr algn="l">
              <a:lnSpc>
                <a:spcPct val="118000"/>
              </a:lnSpc>
              <a:spcBef>
                <a:spcPts val="0"/>
              </a:spcBef>
              <a:spcAft>
                <a:spcPts val="0"/>
              </a:spcAft>
            </a:pPr>
            <a:r>
              <a:rPr sz="1320" b="0" lang="ko-KR">
                <a:solidFill>
                  <a:srgbClr val="617080"/>
                </a:solidFill>
                <a:latin typeface="Pretendard"/>
                <a:ea typeface="Pretendard"/>
                <a:cs typeface="Pretendard"/>
              </a:rPr>
              <a:t>Exact agreement on 78 common CICFlowMeter statistics, excluding timestamp, Flow ID, source IP/port, destination IP, and label</a:t>
            </a:r>
          </a:p>
        </p:txBody>
      </p:sp>
      <p:sp>
        <p:nvSpPr>
          <p:cNvPr id="4" name="Rectangle 3"/>
          <p:cNvSpPr/>
          <p:nvPr/>
        </p:nvSpPr>
        <p:spPr>
          <a:xfrm>
            <a:off x="594360" y="1481328"/>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40080" y="1613916"/>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Dst Port</a:t>
            </a:r>
          </a:p>
        </p:txBody>
      </p:sp>
      <p:sp>
        <p:nvSpPr>
          <p:cNvPr id="6" name="Rectangle 5"/>
          <p:cNvSpPr/>
          <p:nvPr/>
        </p:nvSpPr>
        <p:spPr>
          <a:xfrm>
            <a:off x="1554480" y="1481328"/>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600200" y="1613916"/>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Protocol</a:t>
            </a:r>
          </a:p>
        </p:txBody>
      </p:sp>
      <p:sp>
        <p:nvSpPr>
          <p:cNvPr id="8" name="Rectangle 7"/>
          <p:cNvSpPr/>
          <p:nvPr/>
        </p:nvSpPr>
        <p:spPr>
          <a:xfrm>
            <a:off x="2194560" y="1481328"/>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240280" y="1613916"/>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Duration</a:t>
            </a:r>
          </a:p>
        </p:txBody>
      </p:sp>
      <p:sp>
        <p:nvSpPr>
          <p:cNvPr id="10" name="Rectangle 9"/>
          <p:cNvSpPr/>
          <p:nvPr/>
        </p:nvSpPr>
        <p:spPr>
          <a:xfrm>
            <a:off x="3456432" y="1481328"/>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502152" y="1613916"/>
            <a:ext cx="758952"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 Fwd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2" name="Rectangle 11"/>
          <p:cNvSpPr/>
          <p:nvPr/>
        </p:nvSpPr>
        <p:spPr>
          <a:xfrm>
            <a:off x="4306824" y="1481328"/>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352544" y="1613916"/>
            <a:ext cx="758952"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 Bwd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4" name="Rectangle 13"/>
          <p:cNvSpPr/>
          <p:nvPr/>
        </p:nvSpPr>
        <p:spPr>
          <a:xfrm>
            <a:off x="5157216" y="1481328"/>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202936" y="1613916"/>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16" name="Rectangle 15"/>
          <p:cNvSpPr/>
          <p:nvPr/>
        </p:nvSpPr>
        <p:spPr>
          <a:xfrm>
            <a:off x="6364224" y="1481328"/>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09944" y="1613916"/>
            <a:ext cx="1051560"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TotLen Bwd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8" name="Rectangle 17"/>
          <p:cNvSpPr/>
          <p:nvPr/>
        </p:nvSpPr>
        <p:spPr>
          <a:xfrm>
            <a:off x="7507224" y="1481328"/>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552944" y="1613916"/>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Byts/s</a:t>
            </a:r>
          </a:p>
        </p:txBody>
      </p:sp>
      <p:sp>
        <p:nvSpPr>
          <p:cNvPr id="20" name="Rectangle 19"/>
          <p:cNvSpPr/>
          <p:nvPr/>
        </p:nvSpPr>
        <p:spPr>
          <a:xfrm>
            <a:off x="8266176" y="1481328"/>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311896" y="1613916"/>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Pkts/s</a:t>
            </a:r>
          </a:p>
        </p:txBody>
      </p:sp>
      <p:sp>
        <p:nvSpPr>
          <p:cNvPr id="22" name="Rectangle 21"/>
          <p:cNvSpPr/>
          <p:nvPr/>
        </p:nvSpPr>
        <p:spPr>
          <a:xfrm>
            <a:off x="9290304" y="1481328"/>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336024" y="1613916"/>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Idle Min</a:t>
            </a:r>
          </a:p>
        </p:txBody>
      </p:sp>
      <p:sp>
        <p:nvSpPr>
          <p:cNvPr id="24" name="Rectangle 23"/>
          <p:cNvSpPr/>
          <p:nvPr/>
        </p:nvSpPr>
        <p:spPr>
          <a:xfrm>
            <a:off x="10040112" y="1481328"/>
            <a:ext cx="1554480" cy="438912"/>
          </a:xfrm>
          <a:prstGeom prst="rect">
            <a:avLst/>
          </a:prstGeom>
          <a:solidFill>
            <a:srgbClr val="00306C"/>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085832" y="1613916"/>
            <a:ext cx="1463039"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NF-v3</a:t>
            </a:r>
          </a:p>
          <a:p>
            <a:pPr algn="ctr">
              <a:lnSpc>
                <a:spcPct val="118000"/>
              </a:lnSpc>
              <a:spcBef>
                <a:spcPts val="0"/>
              </a:spcBef>
              <a:spcAft>
                <a:spcPts val="0"/>
              </a:spcAft>
            </a:pPr>
            <a:r>
              <a:rPr sz="980" b="1" lang="ko-KR">
                <a:solidFill>
                  <a:srgbClr val="20262E"/>
                </a:solidFill>
                <a:latin typeface="Pretendard"/>
                <a:ea typeface="Pretendard"/>
                <a:cs typeface="Pretendard"/>
              </a:rPr>
              <a:t>class</a:t>
            </a:r>
          </a:p>
        </p:txBody>
      </p:sp>
      <p:sp>
        <p:nvSpPr>
          <p:cNvPr id="26" name="Rectangle 25"/>
          <p:cNvSpPr/>
          <p:nvPr/>
        </p:nvSpPr>
        <p:spPr>
          <a:xfrm>
            <a:off x="594360" y="1929384"/>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2061972"/>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21</a:t>
            </a:r>
          </a:p>
        </p:txBody>
      </p:sp>
      <p:sp>
        <p:nvSpPr>
          <p:cNvPr id="28" name="Rectangle 27"/>
          <p:cNvSpPr/>
          <p:nvPr/>
        </p:nvSpPr>
        <p:spPr>
          <a:xfrm>
            <a:off x="1554480" y="1929384"/>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600200" y="2061972"/>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6</a:t>
            </a:r>
          </a:p>
        </p:txBody>
      </p:sp>
      <p:sp>
        <p:nvSpPr>
          <p:cNvPr id="30" name="Rectangle 29"/>
          <p:cNvSpPr/>
          <p:nvPr/>
        </p:nvSpPr>
        <p:spPr>
          <a:xfrm>
            <a:off x="2194560" y="1929384"/>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240280" y="2061972"/>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a:t>
            </a:r>
          </a:p>
        </p:txBody>
      </p:sp>
      <p:sp>
        <p:nvSpPr>
          <p:cNvPr id="32" name="Rectangle 31"/>
          <p:cNvSpPr/>
          <p:nvPr/>
        </p:nvSpPr>
        <p:spPr>
          <a:xfrm>
            <a:off x="3456432" y="1929384"/>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3502152" y="2061972"/>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34" name="Rectangle 33"/>
          <p:cNvSpPr/>
          <p:nvPr/>
        </p:nvSpPr>
        <p:spPr>
          <a:xfrm>
            <a:off x="4306824" y="1929384"/>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352544" y="2061972"/>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36" name="Rectangle 35"/>
          <p:cNvSpPr/>
          <p:nvPr/>
        </p:nvSpPr>
        <p:spPr>
          <a:xfrm>
            <a:off x="5157216" y="1929384"/>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202936" y="2061972"/>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38" name="Rectangle 37"/>
          <p:cNvSpPr/>
          <p:nvPr/>
        </p:nvSpPr>
        <p:spPr>
          <a:xfrm>
            <a:off x="6364224" y="1929384"/>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409944" y="2061972"/>
            <a:ext cx="105156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0" name="Rectangle 39"/>
          <p:cNvSpPr/>
          <p:nvPr/>
        </p:nvSpPr>
        <p:spPr>
          <a:xfrm>
            <a:off x="7507224" y="1929384"/>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552944" y="2061972"/>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2" name="Rectangle 41"/>
          <p:cNvSpPr/>
          <p:nvPr/>
        </p:nvSpPr>
        <p:spPr>
          <a:xfrm>
            <a:off x="8266176" y="1929384"/>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311896" y="2061972"/>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1000000</a:t>
            </a:r>
          </a:p>
        </p:txBody>
      </p:sp>
      <p:sp>
        <p:nvSpPr>
          <p:cNvPr id="44" name="Rectangle 43"/>
          <p:cNvSpPr/>
          <p:nvPr/>
        </p:nvSpPr>
        <p:spPr>
          <a:xfrm>
            <a:off x="9290304" y="1929384"/>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336024" y="2061972"/>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6" name="Rectangle 45"/>
          <p:cNvSpPr/>
          <p:nvPr/>
        </p:nvSpPr>
        <p:spPr>
          <a:xfrm>
            <a:off x="10040112" y="1929384"/>
            <a:ext cx="1554480" cy="438912"/>
          </a:xfrm>
          <a:prstGeom prst="rect">
            <a:avLst/>
          </a:prstGeom>
          <a:solidFill>
            <a:srgbClr val="FBE8E7"/>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0085832" y="2061972"/>
            <a:ext cx="1463039"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dos</a:t>
            </a:r>
          </a:p>
        </p:txBody>
      </p:sp>
      <p:sp>
        <p:nvSpPr>
          <p:cNvPr id="48" name="Rectangle 47"/>
          <p:cNvSpPr/>
          <p:nvPr/>
        </p:nvSpPr>
        <p:spPr>
          <a:xfrm>
            <a:off x="594360" y="2377440"/>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0080" y="2510028"/>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21</a:t>
            </a:r>
          </a:p>
        </p:txBody>
      </p:sp>
      <p:sp>
        <p:nvSpPr>
          <p:cNvPr id="50" name="Rectangle 49"/>
          <p:cNvSpPr/>
          <p:nvPr/>
        </p:nvSpPr>
        <p:spPr>
          <a:xfrm>
            <a:off x="1554480" y="2377440"/>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1600200" y="2510028"/>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6</a:t>
            </a:r>
          </a:p>
        </p:txBody>
      </p:sp>
      <p:sp>
        <p:nvSpPr>
          <p:cNvPr id="52" name="Rectangle 51"/>
          <p:cNvSpPr/>
          <p:nvPr/>
        </p:nvSpPr>
        <p:spPr>
          <a:xfrm>
            <a:off x="2194560" y="2377440"/>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240280" y="2510028"/>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a:t>
            </a:r>
          </a:p>
        </p:txBody>
      </p:sp>
      <p:sp>
        <p:nvSpPr>
          <p:cNvPr id="54" name="Rectangle 53"/>
          <p:cNvSpPr/>
          <p:nvPr/>
        </p:nvSpPr>
        <p:spPr>
          <a:xfrm>
            <a:off x="3456432" y="2377440"/>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502152" y="2510028"/>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56" name="Rectangle 55"/>
          <p:cNvSpPr/>
          <p:nvPr/>
        </p:nvSpPr>
        <p:spPr>
          <a:xfrm>
            <a:off x="4306824" y="2377440"/>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4352544" y="2510028"/>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58" name="Rectangle 57"/>
          <p:cNvSpPr/>
          <p:nvPr/>
        </p:nvSpPr>
        <p:spPr>
          <a:xfrm>
            <a:off x="5157216" y="2377440"/>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202936" y="2510028"/>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60" name="Rectangle 59"/>
          <p:cNvSpPr/>
          <p:nvPr/>
        </p:nvSpPr>
        <p:spPr>
          <a:xfrm>
            <a:off x="6364224" y="2377440"/>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6409944" y="2510028"/>
            <a:ext cx="105156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2" name="Rectangle 61"/>
          <p:cNvSpPr/>
          <p:nvPr/>
        </p:nvSpPr>
        <p:spPr>
          <a:xfrm>
            <a:off x="7507224" y="2377440"/>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7552944" y="2510028"/>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4" name="Rectangle 63"/>
          <p:cNvSpPr/>
          <p:nvPr/>
        </p:nvSpPr>
        <p:spPr>
          <a:xfrm>
            <a:off x="8266176" y="2377440"/>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311896" y="2510028"/>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1000000</a:t>
            </a:r>
          </a:p>
        </p:txBody>
      </p:sp>
      <p:sp>
        <p:nvSpPr>
          <p:cNvPr id="66" name="Rectangle 65"/>
          <p:cNvSpPr/>
          <p:nvPr/>
        </p:nvSpPr>
        <p:spPr>
          <a:xfrm>
            <a:off x="9290304" y="2377440"/>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9336024" y="2510028"/>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8" name="Rectangle 67"/>
          <p:cNvSpPr/>
          <p:nvPr/>
        </p:nvSpPr>
        <p:spPr>
          <a:xfrm>
            <a:off x="10040112" y="2377440"/>
            <a:ext cx="1554480" cy="438912"/>
          </a:xfrm>
          <a:prstGeom prst="rect">
            <a:avLst/>
          </a:prstGeom>
          <a:solidFill>
            <a:srgbClr val="E6F1F8"/>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10085832" y="2510028"/>
            <a:ext cx="1463039"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bf</a:t>
            </a:r>
          </a:p>
        </p:txBody>
      </p:sp>
      <p:sp>
        <p:nvSpPr>
          <p:cNvPr id="70" name="TextBox 69"/>
          <p:cNvSpPr txBox="1"/>
          <p:nvPr/>
        </p:nvSpPr>
        <p:spPr>
          <a:xfrm>
            <a:off x="658368" y="2962656"/>
            <a:ext cx="10789920" cy="264287"/>
          </a:xfrm>
          <a:prstGeom prst="rect">
            <a:avLst/>
          </a:prstGeom>
          <a:noFill/>
          <a:effectLst/>
        </p:spPr>
        <p:txBody>
          <a:bodyPr wrap="none" anchor="t" lIns="0" rIns="0" tIns="0" bIns="0">
            <a:noAutofit/>
          </a:bodyPr>
          <a:lstStyle/>
          <a:p>
            <a:pPr algn="l">
              <a:lnSpc>
                <a:spcPct val="118000"/>
              </a:lnSpc>
              <a:spcBef>
                <a:spcPts val="0"/>
              </a:spcBef>
              <a:spcAft>
                <a:spcPts val="0"/>
              </a:spcAft>
            </a:pPr>
            <a:r>
              <a:rPr sz="1550" b="1" lang="ko-KR">
                <a:solidFill>
                  <a:srgbClr val="B44948"/>
                </a:solidFill>
                <a:latin typeface="Pretendard"/>
                <a:ea typeface="Pretendard"/>
                <a:cs typeface="Pretendard"/>
              </a:rPr>
              <a:t>The two rows above: bf · dos  ·  all other 69 fields are also identical</a:t>
            </a:r>
          </a:p>
        </p:txBody>
      </p:sp>
      <p:pic>
        <p:nvPicPr>
          <p:cNvPr id="71" name="Picture 70" descr="original_csv_conflict_rates.png"/>
          <p:cNvPicPr>
            <a:picLocks noChangeAspect="1"/>
          </p:cNvPicPr>
          <p:nvPr/>
        </p:nvPicPr>
        <p:blipFill>
          <a:blip r:embed="rId3"/>
          <a:stretch>
            <a:fillRect/>
          </a:stretch>
        </p:blipFill>
        <p:spPr>
          <a:xfrm>
            <a:off x="1202316" y="3172968"/>
            <a:ext cx="9775175" cy="2130552"/>
          </a:xfrm>
          <a:prstGeom prst="rect">
            <a:avLst/>
          </a:prstGeom>
          <a:effectLst/>
        </p:spPr>
      </p:pic>
      <p:sp>
        <p:nvSpPr>
          <p:cNvPr id="72" name="TextBox 71"/>
          <p:cNvSpPr txBox="1"/>
          <p:nvPr/>
        </p:nvSpPr>
        <p:spPr>
          <a:xfrm>
            <a:off x="658368" y="5532120"/>
            <a:ext cx="10835640" cy="222326"/>
          </a:xfrm>
          <a:prstGeom prst="rect">
            <a:avLst/>
          </a:prstGeom>
          <a:noFill/>
          <a:effectLst/>
        </p:spPr>
        <p:txBody>
          <a:bodyPr wrap="none" anchor="t" lIns="0" rIns="0" tIns="0" bIns="0">
            <a:noAutofit/>
          </a:bodyPr>
          <a:lstStyle/>
          <a:p>
            <a:pPr algn="l">
              <a:lnSpc>
                <a:spcPct val="118000"/>
              </a:lnSpc>
              <a:spcBef>
                <a:spcPts val="0"/>
              </a:spcBef>
              <a:spcAft>
                <a:spcPts val="0"/>
              </a:spcAft>
            </a:pPr>
            <a:r>
              <a:rPr sz="1270" b="0" lang="ko-KR">
                <a:solidFill>
                  <a:srgbClr val="617080"/>
                </a:solidFill>
                <a:latin typeface="Pretendard"/>
                <a:ea typeface="Pretendard"/>
                <a:cs typeface="Pretendard"/>
              </a:rPr>
              <a:t>Audit of all 16,232,943 raw CSV rows · aggregated to seven NF-v3 classes · bar endpoint: different-class rows</a:t>
            </a:r>
          </a:p>
        </p:txBody>
      </p:sp>
      <p:sp>
        <p:nvSpPr>
          <p:cNvPr id="73" name="Rectangle 72"/>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Literal rows share all 78 common flow statistics but belong to different NF-v3 classes</a:t>
            </a:r>
          </a:p>
        </p:txBody>
      </p:sp>
      <p:sp>
        <p:nvSpPr>
          <p:cNvPr id="75" name="TextBox 74"/>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03 Label conflicts</a:t>
            </a:r>
          </a:p>
        </p:txBody>
      </p:sp>
      <p:sp>
        <p:nvSpPr>
          <p:cNvPr id="76" name="TextBox 75"/>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A PCAP-based CIC2018 representation pipeline</a:t>
            </a:r>
          </a:p>
        </p:txBody>
      </p:sp>
      <p:sp>
        <p:nvSpPr>
          <p:cNvPr id="3" name="TextBox 2"/>
          <p:cNvSpPr txBox="1"/>
          <p:nvPr/>
        </p:nvSpPr>
        <p:spPr>
          <a:xfrm>
            <a:off x="594360" y="1005840"/>
            <a:ext cx="10972800" cy="249301"/>
          </a:xfrm>
          <a:prstGeom prst="rect">
            <a:avLst/>
          </a:prstGeom>
          <a:noFill/>
          <a:effectLst/>
        </p:spPr>
        <p:txBody>
          <a:bodyPr wrap="none" anchor="t" lIns="0" rIns="0" tIns="0" bIns="0">
            <a:noAutofit/>
          </a:bodyPr>
          <a:lstStyle/>
          <a:p>
            <a:pPr algn="l">
              <a:lnSpc>
                <a:spcPct val="118000"/>
              </a:lnSpc>
              <a:spcBef>
                <a:spcPts val="0"/>
              </a:spcBef>
              <a:spcAft>
                <a:spcPts val="0"/>
              </a:spcAft>
            </a:pPr>
            <a:r>
              <a:rPr sz="1450" b="0" lang="ko-KR">
                <a:solidFill>
                  <a:srgbClr val="617080"/>
                </a:solidFill>
                <a:latin typeface="Pretendard"/>
                <a:ea typeface="Pretendard"/>
                <a:cs typeface="Pretendard"/>
              </a:rPr>
              <a:t>Generate representations from packet sequences, then recheck both issues under the same protocol</a:t>
            </a:r>
          </a:p>
        </p:txBody>
      </p:sp>
      <p:sp>
        <p:nvSpPr>
          <p:cNvPr id="4" name="Rectangle 3"/>
          <p:cNvSpPr/>
          <p:nvPr/>
        </p:nvSpPr>
        <p:spPr>
          <a:xfrm>
            <a:off x="594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94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PCAP + labels</a:t>
            </a:r>
          </a:p>
        </p:txBody>
      </p:sp>
      <p:sp>
        <p:nvSpPr>
          <p:cNvPr id="7" name="TextBox 6"/>
          <p:cNvSpPr txBox="1"/>
          <p:nvPr/>
        </p:nvSpPr>
        <p:spPr>
          <a:xfrm>
            <a:off x="704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packet, time,</a:t>
            </a:r>
          </a:p>
          <a:p>
            <a:pPr algn="ctr">
              <a:lnSpc>
                <a:spcPct val="118000"/>
              </a:lnSpc>
              <a:spcBef>
                <a:spcPts val="0"/>
              </a:spcBef>
              <a:spcAft>
                <a:spcPts val="0"/>
              </a:spcAft>
            </a:pPr>
            <a:r>
              <a:rPr sz="1500" b="0" lang="ko-KR">
                <a:solidFill>
                  <a:srgbClr val="20262E"/>
                </a:solidFill>
                <a:latin typeface="Pretendard"/>
                <a:ea typeface="Pretendard"/>
                <a:cs typeface="Pretendard"/>
              </a:rPr>
              <a:t>label evidence</a:t>
            </a:r>
          </a:p>
        </p:txBody>
      </p:sp>
      <p:sp>
        <p:nvSpPr>
          <p:cNvPr id="8" name="Rectangle 7"/>
          <p:cNvSpPr/>
          <p:nvPr/>
        </p:nvSpPr>
        <p:spPr>
          <a:xfrm>
            <a:off x="2880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880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971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Flow linkage</a:t>
            </a:r>
          </a:p>
        </p:txBody>
      </p:sp>
      <p:sp>
        <p:nvSpPr>
          <p:cNvPr id="11" name="TextBox 10"/>
          <p:cNvSpPr txBox="1"/>
          <p:nvPr/>
        </p:nvSpPr>
        <p:spPr>
          <a:xfrm>
            <a:off x="2990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traceable traffic</a:t>
            </a:r>
          </a:p>
          <a:p>
            <a:pPr algn="ctr">
              <a:lnSpc>
                <a:spcPct val="118000"/>
              </a:lnSpc>
              <a:spcBef>
                <a:spcPts val="0"/>
              </a:spcBef>
              <a:spcAft>
                <a:spcPts val="0"/>
              </a:spcAft>
            </a:pPr>
            <a:r>
              <a:rPr sz="1500" b="0" lang="ko-KR">
                <a:solidFill>
                  <a:srgbClr val="20262E"/>
                </a:solidFill>
                <a:latin typeface="Pretendard"/>
                <a:ea typeface="Pretendard"/>
                <a:cs typeface="Pretendard"/>
              </a:rPr>
              <a:t>and labels</a:t>
            </a:r>
          </a:p>
        </p:txBody>
      </p:sp>
      <p:sp>
        <p:nvSpPr>
          <p:cNvPr id="12" name="Rectangle 11"/>
          <p:cNvSpPr/>
          <p:nvPr/>
        </p:nvSpPr>
        <p:spPr>
          <a:xfrm>
            <a:off x="5166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166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57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Encoder</a:t>
            </a:r>
          </a:p>
        </p:txBody>
      </p:sp>
      <p:sp>
        <p:nvSpPr>
          <p:cNvPr id="15" name="TextBox 14"/>
          <p:cNvSpPr txBox="1"/>
          <p:nvPr/>
        </p:nvSpPr>
        <p:spPr>
          <a:xfrm>
            <a:off x="5276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packet-sequence</a:t>
            </a:r>
          </a:p>
          <a:p>
            <a:pPr algn="ctr">
              <a:lnSpc>
                <a:spcPct val="118000"/>
              </a:lnSpc>
              <a:spcBef>
                <a:spcPts val="0"/>
              </a:spcBef>
              <a:spcAft>
                <a:spcPts val="0"/>
              </a:spcAft>
            </a:pPr>
            <a:r>
              <a:rPr sz="1500" b="0" lang="ko-KR">
                <a:solidFill>
                  <a:srgbClr val="20262E"/>
                </a:solidFill>
                <a:latin typeface="Pretendard"/>
                <a:ea typeface="Pretendard"/>
                <a:cs typeface="Pretendard"/>
              </a:rPr>
              <a:t>embedding</a:t>
            </a:r>
          </a:p>
        </p:txBody>
      </p:sp>
      <p:sp>
        <p:nvSpPr>
          <p:cNvPr id="16" name="Rectangle 15"/>
          <p:cNvSpPr/>
          <p:nvPr/>
        </p:nvSpPr>
        <p:spPr>
          <a:xfrm>
            <a:off x="7452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7452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543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Projection</a:t>
            </a:r>
          </a:p>
        </p:txBody>
      </p:sp>
      <p:sp>
        <p:nvSpPr>
          <p:cNvPr id="19" name="TextBox 18"/>
          <p:cNvSpPr txBox="1"/>
          <p:nvPr/>
        </p:nvSpPr>
        <p:spPr>
          <a:xfrm>
            <a:off x="7562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fit PCA on the</a:t>
            </a:r>
          </a:p>
          <a:p>
            <a:pPr algn="ctr">
              <a:lnSpc>
                <a:spcPct val="118000"/>
              </a:lnSpc>
              <a:spcBef>
                <a:spcPts val="0"/>
              </a:spcBef>
              <a:spcAft>
                <a:spcPts val="0"/>
              </a:spcAft>
            </a:pPr>
            <a:r>
              <a:rPr sz="1500" b="0" lang="ko-KR">
                <a:solidFill>
                  <a:srgbClr val="20262E"/>
                </a:solidFill>
                <a:latin typeface="Pretendard"/>
                <a:ea typeface="Pretendard"/>
                <a:cs typeface="Pretendard"/>
              </a:rPr>
              <a:t>training split only</a:t>
            </a:r>
          </a:p>
        </p:txBody>
      </p:sp>
      <p:sp>
        <p:nvSpPr>
          <p:cNvPr id="20" name="Rectangle 19"/>
          <p:cNvSpPr/>
          <p:nvPr/>
        </p:nvSpPr>
        <p:spPr>
          <a:xfrm>
            <a:off x="9738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9738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829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New vectors</a:t>
            </a:r>
          </a:p>
        </p:txBody>
      </p:sp>
      <p:sp>
        <p:nvSpPr>
          <p:cNvPr id="23" name="TextBox 22"/>
          <p:cNvSpPr txBox="1"/>
          <p:nvPr/>
        </p:nvSpPr>
        <p:spPr>
          <a:xfrm>
            <a:off x="9848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XGB + TabPFN</a:t>
            </a:r>
          </a:p>
          <a:p>
            <a:pPr algn="ctr">
              <a:lnSpc>
                <a:spcPct val="118000"/>
              </a:lnSpc>
              <a:spcBef>
                <a:spcPts val="0"/>
              </a:spcBef>
              <a:spcAft>
                <a:spcPts val="0"/>
              </a:spcAft>
            </a:pPr>
            <a:r>
              <a:rPr sz="1500" b="0" lang="ko-KR">
                <a:solidFill>
                  <a:srgbClr val="20262E"/>
                </a:solidFill>
                <a:latin typeface="Pretendard"/>
                <a:ea typeface="Pretendard"/>
                <a:cs typeface="Pretendard"/>
              </a:rPr>
              <a:t>same evaluation</a:t>
            </a:r>
          </a:p>
        </p:txBody>
      </p:sp>
      <p:sp>
        <p:nvSpPr>
          <p:cNvPr id="24" name="Right Arrow 23"/>
          <p:cNvSpPr/>
          <p:nvPr/>
        </p:nvSpPr>
        <p:spPr>
          <a:xfrm>
            <a:off x="2551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ight Arrow 24"/>
          <p:cNvSpPr/>
          <p:nvPr/>
        </p:nvSpPr>
        <p:spPr>
          <a:xfrm>
            <a:off x="4837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ight Arrow 25"/>
          <p:cNvSpPr/>
          <p:nvPr/>
        </p:nvSpPr>
        <p:spPr>
          <a:xfrm>
            <a:off x="7123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ight Arrow 26"/>
          <p:cNvSpPr/>
          <p:nvPr/>
        </p:nvSpPr>
        <p:spPr>
          <a:xfrm>
            <a:off x="9409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594360" y="3593592"/>
            <a:ext cx="5285232" cy="117043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94360" y="3593592"/>
            <a:ext cx="5285232"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04088" y="3662172"/>
            <a:ext cx="5065776"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Representation audit</a:t>
            </a:r>
          </a:p>
        </p:txBody>
      </p:sp>
      <p:sp>
        <p:nvSpPr>
          <p:cNvPr id="31" name="TextBox 30"/>
          <p:cNvSpPr txBox="1"/>
          <p:nvPr/>
        </p:nvSpPr>
        <p:spPr>
          <a:xfrm>
            <a:off x="740664" y="4160520"/>
            <a:ext cx="4992624" cy="466597"/>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20262E"/>
                </a:solidFill>
                <a:latin typeface="Pretendard"/>
                <a:ea typeface="Pretendard"/>
                <a:cs typeface="Pretendard"/>
              </a:rPr>
              <a:t>identical embeddings with different labels</a:t>
            </a:r>
          </a:p>
          <a:p>
            <a:pPr algn="ctr">
              <a:lnSpc>
                <a:spcPct val="118000"/>
              </a:lnSpc>
              <a:spcBef>
                <a:spcPts val="0"/>
              </a:spcBef>
              <a:spcAft>
                <a:spcPts val="0"/>
              </a:spcAft>
            </a:pPr>
            <a:r>
              <a:rPr sz="1450" b="0" lang="ko-KR">
                <a:solidFill>
                  <a:srgbClr val="20262E"/>
                </a:solidFill>
                <a:latin typeface="Pretendard"/>
                <a:ea typeface="Pretendard"/>
                <a:cs typeface="Pretendard"/>
              </a:rPr>
              <a:t>and the PCAP evidence for each label</a:t>
            </a:r>
          </a:p>
        </p:txBody>
      </p:sp>
      <p:sp>
        <p:nvSpPr>
          <p:cNvPr id="32" name="Rectangle 31"/>
          <p:cNvSpPr/>
          <p:nvPr/>
        </p:nvSpPr>
        <p:spPr>
          <a:xfrm>
            <a:off x="6309360" y="3593592"/>
            <a:ext cx="5285232" cy="117043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309360" y="3593592"/>
            <a:ext cx="5285232"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19088" y="3662172"/>
            <a:ext cx="5065776"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Classification evaluation</a:t>
            </a:r>
          </a:p>
        </p:txBody>
      </p:sp>
      <p:sp>
        <p:nvSpPr>
          <p:cNvPr id="35" name="TextBox 34"/>
          <p:cNvSpPr txBox="1"/>
          <p:nvPr/>
        </p:nvSpPr>
        <p:spPr>
          <a:xfrm>
            <a:off x="6455664" y="4160520"/>
            <a:ext cx="4992624" cy="466597"/>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20262E"/>
                </a:solidFill>
                <a:latin typeface="Pretendard"/>
                <a:ea typeface="Pretendard"/>
                <a:cs typeface="Pretendard"/>
              </a:rPr>
              <a:t>baselines, few-shot curves, and classwise F1</a:t>
            </a:r>
          </a:p>
          <a:p>
            <a:pPr algn="ctr">
              <a:lnSpc>
                <a:spcPct val="118000"/>
              </a:lnSpc>
              <a:spcBef>
                <a:spcPts val="0"/>
              </a:spcBef>
              <a:spcAft>
                <a:spcPts val="0"/>
              </a:spcAft>
            </a:pPr>
            <a:r>
              <a:rPr sz="1450" b="0" lang="ko-KR">
                <a:solidFill>
                  <a:srgbClr val="20262E"/>
                </a:solidFill>
                <a:latin typeface="Pretendard"/>
                <a:ea typeface="Pretendard"/>
                <a:cs typeface="Pretendard"/>
              </a:rPr>
              <a:t>to test whether early head saturation remains</a:t>
            </a:r>
          </a:p>
        </p:txBody>
      </p:sp>
      <p:sp>
        <p:nvSpPr>
          <p:cNvPr id="36" name="TextBox 35"/>
          <p:cNvSpPr txBox="1"/>
          <p:nvPr/>
        </p:nvSpPr>
        <p:spPr>
          <a:xfrm>
            <a:off x="658368" y="5148072"/>
            <a:ext cx="10881360" cy="249301"/>
          </a:xfrm>
          <a:prstGeom prst="rect">
            <a:avLst/>
          </a:prstGeom>
          <a:noFill/>
          <a:effectLst/>
        </p:spPr>
        <p:txBody>
          <a:bodyPr wrap="none" anchor="t" lIns="0" rIns="0" tIns="0" bIns="0">
            <a:noAutofit/>
          </a:bodyPr>
          <a:lstStyle/>
          <a:p>
            <a:pPr algn="l">
              <a:lnSpc>
                <a:spcPct val="118000"/>
              </a:lnSpc>
              <a:spcBef>
                <a:spcPts val="0"/>
              </a:spcBef>
              <a:spcAft>
                <a:spcPts val="0"/>
              </a:spcAft>
            </a:pPr>
            <a:r>
              <a:rPr sz="1450" b="0" lang="ko-KR">
                <a:solidFill>
                  <a:srgbClr val="617080"/>
                </a:solidFill>
                <a:latin typeface="Pretendard"/>
                <a:ea typeface="Pretendard"/>
                <a:cs typeface="Pretendard"/>
              </a:rPr>
              <a:t>Candidate encoders  netFound (arXiv, 2026) · ET-BERT (WWW, 2022) · NetMamba (ICNP, 2024)</a:t>
            </a:r>
          </a:p>
        </p:txBody>
      </p:sp>
      <p:sp>
        <p:nvSpPr>
          <p:cNvPr id="37" name="TextBox 36"/>
          <p:cNvSpPr txBox="1"/>
          <p:nvPr/>
        </p:nvSpPr>
        <p:spPr>
          <a:xfrm>
            <a:off x="658368" y="5495544"/>
            <a:ext cx="10881360" cy="244805"/>
          </a:xfrm>
          <a:prstGeom prst="rect">
            <a:avLst/>
          </a:prstGeom>
          <a:noFill/>
          <a:effectLst/>
        </p:spPr>
        <p:txBody>
          <a:bodyPr wrap="none" anchor="t" lIns="0" rIns="0" tIns="0" bIns="0">
            <a:noAutofit/>
          </a:bodyPr>
          <a:lstStyle/>
          <a:p>
            <a:pPr algn="l">
              <a:lnSpc>
                <a:spcPct val="118000"/>
              </a:lnSpc>
              <a:spcBef>
                <a:spcPts val="0"/>
              </a:spcBef>
              <a:spcAft>
                <a:spcPts val="0"/>
              </a:spcAft>
            </a:pPr>
            <a:r>
              <a:rPr sz="1420" b="1" lang="ko-KR">
                <a:solidFill>
                  <a:srgbClr val="00306C"/>
                </a:solidFill>
                <a:latin typeface="Pretendard"/>
                <a:ea typeface="Pretendard"/>
                <a:cs typeface="Pretendard"/>
              </a:rPr>
              <a:t>CICFlowMeter uses specified statistics; encoders learn from packet order, timing, and headers</a:t>
            </a:r>
          </a:p>
        </p:txBody>
      </p:sp>
      <p:sp>
        <p:nvSpPr>
          <p:cNvPr id="38" name="Rectangle 37"/>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Keep encoders interchangeable and repeat representation audits with matched classification evaluation</a:t>
            </a:r>
          </a:p>
        </p:txBody>
      </p:sp>
      <p:sp>
        <p:nvSpPr>
          <p:cNvPr id="40" name="TextBox 39"/>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04 PCAP reconstruction</a:t>
            </a:r>
          </a:p>
        </p:txBody>
      </p:sp>
      <p:sp>
        <p:nvSpPr>
          <p:cNvPr id="41" name="TextBox 40"/>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Summary</a:t>
            </a:r>
          </a:p>
        </p:txBody>
      </p:sp>
      <p:sp>
        <p:nvSpPr>
          <p:cNvPr id="3" name="Rectangle 2"/>
          <p:cNvSpPr/>
          <p:nvPr/>
        </p:nvSpPr>
        <p:spPr>
          <a:xfrm>
            <a:off x="594360" y="1353312"/>
            <a:ext cx="324612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594360" y="1353312"/>
            <a:ext cx="3246120"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1421892"/>
            <a:ext cx="3026663"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1  Existing CSV input</a:t>
            </a:r>
          </a:p>
        </p:txBody>
      </p:sp>
      <p:sp>
        <p:nvSpPr>
          <p:cNvPr id="6" name="TextBox 5"/>
          <p:cNvSpPr txBox="1"/>
          <p:nvPr/>
        </p:nvSpPr>
        <p:spPr>
          <a:xfrm>
            <a:off x="740664" y="1920240"/>
            <a:ext cx="2953512" cy="751332"/>
          </a:xfrm>
          <a:prstGeom prst="rect">
            <a:avLst/>
          </a:prstGeom>
          <a:noFill/>
          <a:effectLst/>
        </p:spPr>
        <p:txBody>
          <a:bodyPr wrap="none" anchor="t" lIns="0" rIns="0" tIns="0" bIns="0">
            <a:noAutofit/>
          </a:bodyPr>
          <a:lstStyle/>
          <a:p>
            <a:pPr algn="ctr">
              <a:lnSpc>
                <a:spcPct val="118000"/>
              </a:lnSpc>
              <a:spcBef>
                <a:spcPts val="0"/>
              </a:spcBef>
              <a:spcAft>
                <a:spcPts val="0"/>
              </a:spcAft>
            </a:pPr>
            <a:r>
              <a:rPr sz="1600" b="0" lang="ko-KR">
                <a:solidFill>
                  <a:srgbClr val="20262E"/>
                </a:solidFill>
                <a:latin typeface="Pretendard"/>
                <a:ea typeface="Pretendard"/>
                <a:cs typeface="Pretendard"/>
              </a:rPr>
              <a:t>XGB · TabPFN · SOTA</a:t>
            </a:r>
          </a:p>
          <a:p>
            <a:pPr algn="ctr">
              <a:lnSpc>
                <a:spcPct val="118000"/>
              </a:lnSpc>
              <a:spcBef>
                <a:spcPts val="0"/>
              </a:spcBef>
              <a:spcAft>
                <a:spcPts val="0"/>
              </a:spcAft>
            </a:pPr>
            <a:r>
              <a:rPr sz="1600" b="0" lang="ko-KR">
                <a:solidFill>
                  <a:srgbClr val="20262E"/>
                </a:solidFill>
                <a:latin typeface="Pretendard"/>
                <a:ea typeface="Pretendard"/>
                <a:cs typeface="Pretendard"/>
              </a:rPr>
              <a:t>CICFlowMeter flow statistics</a:t>
            </a:r>
          </a:p>
          <a:p>
            <a:pPr algn="ctr">
              <a:lnSpc>
                <a:spcPct val="118000"/>
              </a:lnSpc>
              <a:spcBef>
                <a:spcPts val="0"/>
              </a:spcBef>
              <a:spcAft>
                <a:spcPts val="0"/>
              </a:spcAft>
            </a:pPr>
            <a:r>
              <a:rPr sz="1600" b="0" lang="ko-KR">
                <a:solidFill>
                  <a:srgbClr val="20262E"/>
                </a:solidFill>
                <a:latin typeface="Pretendard"/>
                <a:ea typeface="Pretendard"/>
                <a:cs typeface="Pretendard"/>
              </a:rPr>
              <a:t>row-level inputs</a:t>
            </a:r>
          </a:p>
        </p:txBody>
      </p:sp>
      <p:sp>
        <p:nvSpPr>
          <p:cNvPr id="7" name="Right Arrow 6"/>
          <p:cNvSpPr/>
          <p:nvPr/>
        </p:nvSpPr>
        <p:spPr>
          <a:xfrm>
            <a:off x="4050791" y="2368296"/>
            <a:ext cx="40233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08576" y="1353312"/>
            <a:ext cx="324612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4608576" y="1353312"/>
            <a:ext cx="3246120"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8304" y="1421892"/>
            <a:ext cx="3026663"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2  Observed data issues</a:t>
            </a:r>
          </a:p>
        </p:txBody>
      </p:sp>
      <p:sp>
        <p:nvSpPr>
          <p:cNvPr id="11" name="TextBox 10"/>
          <p:cNvSpPr txBox="1"/>
          <p:nvPr/>
        </p:nvSpPr>
        <p:spPr>
          <a:xfrm>
            <a:off x="4754880" y="1920240"/>
            <a:ext cx="2953512" cy="1066038"/>
          </a:xfrm>
          <a:prstGeom prst="rect">
            <a:avLst/>
          </a:prstGeom>
          <a:noFill/>
          <a:effectLst/>
        </p:spPr>
        <p:txBody>
          <a:bodyPr wrap="none" anchor="t" lIns="0" rIns="0" tIns="0" bIns="0">
            <a:noAutofit/>
          </a:bodyPr>
          <a:lstStyle/>
          <a:p>
            <a:pPr algn="ctr">
              <a:lnSpc>
                <a:spcPct val="118000"/>
              </a:lnSpc>
              <a:spcBef>
                <a:spcPts val="0"/>
              </a:spcBef>
              <a:spcAft>
                <a:spcPts val="0"/>
              </a:spcAft>
            </a:pPr>
            <a:r>
              <a:rPr sz="1380" b="0" lang="ko-KR">
                <a:solidFill>
                  <a:srgbClr val="20262E"/>
                </a:solidFill>
                <a:latin typeface="Pretendard"/>
                <a:ea typeface="Pretendard"/>
                <a:cs typeface="Pretendard"/>
              </a:rPr>
              <a:t>early head saturation</a:t>
            </a:r>
          </a:p>
          <a:p>
            <a:pPr algn="ctr">
              <a:lnSpc>
                <a:spcPct val="118000"/>
              </a:lnSpc>
              <a:spcBef>
                <a:spcPts val="0"/>
              </a:spcBef>
              <a:spcAft>
                <a:spcPts val="0"/>
              </a:spcAft>
            </a:pPr>
            <a:r>
              <a:rPr sz="1380" b="0" lang="ko-KR">
                <a:solidFill>
                  <a:srgbClr val="20262E"/>
                </a:solidFill>
                <a:latin typeface="Pretendard"/>
                <a:ea typeface="Pretendard"/>
                <a:cs typeface="Pretendard"/>
              </a:rPr>
              <a:t>identical features, different classes</a:t>
            </a:r>
          </a:p>
          <a:p>
            <a:pPr algn="ctr">
              <a:lnSpc>
                <a:spcPct val="118000"/>
              </a:lnSpc>
              <a:spcBef>
                <a:spcPts val="0"/>
              </a:spcBef>
              <a:spcAft>
                <a:spcPts val="0"/>
              </a:spcAft>
            </a:pPr>
            <a:r>
              <a:rPr sz="1380" b="0" lang="ko-KR">
                <a:solidFill>
                  <a:srgbClr val="20262E"/>
                </a:solidFill>
                <a:latin typeface="Pretendard"/>
                <a:ea typeface="Pretendard"/>
                <a:cs typeface="Pretendard"/>
              </a:rPr>
              <a:t/>
            </a:r>
          </a:p>
          <a:p>
            <a:pPr algn="ctr">
              <a:lnSpc>
                <a:spcPct val="118000"/>
              </a:lnSpc>
              <a:spcBef>
                <a:spcPts val="0"/>
              </a:spcBef>
              <a:spcAft>
                <a:spcPts val="0"/>
              </a:spcAft>
            </a:pPr>
            <a:r>
              <a:rPr sz="1380" b="0" lang="ko-KR">
                <a:solidFill>
                  <a:srgbClr val="20262E"/>
                </a:solidFill>
                <a:latin typeface="Pretendard"/>
                <a:ea typeface="Pretendard"/>
                <a:cs typeface="Pretendard"/>
              </a:rPr>
              <a:t>average score alone</a:t>
            </a:r>
          </a:p>
          <a:p>
            <a:pPr algn="ctr">
              <a:lnSpc>
                <a:spcPct val="118000"/>
              </a:lnSpc>
              <a:spcBef>
                <a:spcPts val="0"/>
              </a:spcBef>
              <a:spcAft>
                <a:spcPts val="0"/>
              </a:spcAft>
            </a:pPr>
            <a:r>
              <a:rPr sz="1380" b="0" lang="ko-KR">
                <a:solidFill>
                  <a:srgbClr val="20262E"/>
                </a:solidFill>
                <a:latin typeface="Pretendard"/>
                <a:ea typeface="Pretendard"/>
                <a:cs typeface="Pretendard"/>
              </a:rPr>
              <a:t>does not establish difficulty</a:t>
            </a:r>
          </a:p>
        </p:txBody>
      </p:sp>
      <p:sp>
        <p:nvSpPr>
          <p:cNvPr id="12" name="Right Arrow 11"/>
          <p:cNvSpPr/>
          <p:nvPr/>
        </p:nvSpPr>
        <p:spPr>
          <a:xfrm>
            <a:off x="8065008" y="2368296"/>
            <a:ext cx="40233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622792" y="1353312"/>
            <a:ext cx="297180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622792" y="1353312"/>
            <a:ext cx="2971800" cy="393192"/>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32519" y="1421892"/>
            <a:ext cx="2752344"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3  Next validation</a:t>
            </a:r>
          </a:p>
        </p:txBody>
      </p:sp>
      <p:sp>
        <p:nvSpPr>
          <p:cNvPr id="16" name="TextBox 15"/>
          <p:cNvSpPr txBox="1"/>
          <p:nvPr/>
        </p:nvSpPr>
        <p:spPr>
          <a:xfrm>
            <a:off x="8769096" y="1920240"/>
            <a:ext cx="2679192" cy="859231"/>
          </a:xfrm>
          <a:prstGeom prst="rect">
            <a:avLst/>
          </a:prstGeom>
          <a:noFill/>
          <a:effectLst/>
        </p:spPr>
        <p:txBody>
          <a:bodyPr wrap="none" anchor="t" lIns="0" rIns="0" tIns="0" bIns="0">
            <a:noAutofit/>
          </a:bodyPr>
          <a:lstStyle/>
          <a:p>
            <a:pPr algn="ctr">
              <a:lnSpc>
                <a:spcPct val="118000"/>
              </a:lnSpc>
              <a:spcBef>
                <a:spcPts val="0"/>
              </a:spcBef>
              <a:spcAft>
                <a:spcPts val="0"/>
              </a:spcAft>
            </a:pPr>
            <a:r>
              <a:rPr sz="1380" b="0" lang="ko-KR">
                <a:solidFill>
                  <a:srgbClr val="20262E"/>
                </a:solidFill>
                <a:latin typeface="Pretendard"/>
                <a:ea typeface="Pretendard"/>
                <a:cs typeface="Pretendard"/>
              </a:rPr>
              <a:t>new vectors from PCAP</a:t>
            </a:r>
          </a:p>
          <a:p>
            <a:pPr algn="ctr">
              <a:lnSpc>
                <a:spcPct val="118000"/>
              </a:lnSpc>
              <a:spcBef>
                <a:spcPts val="0"/>
              </a:spcBef>
              <a:spcAft>
                <a:spcPts val="0"/>
              </a:spcAft>
            </a:pPr>
            <a:r>
              <a:rPr sz="1380" b="0" lang="ko-KR">
                <a:solidFill>
                  <a:srgbClr val="20262E"/>
                </a:solidFill>
                <a:latin typeface="Pretendard"/>
                <a:ea typeface="Pretendard"/>
                <a:cs typeface="Pretendard"/>
              </a:rPr>
              <a:t/>
            </a:r>
          </a:p>
          <a:p>
            <a:pPr algn="ctr">
              <a:lnSpc>
                <a:spcPct val="118000"/>
              </a:lnSpc>
              <a:spcBef>
                <a:spcPts val="0"/>
              </a:spcBef>
              <a:spcAft>
                <a:spcPts val="0"/>
              </a:spcAft>
            </a:pPr>
            <a:r>
              <a:rPr sz="1380" b="0" lang="ko-KR">
                <a:solidFill>
                  <a:srgbClr val="20262E"/>
                </a:solidFill>
                <a:latin typeface="Pretendard"/>
                <a:ea typeface="Pretendard"/>
                <a:cs typeface="Pretendard"/>
              </a:rPr>
              <a:t>repeat audits and baselines</a:t>
            </a:r>
          </a:p>
          <a:p>
            <a:pPr algn="ctr">
              <a:lnSpc>
                <a:spcPct val="118000"/>
              </a:lnSpc>
              <a:spcBef>
                <a:spcPts val="0"/>
              </a:spcBef>
              <a:spcAft>
                <a:spcPts val="0"/>
              </a:spcAft>
            </a:pPr>
            <a:r>
              <a:rPr sz="1380" b="0" lang="ko-KR">
                <a:solidFill>
                  <a:srgbClr val="20262E"/>
                </a:solidFill>
                <a:latin typeface="Pretendard"/>
                <a:ea typeface="Pretendard"/>
                <a:cs typeface="Pretendard"/>
              </a:rPr>
              <a:t>under the same protocol</a:t>
            </a:r>
          </a:p>
        </p:txBody>
      </p:sp>
      <p:sp>
        <p:nvSpPr>
          <p:cNvPr id="17" name="Rectangle 16"/>
          <p:cNvSpPr/>
          <p:nvPr/>
        </p:nvSpPr>
        <p:spPr>
          <a:xfrm>
            <a:off x="594360" y="4361688"/>
            <a:ext cx="11000232" cy="1005840"/>
          </a:xfrm>
          <a:prstGeom prst="rect">
            <a:avLst/>
          </a:prstGeom>
          <a:solidFill>
            <a:srgbClr val="F6F9FC"/>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1248" y="4626864"/>
            <a:ext cx="10515600" cy="274777"/>
          </a:xfrm>
          <a:prstGeom prst="rect">
            <a:avLst/>
          </a:prstGeom>
          <a:noFill/>
          <a:effectLst/>
        </p:spPr>
        <p:txBody>
          <a:bodyPr wrap="none" anchor="t" lIns="0" rIns="0" tIns="0" bIns="0">
            <a:noAutofit/>
          </a:bodyPr>
          <a:lstStyle/>
          <a:p>
            <a:pPr algn="ctr">
              <a:lnSpc>
                <a:spcPct val="118000"/>
              </a:lnSpc>
              <a:spcBef>
                <a:spcPts val="0"/>
              </a:spcBef>
              <a:spcAft>
                <a:spcPts val="0"/>
              </a:spcAft>
            </a:pPr>
            <a:r>
              <a:rPr sz="1620" b="1" lang="ko-KR">
                <a:solidFill>
                  <a:srgbClr val="00306C"/>
                </a:solidFill>
                <a:latin typeface="Pretendard"/>
                <a:ea typeface="Pretendard"/>
                <a:cs typeface="Pretendard"/>
              </a:rPr>
              <a:t>Goal  Test whether new representations reduce the data ceiling and feature–label conflicts</a:t>
            </a:r>
          </a:p>
        </p:txBody>
      </p:sp>
      <p:sp>
        <p:nvSpPr>
          <p:cNvPr id="19" name="TextBox 18"/>
          <p:cNvSpPr txBox="1"/>
          <p:nvPr/>
        </p:nvSpPr>
        <p:spPr>
          <a:xfrm>
            <a:off x="841248" y="5148072"/>
            <a:ext cx="10515600" cy="249301"/>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617080"/>
                </a:solidFill>
                <a:latin typeface="Pretendard"/>
                <a:ea typeface="Pretendard"/>
                <a:cs typeface="Pretendard"/>
              </a:rPr>
              <a:t>If reduced, repeat TabPFN and XGB comparisons on the new vectors; if retained, examine PCAP label linkage further</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Recheck both CSV observations in a new PCAP-based representation</a:t>
            </a:r>
          </a:p>
        </p:txBody>
      </p:sp>
      <p:sp>
        <p:nvSpPr>
          <p:cNvPr id="22" name="TextBox 21"/>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05 Summary</a:t>
            </a:r>
          </a:p>
        </p:txBody>
      </p:sp>
      <p:sp>
        <p:nvSpPr>
          <p:cNvPr id="23" name="TextBox 22"/>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Limits of CIC CSV Inputs and PCAP-Based Representation Learning</dc:title>
  <dc:subject>Raw CIC2018 CSV audit and EXP87 learning curves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