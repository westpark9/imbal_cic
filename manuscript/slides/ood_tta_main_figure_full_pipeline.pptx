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0ae5071a0413c" /><Relationship Type="http://schemas.openxmlformats.org/officeDocument/2006/relationships/extended-properties" Target="/docProps/app.xml" Id="Rcf7854d406a644ed" /><Relationship Type="http://schemas.openxmlformats.org/officeDocument/2006/relationships/officeDocument" Target="/ppt/presentation.xml" Id="Rccff433fbb284e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675f770826446c"/>
  </p:sldMasterIdLst>
  <p:notesMasterIdLst>
    <p:notesMasterId xmlns:r="http://schemas.openxmlformats.org/officeDocument/2006/relationships" r:id="R1dab10fb7e9f415e"/>
  </p:notesMasterIdLst>
  <p:sldIdLst>
    <p:sldId xmlns:r="http://schemas.openxmlformats.org/officeDocument/2006/relationships" id="256" r:id="R65392ba99038422d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bf2e56000450f" /><Relationship Type="http://schemas.openxmlformats.org/officeDocument/2006/relationships/slideMaster" Target="/ppt/slideMasters/slideMaster1.xml" Id="R90675f770826446c" /><Relationship Type="http://schemas.openxmlformats.org/officeDocument/2006/relationships/notesMaster" Target="/ppt/notesMasters/notesMaster1.xml" Id="R1dab10fb7e9f415e" /><Relationship Type="http://schemas.openxmlformats.org/officeDocument/2006/relationships/presProps" Target="/ppt/presProps.xml" Id="R68213e4fb58349b7" /><Relationship Type="http://schemas.openxmlformats.org/officeDocument/2006/relationships/tableStyles" Target="/ppt/tableStyles.xml" Id="Re237ffab98364659" /><Relationship Type="http://schemas.openxmlformats.org/officeDocument/2006/relationships/slide" Target="/ppt/slides/slide1.xml" Id="R65392ba99038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e7ea2206eb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411bf40f0545d9" /><Relationship Type="http://schemas.openxmlformats.org/officeDocument/2006/relationships/notesMaster" Target="/ppt/notesMasters/notesMaster1.xml" Id="R3729e293973945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1b81d83eb4f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5c94ab1fe45b8" /><Relationship Type="http://schemas.openxmlformats.org/officeDocument/2006/relationships/slideLayout" Target="/ppt/slideLayouts/slideLayout1.xml" Id="R7d87dead311548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87dead311548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716e70c304fd9" /><Relationship Type="http://schemas.openxmlformats.org/officeDocument/2006/relationships/notesSlide" Target="/ppt/notesSlides/notesSlide1.xml" Id="R4ac9d8e8fad342c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anchor="mid"/>
          <a:lstStyle/>
          <a:p>
            <a:pPr algn="ctr"/>
            <a:r>
              <a:rPr lang="en-US" sz="1050" b="0">
                <a:solidFill>
                  <a:srgbClr val="111827"/>
                </a:solidFill>
              </a:rPr>
              <a:t/>
            </a:r>
            <a:endParaRPr lang="en-US" sz="1050"/>
          </a:p>
        </p:txBody>
      </p:sp>
      <p:sp>
        <p:nvSpPr>
          <p:cNvPr id="3" name="title"/>
          <p:cNvSpPr txBox="1"/>
          <p:nvPr/>
        </p:nvSpPr>
        <p:spPr>
          <a:xfrm>
            <a:off x="420000" y="190000"/>
            <a:ext cx="83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2350" b="1">
                <a:solidFill>
                  <a:srgbClr val="0F172A"/>
                </a:solidFill>
              </a:rPr>
              <a:t>Full Pipeline: OOD-aware Stability-gated Expert MoE</a:t>
            </a:r>
            <a:endParaRPr lang="en-US" sz="2350"/>
          </a:p>
        </p:txBody>
      </p:sp>
      <p:sp>
        <p:nvSpPr>
          <p:cNvPr id="4" name="subtitle"/>
          <p:cNvSpPr txBox="1"/>
          <p:nvPr/>
        </p:nvSpPr>
        <p:spPr>
          <a:xfrm>
            <a:off x="425000" y="610000"/>
            <a:ext cx="85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950" b="0">
                <a:solidFill>
                  <a:srgbClr val="475569"/>
                </a:solidFill>
              </a:rPr>
              <a:t>CIC-IDS2017 ID classification with disjoint attack experts, auxiliary OOD gate training, threshold calibration, TTA selection, and diagnostic reporting.</a:t>
            </a:r>
            <a:endParaRPr lang="en-US" sz="950"/>
          </a:p>
        </p:txBody>
      </p:sp>
      <p:sp>
        <p:nvSpPr>
          <p:cNvPr id="5" name="panel A"/>
          <p:cNvSpPr/>
          <p:nvPr/>
        </p:nvSpPr>
        <p:spPr>
          <a:xfrm>
            <a:off x="420000" y="1030000"/>
            <a:ext cx="355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en-US" sz="1050" b="0">
                <a:solidFill>
                  <a:srgbClr val="111827"/>
                </a:solidFill>
              </a:rPr>
              <a:t/>
            </a:r>
            <a:endParaRPr lang="en-US" sz="1050"/>
          </a:p>
        </p:txBody>
      </p:sp>
      <p:sp>
        <p:nvSpPr>
          <p:cNvPr id="6" name="badge A"/>
          <p:cNvSpPr/>
          <p:nvPr/>
        </p:nvSpPr>
        <p:spPr>
          <a:xfrm>
            <a:off x="555000" y="1150000"/>
            <a:ext cx="340000" cy="31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en-US" sz="1450" b="1">
                <a:solidFill>
                  <a:srgbClr val="2563EB"/>
                </a:solidFill>
              </a:rPr>
              <a:t>A</a:t>
            </a:r>
            <a:endParaRPr lang="en-US" sz="1450"/>
          </a:p>
        </p:txBody>
      </p:sp>
      <p:sp>
        <p:nvSpPr>
          <p:cNvPr id="7" name="panel title A"/>
          <p:cNvSpPr txBox="1"/>
          <p:nvPr/>
        </p:nvSpPr>
        <p:spPr>
          <a:xfrm>
            <a:off x="960000" y="1150000"/>
            <a:ext cx="2850000" cy="31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80" b="1">
                <a:solidFill>
                  <a:srgbClr val="0F172A"/>
                </a:solidFill>
              </a:rPr>
              <a:t>Data and OOD preparation</a:t>
            </a:r>
            <a:endParaRPr lang="en-US" sz="1180"/>
          </a:p>
        </p:txBody>
      </p:sp>
      <p:sp>
        <p:nvSpPr>
          <p:cNvPr id="8" name="panel B"/>
          <p:cNvSpPr/>
          <p:nvPr/>
        </p:nvSpPr>
        <p:spPr>
          <a:xfrm>
            <a:off x="4310000" y="1030000"/>
            <a:ext cx="355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050" b="0">
                <a:solidFill>
                  <a:srgbClr val="111827"/>
                </a:solidFill>
              </a:rPr>
              <a:t/>
            </a:r>
            <a:endParaRPr lang="en-US" sz="1050"/>
          </a:p>
        </p:txBody>
      </p:sp>
      <p:sp>
        <p:nvSpPr>
          <p:cNvPr id="9" name="badge B"/>
          <p:cNvSpPr/>
          <p:nvPr/>
        </p:nvSpPr>
        <p:spPr>
          <a:xfrm>
            <a:off x="4445000" y="1150000"/>
            <a:ext cx="340000" cy="31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450" b="1">
                <a:solidFill>
                  <a:srgbClr val="16A34A"/>
                </a:solidFill>
              </a:rPr>
              <a:t>B</a:t>
            </a:r>
            <a:endParaRPr lang="en-US" sz="1450"/>
          </a:p>
        </p:txBody>
      </p:sp>
      <p:sp>
        <p:nvSpPr>
          <p:cNvPr id="10" name="panel title B"/>
          <p:cNvSpPr txBox="1"/>
          <p:nvPr/>
        </p:nvSpPr>
        <p:spPr>
          <a:xfrm>
            <a:off x="4850000" y="1150000"/>
            <a:ext cx="2850000" cy="31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80" b="1">
                <a:solidFill>
                  <a:srgbClr val="0F172A"/>
                </a:solidFill>
              </a:rPr>
              <a:t>Model training and calibration</a:t>
            </a:r>
            <a:endParaRPr lang="en-US" sz="1180"/>
          </a:p>
        </p:txBody>
      </p:sp>
      <p:sp>
        <p:nvSpPr>
          <p:cNvPr id="11" name="panel C"/>
          <p:cNvSpPr/>
          <p:nvPr/>
        </p:nvSpPr>
        <p:spPr>
          <a:xfrm>
            <a:off x="8200000" y="1030000"/>
            <a:ext cx="355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050" b="0">
                <a:solidFill>
                  <a:srgbClr val="111827"/>
                </a:solidFill>
              </a:rPr>
              <a:t/>
            </a:r>
            <a:endParaRPr lang="en-US" sz="1050"/>
          </a:p>
        </p:txBody>
      </p:sp>
      <p:sp>
        <p:nvSpPr>
          <p:cNvPr id="12" name="badge C"/>
          <p:cNvSpPr/>
          <p:nvPr/>
        </p:nvSpPr>
        <p:spPr>
          <a:xfrm>
            <a:off x="8335000" y="1150000"/>
            <a:ext cx="340000" cy="31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450" b="1">
                <a:solidFill>
                  <a:srgbClr val="EA580C"/>
                </a:solidFill>
              </a:rPr>
              <a:t>C</a:t>
            </a:r>
            <a:endParaRPr lang="en-US" sz="1450"/>
          </a:p>
        </p:txBody>
      </p:sp>
      <p:sp>
        <p:nvSpPr>
          <p:cNvPr id="13" name="panel title C"/>
          <p:cNvSpPr txBox="1"/>
          <p:nvPr/>
        </p:nvSpPr>
        <p:spPr>
          <a:xfrm>
            <a:off x="8740000" y="1150000"/>
            <a:ext cx="2850000" cy="31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1180" b="1">
                <a:solidFill>
                  <a:srgbClr val="0F172A"/>
                </a:solidFill>
              </a:rPr>
              <a:t>Inference, TTA, and analysis</a:t>
            </a:r>
            <a:endParaRPr lang="en-US" sz="1180"/>
          </a:p>
        </p:txBody>
      </p:sp>
      <p:sp>
        <p:nvSpPr>
          <p:cNvPr id="14" name="A id"/>
          <p:cNvSpPr/>
          <p:nvPr/>
        </p:nvSpPr>
        <p:spPr>
          <a:xfrm>
            <a:off x="690000" y="1730000"/>
            <a:ext cx="1250000" cy="47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en-US" sz="1050" b="1">
                <a:solidFill>
                  <a:srgbClr val="1D4ED8"/>
                </a:solidFill>
              </a:rPr>
              <a:t>ID dataset</a:t>
            </a:r>
            <a:endParaRPr lang="en-US" sz="1050"/>
          </a:p>
          <a:p>
            <a:pPr algn="ctr"/>
            <a:r>
              <a:rPr lang="en-US" sz="1050" b="1">
                <a:solidFill>
                  <a:srgbClr val="1D4ED8"/>
                </a:solidFill>
              </a:rPr>
              <a:t>CIC-IDS2017</a:t>
            </a:r>
            <a:endParaRPr lang="en-US" sz="1050"/>
          </a:p>
        </p:txBody>
      </p:sp>
      <p:sp>
        <p:nvSpPr>
          <p:cNvPr id="15" name="A split"/>
          <p:cNvSpPr/>
          <p:nvPr/>
        </p:nvSpPr>
        <p:spPr>
          <a:xfrm>
            <a:off x="2320000" y="1730000"/>
            <a:ext cx="1250000" cy="47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en-US" sz="1000" b="1">
                <a:solidFill>
                  <a:srgbClr val="1D4ED8"/>
                </a:solidFill>
              </a:rPr>
              <a:t>Train / Val / Test</a:t>
            </a:r>
            <a:endParaRPr lang="en-US" sz="1000"/>
          </a:p>
          <a:p>
            <a:pPr algn="ctr"/>
            <a:r>
              <a:rPr lang="en-US" sz="1000" b="1">
                <a:solidFill>
                  <a:srgbClr val="1D4ED8"/>
                </a:solidFill>
              </a:rPr>
              <a:t>60 / 20 / 20</a:t>
            </a:r>
            <a:endParaRPr lang="en-US" sz="1000"/>
          </a:p>
        </p:txBody>
      </p:sp>
      <p:cxnSp>
        <p:nvCxnSpPr>
          <p:cNvPr id="16" name="A1"/>
          <p:cNvCxnSpPr/>
          <p:nvPr/>
        </p:nvCxnSpPr>
        <p:spPr>
          <a:xfrm>
            <a:off x="1940000" y="1965000"/>
            <a:ext cx="380000" cy="1"/>
          </a:xfrm>
          <a:prstGeom prst="straightConnector1">
            <a:avLst/>
          </a:prstGeom>
          <a:ln w="19050">
            <a:solidFill>
              <a:srgbClr val="2563EB"/>
            </a:solidFill>
            <a:headEnd type="triangle"/>
          </a:ln>
        </p:spPr>
      </p:cxnSp>
      <p:sp>
        <p:nvSpPr>
          <p:cNvPr id="17" name="A source"/>
          <p:cNvSpPr/>
          <p:nvPr/>
        </p:nvSpPr>
        <p:spPr>
          <a:xfrm>
            <a:off x="690000" y="2470000"/>
            <a:ext cx="1250000" cy="47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050" b="1">
                <a:solidFill>
                  <a:srgbClr val="C2410C"/>
                </a:solidFill>
              </a:rPr>
              <a:t>Source OOD</a:t>
            </a:r>
            <a:endParaRPr lang="en-US" sz="1050"/>
          </a:p>
          <a:p>
            <a:pPr algn="ctr"/>
            <a:r>
              <a:rPr lang="en-US" sz="1050" b="1">
                <a:solidFill>
                  <a:srgbClr val="C2410C"/>
                </a:solidFill>
              </a:rPr>
              <a:t>CIC2018</a:t>
            </a:r>
            <a:endParaRPr lang="en-US" sz="1050"/>
          </a:p>
        </p:txBody>
      </p:sp>
      <p:sp>
        <p:nvSpPr>
          <p:cNvPr id="18" name="A align"/>
          <p:cNvSpPr/>
          <p:nvPr/>
        </p:nvSpPr>
        <p:spPr>
          <a:xfrm>
            <a:off x="2320000" y="2470000"/>
            <a:ext cx="1250000" cy="47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950" b="1">
                <a:solidFill>
                  <a:srgbClr val="C2410C"/>
                </a:solidFill>
              </a:rPr>
              <a:t>Feature alignment</a:t>
            </a:r>
            <a:endParaRPr lang="en-US" sz="950"/>
          </a:p>
          <a:p>
            <a:pPr algn="ctr"/>
            <a:r>
              <a:rPr lang="en-US" sz="950" b="1">
                <a:solidFill>
                  <a:srgbClr val="C2410C"/>
                </a:solidFill>
              </a:rPr>
              <a:t>70 / 70 matched</a:t>
            </a:r>
            <a:endParaRPr lang="en-US" sz="950"/>
          </a:p>
        </p:txBody>
      </p:sp>
      <p:cxnSp>
        <p:nvCxnSpPr>
          <p:cNvPr id="19" name="A2"/>
          <p:cNvCxnSpPr/>
          <p:nvPr/>
        </p:nvCxnSpPr>
        <p:spPr>
          <a:xfrm>
            <a:off x="1940000" y="2705000"/>
            <a:ext cx="380000" cy="1"/>
          </a:xfrm>
          <a:prstGeom prst="straightConnector1">
            <a:avLst/>
          </a:prstGeom>
          <a:ln w="19050">
            <a:solidFill>
              <a:srgbClr val="EA580C"/>
            </a:solidFill>
            <a:headEnd type="triangle"/>
          </a:ln>
        </p:spPr>
      </p:cxnSp>
      <p:sp>
        <p:nvSpPr>
          <p:cNvPr id="20" name="A ood split"/>
          <p:cNvSpPr/>
          <p:nvPr/>
        </p:nvSpPr>
        <p:spPr>
          <a:xfrm>
            <a:off x="1220000" y="3250000"/>
            <a:ext cx="2050000" cy="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950" b="1">
                <a:solidFill>
                  <a:srgbClr val="111827"/>
                </a:solidFill>
              </a:rPr>
              <a:t>Auxiliary OOD split</a:t>
            </a:r>
            <a:endParaRPr lang="en-US" sz="950"/>
          </a:p>
          <a:p>
            <a:pPr algn="ctr"/>
            <a:r>
              <a:rPr lang="en-US" sz="950" b="1">
                <a:solidFill>
                  <a:srgbClr val="111827"/>
                </a:solidFill>
              </a:rPr>
              <a:t>train: gate negative   test: SC-OOD eval</a:t>
            </a:r>
            <a:endParaRPr lang="en-US" sz="950"/>
          </a:p>
        </p:txBody>
      </p:sp>
      <p:cxnSp>
        <p:nvCxnSpPr>
          <p:cNvPr id="21" name="A3"/>
          <p:cNvCxnSpPr/>
          <p:nvPr/>
        </p:nvCxnSpPr>
        <p:spPr>
          <a:xfrm flipH="1">
            <a:off x="2270000" y="2940000"/>
            <a:ext cx="670000" cy="310000"/>
          </a:xfrm>
          <a:prstGeom prst="straightConnector1">
            <a:avLst/>
          </a:prstGeom>
          <a:ln w="19050">
            <a:solidFill>
              <a:srgbClr val="EA580C"/>
            </a:solidFill>
            <a:headEnd type="triangle"/>
          </a:ln>
        </p:spPr>
      </p:cxnSp>
      <p:sp>
        <p:nvSpPr>
          <p:cNvPr id="22" name="A output"/>
          <p:cNvSpPr/>
          <p:nvPr/>
        </p:nvSpPr>
        <p:spPr>
          <a:xfrm>
            <a:off x="890000" y="4300000"/>
            <a:ext cx="2700000" cy="57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txBody>
          <a:bodyPr wrap="square" anchor="mid"/>
          <a:lstStyle/>
          <a:p>
            <a:pPr algn="ctr"/>
            <a:r>
              <a:rPr lang="en-US" sz="950" b="1">
                <a:solidFill>
                  <a:srgbClr val="334155"/>
                </a:solidFill>
              </a:rPr>
              <a:t>Artifacts</a:t>
            </a:r>
            <a:endParaRPr lang="en-US" sz="950"/>
          </a:p>
          <a:p>
            <a:pPr algn="ctr"/>
            <a:r>
              <a:rPr lang="en-US" sz="950" b="1">
                <a:solidFill>
                  <a:srgbClr val="334155"/>
                </a:solidFill>
              </a:rPr>
              <a:t>ID pkl + OOD-train pkl + OOD-test pkl</a:t>
            </a:r>
            <a:endParaRPr lang="en-US" sz="950"/>
          </a:p>
        </p:txBody>
      </p:sp>
      <p:sp>
        <p:nvSpPr>
          <p:cNvPr id="23" name="A foot"/>
          <p:cNvSpPr txBox="1"/>
          <p:nvPr/>
        </p:nvSpPr>
        <p:spPr>
          <a:xfrm>
            <a:off x="780000" y="5170000"/>
            <a:ext cx="29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US" sz="800" b="0">
                <a:solidFill>
                  <a:srgbClr val="475569"/>
                </a:solidFill>
              </a:rPr>
              <a:t>Preparation script: src/prepare_external_ood.py</a:t>
            </a:r>
            <a:endParaRPr lang="en-US" sz="800"/>
          </a:p>
        </p:txBody>
      </p:sp>
      <p:sp>
        <p:nvSpPr>
          <p:cNvPr id="24" name="B partition"/>
          <p:cNvSpPr/>
          <p:nvPr/>
        </p:nvSpPr>
        <p:spPr>
          <a:xfrm>
            <a:off x="4850000" y="1720000"/>
            <a:ext cx="2500000" cy="50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000" b="1">
                <a:solidFill>
                  <a:srgbClr val="166534"/>
                </a:solidFill>
              </a:rPr>
              <a:t>Attack-only disjoint partition</a:t>
            </a:r>
            <a:endParaRPr lang="en-US" sz="1000"/>
          </a:p>
          <a:p>
            <a:pPr algn="ctr"/>
            <a:r>
              <a:rPr lang="en-US" sz="1000" b="1">
                <a:solidFill>
                  <a:srgbClr val="166534"/>
                </a:solidFill>
              </a:rPr>
              <a:t>Benign is not assigned to experts</a:t>
            </a:r>
            <a:endParaRPr lang="en-US" sz="1000"/>
          </a:p>
        </p:txBody>
      </p:sp>
      <p:sp>
        <p:nvSpPr>
          <p:cNvPr id="25" name="B e1"/>
          <p:cNvSpPr/>
          <p:nvPr/>
        </p:nvSpPr>
        <p:spPr>
          <a:xfrm>
            <a:off x="4700000" y="2480000"/>
            <a:ext cx="2850000" cy="39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850" b="0">
                <a:solidFill>
                  <a:srgbClr val="111827"/>
                </a:solidFill>
              </a:rPr>
              <a:t>Expert 1: DoS / DDoS local XGBoost + OE gate</a:t>
            </a:r>
            <a:endParaRPr lang="en-US" sz="850"/>
          </a:p>
        </p:txBody>
      </p:sp>
      <p:sp>
        <p:nvSpPr>
          <p:cNvPr id="26" name="B e2"/>
          <p:cNvSpPr/>
          <p:nvPr/>
        </p:nvSpPr>
        <p:spPr>
          <a:xfrm>
            <a:off x="4700000" y="2950000"/>
            <a:ext cx="2850000" cy="39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850" b="0">
                <a:solidFill>
                  <a:srgbClr val="111827"/>
                </a:solidFill>
              </a:rPr>
              <a:t>Expert 2: Scan / Brute local XGBoost + OE gate</a:t>
            </a:r>
            <a:endParaRPr lang="en-US" sz="850"/>
          </a:p>
        </p:txBody>
      </p:sp>
      <p:sp>
        <p:nvSpPr>
          <p:cNvPr id="27" name="B e3"/>
          <p:cNvSpPr/>
          <p:nvPr/>
        </p:nvSpPr>
        <p:spPr>
          <a:xfrm>
            <a:off x="4700000" y="3420000"/>
            <a:ext cx="2850000" cy="39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850" b="0">
                <a:solidFill>
                  <a:srgbClr val="111827"/>
                </a:solidFill>
              </a:rPr>
              <a:t>Expert 3: Web / Bot / Rare local XGBoost + OE gate</a:t>
            </a:r>
            <a:endParaRPr lang="en-US" sz="850"/>
          </a:p>
        </p:txBody>
      </p:sp>
      <p:cxnSp>
        <p:nvCxnSpPr>
          <p:cNvPr id="28" name="B1"/>
          <p:cNvCxnSpPr/>
          <p:nvPr/>
        </p:nvCxnSpPr>
        <p:spPr>
          <a:xfrm>
            <a:off x="6100000" y="2220000"/>
            <a:ext cx="1" cy="260000"/>
          </a:xfrm>
          <a:prstGeom prst="straightConnector1">
            <a:avLst/>
          </a:prstGeom>
          <a:ln w="19050">
            <a:solidFill>
              <a:srgbClr val="16A34A"/>
            </a:solidFill>
            <a:headEnd type="triangle"/>
          </a:ln>
        </p:spPr>
      </p:cxnSp>
      <p:sp>
        <p:nvSpPr>
          <p:cNvPr id="29" name="B neg"/>
          <p:cNvSpPr/>
          <p:nvPr/>
        </p:nvSpPr>
        <p:spPr>
          <a:xfrm>
            <a:off x="4830000" y="4060000"/>
            <a:ext cx="2550000" cy="52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900" b="1">
                <a:solidFill>
                  <a:srgbClr val="14532D"/>
                </a:solidFill>
              </a:rPr>
              <a:t>OE gate training</a:t>
            </a:r>
            <a:endParaRPr lang="en-US" sz="900"/>
          </a:p>
          <a:p>
            <a:pPr algn="ctr"/>
            <a:r>
              <a:rPr lang="en-US" sz="900" b="1">
                <a:solidFill>
                  <a:srgbClr val="14532D"/>
                </a:solidFill>
              </a:rPr>
              <a:t>positive = owned attack classes</a:t>
            </a:r>
            <a:endParaRPr lang="en-US" sz="900"/>
          </a:p>
          <a:p>
            <a:pPr algn="ctr"/>
            <a:r>
              <a:rPr lang="en-US" sz="900" b="1">
                <a:solidFill>
                  <a:srgbClr val="14532D"/>
                </a:solidFill>
              </a:rPr>
              <a:t>negative = non-owned ID + auxiliary OOD</a:t>
            </a:r>
            <a:endParaRPr lang="en-US" sz="900"/>
          </a:p>
        </p:txBody>
      </p:sp>
      <p:sp>
        <p:nvSpPr>
          <p:cNvPr id="30" name="B sweep"/>
          <p:cNvSpPr/>
          <p:nvPr/>
        </p:nvSpPr>
        <p:spPr>
          <a:xfrm>
            <a:off x="4830000" y="4810000"/>
            <a:ext cx="2550000" cy="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900" b="1">
                <a:solidFill>
                  <a:srgbClr val="14532D"/>
                </a:solidFill>
              </a:rPr>
              <a:t>Expert-specific threshold sweep</a:t>
            </a:r>
            <a:endParaRPr lang="en-US" sz="900"/>
          </a:p>
          <a:p>
            <a:pPr algn="ctr"/>
            <a:r>
              <a:rPr lang="en-US" sz="900" b="1">
                <a:solidFill>
                  <a:srgbClr val="14532D"/>
                </a:solidFill>
              </a:rPr>
              <a:t>maximize owned accept, penalize false accept</a:t>
            </a:r>
            <a:endParaRPr lang="en-US" sz="900"/>
          </a:p>
        </p:txBody>
      </p:sp>
      <p:cxnSp>
        <p:nvCxnSpPr>
          <p:cNvPr id="31" name="B2"/>
          <p:cNvCxnSpPr/>
          <p:nvPr/>
        </p:nvCxnSpPr>
        <p:spPr>
          <a:xfrm>
            <a:off x="6100000" y="3810000"/>
            <a:ext cx="1" cy="250000"/>
          </a:xfrm>
          <a:prstGeom prst="straightConnector1">
            <a:avLst/>
          </a:prstGeom>
          <a:ln w="19050">
            <a:solidFill>
              <a:srgbClr val="16A34A"/>
            </a:solidFill>
            <a:headEnd type="triangle"/>
          </a:ln>
        </p:spPr>
      </p:cxnSp>
      <p:cxnSp>
        <p:nvCxnSpPr>
          <p:cNvPr id="32" name="B3"/>
          <p:cNvCxnSpPr/>
          <p:nvPr/>
        </p:nvCxnSpPr>
        <p:spPr>
          <a:xfrm>
            <a:off x="6100000" y="4580000"/>
            <a:ext cx="1" cy="230000"/>
          </a:xfrm>
          <a:prstGeom prst="straightConnector1">
            <a:avLst/>
          </a:prstGeom>
          <a:ln w="19050">
            <a:solidFill>
              <a:srgbClr val="16A34A"/>
            </a:solidFill>
            <a:headEnd type="triangle"/>
          </a:ln>
        </p:spPr>
      </p:cxnSp>
      <p:sp>
        <p:nvSpPr>
          <p:cNvPr id="33" name="C input"/>
          <p:cNvSpPr/>
          <p:nvPr/>
        </p:nvSpPr>
        <p:spPr>
          <a:xfrm>
            <a:off x="8500000" y="1730000"/>
            <a:ext cx="1050000" cy="43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1050" b="1">
                <a:solidFill>
                  <a:srgbClr val="C2410C"/>
                </a:solidFill>
              </a:rPr>
              <a:t>Test flow</a:t>
            </a:r>
            <a:endParaRPr lang="en-US" sz="1050"/>
          </a:p>
          <a:p>
            <a:pPr algn="ctr"/>
            <a:r>
              <a:rPr lang="en-US" sz="1050" b="1">
                <a:solidFill>
                  <a:srgbClr val="C2410C"/>
                </a:solidFill>
              </a:rPr>
              <a:t>x</a:t>
            </a:r>
            <a:endParaRPr lang="en-US" sz="1050"/>
          </a:p>
        </p:txBody>
      </p:sp>
      <p:sp>
        <p:nvSpPr>
          <p:cNvPr id="34" name="C gate"/>
          <p:cNvSpPr/>
          <p:nvPr/>
        </p:nvSpPr>
        <p:spPr>
          <a:xfrm>
            <a:off x="9880000" y="1710000"/>
            <a:ext cx="1450000" cy="47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anchor="mid"/>
          <a:lstStyle/>
          <a:p>
            <a:pPr algn="ctr"/>
            <a:r>
              <a:rPr lang="en-US" sz="950" b="1">
                <a:solidFill>
                  <a:srgbClr val="C2410C"/>
                </a:solidFill>
              </a:rPr>
              <a:t>Gate first</a:t>
            </a:r>
            <a:endParaRPr lang="en-US" sz="950"/>
          </a:p>
          <a:p>
            <a:pPr algn="ctr"/>
            <a:r>
              <a:rPr lang="en-US" sz="950" b="1">
                <a:solidFill>
                  <a:srgbClr val="C2410C"/>
                </a:solidFill>
              </a:rPr>
              <a:t>expert accept / reject</a:t>
            </a:r>
            <a:endParaRPr lang="en-US" sz="950"/>
          </a:p>
        </p:txBody>
      </p:sp>
      <p:cxnSp>
        <p:nvCxnSpPr>
          <p:cNvPr id="35" name="C1"/>
          <p:cNvCxnSpPr/>
          <p:nvPr/>
        </p:nvCxnSpPr>
        <p:spPr>
          <a:xfrm>
            <a:off x="9550000" y="1945000"/>
            <a:ext cx="330000" cy="1"/>
          </a:xfrm>
          <a:prstGeom prst="straightConnector1">
            <a:avLst/>
          </a:prstGeom>
          <a:ln w="19050">
            <a:solidFill>
              <a:srgbClr val="EA580C"/>
            </a:solidFill>
            <a:headEnd type="triangle"/>
          </a:ln>
        </p:spPr>
      </p:cxnSp>
      <p:sp>
        <p:nvSpPr>
          <p:cNvPr id="36" name="C benign"/>
          <p:cNvSpPr/>
          <p:nvPr/>
        </p:nvSpPr>
        <p:spPr>
          <a:xfrm>
            <a:off x="8570000" y="2490000"/>
            <a:ext cx="1250000" cy="47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anchor="mid"/>
          <a:lstStyle/>
          <a:p>
            <a:pPr algn="ctr"/>
            <a:r>
              <a:rPr lang="en-US" sz="1000" b="1">
                <a:solidFill>
                  <a:srgbClr val="B91C1C"/>
                </a:solidFill>
              </a:rPr>
              <a:t>All reject</a:t>
            </a:r>
            <a:endParaRPr lang="en-US" sz="1000"/>
          </a:p>
          <a:p>
            <a:pPr algn="ctr"/>
            <a:r>
              <a:rPr lang="en-US" sz="1000" b="1">
                <a:solidFill>
                  <a:srgbClr val="B91C1C"/>
                </a:solidFill>
              </a:rPr>
              <a:t>⇒ Benign</a:t>
            </a:r>
            <a:endParaRPr lang="en-US" sz="1000"/>
          </a:p>
        </p:txBody>
      </p:sp>
      <p:sp>
        <p:nvSpPr>
          <p:cNvPr id="37" name="C select"/>
          <p:cNvSpPr/>
          <p:nvPr/>
        </p:nvSpPr>
        <p:spPr>
          <a:xfrm>
            <a:off x="10080000" y="2490000"/>
            <a:ext cx="1250000" cy="47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n-US" sz="1000" b="1">
                <a:solidFill>
                  <a:srgbClr val="15803D"/>
                </a:solidFill>
              </a:rPr>
              <a:t>Accepted experts</a:t>
            </a:r>
            <a:endParaRPr lang="en-US" sz="1000"/>
          </a:p>
          <a:p>
            <a:pPr algn="ctr"/>
            <a:r>
              <a:rPr lang="en-US" sz="1000" b="1">
                <a:solidFill>
                  <a:srgbClr val="15803D"/>
                </a:solidFill>
              </a:rPr>
              <a:t>only</a:t>
            </a:r>
            <a:endParaRPr lang="en-US" sz="1000"/>
          </a:p>
        </p:txBody>
      </p:sp>
      <p:cxnSp>
        <p:nvCxnSpPr>
          <p:cNvPr id="38" name="C2"/>
          <p:cNvCxnSpPr/>
          <p:nvPr/>
        </p:nvCxnSpPr>
        <p:spPr>
          <a:xfrm>
            <a:off x="10600000" y="2180000"/>
            <a:ext cx="100000" cy="310000"/>
          </a:xfrm>
          <a:prstGeom prst="straightConnector1">
            <a:avLst/>
          </a:prstGeom>
          <a:ln w="19050">
            <a:solidFill>
              <a:srgbClr val="EA580C"/>
            </a:solidFill>
            <a:headEnd type="triangle"/>
          </a:ln>
        </p:spPr>
      </p:cxnSp>
      <p:sp>
        <p:nvSpPr>
          <p:cNvPr id="39" name="C tta"/>
          <p:cNvSpPr/>
          <p:nvPr/>
        </p:nvSpPr>
        <p:spPr>
          <a:xfrm>
            <a:off x="8810000" y="3250000"/>
            <a:ext cx="2450000" cy="51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wrap="square" anchor="mid"/>
          <a:lstStyle/>
          <a:p>
            <a:pPr algn="ctr"/>
            <a:r>
              <a:rPr lang="en-US" sz="900" b="1">
                <a:solidFill>
                  <a:srgbClr val="111827"/>
                </a:solidFill>
              </a:rPr>
              <a:t>TTA stability after gating</a:t>
            </a:r>
            <a:endParaRPr lang="en-US" sz="900"/>
          </a:p>
          <a:p>
            <a:pPr algn="ctr"/>
            <a:r>
              <a:rPr lang="en-US" sz="900" b="1">
                <a:solidFill>
                  <a:srgbClr val="111827"/>
                </a:solidFill>
              </a:rPr>
              <a:t>used only for tie-break / selection</a:t>
            </a:r>
            <a:endParaRPr lang="en-US" sz="900"/>
          </a:p>
        </p:txBody>
      </p:sp>
      <p:sp>
        <p:nvSpPr>
          <p:cNvPr id="40" name="C eval"/>
          <p:cNvSpPr/>
          <p:nvPr/>
        </p:nvSpPr>
        <p:spPr>
          <a:xfrm>
            <a:off x="8810000" y="4030000"/>
            <a:ext cx="2450000" cy="51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txBody>
          <a:bodyPr wrap="square" anchor="mid"/>
          <a:lstStyle/>
          <a:p>
            <a:pPr algn="ctr"/>
            <a:r>
              <a:rPr lang="en-US" sz="880" b="1">
                <a:solidFill>
                  <a:srgbClr val="075985"/>
                </a:solidFill>
              </a:rPr>
              <a:t>SC-OOD accept-rate evaluation</a:t>
            </a:r>
            <a:endParaRPr lang="en-US" sz="880"/>
          </a:p>
          <a:p>
            <a:pPr algn="ctr"/>
            <a:r>
              <a:rPr lang="en-US" sz="880" b="1">
                <a:solidFill>
                  <a:srgbClr val="075985"/>
                </a:solidFill>
              </a:rPr>
              <a:t>performance check, not a test-time input</a:t>
            </a:r>
            <a:endParaRPr lang="en-US" sz="880"/>
          </a:p>
        </p:txBody>
      </p:sp>
      <p:sp>
        <p:nvSpPr>
          <p:cNvPr id="41" name="C diag"/>
          <p:cNvSpPr/>
          <p:nvPr/>
        </p:nvSpPr>
        <p:spPr>
          <a:xfrm>
            <a:off x="8610000" y="4820000"/>
            <a:ext cx="2850000" cy="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anchor="mid"/>
          <a:lstStyle/>
          <a:p>
            <a:pPr algn="ctr"/>
            <a:r>
              <a:rPr lang="en-US" sz="780" b="1">
                <a:solidFill>
                  <a:srgbClr val="334155"/>
                </a:solidFill>
              </a:rPr>
              <a:t>Diagnostics</a:t>
            </a:r>
            <a:endParaRPr lang="en-US" sz="780"/>
          </a:p>
          <a:p>
            <a:pPr algn="ctr"/>
            <a:r>
              <a:rPr lang="en-US" sz="780" b="1">
                <a:solidFill>
                  <a:srgbClr val="334155"/>
                </a:solidFill>
              </a:rPr>
              <a:t>run_summary, bottleneck_by_class, expert_summary,</a:t>
            </a:r>
            <a:endParaRPr lang="en-US" sz="780"/>
          </a:p>
          <a:p>
            <a:pPr algn="ctr"/>
            <a:r>
              <a:rPr lang="en-US" sz="780" b="1">
                <a:solidFill>
                  <a:srgbClr val="334155"/>
                </a:solidFill>
              </a:rPr>
              <a:t>sc_ood_accept_summary</a:t>
            </a:r>
            <a:endParaRPr lang="en-US" sz="780"/>
          </a:p>
        </p:txBody>
      </p:sp>
      <p:cxnSp>
        <p:nvCxnSpPr>
          <p:cNvPr id="42" name="C3"/>
          <p:cNvCxnSpPr/>
          <p:nvPr/>
        </p:nvCxnSpPr>
        <p:spPr>
          <a:xfrm flipH="1">
            <a:off x="10040000" y="2960000"/>
            <a:ext cx="660000" cy="290000"/>
          </a:xfrm>
          <a:prstGeom prst="straightConnector1">
            <a:avLst/>
          </a:prstGeom>
          <a:ln w="19050">
            <a:solidFill>
              <a:srgbClr val="EA580C"/>
            </a:solidFill>
            <a:headEnd type="triangle"/>
          </a:ln>
        </p:spPr>
      </p:cxnSp>
      <p:cxnSp>
        <p:nvCxnSpPr>
          <p:cNvPr id="43" name="C4"/>
          <p:cNvCxnSpPr/>
          <p:nvPr/>
        </p:nvCxnSpPr>
        <p:spPr>
          <a:xfrm>
            <a:off x="10040000" y="3760000"/>
            <a:ext cx="1" cy="270000"/>
          </a:xfrm>
          <a:prstGeom prst="straightConnector1">
            <a:avLst/>
          </a:prstGeom>
          <a:ln w="19050">
            <a:solidFill>
              <a:srgbClr val="0284C7"/>
            </a:solidFill>
            <a:prstDash val="dash"/>
            <a:headEnd type="triangle"/>
          </a:ln>
        </p:spPr>
      </p:cxnSp>
      <p:cxnSp>
        <p:nvCxnSpPr>
          <p:cNvPr id="44" name="C5"/>
          <p:cNvCxnSpPr/>
          <p:nvPr/>
        </p:nvCxnSpPr>
        <p:spPr>
          <a:xfrm>
            <a:off x="10040000" y="4540000"/>
            <a:ext cx="1" cy="280000"/>
          </a:xfrm>
          <a:prstGeom prst="straightConnector1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45" name="cross AB"/>
          <p:cNvCxnSpPr/>
          <p:nvPr/>
        </p:nvCxnSpPr>
        <p:spPr>
          <a:xfrm>
            <a:off x="3970000" y="4380000"/>
            <a:ext cx="340000" cy="1"/>
          </a:xfrm>
          <a:prstGeom prst="straightConnector1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46" name="cross BC"/>
          <p:cNvCxnSpPr/>
          <p:nvPr/>
        </p:nvCxnSpPr>
        <p:spPr>
          <a:xfrm>
            <a:off x="7860000" y="4380000"/>
            <a:ext cx="340000" cy="1"/>
          </a:xfrm>
          <a:prstGeom prst="straightConnector1">
            <a:avLst/>
          </a:prstGeom>
          <a:ln w="19050">
            <a:solidFill>
              <a:srgbClr val="64748B"/>
            </a:solidFill>
            <a:headEnd type="triangle"/>
          </a:ln>
        </p:spPr>
      </p:cxnSp>
      <p:sp>
        <p:nvSpPr>
          <p:cNvPr id="47" name="caption"/>
          <p:cNvSpPr/>
          <p:nvPr/>
        </p:nvSpPr>
        <p:spPr>
          <a:xfrm>
            <a:off x="420000" y="6080000"/>
            <a:ext cx="11350000" cy="5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mid"/>
          <a:lstStyle/>
          <a:p>
            <a:pPr algn="ctr"/>
            <a:r>
              <a:rPr lang="en-US" sz="830" b="0">
                <a:solidFill>
                  <a:srgbClr val="334155"/>
                </a:solidFill>
              </a:rPr>
              <a:t>Figure 1. Full workflow. ID data trains disjoint attack experts; feature-aligned external OOD improves OE gate training; validation selects expert-specific thresholds; test-time routing applies OOD gates before TTA stability; diagnostics separate gate rejection, wrong expert selection, local classifier errors, and SC-OOD leakage.</a:t>
            </a:r>
            <a:endParaRPr lang="en-US" sz="8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0121" dir="4293903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2026-06-17T01:02:17.0830000Z</dcterms:created>
  <dcterms:modified xsi:type="dcterms:W3CDTF">2026-06-17T01:02:17.0830000Z</dcterms:modified>
</coreProperties>
</file>