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0ae5071a0413c" /><Relationship Type="http://schemas.openxmlformats.org/officeDocument/2006/relationships/extended-properties" Target="/docProps/app.xml" Id="Rcf7854d406a644ed" /><Relationship Type="http://schemas.openxmlformats.org/officeDocument/2006/relationships/officeDocument" Target="/ppt/presentation.xml" Id="Rccff433fbb284e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675f770826446c"/>
  </p:sldMasterIdLst>
  <p:notesMasterIdLst>
    <p:notesMasterId xmlns:r="http://schemas.openxmlformats.org/officeDocument/2006/relationships" r:id="R1dab10fb7e9f415e"/>
  </p:notesMasterIdLst>
  <p:sldIdLst>
    <p:sldId xmlns:r="http://schemas.openxmlformats.org/officeDocument/2006/relationships" id="256" r:id="R65392ba99038422d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bf2e56000450f" /><Relationship Type="http://schemas.openxmlformats.org/officeDocument/2006/relationships/slideMaster" Target="/ppt/slideMasters/slideMaster1.xml" Id="R90675f770826446c" /><Relationship Type="http://schemas.openxmlformats.org/officeDocument/2006/relationships/notesMaster" Target="/ppt/notesMasters/notesMaster1.xml" Id="R1dab10fb7e9f415e" /><Relationship Type="http://schemas.openxmlformats.org/officeDocument/2006/relationships/presProps" Target="/ppt/presProps.xml" Id="R68213e4fb58349b7" /><Relationship Type="http://schemas.openxmlformats.org/officeDocument/2006/relationships/tableStyles" Target="/ppt/tableStyles.xml" Id="Re237ffab98364659" /><Relationship Type="http://schemas.openxmlformats.org/officeDocument/2006/relationships/slide" Target="/ppt/slides/slide1.xml" Id="R65392ba99038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e7ea2206eb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411bf40f0545d9" /><Relationship Type="http://schemas.openxmlformats.org/officeDocument/2006/relationships/notesMaster" Target="/ppt/notesMasters/notesMaster1.xml" Id="R3729e293973945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1b81d83eb4f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5c94ab1fe45b8" /><Relationship Type="http://schemas.openxmlformats.org/officeDocument/2006/relationships/slideLayout" Target="/ppt/slideLayouts/slideLayout1.xml" Id="R7d87dead311548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7dead3115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716e70c304fd9" /><Relationship Type="http://schemas.openxmlformats.org/officeDocument/2006/relationships/notesSlide" Target="/ppt/notesSlides/notesSlide1.xml" Id="R4ac9d8e8fad342c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anchor="mid"/>
          <a:lstStyle/>
          <a:p>
            <a:pPr algn="ctr"/>
            <a:r>
              <a:rPr lang="en-US" sz="1400" b="0">
                <a:solidFill>
                  <a:srgbClr val="111827"/>
                </a:solidFill>
              </a:rPr>
              <a:t/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420000" y="2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400" b="1">
                <a:solidFill>
                  <a:srgbClr val="0F172A"/>
                </a:solidFill>
              </a:rPr>
              <a:t>OOD-aware Stability-gated Disjoint Expert MoE</a:t>
            </a:r>
            <a:endParaRPr lang="en-US" sz="2400"/>
          </a:p>
        </p:txBody>
      </p:sp>
      <p:sp>
        <p:nvSpPr>
          <p:cNvPr id="4" name="Subtitle"/>
          <p:cNvSpPr txBox="1"/>
          <p:nvPr/>
        </p:nvSpPr>
        <p:spPr>
          <a:xfrm>
            <a:off x="425000" y="610000"/>
            <a:ext cx="7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50" b="0">
                <a:solidFill>
                  <a:srgbClr val="475569"/>
                </a:solidFill>
              </a:rPr>
              <a:t>External OOD trains the gates; expert-specific thresholds control reject/accept trade-offs.</a:t>
            </a:r>
            <a:endParaRPr lang="en-US" sz="1150"/>
          </a:p>
        </p:txBody>
      </p:sp>
      <p:sp>
        <p:nvSpPr>
          <p:cNvPr id="5" name="Panel A"/>
          <p:cNvSpPr/>
          <p:nvPr/>
        </p:nvSpPr>
        <p:spPr>
          <a:xfrm>
            <a:off x="420000" y="1080000"/>
            <a:ext cx="360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n-US" sz="1400" b="0">
                <a:solidFill>
                  <a:srgbClr val="111827"/>
                </a:solidFill>
              </a:rPr>
              <a:t/>
            </a:r>
            <a:endParaRPr lang="en-US" sz="1400"/>
          </a:p>
        </p:txBody>
      </p:sp>
      <p:sp>
        <p:nvSpPr>
          <p:cNvPr id="6" name="Badge A"/>
          <p:cNvSpPr/>
          <p:nvPr/>
        </p:nvSpPr>
        <p:spPr>
          <a:xfrm>
            <a:off x="560000" y="1210000"/>
            <a:ext cx="360000" cy="32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n-US" sz="1500" b="1">
                <a:solidFill>
                  <a:srgbClr val="2563EB"/>
                </a:solidFill>
              </a:rPr>
              <a:t>A</a:t>
            </a:r>
            <a:endParaRPr lang="en-US" sz="1500"/>
          </a:p>
        </p:txBody>
      </p:sp>
      <p:sp>
        <p:nvSpPr>
          <p:cNvPr id="7" name="Panel title A"/>
          <p:cNvSpPr txBox="1"/>
          <p:nvPr/>
        </p:nvSpPr>
        <p:spPr>
          <a:xfrm>
            <a:off x="980000" y="1210000"/>
            <a:ext cx="284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250" b="1">
                <a:solidFill>
                  <a:srgbClr val="0F172A"/>
                </a:solidFill>
              </a:rPr>
              <a:t>Expert construction + OOD negatives</a:t>
            </a:r>
            <a:endParaRPr lang="en-US" sz="1250"/>
          </a:p>
        </p:txBody>
      </p:sp>
      <p:sp>
        <p:nvSpPr>
          <p:cNvPr id="8" name="Panel B"/>
          <p:cNvSpPr/>
          <p:nvPr/>
        </p:nvSpPr>
        <p:spPr>
          <a:xfrm>
            <a:off x="4330000" y="1080000"/>
            <a:ext cx="360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400" b="0">
                <a:solidFill>
                  <a:srgbClr val="111827"/>
                </a:solidFill>
              </a:rPr>
              <a:t/>
            </a:r>
            <a:endParaRPr lang="en-US" sz="1400"/>
          </a:p>
        </p:txBody>
      </p:sp>
      <p:sp>
        <p:nvSpPr>
          <p:cNvPr id="9" name="Badge B"/>
          <p:cNvSpPr/>
          <p:nvPr/>
        </p:nvSpPr>
        <p:spPr>
          <a:xfrm>
            <a:off x="4470000" y="1210000"/>
            <a:ext cx="360000" cy="32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500" b="1">
                <a:solidFill>
                  <a:srgbClr val="16A34A"/>
                </a:solidFill>
              </a:rPr>
              <a:t>B</a:t>
            </a:r>
            <a:endParaRPr lang="en-US" sz="1500"/>
          </a:p>
        </p:txBody>
      </p:sp>
      <p:sp>
        <p:nvSpPr>
          <p:cNvPr id="10" name="Panel title B"/>
          <p:cNvSpPr txBox="1"/>
          <p:nvPr/>
        </p:nvSpPr>
        <p:spPr>
          <a:xfrm>
            <a:off x="4890000" y="1210000"/>
            <a:ext cx="284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250" b="1">
                <a:solidFill>
                  <a:srgbClr val="0F172A"/>
                </a:solidFill>
              </a:rPr>
              <a:t>Gate calibration per expert</a:t>
            </a:r>
            <a:endParaRPr lang="en-US" sz="1250"/>
          </a:p>
        </p:txBody>
      </p:sp>
      <p:sp>
        <p:nvSpPr>
          <p:cNvPr id="11" name="Panel C"/>
          <p:cNvSpPr/>
          <p:nvPr/>
        </p:nvSpPr>
        <p:spPr>
          <a:xfrm>
            <a:off x="8240000" y="1080000"/>
            <a:ext cx="3600000" cy="4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400" b="0">
                <a:solidFill>
                  <a:srgbClr val="111827"/>
                </a:solidFill>
              </a:rPr>
              <a:t/>
            </a:r>
            <a:endParaRPr lang="en-US" sz="1400"/>
          </a:p>
        </p:txBody>
      </p:sp>
      <p:sp>
        <p:nvSpPr>
          <p:cNvPr id="12" name="Badge C"/>
          <p:cNvSpPr/>
          <p:nvPr/>
        </p:nvSpPr>
        <p:spPr>
          <a:xfrm>
            <a:off x="8380000" y="1210000"/>
            <a:ext cx="360000" cy="32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500" b="1">
                <a:solidFill>
                  <a:srgbClr val="EA580C"/>
                </a:solidFill>
              </a:rPr>
              <a:t>C</a:t>
            </a:r>
            <a:endParaRPr lang="en-US" sz="1500"/>
          </a:p>
        </p:txBody>
      </p:sp>
      <p:sp>
        <p:nvSpPr>
          <p:cNvPr id="13" name="Panel title C"/>
          <p:cNvSpPr txBox="1"/>
          <p:nvPr/>
        </p:nvSpPr>
        <p:spPr>
          <a:xfrm>
            <a:off x="8800000" y="1210000"/>
            <a:ext cx="284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250" b="1">
                <a:solidFill>
                  <a:srgbClr val="0F172A"/>
                </a:solidFill>
              </a:rPr>
              <a:t>Test-time routing + diagnostics</a:t>
            </a:r>
            <a:endParaRPr lang="en-US" sz="1250"/>
          </a:p>
        </p:txBody>
      </p:sp>
      <p:sp>
        <p:nvSpPr>
          <p:cNvPr id="14" name="ID data"/>
          <p:cNvSpPr/>
          <p:nvPr/>
        </p:nvSpPr>
        <p:spPr>
          <a:xfrm>
            <a:off x="680000" y="1780000"/>
            <a:ext cx="1250000" cy="5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n-US" sz="1150" b="1">
                <a:solidFill>
                  <a:srgbClr val="1D4ED8"/>
                </a:solidFill>
              </a:rPr>
              <a:t>ID data</a:t>
            </a:r>
            <a:endParaRPr lang="en-US" sz="1150"/>
          </a:p>
          <a:p>
            <a:pPr algn="ctr"/>
            <a:r>
              <a:rPr lang="en-US" sz="1150" b="1">
                <a:solidFill>
                  <a:srgbClr val="1D4ED8"/>
                </a:solidFill>
              </a:rPr>
              <a:t>CIC-IDS2017</a:t>
            </a:r>
            <a:endParaRPr lang="en-US" sz="1150"/>
          </a:p>
        </p:txBody>
      </p:sp>
      <p:sp>
        <p:nvSpPr>
          <p:cNvPr id="15" name="Aux OOD"/>
          <p:cNvSpPr/>
          <p:nvPr/>
        </p:nvSpPr>
        <p:spPr>
          <a:xfrm>
            <a:off x="2400000" y="1780000"/>
            <a:ext cx="1250000" cy="5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150" b="1">
                <a:solidFill>
                  <a:srgbClr val="C2410C"/>
                </a:solidFill>
              </a:rPr>
              <a:t>Aux OOD</a:t>
            </a:r>
            <a:endParaRPr lang="en-US" sz="1150"/>
          </a:p>
          <a:p>
            <a:pPr algn="ctr"/>
            <a:r>
              <a:rPr lang="en-US" sz="1150" b="1">
                <a:solidFill>
                  <a:srgbClr val="C2410C"/>
                </a:solidFill>
              </a:rPr>
              <a:t>CIC2018 train</a:t>
            </a:r>
            <a:endParaRPr lang="en-US" sz="1150"/>
          </a:p>
        </p:txBody>
      </p:sp>
      <p:cxnSp>
        <p:nvCxnSpPr>
          <p:cNvPr id="16" name="A arrow1"/>
          <p:cNvCxnSpPr/>
          <p:nvPr/>
        </p:nvCxnSpPr>
        <p:spPr>
          <a:xfrm>
            <a:off x="1930000" y="2040000"/>
            <a:ext cx="470000" cy="1"/>
          </a:xfrm>
          <a:prstGeom prst="straightConnector1">
            <a:avLst/>
          </a:prstGeom>
          <a:ln w="19050">
            <a:solidFill>
              <a:srgbClr val="64748B"/>
            </a:solidFill>
            <a:headEnd type="triangle"/>
          </a:ln>
        </p:spPr>
      </p:cxnSp>
      <p:sp>
        <p:nvSpPr>
          <p:cNvPr id="17" name="Partition"/>
          <p:cNvSpPr/>
          <p:nvPr/>
        </p:nvSpPr>
        <p:spPr>
          <a:xfrm>
            <a:off x="1240000" y="2580000"/>
            <a:ext cx="2000000" cy="48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anchor="mid"/>
          <a:lstStyle/>
          <a:p>
            <a:pPr algn="ctr"/>
            <a:r>
              <a:rPr lang="en-US" sz="1100" b="1">
                <a:solidFill>
                  <a:srgbClr val="111827"/>
                </a:solidFill>
              </a:rPr>
              <a:t>Attack-only partition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</a:rPr>
              <a:t>Benign is held out</a:t>
            </a:r>
            <a:endParaRPr lang="en-US" sz="1100"/>
          </a:p>
        </p:txBody>
      </p:sp>
      <p:cxnSp>
        <p:nvCxnSpPr>
          <p:cNvPr id="18" name="A arrow2"/>
          <p:cNvCxnSpPr/>
          <p:nvPr/>
        </p:nvCxnSpPr>
        <p:spPr>
          <a:xfrm>
            <a:off x="1860000" y="2300000"/>
            <a:ext cx="60000" cy="280000"/>
          </a:xfrm>
          <a:prstGeom prst="straightConnector1">
            <a:avLst/>
          </a:prstGeom>
          <a:ln w="19050">
            <a:solidFill>
              <a:srgbClr val="64748B"/>
            </a:solidFill>
            <a:headEnd type="triangle"/>
          </a:ln>
        </p:spPr>
      </p:cxnSp>
      <p:sp>
        <p:nvSpPr>
          <p:cNvPr id="19" name="ExpertA1"/>
          <p:cNvSpPr/>
          <p:nvPr/>
        </p:nvSpPr>
        <p:spPr>
          <a:xfrm>
            <a:off x="830000" y="3400000"/>
            <a:ext cx="2700000" cy="43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940" b="0">
                <a:solidFill>
                  <a:srgbClr val="111827"/>
                </a:solidFill>
              </a:rPr>
              <a:t>Expert 1: DoS / DDoS local classifier + OE gate</a:t>
            </a:r>
            <a:endParaRPr lang="en-US" sz="940"/>
          </a:p>
        </p:txBody>
      </p:sp>
      <p:sp>
        <p:nvSpPr>
          <p:cNvPr id="20" name="ExpertA2"/>
          <p:cNvSpPr/>
          <p:nvPr/>
        </p:nvSpPr>
        <p:spPr>
          <a:xfrm>
            <a:off x="830000" y="3920000"/>
            <a:ext cx="2700000" cy="43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940" b="0">
                <a:solidFill>
                  <a:srgbClr val="111827"/>
                </a:solidFill>
              </a:rPr>
              <a:t>Expert 2: Scan / Brute local classifier + OE gate</a:t>
            </a:r>
            <a:endParaRPr lang="en-US" sz="940"/>
          </a:p>
        </p:txBody>
      </p:sp>
      <p:sp>
        <p:nvSpPr>
          <p:cNvPr id="21" name="ExpertA3"/>
          <p:cNvSpPr/>
          <p:nvPr/>
        </p:nvSpPr>
        <p:spPr>
          <a:xfrm>
            <a:off x="830000" y="4440000"/>
            <a:ext cx="2700000" cy="43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940" b="0">
                <a:solidFill>
                  <a:srgbClr val="111827"/>
                </a:solidFill>
              </a:rPr>
              <a:t>Expert 3: Web / Bot / Rare local classifier + OE gate</a:t>
            </a:r>
            <a:endParaRPr lang="en-US" sz="940"/>
          </a:p>
        </p:txBody>
      </p:sp>
      <p:sp>
        <p:nvSpPr>
          <p:cNvPr id="22" name="A note"/>
          <p:cNvSpPr txBox="1"/>
          <p:nvPr/>
        </p:nvSpPr>
        <p:spPr>
          <a:xfrm>
            <a:off x="770000" y="5120000"/>
            <a:ext cx="29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00" b="0">
                <a:solidFill>
                  <a:srgbClr val="475569"/>
                </a:solidFill>
              </a:rPr>
              <a:t>Gate negative = in-dataset non-owned classes + auxiliary OOD samples.</a:t>
            </a:r>
            <a:endParaRPr lang="en-US" sz="900"/>
          </a:p>
        </p:txBody>
      </p:sp>
      <p:sp>
        <p:nvSpPr>
          <p:cNvPr id="23" name="Val split"/>
          <p:cNvSpPr/>
          <p:nvPr/>
        </p:nvSpPr>
        <p:spPr>
          <a:xfrm>
            <a:off x="4610000" y="1800000"/>
            <a:ext cx="1250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070" b="1">
                <a:solidFill>
                  <a:srgbClr val="15803D"/>
                </a:solidFill>
              </a:rPr>
              <a:t>Validation split</a:t>
            </a:r>
            <a:endParaRPr lang="en-US" sz="1070"/>
          </a:p>
          <a:p>
            <a:pPr algn="ctr"/>
            <a:r>
              <a:rPr lang="en-US" sz="1070" b="1">
                <a:solidFill>
                  <a:srgbClr val="15803D"/>
                </a:solidFill>
              </a:rPr>
              <a:t>ID labels known</a:t>
            </a:r>
            <a:endParaRPr lang="en-US" sz="1070"/>
          </a:p>
        </p:txBody>
      </p:sp>
      <p:sp>
        <p:nvSpPr>
          <p:cNvPr id="24" name="Score dist"/>
          <p:cNvSpPr/>
          <p:nvPr/>
        </p:nvSpPr>
        <p:spPr>
          <a:xfrm>
            <a:off x="6310000" y="1800000"/>
            <a:ext cx="1250000" cy="52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070" b="1">
                <a:solidFill>
                  <a:srgbClr val="15803D"/>
                </a:solidFill>
              </a:rPr>
              <a:t>Gate scores</a:t>
            </a:r>
            <a:endParaRPr lang="en-US" sz="1070"/>
          </a:p>
          <a:p>
            <a:pPr algn="ctr"/>
            <a:r>
              <a:rPr lang="en-US" sz="1070" b="1">
                <a:solidFill>
                  <a:srgbClr val="15803D"/>
                </a:solidFill>
              </a:rPr>
              <a:t>per expert</a:t>
            </a:r>
            <a:endParaRPr lang="en-US" sz="1070"/>
          </a:p>
        </p:txBody>
      </p:sp>
      <p:cxnSp>
        <p:nvCxnSpPr>
          <p:cNvPr id="25" name="B arrow1"/>
          <p:cNvCxnSpPr/>
          <p:nvPr/>
        </p:nvCxnSpPr>
        <p:spPr>
          <a:xfrm>
            <a:off x="5860000" y="2060000"/>
            <a:ext cx="450000" cy="1"/>
          </a:xfrm>
          <a:prstGeom prst="straightConnector1">
            <a:avLst/>
          </a:prstGeom>
          <a:ln w="19050">
            <a:solidFill>
              <a:srgbClr val="16A34A"/>
            </a:solidFill>
            <a:headEnd type="triangle"/>
          </a:ln>
        </p:spPr>
      </p:cxnSp>
      <p:sp>
        <p:nvSpPr>
          <p:cNvPr id="26" name="Sweep"/>
          <p:cNvSpPr/>
          <p:nvPr/>
        </p:nvSpPr>
        <p:spPr>
          <a:xfrm>
            <a:off x="4950000" y="2650000"/>
            <a:ext cx="2400000" cy="5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000" b="0">
                <a:solidFill>
                  <a:srgbClr val="111827"/>
                </a:solidFill>
              </a:rPr>
              <a:t>Sweep candidate quantiles</a:t>
            </a:r>
            <a:endParaRPr lang="en-US" sz="1000"/>
          </a:p>
          <a:p>
            <a:pPr algn="ctr"/>
            <a:r>
              <a:rPr lang="en-US" sz="1000" b="0">
                <a:solidFill>
                  <a:srgbClr val="111827"/>
                </a:solidFill>
              </a:rPr>
              <a:t>0.001, 0.002, 0.005, 0.01, 0.02, 0.05</a:t>
            </a:r>
            <a:endParaRPr lang="en-US" sz="1000"/>
          </a:p>
        </p:txBody>
      </p:sp>
      <p:sp>
        <p:nvSpPr>
          <p:cNvPr id="27" name="Obj"/>
          <p:cNvSpPr/>
          <p:nvPr/>
        </p:nvSpPr>
        <p:spPr>
          <a:xfrm>
            <a:off x="4800000" y="3530000"/>
            <a:ext cx="2700000" cy="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960" b="1">
                <a:solidFill>
                  <a:srgbClr val="111827"/>
                </a:solidFill>
              </a:rPr>
              <a:t>Objective</a:t>
            </a:r>
            <a:endParaRPr lang="en-US" sz="960"/>
          </a:p>
          <a:p>
            <a:pPr algn="ctr"/>
            <a:r>
              <a:rPr lang="en-US" sz="960" b="1">
                <a:solidFill>
                  <a:srgbClr val="111827"/>
                </a:solidFill>
              </a:rPr>
              <a:t>owned accept - λb·benign accept - λo·non-owned accept</a:t>
            </a:r>
            <a:endParaRPr lang="en-US" sz="960"/>
          </a:p>
        </p:txBody>
      </p:sp>
      <p:sp>
        <p:nvSpPr>
          <p:cNvPr id="28" name="Select"/>
          <p:cNvSpPr/>
          <p:nvPr/>
        </p:nvSpPr>
        <p:spPr>
          <a:xfrm>
            <a:off x="4970000" y="4620000"/>
            <a:ext cx="2350000" cy="52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120" b="1">
                <a:solidFill>
                  <a:srgbClr val="166534"/>
                </a:solidFill>
              </a:rPr>
              <a:t>Select threshold separately</a:t>
            </a:r>
            <a:endParaRPr lang="en-US" sz="1120"/>
          </a:p>
          <a:p>
            <a:pPr algn="ctr"/>
            <a:r>
              <a:rPr lang="en-US" sz="1120" b="1">
                <a:solidFill>
                  <a:srgbClr val="166534"/>
                </a:solidFill>
              </a:rPr>
              <a:t>for each expert</a:t>
            </a:r>
            <a:endParaRPr lang="en-US" sz="1120"/>
          </a:p>
        </p:txBody>
      </p:sp>
      <p:sp>
        <p:nvSpPr>
          <p:cNvPr id="29" name="B files"/>
          <p:cNvSpPr txBox="1"/>
          <p:nvPr/>
        </p:nvSpPr>
        <p:spPr>
          <a:xfrm>
            <a:off x="4690000" y="5290000"/>
            <a:ext cx="295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820" b="0">
                <a:solidFill>
                  <a:srgbClr val="475569"/>
                </a:solidFill>
              </a:rPr>
              <a:t>Outputs: expert_threshold_sweep.csv, expert_threshold_selected.csv</a:t>
            </a:r>
            <a:endParaRPr lang="en-US" sz="820"/>
          </a:p>
        </p:txBody>
      </p:sp>
      <p:cxnSp>
        <p:nvCxnSpPr>
          <p:cNvPr id="30" name="B arrow2"/>
          <p:cNvCxnSpPr/>
          <p:nvPr/>
        </p:nvCxnSpPr>
        <p:spPr>
          <a:xfrm>
            <a:off x="6150000" y="3230000"/>
            <a:ext cx="1" cy="300000"/>
          </a:xfrm>
          <a:prstGeom prst="straightConnector1">
            <a:avLst/>
          </a:prstGeom>
          <a:ln w="19050">
            <a:solidFill>
              <a:srgbClr val="16A34A"/>
            </a:solidFill>
            <a:headEnd type="triangle"/>
          </a:ln>
        </p:spPr>
      </p:cxnSp>
      <p:cxnSp>
        <p:nvCxnSpPr>
          <p:cNvPr id="31" name="B arrow3"/>
          <p:cNvCxnSpPr/>
          <p:nvPr/>
        </p:nvCxnSpPr>
        <p:spPr>
          <a:xfrm>
            <a:off x="6150000" y="4230000"/>
            <a:ext cx="1" cy="390000"/>
          </a:xfrm>
          <a:prstGeom prst="straightConnector1">
            <a:avLst/>
          </a:prstGeom>
          <a:ln w="19050">
            <a:solidFill>
              <a:srgbClr val="16A34A"/>
            </a:solidFill>
            <a:headEnd type="triangle"/>
          </a:ln>
        </p:spPr>
      </p:cxnSp>
      <p:sp>
        <p:nvSpPr>
          <p:cNvPr id="32" name="Test sample"/>
          <p:cNvSpPr/>
          <p:nvPr/>
        </p:nvSpPr>
        <p:spPr>
          <a:xfrm>
            <a:off x="8540000" y="1800000"/>
            <a:ext cx="1080000" cy="48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100" b="1">
                <a:solidFill>
                  <a:srgbClr val="C2410C"/>
                </a:solidFill>
              </a:rPr>
              <a:t>Test sample</a:t>
            </a:r>
            <a:endParaRPr lang="en-US" sz="1100"/>
          </a:p>
          <a:p>
            <a:pPr algn="ctr"/>
            <a:r>
              <a:rPr lang="en-US" sz="1100" b="1">
                <a:solidFill>
                  <a:srgbClr val="C2410C"/>
                </a:solidFill>
              </a:rPr>
              <a:t>x</a:t>
            </a:r>
            <a:endParaRPr lang="en-US" sz="1100"/>
          </a:p>
        </p:txBody>
      </p:sp>
      <p:sp>
        <p:nvSpPr>
          <p:cNvPr id="33" name="Gate first"/>
          <p:cNvSpPr/>
          <p:nvPr/>
        </p:nvSpPr>
        <p:spPr>
          <a:xfrm>
            <a:off x="9950000" y="1780000"/>
            <a:ext cx="1400000" cy="52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050" b="1">
                <a:solidFill>
                  <a:srgbClr val="C2410C"/>
                </a:solidFill>
              </a:rPr>
              <a:t>Gate first</a:t>
            </a:r>
            <a:endParaRPr lang="en-US" sz="1050"/>
          </a:p>
          <a:p>
            <a:pPr algn="ctr"/>
            <a:r>
              <a:rPr lang="en-US" sz="1050" b="1">
                <a:solidFill>
                  <a:srgbClr val="C2410C"/>
                </a:solidFill>
              </a:rPr>
              <a:t>accept / reject</a:t>
            </a:r>
            <a:endParaRPr lang="en-US" sz="1050"/>
          </a:p>
        </p:txBody>
      </p:sp>
      <p:cxnSp>
        <p:nvCxnSpPr>
          <p:cNvPr id="34" name="C arrow1"/>
          <p:cNvCxnSpPr/>
          <p:nvPr/>
        </p:nvCxnSpPr>
        <p:spPr>
          <a:xfrm>
            <a:off x="9620000" y="2030000"/>
            <a:ext cx="330000" cy="1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sp>
        <p:nvSpPr>
          <p:cNvPr id="35" name="All reject"/>
          <p:cNvSpPr/>
          <p:nvPr/>
        </p:nvSpPr>
        <p:spPr>
          <a:xfrm>
            <a:off x="8640000" y="2610000"/>
            <a:ext cx="1250000" cy="50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anchor="mid"/>
          <a:lstStyle/>
          <a:p>
            <a:pPr algn="ctr"/>
            <a:r>
              <a:rPr lang="en-US" sz="1100" b="1">
                <a:solidFill>
                  <a:srgbClr val="B91C1C"/>
                </a:solidFill>
              </a:rPr>
              <a:t>All reject</a:t>
            </a:r>
            <a:endParaRPr lang="en-US" sz="1100"/>
          </a:p>
          <a:p>
            <a:pPr algn="ctr"/>
            <a:r>
              <a:rPr lang="en-US" sz="1100" b="1">
                <a:solidFill>
                  <a:srgbClr val="B91C1C"/>
                </a:solidFill>
              </a:rPr>
              <a:t>⇒ Benign</a:t>
            </a:r>
            <a:endParaRPr lang="en-US" sz="1100"/>
          </a:p>
        </p:txBody>
      </p:sp>
      <p:sp>
        <p:nvSpPr>
          <p:cNvPr id="36" name="Accepted"/>
          <p:cNvSpPr/>
          <p:nvPr/>
        </p:nvSpPr>
        <p:spPr>
          <a:xfrm>
            <a:off x="10140000" y="2610000"/>
            <a:ext cx="1200000" cy="50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100" b="1">
                <a:solidFill>
                  <a:srgbClr val="15803D"/>
                </a:solidFill>
              </a:rPr>
              <a:t>Accepted experts</a:t>
            </a:r>
            <a:endParaRPr lang="en-US" sz="1100"/>
          </a:p>
          <a:p>
            <a:pPr algn="ctr"/>
            <a:r>
              <a:rPr lang="en-US" sz="1100" b="1">
                <a:solidFill>
                  <a:srgbClr val="15803D"/>
                </a:solidFill>
              </a:rPr>
              <a:t>only</a:t>
            </a:r>
            <a:endParaRPr lang="en-US" sz="1100"/>
          </a:p>
        </p:txBody>
      </p:sp>
      <p:cxnSp>
        <p:nvCxnSpPr>
          <p:cNvPr id="37" name="C arrow2"/>
          <p:cNvCxnSpPr/>
          <p:nvPr/>
        </p:nvCxnSpPr>
        <p:spPr>
          <a:xfrm>
            <a:off x="10640000" y="2300000"/>
            <a:ext cx="60000" cy="310000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sp>
        <p:nvSpPr>
          <p:cNvPr id="38" name="TTA"/>
          <p:cNvSpPr/>
          <p:nvPr/>
        </p:nvSpPr>
        <p:spPr>
          <a:xfrm>
            <a:off x="8930000" y="3550000"/>
            <a:ext cx="2300000" cy="5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1020" b="1">
                <a:solidFill>
                  <a:srgbClr val="111827"/>
                </a:solidFill>
              </a:rPr>
              <a:t>TTA stability is a tie-breaker</a:t>
            </a:r>
            <a:endParaRPr lang="en-US" sz="1020"/>
          </a:p>
          <a:p>
            <a:pPr algn="ctr"/>
            <a:r>
              <a:rPr lang="en-US" sz="1020" b="1">
                <a:solidFill>
                  <a:srgbClr val="111827"/>
                </a:solidFill>
              </a:rPr>
              <a:t>after OOD gating</a:t>
            </a:r>
            <a:endParaRPr lang="en-US" sz="1020"/>
          </a:p>
        </p:txBody>
      </p:sp>
      <p:sp>
        <p:nvSpPr>
          <p:cNvPr id="39" name="OOD eval"/>
          <p:cNvSpPr/>
          <p:nvPr/>
        </p:nvSpPr>
        <p:spPr>
          <a:xfrm>
            <a:off x="8760000" y="4530000"/>
            <a:ext cx="26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txBody>
          <a:bodyPr wrap="square" anchor="mid"/>
          <a:lstStyle/>
          <a:p>
            <a:pPr algn="ctr"/>
            <a:r>
              <a:rPr lang="en-US" sz="1000" b="1">
                <a:solidFill>
                  <a:srgbClr val="075985"/>
                </a:solidFill>
              </a:rPr>
              <a:t>SC-OOD evaluation</a:t>
            </a:r>
            <a:endParaRPr lang="en-US" sz="1000"/>
          </a:p>
          <a:p>
            <a:pPr algn="ctr"/>
            <a:r>
              <a:rPr lang="en-US" sz="1000" b="1">
                <a:solidFill>
                  <a:srgbClr val="075985"/>
                </a:solidFill>
              </a:rPr>
              <a:t>accept-rate only, not used at test-time</a:t>
            </a:r>
            <a:endParaRPr lang="en-US" sz="1000"/>
          </a:p>
        </p:txBody>
      </p:sp>
      <p:sp>
        <p:nvSpPr>
          <p:cNvPr id="40" name="C files"/>
          <p:cNvSpPr txBox="1"/>
          <p:nvPr/>
        </p:nvSpPr>
        <p:spPr>
          <a:xfrm>
            <a:off x="8570000" y="5290000"/>
            <a:ext cx="3000000" cy="37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790" b="0">
                <a:solidFill>
                  <a:srgbClr val="475569"/>
                </a:solidFill>
              </a:rPr>
              <a:t>Outputs: bottleneck_by_class.csv, expert_summary.csv, sc_ood_accept_summary.csv</a:t>
            </a:r>
            <a:endParaRPr lang="en-US" sz="790"/>
          </a:p>
        </p:txBody>
      </p:sp>
      <p:cxnSp>
        <p:nvCxnSpPr>
          <p:cNvPr id="41" name="C arrow3"/>
          <p:cNvCxnSpPr/>
          <p:nvPr/>
        </p:nvCxnSpPr>
        <p:spPr>
          <a:xfrm flipH="1">
            <a:off x="10080000" y="3110000"/>
            <a:ext cx="620000" cy="440000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cxnSp>
        <p:nvCxnSpPr>
          <p:cNvPr id="42" name="C arrow4"/>
          <p:cNvCxnSpPr/>
          <p:nvPr/>
        </p:nvCxnSpPr>
        <p:spPr>
          <a:xfrm>
            <a:off x="10080000" y="4110000"/>
            <a:ext cx="1" cy="420000"/>
          </a:xfrm>
          <a:prstGeom prst="straightConnector1">
            <a:avLst/>
          </a:prstGeom>
          <a:ln w="19050">
            <a:solidFill>
              <a:srgbClr val="0284C7"/>
            </a:solidFill>
            <a:prstDash val="dash"/>
            <a:headEnd type="triangle"/>
          </a:ln>
        </p:spPr>
      </p:cxnSp>
      <p:sp>
        <p:nvSpPr>
          <p:cNvPr id="43" name="CaptionBox"/>
          <p:cNvSpPr/>
          <p:nvPr/>
        </p:nvSpPr>
        <p:spPr>
          <a:xfrm>
            <a:off x="420000" y="6100000"/>
            <a:ext cx="1135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ctr"/>
            <a:r>
              <a:rPr lang="en-US" sz="1000" b="0">
                <a:solidFill>
                  <a:srgbClr val="334155"/>
                </a:solidFill>
              </a:rPr>
              <a:t>Figure. Attack experts first decide whether an input is in-distribution. External OOD improves gate training; expert-specific threshold sweep balances attack recall against benign/OOD false accepts.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2026-06-17T01:02:17.0830000Z</dcterms:created>
  <dcterms:modified xsi:type="dcterms:W3CDTF">2026-06-17T01:02:17.0830000Z</dcterms:modified>
</coreProperties>
</file>