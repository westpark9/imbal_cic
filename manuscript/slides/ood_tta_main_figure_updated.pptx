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0ae5071a0413c" /><Relationship Type="http://schemas.openxmlformats.org/officeDocument/2006/relationships/extended-properties" Target="/docProps/app.xml" Id="Rcf7854d406a644ed" /><Relationship Type="http://schemas.openxmlformats.org/officeDocument/2006/relationships/officeDocument" Target="/ppt/presentation.xml" Id="Rccff433fbb28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675f770826446c"/>
  </p:sldMasterIdLst>
  <p:notesMasterIdLst>
    <p:notesMasterId xmlns:r="http://schemas.openxmlformats.org/officeDocument/2006/relationships" r:id="R1dab10fb7e9f415e"/>
  </p:notesMasterIdLst>
  <p:sldIdLst>
    <p:sldId xmlns:r="http://schemas.openxmlformats.org/officeDocument/2006/relationships" id="256" r:id="R65392ba99038422d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bf2e56000450f" /><Relationship Type="http://schemas.openxmlformats.org/officeDocument/2006/relationships/slideMaster" Target="/ppt/slideMasters/slideMaster1.xml" Id="R90675f770826446c" /><Relationship Type="http://schemas.openxmlformats.org/officeDocument/2006/relationships/notesMaster" Target="/ppt/notesMasters/notesMaster1.xml" Id="R1dab10fb7e9f415e" /><Relationship Type="http://schemas.openxmlformats.org/officeDocument/2006/relationships/presProps" Target="/ppt/presProps.xml" Id="R68213e4fb58349b7" /><Relationship Type="http://schemas.openxmlformats.org/officeDocument/2006/relationships/tableStyles" Target="/ppt/tableStyles.xml" Id="Re237ffab98364659" /><Relationship Type="http://schemas.openxmlformats.org/officeDocument/2006/relationships/slide" Target="/ppt/slides/slide1.xml" Id="R65392ba99038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e7ea2206eb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411bf40f0545d9" /><Relationship Type="http://schemas.openxmlformats.org/officeDocument/2006/relationships/notesMaster" Target="/ppt/notesMasters/notesMaster1.xml" Id="R3729e2939739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1b81d83eb4f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5c94ab1fe45b8" /><Relationship Type="http://schemas.openxmlformats.org/officeDocument/2006/relationships/slideLayout" Target="/ppt/slideLayouts/slideLayout1.xml" Id="R7d87dead3115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7dead3115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16e70c304fd9" /><Relationship Type="http://schemas.openxmlformats.org/officeDocument/2006/relationships/notesSlide" Target="/ppt/notesSlides/notesSlide1.xml" Id="R4ac9d8e8fad3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7DF3C956-9073-4043-B92F-0C1F1F03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OOD-aware Test-Time Aggregation for Disjoint Expert MoE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A73B950C-66C4-4959-BDC0-4D03536C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Experts first reject out-of-distribution inputs; TTA stability weights only the remaining valid experts.</a:t>
            </a:r>
          </a:p>
        </p:txBody>
      </p:sp>
      <p:sp>
        <p:nvSpPr>
          <p:cNvPr id="3" name="panel-a">
            <a:extLst xmlns:a="http://schemas.openxmlformats.org/drawingml/2006/main">
              <a:ext uri="{FF2B5EF4-FFF2-40B4-BE49-F238E27FC236}">
                <a16:creationId xmlns:a16="http://schemas.microsoft.com/office/drawing/2014/main" id="{85BF798E-ECA7-43D4-A96E-412D1B6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4095750" cy="62865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panel-a-badge">
            <a:extLst xmlns:a="http://schemas.openxmlformats.org/drawingml/2006/main">
              <a:ext uri="{FF2B5EF4-FFF2-40B4-BE49-F238E27FC236}">
                <a16:creationId xmlns:a16="http://schemas.microsoft.com/office/drawing/2014/main" id="{59A0BA89-A033-4B8C-A2E7-0B1A8E2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1F29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27CE932D-B985-4DBF-AB85-368D6391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144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Disjoint expert construction</a:t>
            </a:r>
          </a:p>
        </p:txBody>
      </p:sp>
      <p:sp>
        <p:nvSpPr>
          <p:cNvPr id="6" name="panel-b">
            <a:extLst xmlns:a="http://schemas.openxmlformats.org/drawingml/2006/main">
              <a:ext uri="{FF2B5EF4-FFF2-40B4-BE49-F238E27FC236}">
                <a16:creationId xmlns:a16="http://schemas.microsoft.com/office/drawing/2014/main" id="{D1094DDD-8035-4375-B34C-5535851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33500"/>
            <a:ext cx="3429000" cy="628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panel-b-badge">
            <a:extLst xmlns:a="http://schemas.openxmlformats.org/drawingml/2006/main">
              <a:ext uri="{FF2B5EF4-FFF2-40B4-BE49-F238E27FC236}">
                <a16:creationId xmlns:a16="http://schemas.microsoft.com/office/drawing/2014/main" id="{71E642E1-0748-4297-99E4-178610AF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8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1F29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BB3B4B5E-814C-45A9-B891-1B532E86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144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Test-time perturbation</a:t>
            </a:r>
          </a:p>
        </p:txBody>
      </p:sp>
      <p:sp>
        <p:nvSpPr>
          <p:cNvPr id="9" name="panel-c">
            <a:extLst xmlns:a="http://schemas.openxmlformats.org/drawingml/2006/main">
              <a:ext uri="{FF2B5EF4-FFF2-40B4-BE49-F238E27FC236}">
                <a16:creationId xmlns:a16="http://schemas.microsoft.com/office/drawing/2014/main" id="{F3999404-1DEB-48D6-BE0B-3ADB4C70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33500"/>
            <a:ext cx="6000750" cy="6286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panel-c-badge">
            <a:extLst xmlns:a="http://schemas.openxmlformats.org/drawingml/2006/main">
              <a:ext uri="{FF2B5EF4-FFF2-40B4-BE49-F238E27FC236}">
                <a16:creationId xmlns:a16="http://schemas.microsoft.com/office/drawing/2014/main" id="{6AB512FA-C92A-40B4-9C5C-129B667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8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1F29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F388B1C0-E432-422C-A8BB-B01F65B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144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OOD gate first, TTA second</a:t>
            </a:r>
          </a:p>
        </p:txBody>
      </p:sp>
      <p:sp>
        <p:nvSpPr>
          <p:cNvPr id="12" name="train-data">
            <a:extLst xmlns:a="http://schemas.openxmlformats.org/drawingml/2006/main">
              <a:ext uri="{FF2B5EF4-FFF2-40B4-BE49-F238E27FC236}">
                <a16:creationId xmlns:a16="http://schemas.microsoft.com/office/drawing/2014/main" id="{32B6E352-0CD0-4783-B268-3F48ECE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428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Training data</a:t>
            </a:r>
          </a:p>
          <a:p xmlns:a="http://schemas.openxmlformats.org/drawingml/2006/main"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imbalanced classes</a:t>
            </a:r>
          </a:p>
        </p:txBody>
      </p:sp>
      <p:sp>
        <p:nvSpPr>
          <p:cNvPr id="13" name="class-token-0">
            <a:extLst xmlns:a="http://schemas.openxmlformats.org/drawingml/2006/main">
              <a:ext uri="{FF2B5EF4-FFF2-40B4-BE49-F238E27FC236}">
                <a16:creationId xmlns:a16="http://schemas.microsoft.com/office/drawing/2014/main" id="{E46F1D62-8D70-4FBA-B383-282EE88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c0</a:t>
            </a:r>
          </a:p>
        </p:txBody>
      </p:sp>
      <p:sp>
        <p:nvSpPr>
          <p:cNvPr id="14" name="class-token-1">
            <a:extLst xmlns:a="http://schemas.openxmlformats.org/drawingml/2006/main">
              <a:ext uri="{FF2B5EF4-FFF2-40B4-BE49-F238E27FC236}">
                <a16:creationId xmlns:a16="http://schemas.microsoft.com/office/drawing/2014/main" id="{291A4274-728B-4478-95B0-639CCDFC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15" name="class-token-2">
            <a:extLst xmlns:a="http://schemas.openxmlformats.org/drawingml/2006/main">
              <a:ext uri="{FF2B5EF4-FFF2-40B4-BE49-F238E27FC236}">
                <a16:creationId xmlns:a16="http://schemas.microsoft.com/office/drawing/2014/main" id="{600DF645-8E87-48BE-87DC-8078C7C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16" name="train-exp-0">
            <a:extLst xmlns:a="http://schemas.openxmlformats.org/drawingml/2006/main">
              <a:ext uri="{FF2B5EF4-FFF2-40B4-BE49-F238E27FC236}">
                <a16:creationId xmlns:a16="http://schemas.microsoft.com/office/drawing/2014/main" id="{5DFF180C-30FD-4F46-9C5E-1A88788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47875"/>
            <a:ext cx="12858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0</a:t>
            </a:r>
          </a:p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{0,1,2}</a:t>
            </a:r>
          </a:p>
        </p:txBody>
      </p:sp>
      <p:sp>
        <p:nvSpPr>
          <p:cNvPr id="17" name="train-exp-1">
            <a:extLst xmlns:a="http://schemas.openxmlformats.org/drawingml/2006/main">
              <a:ext uri="{FF2B5EF4-FFF2-40B4-BE49-F238E27FC236}">
                <a16:creationId xmlns:a16="http://schemas.microsoft.com/office/drawing/2014/main" id="{64E694F2-0AAF-45E8-A78E-AC9977C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12858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1</a:t>
            </a:r>
          </a:p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{3,4,5}</a:t>
            </a:r>
          </a:p>
        </p:txBody>
      </p:sp>
      <p:sp>
        <p:nvSpPr>
          <p:cNvPr id="18" name="train-exp-2">
            <a:extLst xmlns:a="http://schemas.openxmlformats.org/drawingml/2006/main">
              <a:ext uri="{FF2B5EF4-FFF2-40B4-BE49-F238E27FC236}">
                <a16:creationId xmlns:a16="http://schemas.microsoft.com/office/drawing/2014/main" id="{EB101A27-E2AC-4222-87E2-26D3B2DA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12858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2</a:t>
            </a:r>
          </a:p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{6,7,8}</a:t>
            </a:r>
          </a:p>
        </p:txBody>
      </p:sp>
      <p:sp>
        <p:nvSpPr>
          <p:cNvPr id="19" name="train-exp-n">
            <a:extLst xmlns:a="http://schemas.openxmlformats.org/drawingml/2006/main">
              <a:ext uri="{FF2B5EF4-FFF2-40B4-BE49-F238E27FC236}">
                <a16:creationId xmlns:a16="http://schemas.microsoft.com/office/drawing/2014/main" id="{A3FF5A1B-A780-4929-8F04-27CDCDA7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48375"/>
            <a:ext cx="1285875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N</a:t>
            </a:r>
          </a:p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tail subset</a:t>
            </a:r>
          </a:p>
        </p:txBody>
      </p:sp>
      <p:cxnSp>
        <p:nvCxnSpPr>
          <p:cNvPr id="10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305050" y="2438400"/>
            <a:ext cx="64770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0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305050" y="3771900"/>
            <a:ext cx="6477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09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305050" y="4343400"/>
            <a:ext cx="6477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10" name=""/>
          <p:cNvCxnSpPr>
            <a:stCxn xmlns:a="http://schemas.openxmlformats.org/drawingml/2006/main" id="12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05050" y="4343400"/>
            <a:ext cx="647700" cy="20955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arrow" w="med" len="med"/>
          </a:ln>
        </p:spPr>
      </p:cxnSp>
      <p:sp>
        <p:nvSpPr>
          <p:cNvPr id="24" name="disjoint-note">
            <a:extLst xmlns:a="http://schemas.openxmlformats.org/drawingml/2006/main">
              <a:ext uri="{FF2B5EF4-FFF2-40B4-BE49-F238E27FC236}">
                <a16:creationId xmlns:a16="http://schemas.microsoft.com/office/drawing/2014/main" id="{D332CA71-0BB4-4F2F-8D14-AF47BC5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Class subsets may be taxonomy-, confusion-,</a:t>
            </a:r>
          </a:p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or support-aware. Each expert learns</a:t>
            </a:r>
          </a:p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 local classifier and ID density.</a:t>
            </a:r>
          </a:p>
        </p:txBody>
      </p:sp>
      <p:sp>
        <p:nvSpPr>
          <p:cNvPr id="25" name="input-x">
            <a:extLst xmlns:a="http://schemas.openxmlformats.org/drawingml/2006/main">
              <a:ext uri="{FF2B5EF4-FFF2-40B4-BE49-F238E27FC236}">
                <a16:creationId xmlns:a16="http://schemas.microsoft.com/office/drawing/2014/main" id="{9EB58867-45D8-4A9F-9D1B-DD5034A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9144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6" name="input-xp">
            <a:extLst xmlns:a="http://schemas.openxmlformats.org/drawingml/2006/main">
              <a:ext uri="{FF2B5EF4-FFF2-40B4-BE49-F238E27FC236}">
                <a16:creationId xmlns:a16="http://schemas.microsoft.com/office/drawing/2014/main" id="{0B6052D3-3772-4512-AD5A-DD48220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9144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x'</a:t>
            </a:r>
          </a:p>
        </p:txBody>
      </p:sp>
      <p:cxnSp>
        <p:nvCxnSpPr>
          <p:cNvPr id="114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572250" y="3390900"/>
            <a:ext cx="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  <a:headEnd type="arrow" w="med" len="med"/>
          </a:ln>
        </p:spPr>
      </p:cxnSp>
      <p:sp>
        <p:nvSpPr>
          <p:cNvPr id="28" name="perturb-pill">
            <a:extLst xmlns:a="http://schemas.openxmlformats.org/drawingml/2006/main">
              <a:ext uri="{FF2B5EF4-FFF2-40B4-BE49-F238E27FC236}">
                <a16:creationId xmlns:a16="http://schemas.microsoft.com/office/drawing/2014/main" id="{E85619C9-CA4C-4F29-8960-1F50BFCB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feature-aware perturbation</a:t>
            </a:r>
          </a:p>
        </p:txBody>
      </p:sp>
      <p:sp>
        <p:nvSpPr>
          <p:cNvPr id="29" name="perturb-types">
            <a:extLst xmlns:a="http://schemas.openxmlformats.org/drawingml/2006/main">
              <a:ext uri="{FF2B5EF4-FFF2-40B4-BE49-F238E27FC236}">
                <a16:creationId xmlns:a16="http://schemas.microsoft.com/office/drawing/2014/main" id="{B0E7847A-7FEB-4C0A-860D-87A6D3F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Gaussian noise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feature masking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group masking</a:t>
            </a:r>
          </a:p>
        </p:txBody>
      </p:sp>
      <p:sp>
        <p:nvSpPr>
          <p:cNvPr id="30" name="b-note">
            <a:extLst xmlns:a="http://schemas.openxmlformats.org/drawingml/2006/main">
              <a:ext uri="{FF2B5EF4-FFF2-40B4-BE49-F238E27FC236}">
                <a16:creationId xmlns:a16="http://schemas.microsoft.com/office/drawing/2014/main" id="{F32BFC5B-65F8-4AC8-A9C3-073AECC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055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Perturbations should preserve feasible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network-flow structure so tail experts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are not destabilized by invalid inputs.</a:t>
            </a:r>
          </a:p>
        </p:txBody>
      </p:sp>
      <p:sp>
        <p:nvSpPr>
          <p:cNvPr id="31" name="gate-options-note">
            <a:extLst xmlns:a="http://schemas.openxmlformats.org/drawingml/2006/main">
              <a:ext uri="{FF2B5EF4-FFF2-40B4-BE49-F238E27FC236}">
                <a16:creationId xmlns:a16="http://schemas.microsoft.com/office/drawing/2014/main" id="{A383EE3C-5F6D-4293-BCBD-178CB93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657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Gate options: OE, Energy, ImOOD-OE, ImOOD-Energy</a:t>
            </a:r>
          </a:p>
        </p:txBody>
      </p:sp>
      <p:sp>
        <p:nvSpPr>
          <p:cNvPr id="32" name="test-exp-0">
            <a:extLst xmlns:a="http://schemas.openxmlformats.org/drawingml/2006/main">
              <a:ext uri="{FF2B5EF4-FFF2-40B4-BE49-F238E27FC236}">
                <a16:creationId xmlns:a16="http://schemas.microsoft.com/office/drawing/2014/main" id="{A96ADC2A-147E-4ED6-86EB-C4811787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09537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0</a:t>
            </a:r>
          </a:p>
        </p:txBody>
      </p:sp>
      <p:sp>
        <p:nvSpPr>
          <p:cNvPr id="33" name="test-exp-1">
            <a:extLst xmlns:a="http://schemas.openxmlformats.org/drawingml/2006/main">
              <a:ext uri="{FF2B5EF4-FFF2-40B4-BE49-F238E27FC236}">
                <a16:creationId xmlns:a16="http://schemas.microsoft.com/office/drawing/2014/main" id="{DCB33043-1EAD-4558-AA24-4F98C0B0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109537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1</a:t>
            </a:r>
          </a:p>
        </p:txBody>
      </p:sp>
      <p:sp>
        <p:nvSpPr>
          <p:cNvPr id="34" name="test-exp-2">
            <a:extLst xmlns:a="http://schemas.openxmlformats.org/drawingml/2006/main">
              <a:ext uri="{FF2B5EF4-FFF2-40B4-BE49-F238E27FC236}">
                <a16:creationId xmlns:a16="http://schemas.microsoft.com/office/drawing/2014/main" id="{58CC95E7-1290-451C-8A93-558C582D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67250"/>
            <a:ext cx="109537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2</a:t>
            </a:r>
          </a:p>
        </p:txBody>
      </p:sp>
      <p:sp>
        <p:nvSpPr>
          <p:cNvPr id="35" name="test-exp-n">
            <a:extLst xmlns:a="http://schemas.openxmlformats.org/drawingml/2006/main">
              <a:ext uri="{FF2B5EF4-FFF2-40B4-BE49-F238E27FC236}">
                <a16:creationId xmlns:a16="http://schemas.microsoft.com/office/drawing/2014/main" id="{BF6AC863-2530-45D9-AD31-EC5343B1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000750"/>
            <a:ext cx="109537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N</a:t>
            </a:r>
          </a:p>
        </p:txBody>
      </p:sp>
      <p:cxnSp>
        <p:nvCxnSpPr>
          <p:cNvPr id="123" name=""/>
          <p:cNvCxnSpPr>
            <a:stCxn xmlns:a="http://schemas.openxmlformats.org/drawingml/2006/main" id="25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7029450" y="2295525"/>
            <a:ext cx="2038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2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7029450" y="2295525"/>
            <a:ext cx="2038350" cy="2733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2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029450" y="3124200"/>
            <a:ext cx="203835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26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7029450" y="3629025"/>
            <a:ext cx="2038350" cy="14001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25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029450" y="3124200"/>
            <a:ext cx="2038350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26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7029450" y="4962525"/>
            <a:ext cx="20383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25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029450" y="3124200"/>
            <a:ext cx="2038350" cy="3171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26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029450" y="5029200"/>
            <a:ext cx="203835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18CF8"/>
            </a:solidFill>
            <a:prstDash val="solid"/>
            <a:headEnd type="arrow" w="med" len="med"/>
          </a:ln>
        </p:spPr>
      </p:cxnSp>
      <p:sp>
        <p:nvSpPr>
          <p:cNvPr id="44" name="stab0">
            <a:extLst xmlns:a="http://schemas.openxmlformats.org/drawingml/2006/main">
              <a:ext uri="{FF2B5EF4-FFF2-40B4-BE49-F238E27FC236}">
                <a16:creationId xmlns:a16="http://schemas.microsoft.com/office/drawing/2014/main" id="{D870AA38-F367-4E22-BCEC-59DE1588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33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TTA stability</a:t>
            </a:r>
          </a:p>
        </p:txBody>
      </p:sp>
      <p:sp>
        <p:nvSpPr>
          <p:cNvPr id="45" name="id0">
            <a:extLst xmlns:a="http://schemas.openxmlformats.org/drawingml/2006/main">
              <a:ext uri="{FF2B5EF4-FFF2-40B4-BE49-F238E27FC236}">
                <a16:creationId xmlns:a16="http://schemas.microsoft.com/office/drawing/2014/main" id="{BC8CD805-DBAB-4DED-9004-654651A2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133600"/>
            <a:ext cx="80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ID score</a:t>
            </a:r>
          </a:p>
        </p:txBody>
      </p:sp>
      <p:sp>
        <p:nvSpPr>
          <p:cNvPr id="46" name="gate0">
            <a:extLst xmlns:a="http://schemas.openxmlformats.org/drawingml/2006/main">
              <a:ext uri="{FF2B5EF4-FFF2-40B4-BE49-F238E27FC236}">
                <a16:creationId xmlns:a16="http://schemas.microsoft.com/office/drawing/2014/main" id="{6881806F-635A-4C33-9E37-48858C8C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13360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cxnSp>
        <p:nvCxnSpPr>
          <p:cNvPr id="134" name=""/>
          <p:cNvCxnSpPr>
            <a:stCxn xmlns:a="http://schemas.openxmlformats.org/drawingml/2006/main" id="3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10163175" y="2276475"/>
            <a:ext cx="3143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1544300" y="22764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13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2592050" y="2276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97706"/>
            </a:solidFill>
            <a:prstDash val="solid"/>
            <a:headEnd type="arrow" w="med" len="med"/>
          </a:ln>
        </p:spPr>
      </p:cxnSp>
      <p:sp>
        <p:nvSpPr>
          <p:cNvPr id="50" name="stab1">
            <a:extLst xmlns:a="http://schemas.openxmlformats.org/drawingml/2006/main">
              <a:ext uri="{FF2B5EF4-FFF2-40B4-BE49-F238E27FC236}">
                <a16:creationId xmlns:a16="http://schemas.microsoft.com/office/drawing/2014/main" id="{3232C7BF-AA7F-491B-99D1-BFAABDBA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TTA stability</a:t>
            </a:r>
          </a:p>
        </p:txBody>
      </p:sp>
      <p:sp>
        <p:nvSpPr>
          <p:cNvPr id="51" name="id1">
            <a:extLst xmlns:a="http://schemas.openxmlformats.org/drawingml/2006/main">
              <a:ext uri="{FF2B5EF4-FFF2-40B4-BE49-F238E27FC236}">
                <a16:creationId xmlns:a16="http://schemas.microsoft.com/office/drawing/2014/main" id="{ECC32503-654C-4C15-A4F7-25BB5CE7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67100"/>
            <a:ext cx="80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ID score</a:t>
            </a:r>
          </a:p>
        </p:txBody>
      </p:sp>
      <p:sp>
        <p:nvSpPr>
          <p:cNvPr id="52" name="gate1">
            <a:extLst xmlns:a="http://schemas.openxmlformats.org/drawingml/2006/main">
              <a:ext uri="{FF2B5EF4-FFF2-40B4-BE49-F238E27FC236}">
                <a16:creationId xmlns:a16="http://schemas.microsoft.com/office/drawing/2014/main" id="{15683C66-DA6D-4655-B425-0895E2C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46710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cxnSp>
        <p:nvCxnSpPr>
          <p:cNvPr id="140" name=""/>
          <p:cNvCxnSpPr>
            <a:stCxn xmlns:a="http://schemas.openxmlformats.org/drawingml/2006/main" id="33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V="1">
            <a:off x="10163175" y="3609975"/>
            <a:ext cx="3143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141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11544300" y="36099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14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2592050" y="36099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C2626"/>
            </a:solidFill>
            <a:prstDash val="solid"/>
            <a:headEnd type="arrow" w="med" len="med"/>
          </a:ln>
        </p:spPr>
      </p:cxnSp>
      <p:sp>
        <p:nvSpPr>
          <p:cNvPr id="56" name="density-box">
            <a:extLst xmlns:a="http://schemas.openxmlformats.org/drawingml/2006/main">
              <a:ext uri="{FF2B5EF4-FFF2-40B4-BE49-F238E27FC236}">
                <a16:creationId xmlns:a16="http://schemas.microsoft.com/office/drawing/2014/main" id="{4E3683A8-3F92-4A8B-8F5D-3CFFC8BC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38625"/>
            <a:ext cx="176212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7" name="density-plot-axis-x">
            <a:extLst xmlns:a="http://schemas.openxmlformats.org/drawingml/2006/main">
              <a:ext uri="{FF2B5EF4-FFF2-40B4-BE49-F238E27FC236}">
                <a16:creationId xmlns:a16="http://schemas.microsoft.com/office/drawing/2014/main" id="{604CCEEC-B7D1-4D52-856F-E8FA9EA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0"/>
            <a:ext cx="1381125" cy="9525"/>
          </a:xfrm>
          <a:custGeom xmlns:a="http://schemas.openxmlformats.org/drawingml/2006/main">
            <a:pathLst>
              <a:path w="1381125" h="9525">
                <a:moveTo>
                  <a:pt x="82868" y="0"/>
                </a:moveTo>
                <a:lnTo>
                  <a:pt x="1325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8" name="density-plot-axis-y">
            <a:extLst xmlns:a="http://schemas.openxmlformats.org/drawingml/2006/main">
              <a:ext uri="{FF2B5EF4-FFF2-40B4-BE49-F238E27FC236}">
                <a16:creationId xmlns:a16="http://schemas.microsoft.com/office/drawing/2014/main" id="{D2B33D54-EDBC-4348-9E3C-DFA963E3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457700"/>
            <a:ext cx="9525" cy="685800"/>
          </a:xfrm>
          <a:custGeom xmlns:a="http://schemas.openxmlformats.org/drawingml/2006/main">
            <a:pathLst>
              <a:path w="9525" h="685800">
                <a:moveTo>
                  <a:pt x="0" y="68580"/>
                </a:moveTo>
                <a:lnTo>
                  <a:pt x="0" y="61722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9" name="density-plot-id">
            <a:extLst xmlns:a="http://schemas.openxmlformats.org/drawingml/2006/main">
              <a:ext uri="{FF2B5EF4-FFF2-40B4-BE49-F238E27FC236}">
                <a16:creationId xmlns:a16="http://schemas.microsoft.com/office/drawing/2014/main" id="{82BAA8DA-2065-4E5E-A015-A25A9D0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533900"/>
            <a:ext cx="1152525" cy="495300"/>
          </a:xfrm>
          <a:custGeom xmlns:a="http://schemas.openxmlformats.org/drawingml/2006/main">
            <a:pathLst>
              <a:path w="1152525" h="495300">
                <a:moveTo>
                  <a:pt x="23051" y="470535"/>
                </a:moveTo>
                <a:lnTo>
                  <a:pt x="138303" y="287274"/>
                </a:lnTo>
                <a:lnTo>
                  <a:pt x="276606" y="99060"/>
                </a:lnTo>
                <a:lnTo>
                  <a:pt x="414909" y="39624"/>
                </a:lnTo>
                <a:lnTo>
                  <a:pt x="553212" y="84201"/>
                </a:lnTo>
                <a:lnTo>
                  <a:pt x="714566" y="227838"/>
                </a:lnTo>
                <a:lnTo>
                  <a:pt x="898970" y="376428"/>
                </a:lnTo>
                <a:lnTo>
                  <a:pt x="1106424" y="465582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60" name="density-plot-ood">
            <a:extLst xmlns:a="http://schemas.openxmlformats.org/drawingml/2006/main">
              <a:ext uri="{FF2B5EF4-FFF2-40B4-BE49-F238E27FC236}">
                <a16:creationId xmlns:a16="http://schemas.microsoft.com/office/drawing/2014/main" id="{19590ED6-E892-4698-B02E-4F9BEBC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533900"/>
            <a:ext cx="1152525" cy="495300"/>
          </a:xfrm>
          <a:custGeom xmlns:a="http://schemas.openxmlformats.org/drawingml/2006/main">
            <a:pathLst>
              <a:path w="1152525" h="495300">
                <a:moveTo>
                  <a:pt x="46101" y="465582"/>
                </a:moveTo>
                <a:lnTo>
                  <a:pt x="230505" y="346710"/>
                </a:lnTo>
                <a:lnTo>
                  <a:pt x="437960" y="262509"/>
                </a:lnTo>
                <a:lnTo>
                  <a:pt x="645414" y="212979"/>
                </a:lnTo>
                <a:lnTo>
                  <a:pt x="852868" y="227838"/>
                </a:lnTo>
                <a:lnTo>
                  <a:pt x="1060323" y="31203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CA3AF"/>
            </a:solidFill>
            <a:prstDash val="dash"/>
          </a:ln>
        </p:spPr>
      </p:sp>
      <p:sp>
        <p:nvSpPr>
          <p:cNvPr id="61" name="density-label">
            <a:extLst xmlns:a="http://schemas.openxmlformats.org/drawingml/2006/main">
              <a:ext uri="{FF2B5EF4-FFF2-40B4-BE49-F238E27FC236}">
                <a16:creationId xmlns:a16="http://schemas.microsoft.com/office/drawing/2014/main" id="{7107EE3B-95C3-43F1-BDED-95D2941D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238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expert-local density</a:t>
            </a:r>
          </a:p>
          <a:p xmlns:a="http://schemas.openxmlformats.org/drawingml/2006/main">
            <a:pPr algn="ctr">
              <a:defRPr sz="863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ID vs. OOD</a:t>
            </a:r>
          </a:p>
        </p:txBody>
      </p:sp>
      <p:sp>
        <p:nvSpPr>
          <p:cNvPr id="62" name="final-aggregation">
            <a:extLst xmlns:a="http://schemas.openxmlformats.org/drawingml/2006/main">
              <a:ext uri="{FF2B5EF4-FFF2-40B4-BE49-F238E27FC236}">
                <a16:creationId xmlns:a16="http://schemas.microsoft.com/office/drawing/2014/main" id="{1ED36BA4-C32D-46E7-9A1B-9B77EC2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191125"/>
            <a:ext cx="12573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11430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accepted experts\nonly</a:t>
            </a:r>
          </a:p>
        </p:txBody>
      </p:sp>
      <p:cxnSp>
        <p:nvCxnSpPr>
          <p:cNvPr id="150" name=""/>
          <p:cNvCxnSpPr>
            <a:stCxn xmlns:a="http://schemas.openxmlformats.org/drawingml/2006/main" id="46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H="1">
            <a:off x="12992100" y="2276475"/>
            <a:ext cx="704850" cy="3257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6A34A"/>
            </a:solidFill>
            <a:prstDash val="solid"/>
            <a:headEnd type="arrow" w="med" len="med"/>
          </a:ln>
        </p:spPr>
      </p:cxnSp>
      <p:cxnSp>
        <p:nvCxnSpPr>
          <p:cNvPr id="151" name=""/>
          <p:cNvCxnSpPr>
            <a:stCxn xmlns:a="http://schemas.openxmlformats.org/drawingml/2006/main" id="52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H="1">
            <a:off x="12992100" y="3609975"/>
            <a:ext cx="704850" cy="192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DC2626"/>
            </a:solidFill>
            <a:prstDash val="dash"/>
            <a:headEnd type="none" w="med" len="med"/>
          </a:ln>
        </p:spPr>
      </p:cxnSp>
      <p:sp>
        <p:nvSpPr>
          <p:cNvPr id="65" name="final-y">
            <a:extLst xmlns:a="http://schemas.openxmlformats.org/drawingml/2006/main">
              <a:ext uri="{FF2B5EF4-FFF2-40B4-BE49-F238E27FC236}">
                <a16:creationId xmlns:a16="http://schemas.microsoft.com/office/drawing/2014/main" id="{04E48A1A-1EEA-4D6C-85ED-FBA153CD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429375"/>
            <a:ext cx="590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cxnSp>
        <p:nvCxnSpPr>
          <p:cNvPr id="153" name=""/>
          <p:cNvCxnSpPr>
            <a:stCxn xmlns:a="http://schemas.openxmlformats.org/drawingml/2006/main" id="62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3620750" y="5876925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  <a:headEnd type="arrow" w="med" len="med"/>
          </a:ln>
        </p:spPr>
      </p:cxnSp>
      <p:sp>
        <p:nvSpPr>
          <p:cNvPr id="67" name="equation">
            <a:extLst xmlns:a="http://schemas.openxmlformats.org/drawingml/2006/main">
              <a:ext uri="{FF2B5EF4-FFF2-40B4-BE49-F238E27FC236}">
                <a16:creationId xmlns:a16="http://schemas.microsoft.com/office/drawing/2014/main" id="{7B56774C-2246-4188-B921-B347E49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000875"/>
            <a:ext cx="55721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valid_e = gate_e(x);  select among valid experts by score_e + λ·stability_e</a:t>
            </a:r>
          </a:p>
        </p:txBody>
      </p:sp>
      <p:sp>
        <p:nvSpPr>
          <p:cNvPr id="68" name="footer">
            <a:extLst xmlns:a="http://schemas.openxmlformats.org/drawingml/2006/main">
              <a:ext uri="{FF2B5EF4-FFF2-40B4-BE49-F238E27FC236}">
                <a16:creationId xmlns:a16="http://schemas.microsoft.com/office/drawing/2014/main" id="{8047A5E3-7ABB-49D4-B452-BDFCD4E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Figure 1. OOD rejection defines valid attack experts; TTA stability is applied only after the gate as a tie-break/selection signal.</a:t>
            </a:r>
          </a:p>
        </p:txBody>
      </p:sp>
      <p:sp>
        <p:nvSpPr>
          <p:cNvPr id="69" name="fg-train-e0">
            <a:extLst xmlns:a="http://schemas.openxmlformats.org/drawingml/2006/main">
              <a:ext uri="{FF2B5EF4-FFF2-40B4-BE49-F238E27FC236}">
                <a16:creationId xmlns:a16="http://schemas.microsoft.com/office/drawing/2014/main" id="{93E2A493-F065-488E-A63C-B1522A21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38400"/>
            <a:ext cx="1381125" cy="1905000"/>
          </a:xfrm>
          <a:custGeom xmlns:a="http://schemas.openxmlformats.org/drawingml/2006/main">
            <a:pathLst>
              <a:path w="1381125" h="1905000">
                <a:moveTo>
                  <a:pt x="0" y="1905000"/>
                </a:move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563EB"/>
            </a:solidFill>
            <a:prstDash val="solid"/>
          </a:ln>
        </p:spPr>
      </p:sp>
      <p:sp>
        <p:nvSpPr>
          <p:cNvPr id="70" name="fg-train-e1">
            <a:extLst xmlns:a="http://schemas.openxmlformats.org/drawingml/2006/main">
              <a:ext uri="{FF2B5EF4-FFF2-40B4-BE49-F238E27FC236}">
                <a16:creationId xmlns:a16="http://schemas.microsoft.com/office/drawing/2014/main" id="{201FB7D3-C5EF-4D4D-B85F-FA7C6E6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1381125" cy="571500"/>
          </a:xfrm>
          <a:custGeom xmlns:a="http://schemas.openxmlformats.org/drawingml/2006/main">
            <a:pathLst>
              <a:path w="1381125" h="571500">
                <a:moveTo>
                  <a:pt x="0" y="571500"/>
                </a:move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563EB"/>
            </a:solidFill>
            <a:prstDash val="solid"/>
          </a:ln>
        </p:spPr>
      </p:sp>
      <p:sp>
        <p:nvSpPr>
          <p:cNvPr id="71" name="fg-train-e2">
            <a:extLst xmlns:a="http://schemas.openxmlformats.org/drawingml/2006/main">
              <a:ext uri="{FF2B5EF4-FFF2-40B4-BE49-F238E27FC236}">
                <a16:creationId xmlns:a16="http://schemas.microsoft.com/office/drawing/2014/main" id="{68A36CBC-1300-4B46-8D05-78B04B91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43400"/>
            <a:ext cx="1381125" cy="762000"/>
          </a:xfrm>
          <a:custGeom xmlns:a="http://schemas.openxmlformats.org/drawingml/2006/main">
            <a:pathLst>
              <a:path w="1381125" h="762000">
                <a:moveTo>
                  <a:pt x="0" y="0"/>
                </a:moveTo>
                <a:lnTo>
                  <a:pt x="1381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563EB"/>
            </a:solidFill>
            <a:prstDash val="solid"/>
          </a:ln>
        </p:spPr>
      </p:sp>
      <p:sp>
        <p:nvSpPr>
          <p:cNvPr id="72" name="fg-train-en">
            <a:extLst xmlns:a="http://schemas.openxmlformats.org/drawingml/2006/main">
              <a:ext uri="{FF2B5EF4-FFF2-40B4-BE49-F238E27FC236}">
                <a16:creationId xmlns:a16="http://schemas.microsoft.com/office/drawing/2014/main" id="{024D8501-FB9C-4AB5-83F2-631A6322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43400"/>
            <a:ext cx="1381125" cy="2095500"/>
          </a:xfrm>
          <a:custGeom xmlns:a="http://schemas.openxmlformats.org/drawingml/2006/main">
            <a:pathLst>
              <a:path w="1381125" h="2095500">
                <a:moveTo>
                  <a:pt x="0" y="0"/>
                </a:moveTo>
                <a:lnTo>
                  <a:pt x="1381125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563EB"/>
            </a:solidFill>
            <a:prstDash val="solid"/>
          </a:ln>
        </p:spPr>
      </p:sp>
      <p:sp>
        <p:nvSpPr>
          <p:cNvPr id="73" name="fg-x-exp0">
            <a:extLst xmlns:a="http://schemas.openxmlformats.org/drawingml/2006/main">
              <a:ext uri="{FF2B5EF4-FFF2-40B4-BE49-F238E27FC236}">
                <a16:creationId xmlns:a16="http://schemas.microsoft.com/office/drawing/2014/main" id="{6DDB6E1F-1381-4922-88E2-54FFD41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95525"/>
            <a:ext cx="2038350" cy="828675"/>
          </a:xfrm>
          <a:custGeom xmlns:a="http://schemas.openxmlformats.org/drawingml/2006/main">
            <a:pathLst>
              <a:path w="2038350" h="828675">
                <a:moveTo>
                  <a:pt x="0" y="828675"/>
                </a:moveTo>
                <a:lnTo>
                  <a:pt x="2038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366F1"/>
            </a:solidFill>
            <a:prstDash val="solid"/>
          </a:ln>
        </p:spPr>
      </p:sp>
      <p:sp>
        <p:nvSpPr>
          <p:cNvPr id="74" name="fg-x-exp1">
            <a:extLst xmlns:a="http://schemas.openxmlformats.org/drawingml/2006/main">
              <a:ext uri="{FF2B5EF4-FFF2-40B4-BE49-F238E27FC236}">
                <a16:creationId xmlns:a16="http://schemas.microsoft.com/office/drawing/2014/main" id="{26F7DD0B-3E65-4118-ACBC-9EB0251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2038350" cy="504825"/>
          </a:xfrm>
          <a:custGeom xmlns:a="http://schemas.openxmlformats.org/drawingml/2006/main">
            <a:pathLst>
              <a:path w="2038350" h="504825">
                <a:moveTo>
                  <a:pt x="0" y="0"/>
                </a:moveTo>
                <a:lnTo>
                  <a:pt x="203835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366F1"/>
            </a:solidFill>
            <a:prstDash val="solid"/>
          </a:ln>
        </p:spPr>
      </p:sp>
      <p:sp>
        <p:nvSpPr>
          <p:cNvPr id="75" name="fg-xp-exp2">
            <a:extLst xmlns:a="http://schemas.openxmlformats.org/drawingml/2006/main">
              <a:ext uri="{FF2B5EF4-FFF2-40B4-BE49-F238E27FC236}">
                <a16:creationId xmlns:a16="http://schemas.microsoft.com/office/drawing/2014/main" id="{79E2A1B9-2D1C-4A88-8E0B-8A8F84E8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62525"/>
            <a:ext cx="2038350" cy="66675"/>
          </a:xfrm>
          <a:custGeom xmlns:a="http://schemas.openxmlformats.org/drawingml/2006/main">
            <a:pathLst>
              <a:path w="2038350" h="66675">
                <a:moveTo>
                  <a:pt x="0" y="66675"/>
                </a:moveTo>
                <a:lnTo>
                  <a:pt x="2038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366F1"/>
            </a:solidFill>
            <a:prstDash val="solid"/>
          </a:ln>
        </p:spPr>
      </p:sp>
      <p:sp>
        <p:nvSpPr>
          <p:cNvPr id="76" name="fg-xp-expn">
            <a:extLst xmlns:a="http://schemas.openxmlformats.org/drawingml/2006/main">
              <a:ext uri="{FF2B5EF4-FFF2-40B4-BE49-F238E27FC236}">
                <a16:creationId xmlns:a16="http://schemas.microsoft.com/office/drawing/2014/main" id="{7CDBA6BC-8213-417D-9036-50F902F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038350" cy="1266825"/>
          </a:xfrm>
          <a:custGeom xmlns:a="http://schemas.openxmlformats.org/drawingml/2006/main">
            <a:pathLst>
              <a:path w="2038350" h="1266825">
                <a:moveTo>
                  <a:pt x="0" y="0"/>
                </a:moveTo>
                <a:lnTo>
                  <a:pt x="203835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366F1"/>
            </a:solidFill>
            <a:prstDash val="solid"/>
          </a:ln>
        </p:spPr>
      </p:sp>
      <p:sp>
        <p:nvSpPr>
          <p:cNvPr id="77" name="fg-exp0-stab">
            <a:extLst xmlns:a="http://schemas.openxmlformats.org/drawingml/2006/main">
              <a:ext uri="{FF2B5EF4-FFF2-40B4-BE49-F238E27FC236}">
                <a16:creationId xmlns:a16="http://schemas.microsoft.com/office/drawing/2014/main" id="{2F8DB9EE-1621-40B4-83A8-D5BA61C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76475"/>
            <a:ext cx="409575" cy="19050"/>
          </a:xfrm>
          <a:custGeom xmlns:a="http://schemas.openxmlformats.org/drawingml/2006/main">
            <a:pathLst>
              <a:path w="409575" h="19050">
                <a:moveTo>
                  <a:pt x="0" y="1905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4A3B8"/>
            </a:solidFill>
            <a:prstDash val="solid"/>
          </a:ln>
        </p:spPr>
      </p:sp>
      <p:sp>
        <p:nvSpPr>
          <p:cNvPr id="78" name="fg-stab0-id0">
            <a:extLst xmlns:a="http://schemas.openxmlformats.org/drawingml/2006/main">
              <a:ext uri="{FF2B5EF4-FFF2-40B4-BE49-F238E27FC236}">
                <a16:creationId xmlns:a16="http://schemas.microsoft.com/office/drawing/2014/main" id="{8C8D70A5-64F6-4740-B8FB-3A27E4D7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276475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4A3B8"/>
            </a:solidFill>
            <a:prstDash val="solid"/>
          </a:ln>
        </p:spPr>
      </p:sp>
      <p:sp>
        <p:nvSpPr>
          <p:cNvPr id="79" name="fg-id0-gate0">
            <a:extLst xmlns:a="http://schemas.openxmlformats.org/drawingml/2006/main">
              <a:ext uri="{FF2B5EF4-FFF2-40B4-BE49-F238E27FC236}">
                <a16:creationId xmlns:a16="http://schemas.microsoft.com/office/drawing/2014/main" id="{69F3C36D-B1F7-458E-9219-18E3685F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76475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80" name="fg-exp1-stab">
            <a:extLst xmlns:a="http://schemas.openxmlformats.org/drawingml/2006/main">
              <a:ext uri="{FF2B5EF4-FFF2-40B4-BE49-F238E27FC236}">
                <a16:creationId xmlns:a16="http://schemas.microsoft.com/office/drawing/2014/main" id="{AD450ADA-A322-401F-986B-86EDDC5A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609975"/>
            <a:ext cx="409575" cy="19050"/>
          </a:xfrm>
          <a:custGeom xmlns:a="http://schemas.openxmlformats.org/drawingml/2006/main">
            <a:pathLst>
              <a:path w="409575" h="19050">
                <a:moveTo>
                  <a:pt x="0" y="1905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4A3B8"/>
            </a:solidFill>
            <a:prstDash val="solid"/>
          </a:ln>
        </p:spPr>
      </p:sp>
      <p:sp>
        <p:nvSpPr>
          <p:cNvPr id="81" name="fg-stab1-id1">
            <a:extLst xmlns:a="http://schemas.openxmlformats.org/drawingml/2006/main">
              <a:ext uri="{FF2B5EF4-FFF2-40B4-BE49-F238E27FC236}">
                <a16:creationId xmlns:a16="http://schemas.microsoft.com/office/drawing/2014/main" id="{3B7D54D5-49C9-4C9D-81FB-F725484E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609975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4A3B8"/>
            </a:solidFill>
            <a:prstDash val="solid"/>
          </a:ln>
        </p:spPr>
      </p:sp>
      <p:sp>
        <p:nvSpPr>
          <p:cNvPr id="82" name="fg-id1-gate1">
            <a:extLst xmlns:a="http://schemas.openxmlformats.org/drawingml/2006/main">
              <a:ext uri="{FF2B5EF4-FFF2-40B4-BE49-F238E27FC236}">
                <a16:creationId xmlns:a16="http://schemas.microsoft.com/office/drawing/2014/main" id="{06DD7FAD-752A-4620-9ED5-D82D9E2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609975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C2626"/>
            </a:solidFill>
            <a:prstDash val="solid"/>
          </a:ln>
        </p:spPr>
      </p:sp>
      <p:sp>
        <p:nvSpPr>
          <p:cNvPr id="83" name="fg-gate0-route1">
            <a:extLst xmlns:a="http://schemas.openxmlformats.org/drawingml/2006/main">
              <a:ext uri="{FF2B5EF4-FFF2-40B4-BE49-F238E27FC236}">
                <a16:creationId xmlns:a16="http://schemas.microsoft.com/office/drawing/2014/main" id="{63A212C1-1247-4955-97C5-F351B341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276475"/>
            <a:ext cx="685800" cy="9525"/>
          </a:xfrm>
          <a:custGeom xmlns:a="http://schemas.openxmlformats.org/drawingml/2006/main"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84" name="fg-gate0-route2">
            <a:extLst xmlns:a="http://schemas.openxmlformats.org/drawingml/2006/main">
              <a:ext uri="{FF2B5EF4-FFF2-40B4-BE49-F238E27FC236}">
                <a16:creationId xmlns:a16="http://schemas.microsoft.com/office/drawing/2014/main" id="{0EB65865-49A7-4A8E-9C10-A9711375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276475"/>
            <a:ext cx="9525" cy="2914650"/>
          </a:xfrm>
          <a:custGeom xmlns:a="http://schemas.openxmlformats.org/drawingml/2006/main">
            <a:pathLst>
              <a:path w="9525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85" name="fg-gate0-route3">
            <a:extLst xmlns:a="http://schemas.openxmlformats.org/drawingml/2006/main">
              <a:ext uri="{FF2B5EF4-FFF2-40B4-BE49-F238E27FC236}">
                <a16:creationId xmlns:a16="http://schemas.microsoft.com/office/drawing/2014/main" id="{BCF93E61-693A-443D-A5A2-39F798AC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5191125"/>
            <a:ext cx="133350" cy="9525"/>
          </a:xfrm>
          <a:custGeom xmlns:a="http://schemas.openxmlformats.org/drawingml/2006/main">
            <a:pathLst>
              <a:path w="133350" h="9525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86" name="fg-reject-stop">
            <a:extLst xmlns:a="http://schemas.openxmlformats.org/drawingml/2006/main">
              <a:ext uri="{FF2B5EF4-FFF2-40B4-BE49-F238E27FC236}">
                <a16:creationId xmlns:a16="http://schemas.microsoft.com/office/drawing/2014/main" id="{81E5404B-9243-4248-A349-DCCFF503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609975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C2626"/>
            </a:solidFill>
            <a:prstDash val="dash"/>
          </a:ln>
        </p:spPr>
      </p:sp>
      <p:sp>
        <p:nvSpPr>
          <p:cNvPr id="87" name="fg-agg-y">
            <a:extLst xmlns:a="http://schemas.openxmlformats.org/drawingml/2006/main">
              <a:ext uri="{FF2B5EF4-FFF2-40B4-BE49-F238E27FC236}">
                <a16:creationId xmlns:a16="http://schemas.microsoft.com/office/drawing/2014/main" id="{5566BFEB-5379-4DBB-9985-F653CA1C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8769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EA5E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3308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2026-06-17T01:02:17.0830000Z</dcterms:created>
  <dcterms:modified xsi:type="dcterms:W3CDTF">2026-06-17T01:02:17.0830000Z</dcterms:modified>
</coreProperties>
</file>